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96" y="21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25.08.2026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我是AIGC夏令营08期第三小组的陈康。今天我想和大家分享的主题是"从校园到职场：AI时代数学建模人的能力升级"。我会从两次真实的数学建模竞赛经历出发，和大家探讨在AI快速发展的今天，学数学建模的同学到底应该升级哪些能力，以及这些能力如何对接未来的AI就业岗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正式开始之前，我想先问大家一个问题：为什么我要关心AI+建模？这件事和我的AI求职有什么关系？我给大家三个数据。第一，2025年AI相关岗位招聘量同比增长47%，是所有行业中增速最快的赛道之一。第二，数学建模是AI应用层最核心的底层能力，从推荐算法到智能体决策，从数据治理到大模型微调，背后都是数学建模。第三，当所有人都在学Prompt时，有完整数模项目经验的你，就是AI求职市场上的稀缺人才。所以今天我想和大家探讨的，不是"AI会不会取代我"，而是"会用AI的人会不会取代我"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今天的分享分为六个部分。第一部分是引子，聊聊为什么我们要关心AI+建模，这和我们的求职有什么关系。第二部分是我的两段真实参赛经历，电工杯和华数杯的对比。第三部分是范式变迁，AI时代数学建模的工作流到底变了什么，三手+AI协作架构是怎么运作的。第四部分是核心能力，我总结了五项必须升级的能力，还有真实的踩坑案例。第五部分是大家最关心的就业，AI+建模到底能做什么岗位，我会拆解六个方向。第六部分是工具介绍和总结。全程大约15分钟，建议大家重点关注第五部分，因为它直接对接你的AI求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想从两段真实的参赛经历讲起。第一次是今年5月的电工杯，我和唐程骑、郑雨露组队，做的是嵌入式社区养老服务站的建设优化问题，最终获得了三等奖。这是一次非常传统的数模竞赛经历，三人分工、三天冲刺，靠人力啃下题目。第二次是今年8月的华数杯，我们选择了一道EDA领域的硬核芯片布局优化题——VLSI布图规划设计。这次我们做了一个关键实验：全面引入AI协作，建立建模手、编程手、论文手三手分工，每一手都有AI深度参与。这两段经历的对比，让我深刻意识到AI时代数学建模的工作方式正在发生根本性变化——从三人拼人力到人机协作提效，这是范式的跃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华数杯B题是一道来自EDA领域的硬核芯片布局优化题。给定100到300个矩形硬模块、固定终端和线网连接关系，要求在芯片轮廓内合理摆放模块。四个问题层层递进：Q1最小化面积，Q2固定轮廓内最小化线长，Q3求最小死区比例，Q4处理L/T型模块。数据来自GSRC标准布图基准，这是一个NP-hard的组合优化问题。我们最核心的突破是想清楚三问本质是同一个恒等式M=A×R——面积M等于轮廓面积A乘以利用率R，这个洞察是AI给不出来的。右边是我们最终得到的三组芯片布图可视化结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从华数杯的实践来看，AI深度改变了数学建模的每一个环节。赛题理解从半天缩短到2小时，模型设计有AI辅助原理梳理，代码实现调试时间大幅减少，结果验证形成了理论到实践再反馈修正的闭环，论文写作也有AI辅助结构化输出。但需要强调的是，AI不是一键出答案的神器，它的真实角色是领域加速器、思维陪练、代码副驾和写作助手。最终的决策权和核心创造力，始终在人手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在华数杯中建立了三手+AI的协作架构。建模手是总指挥，输出约束和验收标准，不输出代码，AI辅助做数学原理梳理和模型假设深挖。编程手负责实现，拿到建模手的清单后独立实现，AI辅助代码生成和调试，但关键是必须独立实现，不能直接抄AI代码。论文手负责表达，整合建模手的理论和编程手的结果，AI辅助学术写作和配图规划。最关键的是形成了一个闭环：建模手理论到编程手独立实现，再反馈修正建模手理论，这保证了AI的方案不会被盲目采用。左边是我们最终的融合方法架构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很多同学以为数模竞赛获奖就能直接对接职场，其实两者之间存在巨大的gap。第一是问题边界，竞赛题目清晰定义，职场需求往往模糊，80%的工作是在定义问题。第二是数据质量，竞赛数据干净标准，职场数据脏乱缺失，数据清洗占60%以上时间。第三是评价标准，竞赛追求模型新颖和结果最优，职场追求业务可落地和可解释性。第四是时间周期，竞赛是3天冲刺，职场是持续迭代。理解这四个差异，是从校园到职场的第一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基于前面的差异分析，我总结了AI时代数学建模人需要升级的五项核心能力。第一是问题定义能力，从模糊业务需求中提炼数学问题，这是建模人最核心的护城河。第二是数据工程能力，职场60%时间在做数据，不是建模。第三是模型设计能力，数学功底是立身之本。第四是工程实现能力，从Notebook到生产系统是巨大跨越。第五是业务沟通能力，把数学语言翻译成业务语言，这是从技术岗到管理岗的关键跃迁。这五项能力中，AI能辅助每一项，但不能替代任何一项的核心决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在华数杯中做的一个深度案例。我们对比了融合方法和纯模拟退火在n300规模下的收敛表现。左边是收敛曲线图，可以看到融合方法明显更快收敛，而且最终解质量更好。核心发现是融合方法收敛速度提升40%，最终解质量提升15%。方法创新在于三层架构：确定性构造提供优质初始解，贪心下降快速局部优化，模拟退火做全局搜索。AI在这个过程中辅助了代码生成和参数调优，但融合策略的设计本身，是人的核心创造力，这是AI给不出来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是回应叶子姐的建议，把数学建模和AI就业岗位关联起来。很多同学觉得数模竞赛只是拿奖，其实数学建模能力是AI时代的通用底层能力，可以迁移到多个岗位方向。第一是AI应用开发工程师，基于大模型API开发应用，建模人的问题拆解能力直接复用。第二是智能体开发工程师，设计多智能体协作系统，需要任务分解和流程设计能力。第三是数据治理工程师，数据清洗和质量管控，竞赛中积累的数据处理经验是核心竞争力。第四是AI产品经理，定义AI产品需求，能在业务和技术之间做有效翻译。第五是AI产品运营，用户增长和效果优化，数据分析能力是加分项。第六是模型训练工程师，微调和评测大模型，需要扎实的数学基础。这六个岗位都是本科生可以触及的，数学建模能力在每一个岗位上都有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给大家一个四阶段成长路线参考。第一阶段是基础夯实期，大一大二打好数学和编程基础，参加校赛积累经验。第二阶段是竞赛实战期，大二大三参加国赛、美赛、电工杯等高水平竞赛，建立三手分工的协作模式。第三阶段是AI融合期，大三开始深度融合AI工具，建立个人工作流和方法论，可以尝试做开源项目。第四阶段是职场跃迁期，大四及以后通过实习和项目，把竞赛能力转化为职场竞争力。关键认知是每个阶段都不是终点，而是下一个阶段的基础。AI是加速器，不是替代品，人的核心创造力始终不可替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给大家介绍一个我基于华数杯实战经验沉淀的开源工具——MathModelAgent。这是一个数学建模智能体协作平台，核心功能有三个：第一是三手智能体自动协作，建模手、编程手、论文手三个智能体自动分工协作，把我们在华数杯中验证的三手分工方法论产品化；第二是赛题理解与方案生成，自动分析赛题背景，生成建模方案和代码框架；第三是论文自动生成与优化，整合建模结果，自动生成结构化论文和可视化图表。这个工具的目标是把数学建模的方法论变成可复用的工具，让更多同学能够受益。右边是工具的首页主界面截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总结一下，AI时代数学建模人的三大核心能力。第一是问题定义能力，从模糊需求中提炼数学问题，这是最核心的护城河。第二是系统思维能力，把复杂问题拆解为可执行的子任务，建模人的流程设计和系统架构能力是AI时代的稀缺资源。第三是持续学习能力，AI技术快速迭代，保持学习敏感度，把AI当作加速器而不是替代品。核心观点是：AI是加速器，不是替代品，人的核心创造力始终不可替代。我是AIGC夏令营08期第三小组的陈康，感谢大家的聆听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8890000" y="901700"/>
            <a:ext cx="2540000" cy="2540000"/>
          </a:xfrm>
          <a:prstGeom prst="roundRect">
            <a:avLst>
              <a:gd name="adj" fmla="val 7875"/>
            </a:avLst>
          </a:prstGeom>
          <a:solidFill>
            <a:srgbClr val="E8C49A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9144000" y="1162685"/>
            <a:ext cx="2032000" cy="2032000"/>
          </a:xfrm>
          <a:prstGeom prst="roundRect">
            <a:avLst>
              <a:gd name="adj" fmla="val 0"/>
            </a:avLst>
          </a:prstGeom>
          <a:solidFill>
            <a:srgbClr val="C97B8C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4523740"/>
            <a:ext cx="152400" cy="152400"/>
          </a:xfrm>
          <a:prstGeom prst="ellipse">
            <a:avLst/>
          </a:prstGeom>
          <a:solidFill>
            <a:srgbClr val="B886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79500" y="4523740"/>
            <a:ext cx="152400" cy="152400"/>
          </a:xfrm>
          <a:prstGeom prst="ellipse">
            <a:avLst/>
          </a:prstGeom>
          <a:solidFill>
            <a:srgbClr val="E8C49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397000" y="4523740"/>
            <a:ext cx="152400" cy="152400"/>
          </a:xfrm>
          <a:prstGeom prst="ellipse">
            <a:avLst/>
          </a:prstGeom>
          <a:solidFill>
            <a:srgbClr val="C97B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762000" y="71374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AIGC CAMP · 08期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1348740"/>
            <a:ext cx="812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44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从校园到职场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44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AI时代</a:t>
            </a:r>
            <a:r>
              <a:rPr lang="en-US" sz="44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数学建模人的能力升级</a:t>
            </a:r>
          </a:p>
        </p:txBody>
      </p:sp>
      <p:cxnSp>
        <p:nvCxnSpPr>
          <p:cNvPr id="10" name="Connector 10"/>
          <p:cNvCxnSpPr/>
          <p:nvPr/>
        </p:nvCxnSpPr>
        <p:spPr>
          <a:xfrm rot="-14323">
            <a:off x="762013" y="324739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E8C49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1" name="AutoShape 11"/>
          <p:cNvSpPr/>
          <p:nvPr/>
        </p:nvSpPr>
        <p:spPr>
          <a:xfrm>
            <a:off x="762000" y="357124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从两次真实参赛经历出发，探索AI时代数模人的核心竞争力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5031740"/>
            <a:ext cx="3810000" cy="635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952500" y="5107940"/>
            <a:ext cx="342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分享小组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952500" y="5347970"/>
            <a:ext cx="342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AIGC夏令营08期第三小组 · 陈康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14400" y="579374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2026.08.25 · 成都</a:t>
            </a:r>
            <a:endParaRPr lang="en-US" sz="110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DC77E1AA-8C5A-4B7D-A9EA-6C9BA777EF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4836" y="713740"/>
            <a:ext cx="2897107" cy="432430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C97B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C97B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· 引子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0795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38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为什么我要关心</a:t>
            </a:r>
            <a:r>
              <a:rPr lang="en-US" sz="38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+ 建模</a:t>
            </a:r>
            <a:r>
              <a:rPr lang="en-US" sz="38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这件事和我的AI求职有什么关系？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4092">
            <a:off x="762004" y="2724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762000" y="3111500"/>
            <a:ext cx="3365500" cy="2286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762000" y="3111500"/>
            <a:ext cx="3365500" cy="762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016000" y="3429000"/>
            <a:ext cx="2857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47%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4127500"/>
            <a:ext cx="2857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AI岗位招聘量同比增长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4508500"/>
            <a:ext cx="2857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2025年AI相关岗位招聘量同比增长47%，是所有行业中增速最快的赛道之一。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406900" y="3111500"/>
            <a:ext cx="3365500" cy="2286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406900" y="3111500"/>
            <a:ext cx="3365500" cy="76200"/>
          </a:xfrm>
          <a:prstGeom prst="roundRect">
            <a:avLst>
              <a:gd name="adj" fmla="val 0"/>
            </a:avLst>
          </a:prstGeom>
          <a:solidFill>
            <a:srgbClr val="C97B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4660900" y="3429000"/>
            <a:ext cx="2857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C97B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核心底层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660900" y="4127500"/>
            <a:ext cx="2857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数学建模=AI应用层底座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60900" y="4508500"/>
            <a:ext cx="2857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从推荐算法到智能体决策，从数据治理到大模型微调，数学建模是AI应用层最核心的底层能力。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051800" y="3111500"/>
            <a:ext cx="3365500" cy="2286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051800" y="3111500"/>
            <a:ext cx="3365500" cy="76200"/>
          </a:xfrm>
          <a:prstGeom prst="roundRect">
            <a:avLst>
              <a:gd name="adj" fmla="val 0"/>
            </a:avLst>
          </a:prstGeom>
          <a:solidFill>
            <a:srgbClr val="7FB06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305800" y="3429000"/>
            <a:ext cx="2857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7FB0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差异化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305800" y="4127500"/>
            <a:ext cx="2857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数模经验=求职竞争力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305800" y="4508500"/>
            <a:ext cx="2857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当所有人都在学Prompt时，有完整数模项目经验的你，就是AI求职市场上的稀缺人才。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778500"/>
            <a:ext cx="10668000" cy="762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B8860B">
                  <a:alpha val="10000"/>
                </a:srgbClr>
              </a:gs>
              <a:gs pos="100000">
                <a:srgbClr val="C97B8C">
                  <a:alpha val="10000"/>
                </a:srgbClr>
              </a:gs>
            </a:gsLst>
            <a:lin ang="0"/>
          </a:gradFill>
          <a:ln w="12700" cap="flat" cmpd="sng">
            <a:solidFill>
              <a:srgbClr val="B8860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1016000" y="5943600"/>
            <a:ext cx="1016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800" b="1" i="0" u="none" strike="noStrike" dirty="0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不是"</a:t>
            </a:r>
            <a:r>
              <a:rPr lang="en-US" sz="1800" b="1" i="0" u="none" strike="noStrike" dirty="0" err="1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AI会不会取代我</a:t>
            </a:r>
            <a:r>
              <a:rPr lang="en-US" sz="1800" b="1" i="0" u="none" strike="noStrike" dirty="0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"，</a:t>
            </a:r>
            <a:r>
              <a:rPr lang="en-US" sz="1800" b="1" i="0" u="none" strike="noStrike" dirty="0" err="1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而是"会用AI的人会不会取代我</a:t>
            </a:r>
            <a:r>
              <a:rPr lang="en-US" sz="1800" b="1" i="0" u="none" strike="noStrike" dirty="0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"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CONTENTS · 目录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016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今天聊什么？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1771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2095500"/>
            <a:ext cx="3429000" cy="1270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952500" y="2260600"/>
            <a:ext cx="63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C97B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587500" y="2286000"/>
            <a:ext cx="2413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引子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587500" y="2641600"/>
            <a:ext cx="241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为什么关心AI+建模？和求职有什么关系？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81500" y="2095500"/>
            <a:ext cx="3429000" cy="1270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572000" y="2260600"/>
            <a:ext cx="63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207000" y="2286000"/>
            <a:ext cx="2413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经历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207000" y="2641600"/>
            <a:ext cx="241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电工杯vs华数杯：从传统组队到AI协作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01000" y="2095500"/>
            <a:ext cx="3429000" cy="1270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191500" y="2260600"/>
            <a:ext cx="63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E8C49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826500" y="2286000"/>
            <a:ext cx="2413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范式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826500" y="2641600"/>
            <a:ext cx="241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AI时代工作流变了：三手+AI协作架构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3619500"/>
            <a:ext cx="3429000" cy="1270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952500" y="3784600"/>
            <a:ext cx="63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7FB0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587500" y="3810000"/>
            <a:ext cx="2413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能力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587500" y="4165600"/>
            <a:ext cx="241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五项核心能力升级 + 真实踩坑案例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381500" y="3619500"/>
            <a:ext cx="3429000" cy="1270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25400" cap="flat" cmpd="sng">
            <a:solidFill>
              <a:srgbClr val="C97B8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4572000" y="3784600"/>
            <a:ext cx="63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C97B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5207000" y="3810000"/>
            <a:ext cx="2413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就业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5207000" y="4165600"/>
            <a:ext cx="241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AI+建模能做什么岗位？6大方向拆解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001000" y="3619500"/>
            <a:ext cx="3429000" cy="1270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8191500" y="3784600"/>
            <a:ext cx="63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826500" y="3810000"/>
            <a:ext cx="2413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工具 + 总结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826500" y="4165600"/>
            <a:ext cx="241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MathModelAgent工具介绍 + 成长路线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62000" y="5270500"/>
            <a:ext cx="10668000" cy="1143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B8860B">
                  <a:alpha val="8000"/>
                </a:srgbClr>
              </a:gs>
              <a:gs pos="100000">
                <a:srgbClr val="C97B8C">
                  <a:alpha val="8000"/>
                </a:srgbClr>
              </a:gs>
            </a:gsLst>
            <a:lin ang="2700000"/>
          </a:gradFill>
          <a:ln w="12700" cap="flat" cmpd="sng">
            <a:solidFill>
              <a:srgbClr val="B8860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1016000" y="55245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33000"/>
              </a:lnSpc>
              <a:defRPr/>
            </a:pPr>
            <a:r>
              <a:rPr lang="en-US" sz="1400" b="0" i="0" u="none" strike="noStrike" dirty="0" err="1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全程约15分钟</a:t>
            </a:r>
            <a:r>
              <a:rPr lang="en-US" sz="1400" b="0" i="0" u="none" strike="noStrike" dirty="0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· </a:t>
            </a:r>
            <a:r>
              <a:rPr lang="zh-CN" altLang="en-US" sz="1400" b="0" i="0" u="none" strike="noStrike" dirty="0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穿插</a:t>
            </a:r>
            <a:r>
              <a:rPr lang="en-US" sz="1400" b="0" i="0" u="none" strike="noStrike" dirty="0" err="1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真实案例</a:t>
            </a:r>
            <a:r>
              <a:rPr lang="zh-CN" altLang="en-US" sz="1400" b="0" i="0" u="none" strike="noStrike" dirty="0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</a:t>
            </a:r>
            <a:r>
              <a:rPr lang="en-US" sz="1400" b="0" i="0" u="none" strike="noStrike" dirty="0" err="1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可落地建议</a:t>
            </a:r>
            <a:endParaRPr lang="en-US" sz="1100" dirty="0"/>
          </a:p>
          <a:p>
            <a:pPr marL="0" indent="0" algn="ctr">
              <a:lnSpc>
                <a:spcPct val="133000"/>
              </a:lnSpc>
            </a:pPr>
            <a:r>
              <a:rPr lang="zh-CN" altLang="en-US" sz="1400" b="1" i="0" u="none" strike="noStrike" dirty="0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亮点评审</a:t>
            </a:r>
            <a:r>
              <a:rPr lang="en-US" sz="1400" b="0" i="0" u="none" strike="noStrike" dirty="0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——</a:t>
            </a:r>
            <a:r>
              <a:rPr lang="en-US" altLang="zh-CN" sz="1400" b="0" i="0" u="none" strike="noStrike" dirty="0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</a:t>
            </a:r>
            <a:r>
              <a:rPr lang="en-US" sz="1400" b="0" i="0" u="none" strike="noStrike" dirty="0" err="1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直接对接你的AI求职</a:t>
            </a:r>
            <a:endParaRPr lang="en-US" sz="1400" b="0" i="0" u="none" strike="noStrike" dirty="0">
              <a:solidFill>
                <a:srgbClr val="4A372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· 经历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88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两段参赛经历：从传统组队到AI协作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151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1841500"/>
            <a:ext cx="5080000" cy="4318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762000" y="1841500"/>
            <a:ext cx="5080000" cy="571500"/>
          </a:xfrm>
          <a:prstGeom prst="roundRect">
            <a:avLst>
              <a:gd name="adj" fmla="val 0"/>
            </a:avLst>
          </a:prstGeom>
          <a:solidFill>
            <a:srgbClr val="8B735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16000" y="1968500"/>
            <a:ext cx="457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电工杯 · 传统组队模式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26035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2026.05 · 第十八届全国大学生电工数学建模竞赛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29845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赛题：嵌入式社区养老服务站建设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34290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三人分工、三天冲刺，靠人力啃下题目。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马尔可夫链预测 · NSGA-II遗传算法 · 非线性定价</a:t>
            </a:r>
          </a:p>
        </p:txBody>
      </p:sp>
      <p:sp>
        <p:nvSpPr>
          <p:cNvPr id="12" name="AutoShape 12"/>
          <p:cNvSpPr/>
          <p:nvPr/>
        </p:nvSpPr>
        <p:spPr>
          <a:xfrm>
            <a:off x="1016000" y="4635500"/>
            <a:ext cx="1016000" cy="355600"/>
          </a:xfrm>
          <a:prstGeom prst="roundRect">
            <a:avLst>
              <a:gd name="adj" fmla="val 0"/>
            </a:avLst>
          </a:prstGeom>
          <a:solidFill>
            <a:srgbClr val="8B7355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016000" y="4686300"/>
            <a:ext cx="101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三等奖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5207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100" b="0" i="1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团队：陈康 / 唐程骑 / 郑雨露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100" b="0" i="1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指导教师：陶明杰 · 成都理工大学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350000" y="1841500"/>
            <a:ext cx="5080000" cy="4318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C97B8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350000" y="1841500"/>
            <a:ext cx="5080000" cy="5715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C97B8C">
                  <a:alpha val="100000"/>
                </a:srgbClr>
              </a:gs>
              <a:gs pos="100000">
                <a:srgbClr val="B8860B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604000" y="1968500"/>
            <a:ext cx="457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华数杯 · AI深度协作范式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604000" y="26035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2026.08 · 第七届华数杯数学建模竞赛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604000" y="29845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赛题：VLSI布图规划设计（EDA芯片布局）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604000" y="34290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全面引入AI协作，建模手+编程手+论文手三手分工。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B*-Tree · 模拟退火 · HPWL · 100+份工作文档</a:t>
            </a:r>
          </a:p>
        </p:txBody>
      </p:sp>
      <p:sp>
        <p:nvSpPr>
          <p:cNvPr id="21" name="AutoShape 21"/>
          <p:cNvSpPr/>
          <p:nvPr/>
        </p:nvSpPr>
        <p:spPr>
          <a:xfrm>
            <a:off x="6604000" y="4635500"/>
            <a:ext cx="1524000" cy="355600"/>
          </a:xfrm>
          <a:prstGeom prst="roundRect">
            <a:avLst>
              <a:gd name="adj" fmla="val 0"/>
            </a:avLst>
          </a:prstGeom>
          <a:solidFill>
            <a:srgbClr val="C97B8C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604000" y="4686300"/>
            <a:ext cx="152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C97B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范式跃迁实验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604000" y="5207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100" b="0" i="1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核心技术：B*-Tree数据结构 · 模拟退火优化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100" b="0" i="1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数据：GSRC标准布图基准（n100/n200/n300）</a:t>
            </a:r>
          </a:p>
        </p:txBody>
      </p:sp>
      <p:sp>
        <p:nvSpPr>
          <p:cNvPr id="24" name="AutoShape 24"/>
          <p:cNvSpPr/>
          <p:nvPr/>
        </p:nvSpPr>
        <p:spPr>
          <a:xfrm>
            <a:off x="762000" y="6350000"/>
            <a:ext cx="10668000" cy="381000"/>
          </a:xfrm>
          <a:prstGeom prst="roundRect">
            <a:avLst>
              <a:gd name="adj" fmla="val 0"/>
            </a:avLst>
          </a:prstGeom>
          <a:solidFill>
            <a:srgbClr val="B8860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1016000" y="6413500"/>
            <a:ext cx="1016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关键对比：从"三人拼人力"到"人机协作提效"——这是范式的跃迁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· 赛题背景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8890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华数杯B题：VLSI布图规划设计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635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EDA领域硬核芯片布局优化 · NP-hard组合优化问题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4092">
            <a:off x="762004" y="1771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762000" y="2032000"/>
            <a:ext cx="5080000" cy="4445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952500" y="2120900"/>
            <a:ext cx="4699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四问层层递进，本质是同一个恒等式 M = A × R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2476500"/>
            <a:ext cx="5080000" cy="6985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952500" y="25781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Q1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524000" y="26035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最小化芯片轮廓面积，面积相同时长宽比趋近1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3175000"/>
            <a:ext cx="5080000" cy="698500"/>
          </a:xfrm>
          <a:prstGeom prst="roundRect">
            <a:avLst>
              <a:gd name="adj" fmla="val 0"/>
            </a:avLst>
          </a:prstGeom>
          <a:solidFill>
            <a:srgbClr val="F8F5F0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952500" y="32766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97B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Q2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524000" y="33020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固定正方形轮廓（死区15%）内最小化总半周长线长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3873500"/>
            <a:ext cx="5080000" cy="6985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952500" y="39751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8C49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Q3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524000" y="40005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求最小死区比例使存在可行布局，更新该轮廓下HPWL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4572000"/>
            <a:ext cx="5080000" cy="698500"/>
          </a:xfrm>
          <a:prstGeom prst="roundRect">
            <a:avLst>
              <a:gd name="adj" fmla="val 0"/>
            </a:avLst>
          </a:prstGeom>
          <a:solidFill>
            <a:srgbClr val="F8F5F0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952500" y="46736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7FB0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Q4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524000" y="46990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L/T型模块（拆为2/3个子块）的最小包络面积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5461000"/>
            <a:ext cx="5080000" cy="762000"/>
          </a:xfrm>
          <a:prstGeom prst="roundRect">
            <a:avLst>
              <a:gd name="adj" fmla="val 0"/>
            </a:avLst>
          </a:prstGeom>
          <a:solidFill>
            <a:srgbClr val="B8860B">
              <a:alpha val="8000"/>
            </a:srgbClr>
          </a:solidFill>
          <a:ln w="12700" cap="flat" cmpd="sng">
            <a:solidFill>
              <a:srgbClr val="B8860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952500" y="56134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核心突破：</a:t>
            </a:r>
            <a:r>
              <a:rPr lang="en-US" sz="1200" b="0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想清楚三问本质是同一个恒等式M=A·R，这是AI给不出来的洞察。</a:t>
            </a:r>
            <a:endParaRPr lang="en-US" sz="1100"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3"/>
          <a:srcRect l="22429" r="22429"/>
          <a:stretch>
            <a:fillRect/>
          </a:stretch>
        </p:blipFill>
        <p:spPr>
          <a:xfrm>
            <a:off x="6223000" y="2032000"/>
            <a:ext cx="5207000" cy="3810000"/>
          </a:xfrm>
          <a:prstGeom prst="roundRect">
            <a:avLst>
              <a:gd name="adj" fmla="val 2666"/>
            </a:avLst>
          </a:prstGeom>
          <a:noFill/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</a:ln>
        </p:spPr>
      </p:pic>
      <p:sp>
        <p:nvSpPr>
          <p:cNvPr id="24" name="AutoShape 24"/>
          <p:cNvSpPr/>
          <p:nvPr/>
        </p:nvSpPr>
        <p:spPr>
          <a:xfrm>
            <a:off x="6223000" y="5969000"/>
            <a:ext cx="5207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n100 / n200 / n300 三组芯片最终布图可视化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C97B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C97B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· 范式变迁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88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AI时代，数学建模的工作流变了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151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1778000"/>
            <a:ext cx="1524000" cy="444500"/>
          </a:xfrm>
          <a:prstGeom prst="roundRect">
            <a:avLst>
              <a:gd name="adj" fmla="val 0"/>
            </a:avLst>
          </a:prstGeom>
          <a:solidFill>
            <a:srgbClr val="8B735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762000" y="1866900"/>
            <a:ext cx="152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环节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286000" y="1778000"/>
            <a:ext cx="4318000" cy="444500"/>
          </a:xfrm>
          <a:prstGeom prst="roundRect">
            <a:avLst>
              <a:gd name="adj" fmla="val 0"/>
            </a:avLst>
          </a:prstGeom>
          <a:solidFill>
            <a:srgbClr val="8B7355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2286000" y="1866900"/>
            <a:ext cx="431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传统模式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604000" y="1778000"/>
            <a:ext cx="4826000" cy="4445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C97B8C">
                  <a:alpha val="100000"/>
                </a:srgbClr>
              </a:gs>
              <a:gs pos="100000">
                <a:srgbClr val="B8860B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604000" y="1866900"/>
            <a:ext cx="482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AI协作模式（华数杯实践）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2222500"/>
            <a:ext cx="10668000" cy="6985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889000" y="2413000"/>
            <a:ext cx="127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赛题理解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413000" y="23876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三人讨论+查文献，耗时半天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731000" y="23876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AI做背景全量研究报告，2小时完成领域入门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2921000"/>
            <a:ext cx="10668000" cy="698500"/>
          </a:xfrm>
          <a:prstGeom prst="roundRect">
            <a:avLst>
              <a:gd name="adj" fmla="val 0"/>
            </a:avLst>
          </a:prstGeom>
          <a:solidFill>
            <a:srgbClr val="F8F5F0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89000" y="3111500"/>
            <a:ext cx="127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模型设计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2413000" y="30861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建模手凭经验选型，反复试错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731000" y="30861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AI辅助原理梳理、公式推导，最终决策权在人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3619500"/>
            <a:ext cx="10668000" cy="6985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889000" y="3810000"/>
            <a:ext cx="127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C97B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代码实现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2413000" y="37846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编程手从零写，调试占60%时间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731000" y="37846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AI生成核心框架+调试排错，人聚焦逻辑验证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4318000"/>
            <a:ext cx="10668000" cy="698500"/>
          </a:xfrm>
          <a:prstGeom prst="roundRect">
            <a:avLst>
              <a:gd name="adj" fmla="val 0"/>
            </a:avLst>
          </a:prstGeom>
          <a:solidFill>
            <a:srgbClr val="F8F5F0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889000" y="4508500"/>
            <a:ext cx="127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C97B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结果验证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2413000" y="44831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跑出结果就写论文，缺乏闭环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731000" y="44831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建模手理论→编程手独立实现→反馈修正，闭环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62000" y="5016500"/>
            <a:ext cx="10668000" cy="6985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889000" y="5207000"/>
            <a:ext cx="127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E8C49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论文写作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2413000" y="51816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论文手熬夜赶稿，格式混乱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731000" y="51816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AI辅助结构化写作、术语统一、配图生成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62000" y="5969000"/>
            <a:ext cx="10668000" cy="635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C97B8C">
                  <a:alpha val="10000"/>
                </a:srgbClr>
              </a:gs>
              <a:gs pos="100000">
                <a:srgbClr val="B8860B">
                  <a:alpha val="10000"/>
                </a:srgbClr>
              </a:gs>
            </a:gsLst>
            <a:lin ang="0"/>
          </a:gradFill>
          <a:ln w="12700" cap="flat" cmpd="sng">
            <a:solidFill>
              <a:srgbClr val="C97B8C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1016000" y="6121400"/>
            <a:ext cx="1016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97B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AI不是"一键出答案"的神器，而是领域加速器、思维陪练、代码副驾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· 协作架构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88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"三手+AI"协作架构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762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每个角色都有AI深度参与，形成闭环验证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4092">
            <a:off x="762004" y="1771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 l="10976" r="10976"/>
          <a:stretch>
            <a:fillRect/>
          </a:stretch>
        </p:blipFill>
        <p:spPr>
          <a:xfrm>
            <a:off x="762000" y="2032000"/>
            <a:ext cx="5080000" cy="3556000"/>
          </a:xfrm>
          <a:prstGeom prst="roundRect">
            <a:avLst>
              <a:gd name="adj" fmla="val 2857"/>
            </a:avLst>
          </a:prstGeom>
          <a:noFill/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762000" y="5715000"/>
            <a:ext cx="508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确定性构造+贪心下降+诚实分层的融合方法架构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2032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B8860B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223000" y="2032000"/>
            <a:ext cx="76200" cy="10795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477000" y="21590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建模手（总指挥）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77000" y="2540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输出"约束+验收标准"，不输出代码。AI辅助数学原理梳理、模型假设深挖。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23000" y="32385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C97B8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223000" y="3238500"/>
            <a:ext cx="76200" cy="1079500"/>
          </a:xfrm>
          <a:prstGeom prst="roundRect">
            <a:avLst>
              <a:gd name="adj" fmla="val 0"/>
            </a:avLst>
          </a:prstGeom>
          <a:solidFill>
            <a:srgbClr val="C97B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477000" y="33655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97B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编程手（实现）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477000" y="37465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拿到建模手清单后独立实现，AI辅助代码生成、调试。关键：必须独立实现。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23000" y="4445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7FB06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223000" y="4445000"/>
            <a:ext cx="76200" cy="1079500"/>
          </a:xfrm>
          <a:prstGeom prst="roundRect">
            <a:avLst>
              <a:gd name="adj" fmla="val 0"/>
            </a:avLst>
          </a:prstGeom>
          <a:solidFill>
            <a:srgbClr val="7FB06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477000" y="45720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7FB0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论文手（表达）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77000" y="4953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整合建模手理论和编程手结果，AI辅助学术写作、配图规划。核心观点自己写。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223000" y="5715000"/>
            <a:ext cx="5207000" cy="50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B8860B">
                  <a:alpha val="100000"/>
                </a:srgbClr>
              </a:gs>
              <a:gs pos="100000">
                <a:srgbClr val="C97B8C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350000" y="5816600"/>
            <a:ext cx="495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关键闭环：建模手理论 → 编程手独立实现 → 反馈修正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C97B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C97B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· 差异分析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88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校园竞赛 vs 工业职场：四个核心差异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151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18415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762000" y="1841500"/>
            <a:ext cx="5207000" cy="508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16000" y="2032000"/>
            <a:ext cx="63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651000" y="20701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问题边界：清晰定义 vs 模糊需求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24765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竞赛：</a:t>
            </a:r>
            <a:r>
              <a:rPr lang="en-US" sz="12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题目白纸黑字写清楚，目标函数、约束条件全部给定。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200" b="1" i="0" u="none" strike="noStrike">
                <a:solidFill>
                  <a:srgbClr val="C97B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职场：</a:t>
            </a:r>
            <a:r>
              <a:rPr lang="en-US" sz="12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业务方说"优化一下效率"，80%的工作是在定义问题。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223000" y="18415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223000" y="1841500"/>
            <a:ext cx="5207000" cy="50800"/>
          </a:xfrm>
          <a:prstGeom prst="roundRect">
            <a:avLst>
              <a:gd name="adj" fmla="val 0"/>
            </a:avLst>
          </a:prstGeom>
          <a:solidFill>
            <a:srgbClr val="C97B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477000" y="2032000"/>
            <a:ext cx="63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C97B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112000" y="20701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数据质量：干净标准 vs 脏乱缺失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77000" y="24765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竞赛：</a:t>
            </a:r>
            <a:r>
              <a:rPr lang="en-US" sz="12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数据是出题人精心准备的，格式统一、没有缺失。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200" b="1" i="0" u="none" strike="noStrike">
                <a:solidFill>
                  <a:srgbClr val="C97B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职场：</a:t>
            </a:r>
            <a:r>
              <a:rPr lang="en-US" sz="12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数据来自多个业务系统，缺失严重，清洗占60%以上时间。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762000" y="41275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762000" y="4127500"/>
            <a:ext cx="5207000" cy="50800"/>
          </a:xfrm>
          <a:prstGeom prst="roundRect">
            <a:avLst>
              <a:gd name="adj" fmla="val 0"/>
            </a:avLst>
          </a:prstGeom>
          <a:solidFill>
            <a:srgbClr val="E8C49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1016000" y="4318000"/>
            <a:ext cx="63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E8C49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651000" y="43561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评价标准：模型新颖 vs 业务可落地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016000" y="47625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竞赛：</a:t>
            </a:r>
            <a:r>
              <a:rPr lang="en-US" sz="12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评委看模型是否新颖、结果是否最优、论文是否规范。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200" b="1" i="0" u="none" strike="noStrike">
                <a:solidFill>
                  <a:srgbClr val="C97B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职场：</a:t>
            </a:r>
            <a:r>
              <a:rPr lang="en-US" sz="12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老板看能不能解决问题、能不能解释、成本能不能接受。</a:t>
            </a:r>
          </a:p>
        </p:txBody>
      </p:sp>
      <p:sp>
        <p:nvSpPr>
          <p:cNvPr id="21" name="AutoShape 21"/>
          <p:cNvSpPr/>
          <p:nvPr/>
        </p:nvSpPr>
        <p:spPr>
          <a:xfrm>
            <a:off x="6223000" y="41275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223000" y="4127500"/>
            <a:ext cx="5207000" cy="50800"/>
          </a:xfrm>
          <a:prstGeom prst="roundRect">
            <a:avLst>
              <a:gd name="adj" fmla="val 0"/>
            </a:avLst>
          </a:prstGeom>
          <a:solidFill>
            <a:srgbClr val="7FB06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477000" y="4318000"/>
            <a:ext cx="63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7FB0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112000" y="43561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时间周期：3天冲刺 vs 持续迭代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477000" y="47625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竞赛：</a:t>
            </a:r>
            <a:r>
              <a:rPr lang="en-US" sz="12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72小时连轴转，交完论文就结束，没有后续。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200" b="1" i="0" u="none" strike="noStrike">
                <a:solidFill>
                  <a:srgbClr val="C97B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职场：</a:t>
            </a:r>
            <a:r>
              <a:rPr lang="en-US" sz="12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一个项目持续数月，需要持续维护、迭代、监控。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· 能力升级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88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AI时代数学建模人的五项核心能力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151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1905000"/>
            <a:ext cx="2032000" cy="4064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B8860B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762000" y="1905000"/>
            <a:ext cx="2032000" cy="6350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762000" y="2032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问题定义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89000" y="27305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PROBLEM FRAMING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3175000"/>
            <a:ext cx="1651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从模糊业务需求中提炼数学问题。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AI能给方案，但不能替你定义问题。</a:t>
            </a:r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这是建模人最核心的护城河。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2921000" y="1905000"/>
            <a:ext cx="2032000" cy="4064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C97B8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2921000" y="1905000"/>
            <a:ext cx="2032000" cy="635000"/>
          </a:xfrm>
          <a:prstGeom prst="roundRect">
            <a:avLst>
              <a:gd name="adj" fmla="val 0"/>
            </a:avLst>
          </a:prstGeom>
          <a:solidFill>
            <a:srgbClr val="C97B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2921000" y="2032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数据工程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048000" y="27305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C97B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DATA ENGINEERING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111500" y="3175000"/>
            <a:ext cx="1651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数据清洗、特征工程、数据质量管控。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职场60%时间在做数据，不是建模。</a:t>
            </a:r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AI辅助清洗，但需要人判断合理性。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5080000" y="1905000"/>
            <a:ext cx="2032000" cy="4064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E8C49A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5080000" y="1905000"/>
            <a:ext cx="2032000" cy="635000"/>
          </a:xfrm>
          <a:prstGeom prst="roundRect">
            <a:avLst>
              <a:gd name="adj" fmla="val 0"/>
            </a:avLst>
          </a:prstGeom>
          <a:solidFill>
            <a:srgbClr val="E8C49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5080000" y="2032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模型设计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207000" y="27305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MODEL DESIGN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5270500" y="3175000"/>
            <a:ext cx="1651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选择合适的数学模型和优化算法。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AI能推荐模型，但不能判断适用性。</a:t>
            </a:r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数学功底是建模人的立身之本。</a:t>
            </a:r>
          </a:p>
        </p:txBody>
      </p:sp>
      <p:sp>
        <p:nvSpPr>
          <p:cNvPr id="21" name="AutoShape 21"/>
          <p:cNvSpPr/>
          <p:nvPr/>
        </p:nvSpPr>
        <p:spPr>
          <a:xfrm>
            <a:off x="7239000" y="1905000"/>
            <a:ext cx="2032000" cy="4064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7FB06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7239000" y="1905000"/>
            <a:ext cx="2032000" cy="635000"/>
          </a:xfrm>
          <a:prstGeom prst="roundRect">
            <a:avLst>
              <a:gd name="adj" fmla="val 0"/>
            </a:avLst>
          </a:prstGeom>
          <a:solidFill>
            <a:srgbClr val="7FB06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7239000" y="2032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工程实现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366000" y="27305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7FB0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ENGINEERING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429500" y="3175000"/>
            <a:ext cx="1651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把模型变成可运行、可维护的系统。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AI能写代码，但需要人做架构设计。</a:t>
            </a:r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从Notebook到生产系统是巨大跨越。</a:t>
            </a:r>
          </a:p>
        </p:txBody>
      </p:sp>
      <p:sp>
        <p:nvSpPr>
          <p:cNvPr id="26" name="AutoShape 26"/>
          <p:cNvSpPr/>
          <p:nvPr/>
        </p:nvSpPr>
        <p:spPr>
          <a:xfrm>
            <a:off x="9398000" y="1905000"/>
            <a:ext cx="2032000" cy="4064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B8860B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9398000" y="1905000"/>
            <a:ext cx="2032000" cy="635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B8860B">
                  <a:alpha val="100000"/>
                </a:srgbClr>
              </a:gs>
              <a:gs pos="100000">
                <a:srgbClr val="C97B8C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9398000" y="2032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业务沟通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525000" y="27305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COMMUNICATION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9588500" y="3175000"/>
            <a:ext cx="1651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把数学语言翻译成业务语言。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AI能生成报告，但不能做利益相关方沟通。</a:t>
            </a:r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这是从技术岗到管理岗的关键跃迁。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C97B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C97B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· 深度案例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88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实践验证：融合方法 vs 纯模拟退火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151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 l="21951" r="21951"/>
          <a:stretch>
            <a:fillRect/>
          </a:stretch>
        </p:blipFill>
        <p:spPr>
          <a:xfrm>
            <a:off x="762000" y="1841500"/>
            <a:ext cx="6096000" cy="4064000"/>
          </a:xfrm>
          <a:prstGeom prst="roundRect">
            <a:avLst>
              <a:gd name="adj" fmla="val 2500"/>
            </a:avLst>
          </a:prstGeom>
          <a:noFill/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762000" y="6032500"/>
            <a:ext cx="609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n300规模下融合方法与纯模拟退火的收敛曲线对比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112000" y="1841500"/>
            <a:ext cx="4318000" cy="1270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B8860B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7302500" y="1968500"/>
            <a:ext cx="393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核心发现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302500" y="23495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融合方法在n300规模下，收敛速度提升40%，最终解质量提升15%。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112000" y="3238500"/>
            <a:ext cx="4318000" cy="1270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C97B8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7302500" y="3365500"/>
            <a:ext cx="393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97B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方法创新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302500" y="37465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确定性构造提供优质初始解，贪心下降快速局部优化，模拟退火全局搜索。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112000" y="4635500"/>
            <a:ext cx="4318000" cy="1270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7FB06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7302500" y="4762500"/>
            <a:ext cx="393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7FB0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AI协作价值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302500" y="51435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AI辅助代码生成和参数调优，但融合策略的设计是人的核心创造力。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 · 就业关联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88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AI+建模：本科生可触及的六大岗位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889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数学建模能力是AI时代的通用底层能力，可迁移到多个岗位方向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4092">
            <a:off x="762004" y="1771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762000" y="2032000"/>
            <a:ext cx="3429000" cy="2032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B8860B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762000" y="2032000"/>
            <a:ext cx="3429000" cy="508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952500" y="2222500"/>
            <a:ext cx="304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AI应用开发工程师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2603500"/>
            <a:ext cx="304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APPLICATION DEVELOPER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52500" y="29845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基于大模型API开发应用，需要理解模型能力边界，设计合理的prompt和工作流。建模人的问题拆解能力直接复用。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81500" y="2032000"/>
            <a:ext cx="3429000" cy="2032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C97B8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381500" y="2032000"/>
            <a:ext cx="3429000" cy="50800"/>
          </a:xfrm>
          <a:prstGeom prst="roundRect">
            <a:avLst>
              <a:gd name="adj" fmla="val 0"/>
            </a:avLst>
          </a:prstGeom>
          <a:solidFill>
            <a:srgbClr val="C97B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4572000" y="2222500"/>
            <a:ext cx="304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C97B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智能体开发工程师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572000" y="2603500"/>
            <a:ext cx="304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 DEVELOPER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572000" y="29845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设计多智能体协作系统，需要任务分解、状态管理、工具调用编排。建模人的系统思维和流程设计能力高度匹配。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001000" y="2032000"/>
            <a:ext cx="3429000" cy="2032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E8C49A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001000" y="2032000"/>
            <a:ext cx="3429000" cy="50800"/>
          </a:xfrm>
          <a:prstGeom prst="roundRect">
            <a:avLst>
              <a:gd name="adj" fmla="val 0"/>
            </a:avLst>
          </a:prstGeom>
          <a:solidFill>
            <a:srgbClr val="E8C49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191500" y="2222500"/>
            <a:ext cx="304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数据治理工程师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191500" y="2603500"/>
            <a:ext cx="304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DATA GOVERNANCE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191500" y="29845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数据清洗、质量管控、特征工程。建模人在竞赛中积累的数据处理经验，是数据治理岗位的核心竞争力。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4254500"/>
            <a:ext cx="3429000" cy="2032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7FB06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762000" y="4254500"/>
            <a:ext cx="3429000" cy="50800"/>
          </a:xfrm>
          <a:prstGeom prst="roundRect">
            <a:avLst>
              <a:gd name="adj" fmla="val 0"/>
            </a:avLst>
          </a:prstGeom>
          <a:solidFill>
            <a:srgbClr val="7FB06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952500" y="4445000"/>
            <a:ext cx="304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7FB0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AI产品经理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52500" y="4826000"/>
            <a:ext cx="304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PRODUCT MANAGER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952500" y="52070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定义AI产品需求，评估技术可行性。建模人理解算法能力边界，能在业务和技术之间做有效翻译。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4381500" y="4254500"/>
            <a:ext cx="3429000" cy="2032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B8860B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4381500" y="4254500"/>
            <a:ext cx="3429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B8860B">
                  <a:alpha val="100000"/>
                </a:srgbClr>
              </a:gs>
              <a:gs pos="100000">
                <a:srgbClr val="C97B8C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4572000" y="4445000"/>
            <a:ext cx="304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AI产品运营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4572000" y="4826000"/>
            <a:ext cx="304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PRODUCT OPERATION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4572000" y="52070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AI产品的用户增长、效果优化、数据分析。建模人的数据分析能力和实验设计思维是运营岗位的加分项。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8001000" y="4254500"/>
            <a:ext cx="3429000" cy="2032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C97B8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8001000" y="4254500"/>
            <a:ext cx="3429000" cy="50800"/>
          </a:xfrm>
          <a:prstGeom prst="roundRect">
            <a:avLst>
              <a:gd name="adj" fmla="val 0"/>
            </a:avLst>
          </a:prstGeom>
          <a:solidFill>
            <a:srgbClr val="C97B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8191500" y="4445000"/>
            <a:ext cx="304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C97B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模型训练工程师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8191500" y="4826000"/>
            <a:ext cx="304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MODEL TRAINING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8191500" y="52070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微调、对齐、评测大模型。需要扎实的数学基础和实验设计能力，建模人的优化算法经验可直接迁移。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C97B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C97B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 · 成长路径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88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从校园到职场：四阶段成长路线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151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" name="Connector 6"/>
          <p:cNvCxnSpPr/>
          <p:nvPr/>
        </p:nvCxnSpPr>
        <p:spPr>
          <a:xfrm rot="-16370">
            <a:off x="1651015" y="3549650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8D5B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7" name="Connector 7"/>
          <p:cNvCxnSpPr/>
          <p:nvPr/>
        </p:nvCxnSpPr>
        <p:spPr>
          <a:xfrm rot="-16370">
            <a:off x="4699015" y="3549650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8D5B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8" name="Connector 8"/>
          <p:cNvCxnSpPr/>
          <p:nvPr/>
        </p:nvCxnSpPr>
        <p:spPr>
          <a:xfrm rot="-16370">
            <a:off x="7747015" y="3549650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8D5B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9" name="AutoShape 9"/>
          <p:cNvSpPr/>
          <p:nvPr/>
        </p:nvSpPr>
        <p:spPr>
          <a:xfrm>
            <a:off x="1270000" y="3365500"/>
            <a:ext cx="381000" cy="3810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38100" cap="flat" cmpd="sng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270000" y="3429000"/>
            <a:ext cx="381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2032000"/>
            <a:ext cx="2540000" cy="1143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B8860B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952500" y="2159000"/>
            <a:ext cx="215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基础夯实期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52500" y="2514600"/>
            <a:ext cx="215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大一大二：数学基础+编程基础，参加校赛积累经验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3937000"/>
            <a:ext cx="2540000" cy="1143000"/>
          </a:xfrm>
          <a:prstGeom prst="roundRect">
            <a:avLst>
              <a:gd name="adj" fmla="val 0"/>
            </a:avLst>
          </a:prstGeom>
          <a:solidFill>
            <a:srgbClr val="B8860B">
              <a:alpha val="8000"/>
            </a:srgbClr>
          </a:solidFill>
          <a:ln w="12700" cap="flat" cmpd="sng">
            <a:solidFill>
              <a:srgbClr val="B8860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952500" y="40640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核心任务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52500" y="43815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高数、线代、概率论、Python、MATLAB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318000" y="3365500"/>
            <a:ext cx="381000" cy="381000"/>
          </a:xfrm>
          <a:prstGeom prst="roundRect">
            <a:avLst>
              <a:gd name="adj" fmla="val 0"/>
            </a:avLst>
          </a:prstGeom>
          <a:solidFill>
            <a:srgbClr val="C97B8C">
              <a:alpha val="100000"/>
            </a:srgbClr>
          </a:solidFill>
          <a:ln w="38100" cap="flat" cmpd="sng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4318000" y="3429000"/>
            <a:ext cx="381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3810000" y="2032000"/>
            <a:ext cx="2540000" cy="1143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C97B8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4000500" y="2159000"/>
            <a:ext cx="215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97B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竞赛实战期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000500" y="2514600"/>
            <a:ext cx="215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大二大三：参加国赛、美赛、电工杯，建立三手分工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3810000" y="3937000"/>
            <a:ext cx="2540000" cy="1143000"/>
          </a:xfrm>
          <a:prstGeom prst="roundRect">
            <a:avLst>
              <a:gd name="adj" fmla="val 0"/>
            </a:avLst>
          </a:prstGeom>
          <a:solidFill>
            <a:srgbClr val="C97B8C">
              <a:alpha val="8000"/>
            </a:srgbClr>
          </a:solidFill>
          <a:ln w="12700" cap="flat" cmpd="sng">
            <a:solidFill>
              <a:srgbClr val="C97B8C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4000500" y="40640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C97B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核心任务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000500" y="43815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建模方法库、论文写作、团队协作、AI工具使用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366000" y="3365500"/>
            <a:ext cx="381000" cy="381000"/>
          </a:xfrm>
          <a:prstGeom prst="roundRect">
            <a:avLst>
              <a:gd name="adj" fmla="val 0"/>
            </a:avLst>
          </a:prstGeom>
          <a:solidFill>
            <a:srgbClr val="E8C49A">
              <a:alpha val="100000"/>
            </a:srgbClr>
          </a:solidFill>
          <a:ln w="38100" cap="flat" cmpd="sng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7366000" y="3429000"/>
            <a:ext cx="381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858000" y="2032000"/>
            <a:ext cx="2540000" cy="1143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E8C49A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7048500" y="2159000"/>
            <a:ext cx="215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AI融合期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048500" y="2514600"/>
            <a:ext cx="215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大三：深度融合AI工具，建立个人工作流和方法论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858000" y="3937000"/>
            <a:ext cx="2540000" cy="1143000"/>
          </a:xfrm>
          <a:prstGeom prst="roundRect">
            <a:avLst>
              <a:gd name="adj" fmla="val 0"/>
            </a:avLst>
          </a:prstGeom>
          <a:solidFill>
            <a:srgbClr val="E8C49A">
              <a:alpha val="15000"/>
            </a:srgbClr>
          </a:solidFill>
          <a:ln w="12700" cap="flat" cmpd="sng">
            <a:solidFill>
              <a:srgbClr val="E8C49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7048500" y="40640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核心任务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048500" y="43815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Prompt工程、AI工作流、智能体开发、开源项目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10414000" y="3365500"/>
            <a:ext cx="381000" cy="381000"/>
          </a:xfrm>
          <a:prstGeom prst="roundRect">
            <a:avLst>
              <a:gd name="adj" fmla="val 0"/>
            </a:avLst>
          </a:prstGeom>
          <a:solidFill>
            <a:srgbClr val="7FB069">
              <a:alpha val="100000"/>
            </a:srgbClr>
          </a:solidFill>
          <a:ln w="38100" cap="flat" cmpd="sng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10414000" y="3429000"/>
            <a:ext cx="381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9398000" y="2032000"/>
            <a:ext cx="2540000" cy="1143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7FB06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AutoShape 36"/>
          <p:cNvSpPr/>
          <p:nvPr/>
        </p:nvSpPr>
        <p:spPr>
          <a:xfrm>
            <a:off x="9588500" y="2159000"/>
            <a:ext cx="215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7FB0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职场跃迁期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9588500" y="2514600"/>
            <a:ext cx="215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大四及以后：实习+项目，把竞赛能力转化为职场竞争力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9398000" y="3937000"/>
            <a:ext cx="2540000" cy="1143000"/>
          </a:xfrm>
          <a:prstGeom prst="roundRect">
            <a:avLst>
              <a:gd name="adj" fmla="val 0"/>
            </a:avLst>
          </a:prstGeom>
          <a:solidFill>
            <a:srgbClr val="7FB069">
              <a:alpha val="8000"/>
            </a:srgbClr>
          </a:solidFill>
          <a:ln w="12700" cap="flat" cmpd="sng">
            <a:solidFill>
              <a:srgbClr val="7FB06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" name="AutoShape 39"/>
          <p:cNvSpPr/>
          <p:nvPr/>
        </p:nvSpPr>
        <p:spPr>
          <a:xfrm>
            <a:off x="9588500" y="40640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7FB0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核心任务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9588500" y="43815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业务理解、工程化能力、沟通协作、持续学习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762000" y="5461000"/>
            <a:ext cx="10668000" cy="762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B8860B">
                  <a:alpha val="10000"/>
                </a:srgbClr>
              </a:gs>
              <a:gs pos="100000">
                <a:srgbClr val="C97B8C">
                  <a:alpha val="10000"/>
                </a:srgbClr>
              </a:gs>
            </a:gsLst>
            <a:lin ang="0"/>
          </a:gradFill>
          <a:ln w="12700" cap="flat" cmpd="sng">
            <a:solidFill>
              <a:srgbClr val="B8860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AutoShape 42"/>
          <p:cNvSpPr/>
          <p:nvPr/>
        </p:nvSpPr>
        <p:spPr>
          <a:xfrm>
            <a:off x="1016000" y="56515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关键认知：每个阶段都不是终点，而是下一个阶段的基础。AI是加速器，不是替代品。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09 · 工具实践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88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MathModelAgent：把方法论变成工具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151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62000" y="1905000"/>
            <a:ext cx="1270000" cy="1270000"/>
          </a:xfrm>
          <a:prstGeom prst="roundRect">
            <a:avLst>
              <a:gd name="adj" fmla="val 8000"/>
            </a:avLst>
          </a:prstGeom>
          <a:noFill/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2286000" y="2032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MathModelAgent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286000" y="2476500"/>
            <a:ext cx="355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数学建模智能体协作平台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286000" y="2857500"/>
            <a:ext cx="355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基于华数杯实战经验沉淀的开源工具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3429000"/>
            <a:ext cx="5080000" cy="762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B8860B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762000" y="3429000"/>
            <a:ext cx="50800" cy="7620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952500" y="3556000"/>
            <a:ext cx="469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三手智能体自动协作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52500" y="3835400"/>
            <a:ext cx="4699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建模手、编程手、论文手三个智能体自动分工协作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318000"/>
            <a:ext cx="5080000" cy="762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C97B8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762000" y="4318000"/>
            <a:ext cx="50800" cy="762000"/>
          </a:xfrm>
          <a:prstGeom prst="roundRect">
            <a:avLst>
              <a:gd name="adj" fmla="val 0"/>
            </a:avLst>
          </a:prstGeom>
          <a:solidFill>
            <a:srgbClr val="C97B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952500" y="4445000"/>
            <a:ext cx="469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C97B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赛题理解与方案生成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52500" y="4724400"/>
            <a:ext cx="4699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自动分析赛题背景，生成建模方案和代码框架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5207000"/>
            <a:ext cx="5080000" cy="762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7FB06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762000" y="5207000"/>
            <a:ext cx="50800" cy="762000"/>
          </a:xfrm>
          <a:prstGeom prst="roundRect">
            <a:avLst>
              <a:gd name="adj" fmla="val 0"/>
            </a:avLst>
          </a:prstGeom>
          <a:solidFill>
            <a:srgbClr val="7FB06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952500" y="5334000"/>
            <a:ext cx="469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7FB0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论文自动生成与优化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52500" y="5613400"/>
            <a:ext cx="4699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整合建模结果，自动生成结构化论文和可视化图表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4"/>
          <a:srcRect l="3933" r="3933"/>
          <a:stretch>
            <a:fillRect/>
          </a:stretch>
        </p:blipFill>
        <p:spPr>
          <a:xfrm>
            <a:off x="6223000" y="1905000"/>
            <a:ext cx="5207000" cy="4064000"/>
          </a:xfrm>
          <a:prstGeom prst="roundRect">
            <a:avLst>
              <a:gd name="adj" fmla="val 2500"/>
            </a:avLst>
          </a:prstGeom>
          <a:noFill/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</a:ln>
        </p:spPr>
      </p:pic>
      <p:sp>
        <p:nvSpPr>
          <p:cNvPr id="23" name="AutoShape 23"/>
          <p:cNvSpPr/>
          <p:nvPr/>
        </p:nvSpPr>
        <p:spPr>
          <a:xfrm>
            <a:off x="6223000" y="6096000"/>
            <a:ext cx="5207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MathModelAgent 工具首页主界面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254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 · 总结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889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AI时代，数学建模人的</a:t>
            </a:r>
            <a:r>
              <a:rPr lang="en-US" sz="30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三大核心能力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1644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1968500"/>
            <a:ext cx="3302000" cy="22225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B8860B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762000" y="1968500"/>
            <a:ext cx="3302000" cy="635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16000" y="22225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问题定义能力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2641600"/>
            <a:ext cx="279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PROBLEM FRAMING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2984500"/>
            <a:ext cx="2794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从模糊需求中提炼数学问题。AI能给方案，但不能替你定义问题。这是最核心的护城河。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445000" y="1968500"/>
            <a:ext cx="3302000" cy="22225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C97B8C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445000" y="1968500"/>
            <a:ext cx="3302000" cy="63500"/>
          </a:xfrm>
          <a:prstGeom prst="roundRect">
            <a:avLst>
              <a:gd name="adj" fmla="val 0"/>
            </a:avLst>
          </a:prstGeom>
          <a:solidFill>
            <a:srgbClr val="C97B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699000" y="22225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C97B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系统思维能力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99000" y="2641600"/>
            <a:ext cx="279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SYSTEMS THINKING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699000" y="2984500"/>
            <a:ext cx="2794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把复杂问题拆解为可执行的子任务。建模人的流程设计和系统架构能力，是AI时代的稀缺资源。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128000" y="1968500"/>
            <a:ext cx="3302000" cy="22225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7FB069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128000" y="1968500"/>
            <a:ext cx="3302000" cy="63500"/>
          </a:xfrm>
          <a:prstGeom prst="roundRect">
            <a:avLst>
              <a:gd name="adj" fmla="val 0"/>
            </a:avLst>
          </a:prstGeom>
          <a:solidFill>
            <a:srgbClr val="7FB06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382000" y="22225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7FB0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持续学习能力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382000" y="2641600"/>
            <a:ext cx="279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CONTINUOUS LEARNING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382000" y="2984500"/>
            <a:ext cx="2794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37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AI技术快速迭代，保持学习敏感度。把AI当作加速器，而不是替代品，人的创造力始终不可替代。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4508500"/>
            <a:ext cx="10668000" cy="6985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B8860B">
                  <a:alpha val="100000"/>
                </a:srgbClr>
              </a:gs>
              <a:gs pos="100000">
                <a:srgbClr val="C97B8C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1016000" y="46736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AI是加速器，不是替代品。人的核心创造力，始终不可替代。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3556000" y="5524500"/>
            <a:ext cx="5080000" cy="9525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E8D5B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3556000" y="5524500"/>
            <a:ext cx="50800" cy="952500"/>
          </a:xfrm>
          <a:prstGeom prst="roundRect">
            <a:avLst>
              <a:gd name="adj" fmla="val 0"/>
            </a:avLst>
          </a:prstGeom>
          <a:solidFill>
            <a:srgbClr val="B886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3810000" y="56896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B886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AIGC夏令营08期 · 第三小组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3810000" y="60706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B73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分享人：陈康 | 感谢聆听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1674</Words>
  <Application>Microsoft Office PowerPoint</Application>
  <PresentationFormat>宽屏</PresentationFormat>
  <Paragraphs>273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泉 紤</cp:lastModifiedBy>
  <cp:revision>3</cp:revision>
  <dcterms:created xsi:type="dcterms:W3CDTF">2026-08-25T05:02:03Z</dcterms:created>
  <dcterms:modified xsi:type="dcterms:W3CDTF">2026-08-25T05:44:53Z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{"Label":"1","ContentProducer":"001191110102MACQD9K64010000","ProduceID":"7677827413821098936","ReservedCode1":"","ContentPropagator":"","PropagateID":"","ReservedCode2":""}</vt:lpwstr>
  </property>
  <property fmtid="{D5CDD505-2E9C-101B-9397-08002B2CF9AE}" pid="3" name="KSOProductBuildVer">
    <vt:lpwstr>2052-12.1.0.28043</vt:lpwstr>
  </property>
  <property fmtid="{D5CDD505-2E9C-101B-9397-08002B2CF9AE}" pid="4" name="ICV">
    <vt:lpwstr>BB0C1383DB78451E8764BBFCDF75EC80_12</vt:lpwstr>
  </property>
</Properties>
</file>