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1"/>
  </p:notesMasterIdLst>
  <p:handoutMasterIdLst>
    <p:handoutMasterId r:id="rId52"/>
  </p:handoutMasterIdLst>
  <p:sldIdLst>
    <p:sldId id="428" r:id="rId2"/>
    <p:sldId id="544" r:id="rId3"/>
    <p:sldId id="545" r:id="rId4"/>
    <p:sldId id="546" r:id="rId5"/>
    <p:sldId id="547" r:id="rId6"/>
    <p:sldId id="548" r:id="rId7"/>
    <p:sldId id="549" r:id="rId8"/>
    <p:sldId id="550" r:id="rId9"/>
    <p:sldId id="551" r:id="rId10"/>
    <p:sldId id="552" r:id="rId11"/>
    <p:sldId id="553" r:id="rId12"/>
    <p:sldId id="554" r:id="rId13"/>
    <p:sldId id="555" r:id="rId14"/>
    <p:sldId id="556" r:id="rId15"/>
    <p:sldId id="557" r:id="rId16"/>
    <p:sldId id="558" r:id="rId17"/>
    <p:sldId id="559" r:id="rId18"/>
    <p:sldId id="560" r:id="rId19"/>
    <p:sldId id="561" r:id="rId20"/>
    <p:sldId id="562" r:id="rId21"/>
    <p:sldId id="563" r:id="rId22"/>
    <p:sldId id="564" r:id="rId23"/>
    <p:sldId id="565" r:id="rId24"/>
    <p:sldId id="566" r:id="rId25"/>
    <p:sldId id="575" r:id="rId26"/>
    <p:sldId id="567" r:id="rId27"/>
    <p:sldId id="568" r:id="rId28"/>
    <p:sldId id="569" r:id="rId29"/>
    <p:sldId id="570" r:id="rId30"/>
    <p:sldId id="571" r:id="rId31"/>
    <p:sldId id="572" r:id="rId32"/>
    <p:sldId id="573" r:id="rId33"/>
    <p:sldId id="574" r:id="rId34"/>
    <p:sldId id="523" r:id="rId35"/>
    <p:sldId id="498" r:id="rId36"/>
    <p:sldId id="524" r:id="rId37"/>
    <p:sldId id="499" r:id="rId38"/>
    <p:sldId id="500" r:id="rId39"/>
    <p:sldId id="501" r:id="rId40"/>
    <p:sldId id="502" r:id="rId41"/>
    <p:sldId id="503" r:id="rId42"/>
    <p:sldId id="539" r:id="rId43"/>
    <p:sldId id="537" r:id="rId44"/>
    <p:sldId id="538" r:id="rId45"/>
    <p:sldId id="529" r:id="rId46"/>
    <p:sldId id="525" r:id="rId47"/>
    <p:sldId id="526" r:id="rId48"/>
    <p:sldId id="517" r:id="rId49"/>
    <p:sldId id="518" r:id="rId5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500" userDrawn="1">
          <p15:clr>
            <a:srgbClr val="A4A3A4"/>
          </p15:clr>
        </p15:guide>
        <p15:guide id="3" orient="horz" pos="340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2064BE"/>
    <a:srgbClr val="034193"/>
    <a:srgbClr val="99FF99"/>
    <a:srgbClr val="BABDC4"/>
    <a:srgbClr val="C8CFD9"/>
    <a:srgbClr val="E3DEDB"/>
    <a:srgbClr val="EAE7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81937" autoAdjust="0"/>
  </p:normalViewPr>
  <p:slideViewPr>
    <p:cSldViewPr snapToGrid="0">
      <p:cViewPr>
        <p:scale>
          <a:sx n="33" d="100"/>
          <a:sy n="33" d="100"/>
        </p:scale>
        <p:origin x="1920" y="276"/>
      </p:cViewPr>
      <p:guideLst>
        <p:guide pos="3500"/>
        <p:guide orient="horz" pos="3407"/>
      </p:guideLst>
    </p:cSldViewPr>
  </p:slideViewPr>
  <p:notesTextViewPr>
    <p:cViewPr>
      <p:scale>
        <a:sx n="1" d="1"/>
        <a:sy n="1" d="1"/>
      </p:scale>
      <p:origin x="0" y="0"/>
    </p:cViewPr>
  </p:notesTextViewPr>
  <p:sorterViewPr>
    <p:cViewPr>
      <p:scale>
        <a:sx n="75" d="100"/>
        <a:sy n="75" d="100"/>
      </p:scale>
      <p:origin x="0" y="0"/>
    </p:cViewPr>
  </p:sorterViewPr>
  <p:notesViewPr>
    <p:cSldViewPr snapToGrid="0">
      <p:cViewPr varScale="1">
        <p:scale>
          <a:sx n="50" d="100"/>
          <a:sy n="50" d="100"/>
        </p:scale>
        <p:origin x="2640" y="2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406F722-3F72-42F5-A1A1-BBDB3498A86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a:extLst>
              <a:ext uri="{FF2B5EF4-FFF2-40B4-BE49-F238E27FC236}">
                <a16:creationId xmlns:a16="http://schemas.microsoft.com/office/drawing/2014/main" id="{0EF1553E-D692-4949-AC47-47587321B14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9C497AF-67B3-4BA6-B186-857BD54F7DDA}" type="datetimeFigureOut">
              <a:rPr lang="zh-CN" altLang="en-US" smtClean="0"/>
              <a:t>2026/7/19</a:t>
            </a:fld>
            <a:endParaRPr lang="zh-CN" altLang="en-US"/>
          </a:p>
        </p:txBody>
      </p:sp>
      <p:sp>
        <p:nvSpPr>
          <p:cNvPr id="4" name="Footer Placeholder 3">
            <a:extLst>
              <a:ext uri="{FF2B5EF4-FFF2-40B4-BE49-F238E27FC236}">
                <a16:creationId xmlns:a16="http://schemas.microsoft.com/office/drawing/2014/main" id="{F21EF1E9-E830-4049-A9EC-D02C82C202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Slide Number Placeholder 4">
            <a:extLst>
              <a:ext uri="{FF2B5EF4-FFF2-40B4-BE49-F238E27FC236}">
                <a16:creationId xmlns:a16="http://schemas.microsoft.com/office/drawing/2014/main" id="{997210AF-88A4-4A10-AD30-1B5F8BFAE9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7EF569-A63F-4B87-90A9-8BC85289F05E}" type="slidenum">
              <a:rPr lang="zh-CN" altLang="en-US" smtClean="0"/>
              <a:t>‹#›</a:t>
            </a:fld>
            <a:endParaRPr lang="zh-CN" altLang="en-US"/>
          </a:p>
        </p:txBody>
      </p:sp>
    </p:spTree>
    <p:extLst>
      <p:ext uri="{BB962C8B-B14F-4D97-AF65-F5344CB8AC3E}">
        <p14:creationId xmlns:p14="http://schemas.microsoft.com/office/powerpoint/2010/main" val="11917440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1A907A-4D0D-4A2A-9FAD-0F7ABEB5B580}" type="datetimeFigureOut">
              <a:rPr lang="zh-CN" altLang="en-US" smtClean="0"/>
              <a:t>2026/7/19</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C96FEB-7C0A-4DC3-81A9-E1D4828328EA}" type="slidenum">
              <a:rPr lang="zh-CN" altLang="en-US" smtClean="0"/>
              <a:t>‹#›</a:t>
            </a:fld>
            <a:endParaRPr lang="zh-CN" altLang="en-US"/>
          </a:p>
        </p:txBody>
      </p:sp>
    </p:spTree>
    <p:extLst>
      <p:ext uri="{BB962C8B-B14F-4D97-AF65-F5344CB8AC3E}">
        <p14:creationId xmlns:p14="http://schemas.microsoft.com/office/powerpoint/2010/main" val="2338127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看数据</a:t>
            </a:r>
          </a:p>
        </p:txBody>
      </p:sp>
      <p:sp>
        <p:nvSpPr>
          <p:cNvPr id="4" name="Slide Number Placeholder 3"/>
          <p:cNvSpPr>
            <a:spLocks noGrp="1"/>
          </p:cNvSpPr>
          <p:nvPr>
            <p:ph type="sldNum" sz="quarter" idx="5"/>
          </p:nvPr>
        </p:nvSpPr>
        <p:spPr/>
        <p:txBody>
          <a:bodyPr/>
          <a:lstStyle/>
          <a:p>
            <a:fld id="{8EC96FEB-7C0A-4DC3-81A9-E1D4828328EA}" type="slidenum">
              <a:rPr lang="zh-CN" altLang="en-US" smtClean="0"/>
              <a:t>4</a:t>
            </a:fld>
            <a:endParaRPr lang="zh-CN" altLang="en-US"/>
          </a:p>
        </p:txBody>
      </p:sp>
    </p:spTree>
    <p:extLst>
      <p:ext uri="{BB962C8B-B14F-4D97-AF65-F5344CB8AC3E}">
        <p14:creationId xmlns:p14="http://schemas.microsoft.com/office/powerpoint/2010/main" val="8587633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8EC96FEB-7C0A-4DC3-81A9-E1D4828328EA}" type="slidenum">
              <a:rPr lang="zh-CN" altLang="en-US" smtClean="0"/>
              <a:t>5</a:t>
            </a:fld>
            <a:endParaRPr lang="zh-CN" altLang="en-US"/>
          </a:p>
        </p:txBody>
      </p:sp>
    </p:spTree>
    <p:extLst>
      <p:ext uri="{BB962C8B-B14F-4D97-AF65-F5344CB8AC3E}">
        <p14:creationId xmlns:p14="http://schemas.microsoft.com/office/powerpoint/2010/main" val="24647248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8EC96FEB-7C0A-4DC3-81A9-E1D4828328EA}" type="slidenum">
              <a:rPr lang="zh-CN" altLang="en-US" smtClean="0"/>
              <a:t>6</a:t>
            </a:fld>
            <a:endParaRPr lang="zh-CN" altLang="en-US"/>
          </a:p>
        </p:txBody>
      </p:sp>
    </p:spTree>
    <p:extLst>
      <p:ext uri="{BB962C8B-B14F-4D97-AF65-F5344CB8AC3E}">
        <p14:creationId xmlns:p14="http://schemas.microsoft.com/office/powerpoint/2010/main" val="40817380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风险与收益与正比！</a:t>
            </a:r>
          </a:p>
        </p:txBody>
      </p:sp>
      <p:sp>
        <p:nvSpPr>
          <p:cNvPr id="4" name="Slide Number Placeholder 3"/>
          <p:cNvSpPr>
            <a:spLocks noGrp="1"/>
          </p:cNvSpPr>
          <p:nvPr>
            <p:ph type="sldNum" sz="quarter" idx="5"/>
          </p:nvPr>
        </p:nvSpPr>
        <p:spPr/>
        <p:txBody>
          <a:bodyPr/>
          <a:lstStyle/>
          <a:p>
            <a:fld id="{8EC96FEB-7C0A-4DC3-81A9-E1D4828328EA}" type="slidenum">
              <a:rPr lang="zh-CN" altLang="en-US" smtClean="0"/>
              <a:t>7</a:t>
            </a:fld>
            <a:endParaRPr lang="zh-CN" altLang="en-US"/>
          </a:p>
        </p:txBody>
      </p:sp>
    </p:spTree>
    <p:extLst>
      <p:ext uri="{BB962C8B-B14F-4D97-AF65-F5344CB8AC3E}">
        <p14:creationId xmlns:p14="http://schemas.microsoft.com/office/powerpoint/2010/main" val="9631570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8EC96FEB-7C0A-4DC3-81A9-E1D4828328EA}" type="slidenum">
              <a:rPr lang="zh-CN" altLang="en-US" smtClean="0"/>
              <a:t>10</a:t>
            </a:fld>
            <a:endParaRPr lang="zh-CN" altLang="en-US"/>
          </a:p>
        </p:txBody>
      </p:sp>
    </p:spTree>
    <p:extLst>
      <p:ext uri="{BB962C8B-B14F-4D97-AF65-F5344CB8AC3E}">
        <p14:creationId xmlns:p14="http://schemas.microsoft.com/office/powerpoint/2010/main" val="16887502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如</a:t>
            </a:r>
            <a:r>
              <a:rPr lang="en-US" altLang="zh-CN" dirty="0"/>
              <a:t>2025</a:t>
            </a:r>
            <a:r>
              <a:rPr lang="zh-CN" altLang="en-US" dirty="0"/>
              <a:t>年的</a:t>
            </a:r>
            <a:r>
              <a:rPr lang="en-US" altLang="zh-CN" dirty="0"/>
              <a:t>C</a:t>
            </a:r>
            <a:r>
              <a:rPr lang="zh-CN" altLang="en-US" dirty="0"/>
              <a:t>题，无需对数据进行清洗、删补、去除异常等常规操作；若是对于缺失、异常数据进行删补等暴力处理，</a:t>
            </a:r>
            <a:r>
              <a:rPr lang="en-US" altLang="zh-CN" dirty="0"/>
              <a:t>5</a:t>
            </a:r>
            <a:r>
              <a:rPr lang="zh-CN" altLang="en-US" dirty="0"/>
              <a:t>分就全被扣完。</a:t>
            </a:r>
            <a:endParaRPr lang="en-US" altLang="zh-CN" dirty="0"/>
          </a:p>
          <a:p>
            <a:r>
              <a:rPr lang="zh-CN" altLang="en-US" dirty="0"/>
              <a:t>在数据分析之前通常还有数据的统计描述。</a:t>
            </a:r>
          </a:p>
        </p:txBody>
      </p:sp>
      <p:sp>
        <p:nvSpPr>
          <p:cNvPr id="4" name="Slide Number Placeholder 3"/>
          <p:cNvSpPr>
            <a:spLocks noGrp="1"/>
          </p:cNvSpPr>
          <p:nvPr>
            <p:ph type="sldNum" sz="quarter" idx="5"/>
          </p:nvPr>
        </p:nvSpPr>
        <p:spPr/>
        <p:txBody>
          <a:bodyPr/>
          <a:lstStyle/>
          <a:p>
            <a:fld id="{8EC96FEB-7C0A-4DC3-81A9-E1D4828328EA}" type="slidenum">
              <a:rPr lang="zh-CN" altLang="en-US" smtClean="0"/>
              <a:t>14</a:t>
            </a:fld>
            <a:endParaRPr lang="zh-CN" altLang="en-US"/>
          </a:p>
        </p:txBody>
      </p:sp>
    </p:spTree>
    <p:extLst>
      <p:ext uri="{BB962C8B-B14F-4D97-AF65-F5344CB8AC3E}">
        <p14:creationId xmlns:p14="http://schemas.microsoft.com/office/powerpoint/2010/main" val="621483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为什么是年平均值，可不可以用月平均值呢？不同月份可能差距离较大。</a:t>
            </a:r>
            <a:endParaRPr lang="en-US" altLang="zh-CN" dirty="0"/>
          </a:p>
          <a:p>
            <a:r>
              <a:rPr lang="zh-CN" altLang="en-US" dirty="0"/>
              <a:t>数量级差异比较大：标准化！</a:t>
            </a:r>
            <a:endParaRPr lang="en-US" altLang="zh-CN" dirty="0"/>
          </a:p>
        </p:txBody>
      </p:sp>
      <p:sp>
        <p:nvSpPr>
          <p:cNvPr id="4" name="Slide Number Placeholder 3"/>
          <p:cNvSpPr>
            <a:spLocks noGrp="1"/>
          </p:cNvSpPr>
          <p:nvPr>
            <p:ph type="sldNum" sz="quarter" idx="5"/>
          </p:nvPr>
        </p:nvSpPr>
        <p:spPr/>
        <p:txBody>
          <a:bodyPr/>
          <a:lstStyle/>
          <a:p>
            <a:fld id="{8EC96FEB-7C0A-4DC3-81A9-E1D4828328EA}" type="slidenum">
              <a:rPr lang="zh-CN" altLang="en-US" smtClean="0"/>
              <a:t>15</a:t>
            </a:fld>
            <a:endParaRPr lang="zh-CN" altLang="en-US"/>
          </a:p>
        </p:txBody>
      </p:sp>
    </p:spTree>
    <p:extLst>
      <p:ext uri="{BB962C8B-B14F-4D97-AF65-F5344CB8AC3E}">
        <p14:creationId xmlns:p14="http://schemas.microsoft.com/office/powerpoint/2010/main" val="34056852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有效负数发票多代表什么？</a:t>
            </a:r>
          </a:p>
        </p:txBody>
      </p:sp>
      <p:sp>
        <p:nvSpPr>
          <p:cNvPr id="4" name="Slide Number Placeholder 3"/>
          <p:cNvSpPr>
            <a:spLocks noGrp="1"/>
          </p:cNvSpPr>
          <p:nvPr>
            <p:ph type="sldNum" sz="quarter" idx="5"/>
          </p:nvPr>
        </p:nvSpPr>
        <p:spPr/>
        <p:txBody>
          <a:bodyPr/>
          <a:lstStyle/>
          <a:p>
            <a:fld id="{8EC96FEB-7C0A-4DC3-81A9-E1D4828328EA}" type="slidenum">
              <a:rPr lang="zh-CN" altLang="en-US" smtClean="0"/>
              <a:t>17</a:t>
            </a:fld>
            <a:endParaRPr lang="zh-CN" altLang="en-US"/>
          </a:p>
        </p:txBody>
      </p:sp>
    </p:spTree>
    <p:extLst>
      <p:ext uri="{BB962C8B-B14F-4D97-AF65-F5344CB8AC3E}">
        <p14:creationId xmlns:p14="http://schemas.microsoft.com/office/powerpoint/2010/main" val="2718078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2064BE"/>
                </a:solidFill>
              </a:rPr>
              <a:t>企业的“出口能力”</a:t>
            </a:r>
            <a:r>
              <a:rPr lang="en-US" altLang="zh-CN" sz="1200" b="1" dirty="0">
                <a:solidFill>
                  <a:srgbClr val="2064BE"/>
                </a:solidFill>
              </a:rPr>
              <a:t>——</a:t>
            </a:r>
            <a:r>
              <a:rPr lang="zh-CN" altLang="en-US" sz="1200" b="1" dirty="0">
                <a:solidFill>
                  <a:srgbClr val="FF0000"/>
                </a:solidFill>
              </a:rPr>
              <a:t>当前的</a:t>
            </a:r>
            <a:r>
              <a:rPr lang="zh-CN" altLang="en-US" sz="1200" b="1" dirty="0">
                <a:solidFill>
                  <a:srgbClr val="2064BE"/>
                </a:solidFill>
              </a:rPr>
              <a:t>与</a:t>
            </a:r>
            <a:r>
              <a:rPr lang="zh-CN" altLang="en-US" sz="1200" b="1" dirty="0">
                <a:solidFill>
                  <a:srgbClr val="FF0000"/>
                </a:solidFill>
              </a:rPr>
              <a:t>发展趋势</a:t>
            </a:r>
          </a:p>
          <a:p>
            <a:endParaRPr lang="zh-CN" altLang="en-US" dirty="0"/>
          </a:p>
        </p:txBody>
      </p:sp>
      <p:sp>
        <p:nvSpPr>
          <p:cNvPr id="4" name="Slide Number Placeholder 3"/>
          <p:cNvSpPr>
            <a:spLocks noGrp="1"/>
          </p:cNvSpPr>
          <p:nvPr>
            <p:ph type="sldNum" sz="quarter" idx="5"/>
          </p:nvPr>
        </p:nvSpPr>
        <p:spPr/>
        <p:txBody>
          <a:bodyPr/>
          <a:lstStyle/>
          <a:p>
            <a:fld id="{8EC96FEB-7C0A-4DC3-81A9-E1D4828328EA}" type="slidenum">
              <a:rPr lang="zh-CN" altLang="en-US" smtClean="0"/>
              <a:t>19</a:t>
            </a:fld>
            <a:endParaRPr lang="zh-CN" altLang="en-US"/>
          </a:p>
        </p:txBody>
      </p:sp>
    </p:spTree>
    <p:extLst>
      <p:ext uri="{BB962C8B-B14F-4D97-AF65-F5344CB8AC3E}">
        <p14:creationId xmlns:p14="http://schemas.microsoft.com/office/powerpoint/2010/main" val="2073307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这些都是官方给出的指标参数（基本指标），不是唯一标准，言之有理即可。</a:t>
            </a:r>
          </a:p>
        </p:txBody>
      </p:sp>
      <p:sp>
        <p:nvSpPr>
          <p:cNvPr id="4" name="Slide Number Placeholder 3"/>
          <p:cNvSpPr>
            <a:spLocks noGrp="1"/>
          </p:cNvSpPr>
          <p:nvPr>
            <p:ph type="sldNum" sz="quarter" idx="5"/>
          </p:nvPr>
        </p:nvSpPr>
        <p:spPr/>
        <p:txBody>
          <a:bodyPr/>
          <a:lstStyle/>
          <a:p>
            <a:fld id="{8EC96FEB-7C0A-4DC3-81A9-E1D4828328EA}" type="slidenum">
              <a:rPr lang="zh-CN" altLang="en-US" smtClean="0"/>
              <a:t>20</a:t>
            </a:fld>
            <a:endParaRPr lang="zh-CN" altLang="en-US"/>
          </a:p>
        </p:txBody>
      </p:sp>
    </p:spTree>
    <p:extLst>
      <p:ext uri="{BB962C8B-B14F-4D97-AF65-F5344CB8AC3E}">
        <p14:creationId xmlns:p14="http://schemas.microsoft.com/office/powerpoint/2010/main" val="1072809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以上是组委会给的指标提取结果，其实没有标准答案，言之有理即可，这是官网上给出的优秀论文中提取的指标体系。</a:t>
            </a:r>
          </a:p>
        </p:txBody>
      </p:sp>
      <p:sp>
        <p:nvSpPr>
          <p:cNvPr id="4" name="灯片编号占位符 3"/>
          <p:cNvSpPr>
            <a:spLocks noGrp="1"/>
          </p:cNvSpPr>
          <p:nvPr>
            <p:ph type="sldNum" sz="quarter" idx="5"/>
          </p:nvPr>
        </p:nvSpPr>
        <p:spPr/>
        <p:txBody>
          <a:bodyPr/>
          <a:lstStyle/>
          <a:p>
            <a:fld id="{8EC96FEB-7C0A-4DC3-81A9-E1D4828328EA}" type="slidenum">
              <a:rPr lang="zh-CN" altLang="en-US" smtClean="0"/>
              <a:t>21</a:t>
            </a:fld>
            <a:endParaRPr lang="zh-CN" altLang="en-US"/>
          </a:p>
        </p:txBody>
      </p:sp>
    </p:spTree>
    <p:extLst>
      <p:ext uri="{BB962C8B-B14F-4D97-AF65-F5344CB8AC3E}">
        <p14:creationId xmlns:p14="http://schemas.microsoft.com/office/powerpoint/2010/main" val="10052904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还有一些比较典型的指标</a:t>
            </a:r>
          </a:p>
        </p:txBody>
      </p:sp>
      <p:sp>
        <p:nvSpPr>
          <p:cNvPr id="4" name="灯片编号占位符 3"/>
          <p:cNvSpPr>
            <a:spLocks noGrp="1"/>
          </p:cNvSpPr>
          <p:nvPr>
            <p:ph type="sldNum" sz="quarter" idx="5"/>
          </p:nvPr>
        </p:nvSpPr>
        <p:spPr/>
        <p:txBody>
          <a:bodyPr/>
          <a:lstStyle/>
          <a:p>
            <a:fld id="{8EC96FEB-7C0A-4DC3-81A9-E1D4828328EA}" type="slidenum">
              <a:rPr lang="zh-CN" altLang="en-US" smtClean="0"/>
              <a:t>22</a:t>
            </a:fld>
            <a:endParaRPr lang="zh-CN" altLang="en-US"/>
          </a:p>
        </p:txBody>
      </p:sp>
    </p:spTree>
    <p:extLst>
      <p:ext uri="{BB962C8B-B14F-4D97-AF65-F5344CB8AC3E}">
        <p14:creationId xmlns:p14="http://schemas.microsoft.com/office/powerpoint/2010/main" val="3745697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注意：这是一个得分点，但不能写成“用</a:t>
            </a:r>
            <a:r>
              <a:rPr lang="en-US" altLang="zh-CN" dirty="0" err="1"/>
              <a:t>matlab</a:t>
            </a:r>
            <a:r>
              <a:rPr lang="zh-CN" altLang="en-US" dirty="0"/>
              <a:t>软件进行处理”</a:t>
            </a:r>
          </a:p>
        </p:txBody>
      </p:sp>
      <p:sp>
        <p:nvSpPr>
          <p:cNvPr id="4" name="Slide Number Placeholder 3"/>
          <p:cNvSpPr>
            <a:spLocks noGrp="1"/>
          </p:cNvSpPr>
          <p:nvPr>
            <p:ph type="sldNum" sz="quarter" idx="5"/>
          </p:nvPr>
        </p:nvSpPr>
        <p:spPr/>
        <p:txBody>
          <a:bodyPr/>
          <a:lstStyle/>
          <a:p>
            <a:fld id="{8EC96FEB-7C0A-4DC3-81A9-E1D4828328EA}" type="slidenum">
              <a:rPr lang="zh-CN" altLang="en-US" smtClean="0"/>
              <a:t>24</a:t>
            </a:fld>
            <a:endParaRPr lang="zh-CN" altLang="en-US"/>
          </a:p>
        </p:txBody>
      </p:sp>
    </p:spTree>
    <p:extLst>
      <p:ext uri="{BB962C8B-B14F-4D97-AF65-F5344CB8AC3E}">
        <p14:creationId xmlns:p14="http://schemas.microsoft.com/office/powerpoint/2010/main" val="31908248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企业上、下业务量、毛利润</a:t>
            </a:r>
          </a:p>
        </p:txBody>
      </p:sp>
      <p:sp>
        <p:nvSpPr>
          <p:cNvPr id="4" name="Slide Number Placeholder 3"/>
          <p:cNvSpPr>
            <a:spLocks noGrp="1"/>
          </p:cNvSpPr>
          <p:nvPr>
            <p:ph type="sldNum" sz="quarter" idx="5"/>
          </p:nvPr>
        </p:nvSpPr>
        <p:spPr/>
        <p:txBody>
          <a:bodyPr/>
          <a:lstStyle/>
          <a:p>
            <a:fld id="{8EC96FEB-7C0A-4DC3-81A9-E1D4828328EA}" type="slidenum">
              <a:rPr lang="zh-CN" altLang="en-US" smtClean="0"/>
              <a:t>26</a:t>
            </a:fld>
            <a:endParaRPr lang="zh-CN" altLang="en-US"/>
          </a:p>
        </p:txBody>
      </p:sp>
    </p:spTree>
    <p:extLst>
      <p:ext uri="{BB962C8B-B14F-4D97-AF65-F5344CB8AC3E}">
        <p14:creationId xmlns:p14="http://schemas.microsoft.com/office/powerpoint/2010/main" val="9226180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为什么综合实力指标是三项之和，而信誉指标是两项相乘？</a:t>
            </a:r>
            <a:r>
              <a:rPr lang="zh-CN" altLang="zh-CN" sz="1200" kern="1200" dirty="0">
                <a:solidFill>
                  <a:schemeClr val="tx1"/>
                </a:solidFill>
                <a:effectLst/>
                <a:latin typeface="+mn-lt"/>
                <a:ea typeface="+mn-ea"/>
                <a:cs typeface="+mn-cs"/>
              </a:rPr>
              <a:t>银行对信誉评级为</a:t>
            </a:r>
            <a:r>
              <a:rPr lang="en-US" altLang="zh-CN" sz="1200"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的企业原则上不予放贷</a:t>
            </a:r>
            <a:r>
              <a:rPr lang="zh-CN" altLang="en-US" sz="1200" kern="1200" dirty="0">
                <a:solidFill>
                  <a:schemeClr val="tx1"/>
                </a:solidFill>
                <a:effectLst/>
                <a:latin typeface="+mn-lt"/>
                <a:ea typeface="+mn-ea"/>
                <a:cs typeface="+mn-cs"/>
              </a:rPr>
              <a:t>， “一票否决”的特性。</a:t>
            </a:r>
            <a:endParaRPr lang="zh-CN" altLang="en-US" dirty="0"/>
          </a:p>
        </p:txBody>
      </p:sp>
      <p:sp>
        <p:nvSpPr>
          <p:cNvPr id="4" name="灯片编号占位符 3"/>
          <p:cNvSpPr>
            <a:spLocks noGrp="1"/>
          </p:cNvSpPr>
          <p:nvPr>
            <p:ph type="sldNum" sz="quarter" idx="5"/>
          </p:nvPr>
        </p:nvSpPr>
        <p:spPr/>
        <p:txBody>
          <a:bodyPr/>
          <a:lstStyle/>
          <a:p>
            <a:fld id="{8EC96FEB-7C0A-4DC3-81A9-E1D4828328EA}" type="slidenum">
              <a:rPr lang="zh-CN" altLang="en-US" smtClean="0"/>
              <a:t>27</a:t>
            </a:fld>
            <a:endParaRPr lang="zh-CN" altLang="en-US"/>
          </a:p>
        </p:txBody>
      </p:sp>
    </p:spTree>
    <p:extLst>
      <p:ext uri="{BB962C8B-B14F-4D97-AF65-F5344CB8AC3E}">
        <p14:creationId xmlns:p14="http://schemas.microsoft.com/office/powerpoint/2010/main" val="18474522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用聚类的方法（</a:t>
            </a:r>
            <a:r>
              <a:rPr lang="en-US" altLang="zh-CN" dirty="0"/>
              <a:t>K-means</a:t>
            </a:r>
            <a:r>
              <a:rPr lang="zh-CN" altLang="en-US" dirty="0"/>
              <a:t>）将风险分成</a:t>
            </a:r>
            <a:r>
              <a:rPr lang="en-US" altLang="zh-CN" dirty="0"/>
              <a:t>4</a:t>
            </a:r>
            <a:r>
              <a:rPr lang="zh-CN" altLang="en-US" dirty="0"/>
              <a:t>个等级。</a:t>
            </a:r>
          </a:p>
        </p:txBody>
      </p:sp>
      <p:sp>
        <p:nvSpPr>
          <p:cNvPr id="4" name="灯片编号占位符 3"/>
          <p:cNvSpPr>
            <a:spLocks noGrp="1"/>
          </p:cNvSpPr>
          <p:nvPr>
            <p:ph type="sldNum" sz="quarter" idx="5"/>
          </p:nvPr>
        </p:nvSpPr>
        <p:spPr/>
        <p:txBody>
          <a:bodyPr/>
          <a:lstStyle/>
          <a:p>
            <a:fld id="{8EC96FEB-7C0A-4DC3-81A9-E1D4828328EA}" type="slidenum">
              <a:rPr lang="zh-CN" altLang="en-US" smtClean="0"/>
              <a:t>29</a:t>
            </a:fld>
            <a:endParaRPr lang="zh-CN" altLang="en-US"/>
          </a:p>
        </p:txBody>
      </p:sp>
    </p:spTree>
    <p:extLst>
      <p:ext uri="{BB962C8B-B14F-4D97-AF65-F5344CB8AC3E}">
        <p14:creationId xmlns:p14="http://schemas.microsoft.com/office/powerpoint/2010/main" val="38545653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银行贷款年利率与客户流失率之间存在一定的正相关关系。即贷款年利率越高，客户流失率也越高。</a:t>
            </a:r>
            <a:endParaRPr lang="en-US" altLang="zh-CN" dirty="0"/>
          </a:p>
          <a:p>
            <a:r>
              <a:rPr lang="zh-CN" altLang="en-US" dirty="0"/>
              <a:t>利率高了，企业不贷，所以要制定最佳的贷款利率政策。</a:t>
            </a:r>
          </a:p>
        </p:txBody>
      </p:sp>
      <p:sp>
        <p:nvSpPr>
          <p:cNvPr id="4" name="Slide Number Placeholder 3"/>
          <p:cNvSpPr>
            <a:spLocks noGrp="1"/>
          </p:cNvSpPr>
          <p:nvPr>
            <p:ph type="sldNum" sz="quarter" idx="5"/>
          </p:nvPr>
        </p:nvSpPr>
        <p:spPr/>
        <p:txBody>
          <a:bodyPr/>
          <a:lstStyle/>
          <a:p>
            <a:fld id="{8EC96FEB-7C0A-4DC3-81A9-E1D4828328EA}" type="slidenum">
              <a:rPr lang="zh-CN" altLang="en-US" smtClean="0"/>
              <a:t>30</a:t>
            </a:fld>
            <a:endParaRPr lang="zh-CN" altLang="en-US"/>
          </a:p>
        </p:txBody>
      </p:sp>
    </p:spTree>
    <p:extLst>
      <p:ext uri="{BB962C8B-B14F-4D97-AF65-F5344CB8AC3E}">
        <p14:creationId xmlns:p14="http://schemas.microsoft.com/office/powerpoint/2010/main" val="15957763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latin typeface="Times New Roman" panose="02020603050405020304" pitchFamily="18" charset="0"/>
                <a:cs typeface="Times New Roman" panose="02020603050405020304" pitchFamily="18" charset="0"/>
              </a:rPr>
              <a:t>A</a:t>
            </a:r>
            <a:r>
              <a:rPr lang="zh-CN" altLang="en-US" dirty="0">
                <a:latin typeface="Times New Roman" panose="02020603050405020304" pitchFamily="18" charset="0"/>
                <a:cs typeface="Times New Roman" panose="02020603050405020304" pitchFamily="18" charset="0"/>
              </a:rPr>
              <a:t>企业的最大贷款额度，</a:t>
            </a:r>
            <a:r>
              <a:rPr lang="en-US" altLang="zh-CN" i="1" dirty="0" err="1">
                <a:latin typeface="Times New Roman" panose="02020603050405020304" pitchFamily="18" charset="0"/>
                <a:cs typeface="Times New Roman" panose="02020603050405020304" pitchFamily="18" charset="0"/>
              </a:rPr>
              <a:t>x</a:t>
            </a:r>
            <a:r>
              <a:rPr lang="en-US" altLang="zh-CN" i="1" baseline="-25000" dirty="0" err="1">
                <a:latin typeface="Times New Roman" panose="02020603050405020304" pitchFamily="18" charset="0"/>
                <a:cs typeface="Times New Roman" panose="02020603050405020304" pitchFamily="18" charset="0"/>
              </a:rPr>
              <a:t>j</a:t>
            </a:r>
            <a:r>
              <a:rPr lang="zh-CN" altLang="en-US" dirty="0">
                <a:latin typeface="Times New Roman" panose="02020603050405020304" pitchFamily="18" charset="0"/>
                <a:cs typeface="Times New Roman" panose="02020603050405020304" pitchFamily="18" charset="0"/>
              </a:rPr>
              <a:t>贷款比例</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R</a:t>
            </a:r>
            <a:r>
              <a:rPr lang="zh-CN" altLang="en-US" dirty="0">
                <a:latin typeface="Times New Roman" panose="02020603050405020304" pitchFamily="18" charset="0"/>
                <a:cs typeface="Times New Roman" panose="02020603050405020304" pitchFamily="18" charset="0"/>
              </a:rPr>
              <a:t>风险值，总风险</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总贷款</a:t>
            </a:r>
          </a:p>
        </p:txBody>
      </p:sp>
      <p:sp>
        <p:nvSpPr>
          <p:cNvPr id="4" name="Slide Number Placeholder 3"/>
          <p:cNvSpPr>
            <a:spLocks noGrp="1"/>
          </p:cNvSpPr>
          <p:nvPr>
            <p:ph type="sldNum" sz="quarter" idx="5"/>
          </p:nvPr>
        </p:nvSpPr>
        <p:spPr/>
        <p:txBody>
          <a:bodyPr/>
          <a:lstStyle/>
          <a:p>
            <a:fld id="{8EC96FEB-7C0A-4DC3-81A9-E1D4828328EA}" type="slidenum">
              <a:rPr lang="zh-CN" altLang="en-US" smtClean="0"/>
              <a:t>32</a:t>
            </a:fld>
            <a:endParaRPr lang="zh-CN" altLang="en-US"/>
          </a:p>
        </p:txBody>
      </p:sp>
    </p:spTree>
    <p:extLst>
      <p:ext uri="{BB962C8B-B14F-4D97-AF65-F5344CB8AC3E}">
        <p14:creationId xmlns:p14="http://schemas.microsoft.com/office/powerpoint/2010/main" val="24075658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多目标函数，线性相加</a:t>
            </a:r>
            <a:endParaRPr lang="en-US" altLang="zh-CN" dirty="0"/>
          </a:p>
          <a:p>
            <a:r>
              <a:rPr lang="zh-CN" altLang="en-US" dirty="0"/>
              <a:t>各风险等级企业的信贷风险小于等于平均信贷风险</a:t>
            </a:r>
            <a:endParaRPr lang="en-US" altLang="zh-CN" dirty="0"/>
          </a:p>
          <a:p>
            <a:r>
              <a:rPr lang="zh-CN" altLang="en-US" dirty="0"/>
              <a:t>假设信贷总额固定为</a:t>
            </a:r>
            <a:r>
              <a:rPr lang="en-US" altLang="zh-CN" dirty="0"/>
              <a:t>5000</a:t>
            </a:r>
            <a:r>
              <a:rPr lang="zh-CN" altLang="en-US" dirty="0"/>
              <a:t>万元</a:t>
            </a:r>
          </a:p>
        </p:txBody>
      </p:sp>
      <p:sp>
        <p:nvSpPr>
          <p:cNvPr id="4" name="Slide Number Placeholder 3"/>
          <p:cNvSpPr>
            <a:spLocks noGrp="1"/>
          </p:cNvSpPr>
          <p:nvPr>
            <p:ph type="sldNum" sz="quarter" idx="5"/>
          </p:nvPr>
        </p:nvSpPr>
        <p:spPr/>
        <p:txBody>
          <a:bodyPr/>
          <a:lstStyle/>
          <a:p>
            <a:fld id="{8EC96FEB-7C0A-4DC3-81A9-E1D4828328EA}" type="slidenum">
              <a:rPr lang="zh-CN" altLang="en-US" smtClean="0"/>
              <a:t>33</a:t>
            </a:fld>
            <a:endParaRPr lang="zh-CN" altLang="en-US"/>
          </a:p>
        </p:txBody>
      </p:sp>
    </p:spTree>
    <p:extLst>
      <p:ext uri="{BB962C8B-B14F-4D97-AF65-F5344CB8AC3E}">
        <p14:creationId xmlns:p14="http://schemas.microsoft.com/office/powerpoint/2010/main" val="41780373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突破点：</a:t>
            </a:r>
            <a:r>
              <a:rPr lang="zh-CN" altLang="en-US" sz="12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确定企业的信誉等级！</a:t>
            </a:r>
            <a:endParaRPr lang="zh-CN" altLang="zh-CN" sz="1200" b="1"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8EC96FEB-7C0A-4DC3-81A9-E1D4828328EA}" type="slidenum">
              <a:rPr lang="zh-CN" altLang="en-US" smtClean="0"/>
              <a:t>34</a:t>
            </a:fld>
            <a:endParaRPr lang="zh-CN" altLang="en-US"/>
          </a:p>
        </p:txBody>
      </p:sp>
    </p:spTree>
    <p:extLst>
      <p:ext uri="{BB962C8B-B14F-4D97-AF65-F5344CB8AC3E}">
        <p14:creationId xmlns:p14="http://schemas.microsoft.com/office/powerpoint/2010/main" val="25280226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突破点：如何表征突发因素，并确定其对不同行业的影响？</a:t>
            </a:r>
            <a:endParaRPr lang="zh-CN" altLang="zh-CN" sz="1200" b="1" kern="10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p>
            <a:endParaRPr lang="zh-CN" altLang="en-US"/>
          </a:p>
        </p:txBody>
      </p:sp>
      <p:sp>
        <p:nvSpPr>
          <p:cNvPr id="4" name="灯片编号占位符 3"/>
          <p:cNvSpPr>
            <a:spLocks noGrp="1"/>
          </p:cNvSpPr>
          <p:nvPr>
            <p:ph type="sldNum" sz="quarter" idx="5"/>
          </p:nvPr>
        </p:nvSpPr>
        <p:spPr/>
        <p:txBody>
          <a:bodyPr/>
          <a:lstStyle/>
          <a:p>
            <a:fld id="{8EC96FEB-7C0A-4DC3-81A9-E1D4828328EA}" type="slidenum">
              <a:rPr lang="zh-CN" altLang="en-US" smtClean="0"/>
              <a:t>40</a:t>
            </a:fld>
            <a:endParaRPr lang="zh-CN" altLang="en-US"/>
          </a:p>
        </p:txBody>
      </p:sp>
    </p:spTree>
    <p:extLst>
      <p:ext uri="{BB962C8B-B14F-4D97-AF65-F5344CB8AC3E}">
        <p14:creationId xmlns:p14="http://schemas.microsoft.com/office/powerpoint/2010/main" val="25367643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强调机理分析的重要性！</a:t>
            </a:r>
          </a:p>
        </p:txBody>
      </p:sp>
      <p:sp>
        <p:nvSpPr>
          <p:cNvPr id="4" name="Slide Number Placeholder 3"/>
          <p:cNvSpPr>
            <a:spLocks noGrp="1"/>
          </p:cNvSpPr>
          <p:nvPr>
            <p:ph type="sldNum" sz="quarter" idx="5"/>
          </p:nvPr>
        </p:nvSpPr>
        <p:spPr/>
        <p:txBody>
          <a:bodyPr/>
          <a:lstStyle/>
          <a:p>
            <a:fld id="{8EC96FEB-7C0A-4DC3-81A9-E1D4828328EA}" type="slidenum">
              <a:rPr lang="zh-CN" altLang="en-US" smtClean="0"/>
              <a:t>46</a:t>
            </a:fld>
            <a:endParaRPr lang="zh-CN" altLang="en-US"/>
          </a:p>
        </p:txBody>
      </p:sp>
    </p:spTree>
    <p:extLst>
      <p:ext uri="{BB962C8B-B14F-4D97-AF65-F5344CB8AC3E}">
        <p14:creationId xmlns:p14="http://schemas.microsoft.com/office/powerpoint/2010/main" val="2310174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77989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FA26320-6C20-07CC-718B-9203CBD9D807}"/>
              </a:ext>
            </a:extLst>
          </p:cNvPr>
          <p:cNvPicPr>
            <a:picLocks noChangeAspect="1"/>
          </p:cNvPicPr>
          <p:nvPr userDrawn="1"/>
        </p:nvPicPr>
        <p:blipFill>
          <a:blip r:embed="rId2"/>
          <a:stretch>
            <a:fillRect/>
          </a:stretch>
        </p:blipFill>
        <p:spPr>
          <a:xfrm>
            <a:off x="0" y="-297"/>
            <a:ext cx="12192000" cy="6858594"/>
          </a:xfrm>
          <a:prstGeom prst="rect">
            <a:avLst/>
          </a:prstGeom>
        </p:spPr>
      </p:pic>
      <p:grpSp>
        <p:nvGrpSpPr>
          <p:cNvPr id="3" name="组合 2">
            <a:extLst>
              <a:ext uri="{FF2B5EF4-FFF2-40B4-BE49-F238E27FC236}">
                <a16:creationId xmlns:a16="http://schemas.microsoft.com/office/drawing/2014/main" id="{3EA57121-81A5-5014-34DB-A7B2CD534C9C}"/>
              </a:ext>
            </a:extLst>
          </p:cNvPr>
          <p:cNvGrpSpPr/>
          <p:nvPr userDrawn="1"/>
        </p:nvGrpSpPr>
        <p:grpSpPr>
          <a:xfrm>
            <a:off x="0" y="387009"/>
            <a:ext cx="12192000" cy="679792"/>
            <a:chOff x="0" y="342184"/>
            <a:chExt cx="12192000" cy="769441"/>
          </a:xfrm>
        </p:grpSpPr>
        <p:sp>
          <p:nvSpPr>
            <p:cNvPr id="4" name="矩形 3">
              <a:extLst>
                <a:ext uri="{FF2B5EF4-FFF2-40B4-BE49-F238E27FC236}">
                  <a16:creationId xmlns:a16="http://schemas.microsoft.com/office/drawing/2014/main" id="{D1B41DB1-9459-087F-6707-4657A1F18EF5}"/>
                </a:ext>
              </a:extLst>
            </p:cNvPr>
            <p:cNvSpPr/>
            <p:nvPr/>
          </p:nvSpPr>
          <p:spPr>
            <a:xfrm>
              <a:off x="0" y="342184"/>
              <a:ext cx="12192000" cy="769441"/>
            </a:xfrm>
            <a:prstGeom prst="rect">
              <a:avLst/>
            </a:prstGeom>
            <a:gradFill flip="none" rotWithShape="1">
              <a:gsLst>
                <a:gs pos="0">
                  <a:srgbClr val="F1F6FD"/>
                </a:gs>
                <a:gs pos="64000">
                  <a:srgbClr val="E5EEFB"/>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5" name="组合 4">
              <a:extLst>
                <a:ext uri="{FF2B5EF4-FFF2-40B4-BE49-F238E27FC236}">
                  <a16:creationId xmlns:a16="http://schemas.microsoft.com/office/drawing/2014/main" id="{452CEEED-4029-7776-F274-CCF540F24966}"/>
                </a:ext>
              </a:extLst>
            </p:cNvPr>
            <p:cNvGrpSpPr/>
            <p:nvPr/>
          </p:nvGrpSpPr>
          <p:grpSpPr>
            <a:xfrm flipH="1">
              <a:off x="7061200" y="342184"/>
              <a:ext cx="5130800" cy="769441"/>
              <a:chOff x="0" y="392984"/>
              <a:chExt cx="5130800" cy="769441"/>
            </a:xfrm>
          </p:grpSpPr>
          <p:cxnSp>
            <p:nvCxnSpPr>
              <p:cNvPr id="6" name="直接连接符 5">
                <a:extLst>
                  <a:ext uri="{FF2B5EF4-FFF2-40B4-BE49-F238E27FC236}">
                    <a16:creationId xmlns:a16="http://schemas.microsoft.com/office/drawing/2014/main" id="{10DE2D94-CF69-DF6A-3C9E-49F4487CE29D}"/>
                  </a:ext>
                </a:extLst>
              </p:cNvPr>
              <p:cNvCxnSpPr>
                <a:cxnSpLocks/>
              </p:cNvCxnSpPr>
              <p:nvPr/>
            </p:nvCxnSpPr>
            <p:spPr>
              <a:xfrm>
                <a:off x="0" y="1162425"/>
                <a:ext cx="5130800" cy="0"/>
              </a:xfrm>
              <a:prstGeom prst="line">
                <a:avLst/>
              </a:prstGeom>
              <a:noFill/>
              <a:ln w="12700">
                <a:gradFill flip="none" rotWithShape="1">
                  <a:gsLst>
                    <a:gs pos="0">
                      <a:schemeClr val="accent2">
                        <a:alpha val="27000"/>
                      </a:schemeClr>
                    </a:gs>
                    <a:gs pos="87000">
                      <a:schemeClr val="accent2">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cxnSp>
          <p:cxnSp>
            <p:nvCxnSpPr>
              <p:cNvPr id="7" name="直接连接符 6">
                <a:extLst>
                  <a:ext uri="{FF2B5EF4-FFF2-40B4-BE49-F238E27FC236}">
                    <a16:creationId xmlns:a16="http://schemas.microsoft.com/office/drawing/2014/main" id="{FFD3D34F-6D63-663D-575F-AFEFAB6D9C40}"/>
                  </a:ext>
                </a:extLst>
              </p:cNvPr>
              <p:cNvCxnSpPr>
                <a:cxnSpLocks/>
              </p:cNvCxnSpPr>
              <p:nvPr/>
            </p:nvCxnSpPr>
            <p:spPr>
              <a:xfrm>
                <a:off x="0" y="392984"/>
                <a:ext cx="5130800" cy="0"/>
              </a:xfrm>
              <a:prstGeom prst="line">
                <a:avLst/>
              </a:prstGeom>
              <a:noFill/>
              <a:ln w="12700">
                <a:gradFill flip="none" rotWithShape="1">
                  <a:gsLst>
                    <a:gs pos="0">
                      <a:schemeClr val="accent2">
                        <a:alpha val="27000"/>
                      </a:schemeClr>
                    </a:gs>
                    <a:gs pos="87000">
                      <a:schemeClr val="accent2">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cxnSp>
        </p:grpSp>
      </p:grpSp>
      <p:grpSp>
        <p:nvGrpSpPr>
          <p:cNvPr id="18" name="组合 17">
            <a:extLst>
              <a:ext uri="{FF2B5EF4-FFF2-40B4-BE49-F238E27FC236}">
                <a16:creationId xmlns:a16="http://schemas.microsoft.com/office/drawing/2014/main" id="{BDA13F34-F400-B7AB-2C6A-6D833403C6F1}"/>
              </a:ext>
            </a:extLst>
          </p:cNvPr>
          <p:cNvGrpSpPr/>
          <p:nvPr userDrawn="1"/>
        </p:nvGrpSpPr>
        <p:grpSpPr>
          <a:xfrm>
            <a:off x="211892" y="603346"/>
            <a:ext cx="250322" cy="247118"/>
            <a:chOff x="466726" y="519358"/>
            <a:chExt cx="554538" cy="547442"/>
          </a:xfrm>
        </p:grpSpPr>
        <p:sp>
          <p:nvSpPr>
            <p:cNvPr id="19" name="椭圆 18">
              <a:extLst>
                <a:ext uri="{FF2B5EF4-FFF2-40B4-BE49-F238E27FC236}">
                  <a16:creationId xmlns:a16="http://schemas.microsoft.com/office/drawing/2014/main" id="{9AA0588F-2BCC-2047-7635-DFF418EDAA2F}"/>
                </a:ext>
              </a:extLst>
            </p:cNvPr>
            <p:cNvSpPr/>
            <p:nvPr/>
          </p:nvSpPr>
          <p:spPr>
            <a:xfrm>
              <a:off x="466726" y="519358"/>
              <a:ext cx="554538" cy="547442"/>
            </a:xfrm>
            <a:prstGeom prst="ellipse">
              <a:avLst/>
            </a:prstGeom>
            <a:gradFill flip="none" rotWithShape="1">
              <a:gsLst>
                <a:gs pos="3000">
                  <a:schemeClr val="accent4">
                    <a:alpha val="38000"/>
                  </a:schemeClr>
                </a:gs>
                <a:gs pos="100000">
                  <a:schemeClr val="accent4">
                    <a:alpha val="0"/>
                  </a:schemeClr>
                </a:gs>
              </a:gsLst>
              <a:lin ang="18900000" scaled="1"/>
              <a:tileRect/>
            </a:gradFill>
            <a:ln w="9525">
              <a:gradFill flip="none" rotWithShape="1">
                <a:gsLst>
                  <a:gs pos="0">
                    <a:schemeClr val="accent2">
                      <a:alpha val="54000"/>
                    </a:schemeClr>
                  </a:gs>
                  <a:gs pos="100000">
                    <a:schemeClr val="accent2">
                      <a:alpha val="0"/>
                    </a:schemeClr>
                  </a:gs>
                </a:gsLst>
                <a:lin ang="189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Regular"/>
                <a:cs typeface="+mn-cs"/>
              </a:endParaRPr>
            </a:p>
          </p:txBody>
        </p:sp>
        <p:sp>
          <p:nvSpPr>
            <p:cNvPr id="20" name="椭圆 19">
              <a:extLst>
                <a:ext uri="{FF2B5EF4-FFF2-40B4-BE49-F238E27FC236}">
                  <a16:creationId xmlns:a16="http://schemas.microsoft.com/office/drawing/2014/main" id="{CC3E548E-399D-A0BD-A690-BAB29BC8B695}"/>
                </a:ext>
              </a:extLst>
            </p:cNvPr>
            <p:cNvSpPr/>
            <p:nvPr/>
          </p:nvSpPr>
          <p:spPr>
            <a:xfrm>
              <a:off x="546567" y="598178"/>
              <a:ext cx="394855" cy="389803"/>
            </a:xfrm>
            <a:prstGeom prst="ellipse">
              <a:avLst/>
            </a:prstGeom>
            <a:gradFill>
              <a:gsLst>
                <a:gs pos="3000">
                  <a:srgbClr val="0052A2"/>
                </a:gs>
                <a:gs pos="83000">
                  <a:schemeClr val="accent2"/>
                </a:gs>
              </a:gsLst>
              <a:lin ang="13500000" scaled="1"/>
            </a:gradFill>
            <a:ln w="22225">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dirty="0">
                <a:solidFill>
                  <a:srgbClr val="FFFFFF"/>
                </a:solidFill>
                <a:latin typeface="思源黑体 CN Bold" panose="020B0800000000000000" pitchFamily="34" charset="-122"/>
                <a:ea typeface="思源黑体 CN Regular"/>
              </a:endParaRPr>
            </a:p>
          </p:txBody>
        </p:sp>
      </p:grpSp>
      <p:pic>
        <p:nvPicPr>
          <p:cNvPr id="11" name="Picture 10">
            <a:extLst>
              <a:ext uri="{FF2B5EF4-FFF2-40B4-BE49-F238E27FC236}">
                <a16:creationId xmlns:a16="http://schemas.microsoft.com/office/drawing/2014/main" id="{8E04E6B7-CE24-4EAE-8D37-F3B09148EC99}"/>
              </a:ext>
            </a:extLst>
          </p:cNvPr>
          <p:cNvPicPr>
            <a:picLocks noChangeAspect="1"/>
          </p:cNvPicPr>
          <p:nvPr userDrawn="1"/>
        </p:nvPicPr>
        <p:blipFill>
          <a:blip r:embed="rId3"/>
          <a:stretch>
            <a:fillRect/>
          </a:stretch>
        </p:blipFill>
        <p:spPr>
          <a:xfrm>
            <a:off x="8572782" y="497418"/>
            <a:ext cx="3619218" cy="471867"/>
          </a:xfrm>
          <a:prstGeom prst="rect">
            <a:avLst/>
          </a:prstGeom>
        </p:spPr>
      </p:pic>
    </p:spTree>
    <p:extLst>
      <p:ext uri="{BB962C8B-B14F-4D97-AF65-F5344CB8AC3E}">
        <p14:creationId xmlns:p14="http://schemas.microsoft.com/office/powerpoint/2010/main" val="185158710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6281560-2C23-1613-58E0-C0057150B16B}"/>
              </a:ext>
            </a:extLst>
          </p:cNvPr>
          <p:cNvSpPr/>
          <p:nvPr userDrawn="1"/>
        </p:nvSpPr>
        <p:spPr>
          <a:xfrm>
            <a:off x="-101574600" y="-38366700"/>
            <a:ext cx="215341200" cy="835914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11290450"/>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44">
          <p15:clr>
            <a:srgbClr val="F26B43"/>
          </p15:clr>
        </p15:guide>
        <p15:guide id="2" pos="7328">
          <p15:clr>
            <a:srgbClr val="F26B43"/>
          </p15:clr>
        </p15:guide>
        <p15:guide id="3" orient="horz" pos="512">
          <p15:clr>
            <a:srgbClr val="F26B43"/>
          </p15:clr>
        </p15:guide>
        <p15:guide id="4" orient="horz" pos="576">
          <p15:clr>
            <a:srgbClr val="F26B43"/>
          </p15:clr>
        </p15:guide>
        <p15:guide id="5" orient="horz" pos="3928">
          <p15:clr>
            <a:srgbClr val="F26B43"/>
          </p15:clr>
        </p15:guide>
        <p15:guide id="6" orient="horz" pos="3864">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C/&#38468;&#20214;1&#65306;123&#23478;&#26377;&#20449;&#36151;&#35760;&#24405;&#20225;&#19994;&#30340;&#30456;&#20851;&#25968;&#25454;.xlsx"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C/&#38468;&#20214;3&#65306;&#38134;&#34892;&#36151;&#27454;&#24180;&#21033;&#29575;&#19982;&#23458;&#25143;&#27969;&#22833;&#29575;&#20851;&#31995;&#30340;&#32479;&#35745;&#25968;&#25454;.xlsx" TargetMode="External"/><Relationship Id="rId4" Type="http://schemas.openxmlformats.org/officeDocument/2006/relationships/hyperlink" Target="C/&#38468;&#20214;2&#65306;302&#23478;&#26080;&#20449;&#36151;&#35760;&#24405;&#20225;&#19994;&#30340;&#30456;&#20851;&#25968;&#25454;.xlsx"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slide" Target="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hyperlink" Target="C/2020&#24180;C142.pdf" TargetMode="External"/><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100000">
              <a:schemeClr val="accent1">
                <a:lumMod val="75000"/>
              </a:schemeClr>
            </a:gs>
          </a:gsLst>
          <a:lin ang="5400000" scaled="1"/>
        </a:gradFill>
        <a:effectLst/>
      </p:bgPr>
    </p:bg>
    <p:spTree>
      <p:nvGrpSpPr>
        <p:cNvPr id="1" name=""/>
        <p:cNvGrpSpPr/>
        <p:nvPr/>
      </p:nvGrpSpPr>
      <p:grpSpPr>
        <a:xfrm>
          <a:off x="0" y="0"/>
          <a:ext cx="0" cy="0"/>
          <a:chOff x="0" y="0"/>
          <a:chExt cx="0" cy="0"/>
        </a:xfrm>
      </p:grpSpPr>
      <p:pic>
        <p:nvPicPr>
          <p:cNvPr id="1029" name="图片 1028">
            <a:extLst>
              <a:ext uri="{FF2B5EF4-FFF2-40B4-BE49-F238E27FC236}">
                <a16:creationId xmlns:a16="http://schemas.microsoft.com/office/drawing/2014/main" id="{0B10FC63-9048-1BE7-FCD0-0A968739928F}"/>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10000"/>
                    </a14:imgEffect>
                  </a14:imgLayer>
                </a14:imgProps>
              </a:ext>
              <a:ext uri="{28A0092B-C50C-407E-A947-70E740481C1C}">
                <a14:useLocalDpi xmlns:a14="http://schemas.microsoft.com/office/drawing/2010/main" val="0"/>
              </a:ext>
            </a:extLst>
          </a:blip>
          <a:srcRect l="5518" r="27232" b="25530"/>
          <a:stretch/>
        </p:blipFill>
        <p:spPr>
          <a:xfrm>
            <a:off x="0" y="3097596"/>
            <a:ext cx="12192000" cy="3861288"/>
          </a:xfrm>
          <a:prstGeom prst="rect">
            <a:avLst/>
          </a:prstGeom>
        </p:spPr>
      </p:pic>
      <p:grpSp>
        <p:nvGrpSpPr>
          <p:cNvPr id="1072" name="组合 1071">
            <a:extLst>
              <a:ext uri="{FF2B5EF4-FFF2-40B4-BE49-F238E27FC236}">
                <a16:creationId xmlns:a16="http://schemas.microsoft.com/office/drawing/2014/main" id="{B4605866-5BC3-C973-34CC-C13586B0C428}"/>
              </a:ext>
            </a:extLst>
          </p:cNvPr>
          <p:cNvGrpSpPr/>
          <p:nvPr/>
        </p:nvGrpSpPr>
        <p:grpSpPr>
          <a:xfrm>
            <a:off x="0" y="5537200"/>
            <a:ext cx="12192000" cy="1320800"/>
            <a:chOff x="0" y="5116749"/>
            <a:chExt cx="12192000" cy="1741252"/>
          </a:xfrm>
        </p:grpSpPr>
        <p:sp>
          <p:nvSpPr>
            <p:cNvPr id="1067" name="任意多边形: 形状 1066">
              <a:extLst>
                <a:ext uri="{FF2B5EF4-FFF2-40B4-BE49-F238E27FC236}">
                  <a16:creationId xmlns:a16="http://schemas.microsoft.com/office/drawing/2014/main" id="{48AA149E-29E4-37A1-2C4D-A6EFF09E159C}"/>
                </a:ext>
              </a:extLst>
            </p:cNvPr>
            <p:cNvSpPr>
              <a:spLocks noChangeAspect="1"/>
            </p:cNvSpPr>
            <p:nvPr/>
          </p:nvSpPr>
          <p:spPr>
            <a:xfrm flipH="1">
              <a:off x="6020885" y="5210677"/>
              <a:ext cx="6171115" cy="1647324"/>
            </a:xfrm>
            <a:custGeom>
              <a:avLst/>
              <a:gdLst>
                <a:gd name="connsiteX0" fmla="*/ 0 w 6171115"/>
                <a:gd name="connsiteY0" fmla="*/ 0 h 2096341"/>
                <a:gd name="connsiteX1" fmla="*/ 0 w 6171115"/>
                <a:gd name="connsiteY1" fmla="*/ 2096341 h 2096341"/>
                <a:gd name="connsiteX2" fmla="*/ 6171115 w 6171115"/>
                <a:gd name="connsiteY2" fmla="*/ 2096341 h 2096341"/>
                <a:gd name="connsiteX3" fmla="*/ 6078993 w 6171115"/>
                <a:gd name="connsiteY3" fmla="*/ 2031341 h 2096341"/>
                <a:gd name="connsiteX4" fmla="*/ 3048384 w 6171115"/>
                <a:gd name="connsiteY4" fmla="*/ 1072751 h 2096341"/>
                <a:gd name="connsiteX5" fmla="*/ 53004 w 6171115"/>
                <a:gd name="connsiteY5" fmla="*/ 68218 h 209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71115" h="2096341">
                  <a:moveTo>
                    <a:pt x="0" y="0"/>
                  </a:moveTo>
                  <a:lnTo>
                    <a:pt x="0" y="2096341"/>
                  </a:lnTo>
                  <a:lnTo>
                    <a:pt x="6171115" y="2096341"/>
                  </a:lnTo>
                  <a:lnTo>
                    <a:pt x="6078993" y="2031341"/>
                  </a:lnTo>
                  <a:cubicBezTo>
                    <a:pt x="5619181" y="1695269"/>
                    <a:pt x="5119621" y="1233423"/>
                    <a:pt x="3048384" y="1072751"/>
                  </a:cubicBezTo>
                  <a:cubicBezTo>
                    <a:pt x="1149750" y="925468"/>
                    <a:pt x="440854" y="527797"/>
                    <a:pt x="53004" y="68218"/>
                  </a:cubicBezTo>
                  <a:close/>
                </a:path>
              </a:pathLst>
            </a:custGeom>
            <a:gradFill>
              <a:gsLst>
                <a:gs pos="18000">
                  <a:schemeClr val="accent2"/>
                </a:gs>
                <a:gs pos="100000">
                  <a:schemeClr val="accent2">
                    <a:lumMod val="60000"/>
                    <a:lumOff val="40000"/>
                  </a:schemeClr>
                </a:gs>
              </a:gsLst>
              <a:lin ang="0" scaled="0"/>
            </a:gradFill>
            <a:ln w="58473" cap="flat">
              <a:noFill/>
              <a:prstDash val="solid"/>
              <a:miter/>
            </a:ln>
            <a:effectLst>
              <a:outerShdw blurRad="139700" dist="25400" dir="2700000" sx="102000" sy="102000" algn="tl" rotWithShape="0">
                <a:schemeClr val="accent2">
                  <a:alpha val="15000"/>
                </a:schemeClr>
              </a:outerShdw>
            </a:effectLst>
          </p:spPr>
          <p:txBody>
            <a:bodyPr wrap="square" rtlCol="0" anchor="ctr">
              <a:noAutofit/>
            </a:bodyPr>
            <a:lstStyle/>
            <a:p>
              <a:endParaRPr lang="zh-CN" altLang="en-US" dirty="0">
                <a:latin typeface="思源黑体 CN Light" panose="020B0300000000000000" pitchFamily="34" charset="-122"/>
              </a:endParaRPr>
            </a:p>
          </p:txBody>
        </p:sp>
        <p:sp>
          <p:nvSpPr>
            <p:cNvPr id="1068" name="任意多边形: 形状 1067">
              <a:extLst>
                <a:ext uri="{FF2B5EF4-FFF2-40B4-BE49-F238E27FC236}">
                  <a16:creationId xmlns:a16="http://schemas.microsoft.com/office/drawing/2014/main" id="{1B071ADB-4B7B-DF89-2AEA-BEE20E139022}"/>
                </a:ext>
              </a:extLst>
            </p:cNvPr>
            <p:cNvSpPr>
              <a:spLocks noChangeAspect="1"/>
            </p:cNvSpPr>
            <p:nvPr/>
          </p:nvSpPr>
          <p:spPr>
            <a:xfrm flipH="1">
              <a:off x="6160912" y="5450038"/>
              <a:ext cx="6031088" cy="1407963"/>
            </a:xfrm>
            <a:custGeom>
              <a:avLst/>
              <a:gdLst>
                <a:gd name="connsiteX0" fmla="*/ 0 w 6031088"/>
                <a:gd name="connsiteY0" fmla="*/ 0 h 1791736"/>
                <a:gd name="connsiteX1" fmla="*/ 0 w 6031088"/>
                <a:gd name="connsiteY1" fmla="*/ 1791736 h 1791736"/>
                <a:gd name="connsiteX2" fmla="*/ 6031088 w 6031088"/>
                <a:gd name="connsiteY2" fmla="*/ 1791736 h 1791736"/>
                <a:gd name="connsiteX3" fmla="*/ 5838683 w 6031088"/>
                <a:gd name="connsiteY3" fmla="*/ 1664863 h 1791736"/>
                <a:gd name="connsiteX4" fmla="*/ 3048385 w 6031088"/>
                <a:gd name="connsiteY4" fmla="*/ 962898 h 1791736"/>
                <a:gd name="connsiteX5" fmla="*/ 53005 w 6031088"/>
                <a:gd name="connsiteY5" fmla="*/ 61233 h 1791736"/>
                <a:gd name="connsiteX0" fmla="*/ 0 w 6031088"/>
                <a:gd name="connsiteY0" fmla="*/ 0 h 1791736"/>
                <a:gd name="connsiteX1" fmla="*/ 0 w 6031088"/>
                <a:gd name="connsiteY1" fmla="*/ 1791736 h 1791736"/>
                <a:gd name="connsiteX2" fmla="*/ 6031088 w 6031088"/>
                <a:gd name="connsiteY2" fmla="*/ 1791736 h 1791736"/>
                <a:gd name="connsiteX3" fmla="*/ 5838683 w 6031088"/>
                <a:gd name="connsiteY3" fmla="*/ 1664863 h 1791736"/>
                <a:gd name="connsiteX4" fmla="*/ 3067841 w 6031088"/>
                <a:gd name="connsiteY4" fmla="*/ 870200 h 1791736"/>
                <a:gd name="connsiteX5" fmla="*/ 53005 w 6031088"/>
                <a:gd name="connsiteY5" fmla="*/ 61233 h 1791736"/>
                <a:gd name="connsiteX6" fmla="*/ 0 w 6031088"/>
                <a:gd name="connsiteY6" fmla="*/ 0 h 1791736"/>
                <a:gd name="connsiteX0" fmla="*/ 0 w 6031088"/>
                <a:gd name="connsiteY0" fmla="*/ 0 h 1791736"/>
                <a:gd name="connsiteX1" fmla="*/ 0 w 6031088"/>
                <a:gd name="connsiteY1" fmla="*/ 1791736 h 1791736"/>
                <a:gd name="connsiteX2" fmla="*/ 6031088 w 6031088"/>
                <a:gd name="connsiteY2" fmla="*/ 1791736 h 1791736"/>
                <a:gd name="connsiteX3" fmla="*/ 5838683 w 6031088"/>
                <a:gd name="connsiteY3" fmla="*/ 1664863 h 1791736"/>
                <a:gd name="connsiteX4" fmla="*/ 3067841 w 6031088"/>
                <a:gd name="connsiteY4" fmla="*/ 870200 h 1791736"/>
                <a:gd name="connsiteX5" fmla="*/ 53005 w 6031088"/>
                <a:gd name="connsiteY5" fmla="*/ 61233 h 1791736"/>
                <a:gd name="connsiteX6" fmla="*/ 0 w 6031088"/>
                <a:gd name="connsiteY6" fmla="*/ 0 h 1791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31088" h="1791736">
                  <a:moveTo>
                    <a:pt x="0" y="0"/>
                  </a:moveTo>
                  <a:lnTo>
                    <a:pt x="0" y="1791736"/>
                  </a:lnTo>
                  <a:lnTo>
                    <a:pt x="6031088" y="1791736"/>
                  </a:lnTo>
                  <a:lnTo>
                    <a:pt x="5838683" y="1664863"/>
                  </a:lnTo>
                  <a:cubicBezTo>
                    <a:pt x="5506281" y="1360094"/>
                    <a:pt x="4793872" y="990383"/>
                    <a:pt x="3067841" y="870200"/>
                  </a:cubicBezTo>
                  <a:cubicBezTo>
                    <a:pt x="1169207" y="738000"/>
                    <a:pt x="440855" y="473750"/>
                    <a:pt x="53005" y="61233"/>
                  </a:cubicBezTo>
                  <a:lnTo>
                    <a:pt x="0" y="0"/>
                  </a:lnTo>
                  <a:close/>
                </a:path>
              </a:pathLst>
            </a:custGeom>
            <a:gradFill>
              <a:gsLst>
                <a:gs pos="0">
                  <a:schemeClr val="accent1"/>
                </a:gs>
                <a:gs pos="62000">
                  <a:schemeClr val="accent2"/>
                </a:gs>
              </a:gsLst>
              <a:lin ang="2700000" scaled="0"/>
            </a:gradFill>
            <a:ln w="58473" cap="flat">
              <a:noFill/>
              <a:prstDash val="solid"/>
              <a:miter/>
            </a:ln>
            <a:effectLst>
              <a:innerShdw blurRad="254000" dist="139700" dir="13500000">
                <a:schemeClr val="accent1">
                  <a:lumMod val="0"/>
                  <a:alpha val="15000"/>
                </a:schemeClr>
              </a:innerShdw>
            </a:effectLst>
          </p:spPr>
          <p:txBody>
            <a:bodyPr wrap="square" rtlCol="0" anchor="ctr">
              <a:noAutofit/>
            </a:bodyPr>
            <a:lstStyle/>
            <a:p>
              <a:endParaRPr lang="zh-CN" altLang="en-US" dirty="0">
                <a:latin typeface="思源黑体 CN Light" panose="020B0300000000000000" pitchFamily="34" charset="-122"/>
              </a:endParaRPr>
            </a:p>
          </p:txBody>
        </p:sp>
        <p:sp>
          <p:nvSpPr>
            <p:cNvPr id="1069" name="任意多边形: 形状 1068">
              <a:extLst>
                <a:ext uri="{FF2B5EF4-FFF2-40B4-BE49-F238E27FC236}">
                  <a16:creationId xmlns:a16="http://schemas.microsoft.com/office/drawing/2014/main" id="{0DD3085B-2EC8-8395-78C0-0767653336C4}"/>
                </a:ext>
              </a:extLst>
            </p:cNvPr>
            <p:cNvSpPr>
              <a:spLocks noChangeAspect="1"/>
            </p:cNvSpPr>
            <p:nvPr/>
          </p:nvSpPr>
          <p:spPr>
            <a:xfrm>
              <a:off x="0" y="5116749"/>
              <a:ext cx="6271161" cy="1741251"/>
            </a:xfrm>
            <a:custGeom>
              <a:avLst/>
              <a:gdLst>
                <a:gd name="connsiteX0" fmla="*/ 0 w 6271161"/>
                <a:gd name="connsiteY0" fmla="*/ 0 h 2215870"/>
                <a:gd name="connsiteX1" fmla="*/ 26423 w 6271161"/>
                <a:gd name="connsiteY1" fmla="*/ 41559 h 2215870"/>
                <a:gd name="connsiteX2" fmla="*/ 3120272 w 6271161"/>
                <a:gd name="connsiteY2" fmla="*/ 1172825 h 2215870"/>
                <a:gd name="connsiteX3" fmla="*/ 6265892 w 6271161"/>
                <a:gd name="connsiteY3" fmla="*/ 2212566 h 2215870"/>
                <a:gd name="connsiteX4" fmla="*/ 6271161 w 6271161"/>
                <a:gd name="connsiteY4" fmla="*/ 2215870 h 2215870"/>
                <a:gd name="connsiteX5" fmla="*/ 0 w 6271161"/>
                <a:gd name="connsiteY5" fmla="*/ 2215870 h 2215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71161" h="2215870">
                  <a:moveTo>
                    <a:pt x="0" y="0"/>
                  </a:moveTo>
                  <a:lnTo>
                    <a:pt x="26423" y="41559"/>
                  </a:lnTo>
                  <a:cubicBezTo>
                    <a:pt x="393685" y="553498"/>
                    <a:pt x="1049035" y="1012153"/>
                    <a:pt x="3120272" y="1172825"/>
                  </a:cubicBezTo>
                  <a:cubicBezTo>
                    <a:pt x="5364113" y="1346887"/>
                    <a:pt x="5763415" y="1874408"/>
                    <a:pt x="6265892" y="2212566"/>
                  </a:cubicBezTo>
                  <a:lnTo>
                    <a:pt x="6271161" y="2215870"/>
                  </a:lnTo>
                  <a:lnTo>
                    <a:pt x="0" y="2215870"/>
                  </a:lnTo>
                  <a:close/>
                </a:path>
              </a:pathLst>
            </a:custGeom>
            <a:gradFill>
              <a:gsLst>
                <a:gs pos="18000">
                  <a:schemeClr val="accent2"/>
                </a:gs>
                <a:gs pos="100000">
                  <a:schemeClr val="accent2">
                    <a:lumMod val="60000"/>
                    <a:lumOff val="40000"/>
                  </a:schemeClr>
                </a:gs>
              </a:gsLst>
              <a:lin ang="0" scaled="0"/>
            </a:gradFill>
            <a:ln w="58473" cap="flat">
              <a:noFill/>
              <a:prstDash val="solid"/>
              <a:miter/>
            </a:ln>
            <a:effectLst>
              <a:outerShdw blurRad="139700" dist="25400" dir="2700000" sx="102000" sy="102000" algn="tl" rotWithShape="0">
                <a:schemeClr val="accent2">
                  <a:alpha val="15000"/>
                </a:schemeClr>
              </a:outerShdw>
            </a:effectLst>
          </p:spPr>
          <p:txBody>
            <a:bodyPr wrap="square" rtlCol="0" anchor="ctr">
              <a:noAutofit/>
            </a:bodyPr>
            <a:lstStyle/>
            <a:p>
              <a:endParaRPr lang="zh-CN" altLang="en-US" dirty="0">
                <a:latin typeface="思源黑体 CN Light" panose="020B0300000000000000" pitchFamily="34" charset="-122"/>
              </a:endParaRPr>
            </a:p>
          </p:txBody>
        </p:sp>
        <p:sp>
          <p:nvSpPr>
            <p:cNvPr id="1070" name="任意多边形: 形状 1069">
              <a:extLst>
                <a:ext uri="{FF2B5EF4-FFF2-40B4-BE49-F238E27FC236}">
                  <a16:creationId xmlns:a16="http://schemas.microsoft.com/office/drawing/2014/main" id="{1141DBBE-FEAE-807C-7548-4667C6850D90}"/>
                </a:ext>
              </a:extLst>
            </p:cNvPr>
            <p:cNvSpPr>
              <a:spLocks noChangeAspect="1"/>
            </p:cNvSpPr>
            <p:nvPr/>
          </p:nvSpPr>
          <p:spPr>
            <a:xfrm>
              <a:off x="0" y="5364162"/>
              <a:ext cx="6132480" cy="1493837"/>
            </a:xfrm>
            <a:custGeom>
              <a:avLst/>
              <a:gdLst>
                <a:gd name="connsiteX0" fmla="*/ 0 w 6132480"/>
                <a:gd name="connsiteY0" fmla="*/ 0 h 1901018"/>
                <a:gd name="connsiteX1" fmla="*/ 26424 w 6132480"/>
                <a:gd name="connsiteY1" fmla="*/ 37305 h 1901018"/>
                <a:gd name="connsiteX2" fmla="*/ 3120273 w 6132480"/>
                <a:gd name="connsiteY2" fmla="*/ 1052725 h 1901018"/>
                <a:gd name="connsiteX3" fmla="*/ 5910572 w 6132480"/>
                <a:gd name="connsiteY3" fmla="*/ 1754690 h 1901018"/>
                <a:gd name="connsiteX4" fmla="*/ 6132480 w 6132480"/>
                <a:gd name="connsiteY4" fmla="*/ 1901018 h 1901018"/>
                <a:gd name="connsiteX5" fmla="*/ 0 w 6132480"/>
                <a:gd name="connsiteY5" fmla="*/ 1901018 h 1901018"/>
                <a:gd name="connsiteX0" fmla="*/ 0 w 6132480"/>
                <a:gd name="connsiteY0" fmla="*/ 0 h 1901018"/>
                <a:gd name="connsiteX1" fmla="*/ 26424 w 6132480"/>
                <a:gd name="connsiteY1" fmla="*/ 37305 h 1901018"/>
                <a:gd name="connsiteX2" fmla="*/ 3042451 w 6132480"/>
                <a:gd name="connsiteY2" fmla="*/ 975475 h 1901018"/>
                <a:gd name="connsiteX3" fmla="*/ 5910572 w 6132480"/>
                <a:gd name="connsiteY3" fmla="*/ 1754690 h 1901018"/>
                <a:gd name="connsiteX4" fmla="*/ 6132480 w 6132480"/>
                <a:gd name="connsiteY4" fmla="*/ 1901018 h 1901018"/>
                <a:gd name="connsiteX5" fmla="*/ 0 w 6132480"/>
                <a:gd name="connsiteY5" fmla="*/ 1901018 h 1901018"/>
                <a:gd name="connsiteX6" fmla="*/ 0 w 6132480"/>
                <a:gd name="connsiteY6" fmla="*/ 0 h 1901018"/>
                <a:gd name="connsiteX0" fmla="*/ 0 w 6132480"/>
                <a:gd name="connsiteY0" fmla="*/ 0 h 1901018"/>
                <a:gd name="connsiteX1" fmla="*/ 26424 w 6132480"/>
                <a:gd name="connsiteY1" fmla="*/ 37305 h 1901018"/>
                <a:gd name="connsiteX2" fmla="*/ 3042451 w 6132480"/>
                <a:gd name="connsiteY2" fmla="*/ 975475 h 1901018"/>
                <a:gd name="connsiteX3" fmla="*/ 5910572 w 6132480"/>
                <a:gd name="connsiteY3" fmla="*/ 1754690 h 1901018"/>
                <a:gd name="connsiteX4" fmla="*/ 6132480 w 6132480"/>
                <a:gd name="connsiteY4" fmla="*/ 1901018 h 1901018"/>
                <a:gd name="connsiteX5" fmla="*/ 0 w 6132480"/>
                <a:gd name="connsiteY5" fmla="*/ 1901018 h 1901018"/>
                <a:gd name="connsiteX6" fmla="*/ 0 w 6132480"/>
                <a:gd name="connsiteY6" fmla="*/ 0 h 1901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32480" h="1901018">
                  <a:moveTo>
                    <a:pt x="0" y="0"/>
                  </a:moveTo>
                  <a:lnTo>
                    <a:pt x="26424" y="37305"/>
                  </a:lnTo>
                  <a:cubicBezTo>
                    <a:pt x="393686" y="496820"/>
                    <a:pt x="971214" y="831257"/>
                    <a:pt x="3042451" y="975475"/>
                  </a:cubicBezTo>
                  <a:cubicBezTo>
                    <a:pt x="4768482" y="1095658"/>
                    <a:pt x="5461438" y="1372672"/>
                    <a:pt x="5910572" y="1754690"/>
                  </a:cubicBezTo>
                  <a:lnTo>
                    <a:pt x="6132480" y="1901018"/>
                  </a:lnTo>
                  <a:lnTo>
                    <a:pt x="0" y="1901018"/>
                  </a:lnTo>
                  <a:lnTo>
                    <a:pt x="0" y="0"/>
                  </a:lnTo>
                  <a:close/>
                </a:path>
              </a:pathLst>
            </a:custGeom>
            <a:gradFill>
              <a:gsLst>
                <a:gs pos="0">
                  <a:schemeClr val="accent1"/>
                </a:gs>
                <a:gs pos="62000">
                  <a:schemeClr val="accent2"/>
                </a:gs>
              </a:gsLst>
              <a:lin ang="2700000" scaled="0"/>
            </a:gradFill>
            <a:ln w="58473" cap="flat">
              <a:noFill/>
              <a:prstDash val="solid"/>
              <a:miter/>
            </a:ln>
            <a:effectLst>
              <a:innerShdw blurRad="254000" dist="139700" dir="13500000">
                <a:schemeClr val="accent1">
                  <a:lumMod val="0"/>
                  <a:alpha val="15000"/>
                </a:schemeClr>
              </a:innerShdw>
            </a:effectLst>
          </p:spPr>
          <p:txBody>
            <a:bodyPr wrap="square" rtlCol="0" anchor="ctr">
              <a:noAutofit/>
            </a:bodyPr>
            <a:lstStyle/>
            <a:p>
              <a:endParaRPr lang="zh-CN" altLang="en-US" dirty="0">
                <a:latin typeface="思源黑体 CN Light" panose="020B0300000000000000" pitchFamily="34" charset="-122"/>
              </a:endParaRPr>
            </a:p>
          </p:txBody>
        </p:sp>
      </p:grpSp>
      <p:pic>
        <p:nvPicPr>
          <p:cNvPr id="1077" name="Picture 4">
            <a:extLst>
              <a:ext uri="{FF2B5EF4-FFF2-40B4-BE49-F238E27FC236}">
                <a16:creationId xmlns:a16="http://schemas.microsoft.com/office/drawing/2014/main" id="{6E7FE901-E498-372D-E97F-E42920ACFF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800" y="468217"/>
            <a:ext cx="2429497" cy="57018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F911312-F9E6-430D-9585-CDB65ABE22DF}"/>
              </a:ext>
            </a:extLst>
          </p:cNvPr>
          <p:cNvSpPr/>
          <p:nvPr/>
        </p:nvSpPr>
        <p:spPr>
          <a:xfrm>
            <a:off x="1046037" y="1340159"/>
            <a:ext cx="9453229" cy="1843133"/>
          </a:xfrm>
          <a:prstGeom prst="rect">
            <a:avLst/>
          </a:prstGeom>
        </p:spPr>
        <p:txBody>
          <a:bodyPr wrap="none">
            <a:spAutoFit/>
          </a:bodyPr>
          <a:lstStyle/>
          <a:p>
            <a:pPr>
              <a:lnSpc>
                <a:spcPct val="130000"/>
              </a:lnSpc>
            </a:pPr>
            <a:r>
              <a:rPr lang="en-US" altLang="zh-CN" sz="4600" kern="100" dirty="0">
                <a:solidFill>
                  <a:schemeClr val="bg1"/>
                </a:solidFill>
                <a:latin typeface="+mj-ea"/>
                <a:ea typeface="+mj-ea"/>
                <a:cs typeface="Times New Roman" panose="02020603050405020304" pitchFamily="18" charset="0"/>
              </a:rPr>
              <a:t>2020</a:t>
            </a:r>
            <a:r>
              <a:rPr lang="zh-CN" altLang="en-US" sz="4600" kern="100" dirty="0">
                <a:solidFill>
                  <a:schemeClr val="bg1"/>
                </a:solidFill>
                <a:latin typeface="+mj-ea"/>
                <a:ea typeface="+mj-ea"/>
                <a:cs typeface="Times New Roman" panose="02020603050405020304" pitchFamily="18" charset="0"/>
              </a:rPr>
              <a:t>年国赛</a:t>
            </a:r>
            <a:r>
              <a:rPr lang="en-US" altLang="zh-CN" sz="4600" kern="100" dirty="0">
                <a:solidFill>
                  <a:schemeClr val="bg1"/>
                </a:solidFill>
                <a:latin typeface="+mj-ea"/>
                <a:ea typeface="+mj-ea"/>
                <a:cs typeface="Times New Roman" panose="02020603050405020304" pitchFamily="18" charset="0"/>
              </a:rPr>
              <a:t>C</a:t>
            </a:r>
            <a:r>
              <a:rPr lang="zh-CN" altLang="en-US" sz="4600" kern="100" dirty="0">
                <a:solidFill>
                  <a:schemeClr val="bg1"/>
                </a:solidFill>
                <a:latin typeface="+mj-ea"/>
                <a:ea typeface="+mj-ea"/>
                <a:cs typeface="Times New Roman" panose="02020603050405020304" pitchFamily="18" charset="0"/>
              </a:rPr>
              <a:t>题分析</a:t>
            </a:r>
            <a:endParaRPr lang="en-US" altLang="zh-CN" sz="4600" kern="100" dirty="0">
              <a:solidFill>
                <a:schemeClr val="bg1"/>
              </a:solidFill>
              <a:latin typeface="+mj-ea"/>
              <a:ea typeface="+mj-ea"/>
              <a:cs typeface="Times New Roman" panose="02020603050405020304" pitchFamily="18" charset="0"/>
            </a:endParaRPr>
          </a:p>
          <a:p>
            <a:pPr>
              <a:lnSpc>
                <a:spcPct val="130000"/>
              </a:lnSpc>
            </a:pPr>
            <a:r>
              <a:rPr lang="en-US" altLang="zh-CN" sz="4600" kern="100" dirty="0">
                <a:solidFill>
                  <a:schemeClr val="bg1"/>
                </a:solidFill>
                <a:latin typeface="+mj-ea"/>
                <a:ea typeface="+mj-ea"/>
                <a:cs typeface="Times New Roman" panose="02020603050405020304" pitchFamily="18" charset="0"/>
              </a:rPr>
              <a:t>            ——</a:t>
            </a:r>
            <a:r>
              <a:rPr lang="zh-CN" altLang="zh-CN" sz="4600" kern="100" dirty="0">
                <a:solidFill>
                  <a:schemeClr val="bg1"/>
                </a:solidFill>
                <a:latin typeface="+mj-ea"/>
                <a:ea typeface="+mj-ea"/>
                <a:cs typeface="Times New Roman" panose="02020603050405020304" pitchFamily="18" charset="0"/>
              </a:rPr>
              <a:t>中小微企业的信贷决策</a:t>
            </a:r>
            <a:endParaRPr lang="zh-CN" altLang="en-US" sz="4600" dirty="0">
              <a:solidFill>
                <a:schemeClr val="bg1"/>
              </a:solidFill>
              <a:latin typeface="+mj-ea"/>
              <a:ea typeface="+mj-ea"/>
            </a:endParaRPr>
          </a:p>
        </p:txBody>
      </p:sp>
      <p:sp>
        <p:nvSpPr>
          <p:cNvPr id="16" name="Rectangle 15">
            <a:extLst>
              <a:ext uri="{FF2B5EF4-FFF2-40B4-BE49-F238E27FC236}">
                <a16:creationId xmlns:a16="http://schemas.microsoft.com/office/drawing/2014/main" id="{460C067C-A4D3-4BE3-A9C7-27F9D881C3A9}"/>
              </a:ext>
            </a:extLst>
          </p:cNvPr>
          <p:cNvSpPr/>
          <p:nvPr/>
        </p:nvSpPr>
        <p:spPr>
          <a:xfrm>
            <a:off x="2988297" y="487663"/>
            <a:ext cx="4196983" cy="492443"/>
          </a:xfrm>
          <a:prstGeom prst="rect">
            <a:avLst/>
          </a:prstGeom>
        </p:spPr>
        <p:txBody>
          <a:bodyPr wrap="none">
            <a:spAutoFit/>
          </a:bodyPr>
          <a:lstStyle/>
          <a:p>
            <a:r>
              <a:rPr lang="en-US" altLang="zh-CN" sz="2600" b="1" kern="100" dirty="0">
                <a:solidFill>
                  <a:srgbClr val="FFFF00"/>
                </a:solidFill>
                <a:latin typeface="+mj-ea"/>
                <a:ea typeface="+mj-ea"/>
                <a:cs typeface="Times New Roman" panose="02020603050405020304" pitchFamily="18" charset="0"/>
              </a:rPr>
              <a:t>▪ </a:t>
            </a:r>
            <a:r>
              <a:rPr lang="en-US" altLang="zh-CN" sz="2600" b="1" kern="100" dirty="0">
                <a:solidFill>
                  <a:srgbClr val="FFFF00"/>
                </a:solidFill>
                <a:latin typeface="华文楷体" panose="02010600040101010101" pitchFamily="2" charset="-122"/>
                <a:ea typeface="华文楷体" panose="02010600040101010101" pitchFamily="2" charset="-122"/>
                <a:cs typeface="Times New Roman" panose="02020603050405020304" pitchFamily="18" charset="0"/>
              </a:rPr>
              <a:t>2026</a:t>
            </a:r>
            <a:r>
              <a:rPr lang="zh-CN" altLang="en-US" sz="2600" b="1" kern="100" dirty="0">
                <a:solidFill>
                  <a:srgbClr val="FFFF00"/>
                </a:solidFill>
                <a:latin typeface="华文楷体" panose="02010600040101010101" pitchFamily="2" charset="-122"/>
                <a:ea typeface="华文楷体" panose="02010600040101010101" pitchFamily="2" charset="-122"/>
                <a:cs typeface="Times New Roman" panose="02020603050405020304" pitchFamily="18" charset="0"/>
              </a:rPr>
              <a:t>年数学建模暑假培训</a:t>
            </a:r>
            <a:endParaRPr lang="en-US" altLang="zh-CN" sz="2600" b="1" kern="100" dirty="0">
              <a:solidFill>
                <a:srgbClr val="FFFF00"/>
              </a:solidFill>
              <a:latin typeface="华文楷体" panose="02010600040101010101" pitchFamily="2" charset="-122"/>
              <a:ea typeface="华文楷体" panose="02010600040101010101" pitchFamily="2" charset="-122"/>
              <a:cs typeface="Times New Roman" panose="02020603050405020304" pitchFamily="18" charset="0"/>
            </a:endParaRPr>
          </a:p>
        </p:txBody>
      </p:sp>
      <p:pic>
        <p:nvPicPr>
          <p:cNvPr id="15" name="Picture 14">
            <a:extLst>
              <a:ext uri="{FF2B5EF4-FFF2-40B4-BE49-F238E27FC236}">
                <a16:creationId xmlns:a16="http://schemas.microsoft.com/office/drawing/2014/main" id="{0755128C-DF09-449A-803E-C0FFC6394309}"/>
              </a:ext>
            </a:extLst>
          </p:cNvPr>
          <p:cNvPicPr>
            <a:picLocks noChangeAspect="1"/>
          </p:cNvPicPr>
          <p:nvPr/>
        </p:nvPicPr>
        <p:blipFill>
          <a:blip r:embed="rId5"/>
          <a:stretch>
            <a:fillRect/>
          </a:stretch>
        </p:blipFill>
        <p:spPr>
          <a:xfrm>
            <a:off x="7818653" y="15796"/>
            <a:ext cx="4373347" cy="570189"/>
          </a:xfrm>
          <a:prstGeom prst="rect">
            <a:avLst/>
          </a:prstGeom>
        </p:spPr>
      </p:pic>
    </p:spTree>
    <p:extLst>
      <p:ext uri="{BB962C8B-B14F-4D97-AF65-F5344CB8AC3E}">
        <p14:creationId xmlns:p14="http://schemas.microsoft.com/office/powerpoint/2010/main" val="35154998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图片 58">
            <a:extLst>
              <a:ext uri="{FF2B5EF4-FFF2-40B4-BE49-F238E27FC236}">
                <a16:creationId xmlns:a16="http://schemas.microsoft.com/office/drawing/2014/main" id="{B92E67B3-DDF8-C76C-F9DE-875919EA7E6A}"/>
              </a:ext>
            </a:extLst>
          </p:cNvPr>
          <p:cNvPicPr>
            <a:picLocks noChangeAspect="1"/>
          </p:cNvPicPr>
          <p:nvPr/>
        </p:nvPicPr>
        <p:blipFill>
          <a:blip r:embed="rId2"/>
          <a:stretch>
            <a:fillRect/>
          </a:stretch>
        </p:blipFill>
        <p:spPr>
          <a:xfrm>
            <a:off x="0" y="-297"/>
            <a:ext cx="12192000" cy="6858594"/>
          </a:xfrm>
          <a:prstGeom prst="rect">
            <a:avLst/>
          </a:prstGeom>
        </p:spPr>
      </p:pic>
      <p:sp>
        <p:nvSpPr>
          <p:cNvPr id="61" name="矩形 60">
            <a:extLst>
              <a:ext uri="{FF2B5EF4-FFF2-40B4-BE49-F238E27FC236}">
                <a16:creationId xmlns:a16="http://schemas.microsoft.com/office/drawing/2014/main" id="{1C9F70C7-7AAC-6086-1CA1-74524E63170D}"/>
              </a:ext>
            </a:extLst>
          </p:cNvPr>
          <p:cNvSpPr/>
          <p:nvPr/>
        </p:nvSpPr>
        <p:spPr>
          <a:xfrm>
            <a:off x="4438414" y="1556192"/>
            <a:ext cx="7753586" cy="1019068"/>
          </a:xfrm>
          <a:prstGeom prst="rect">
            <a:avLst/>
          </a:prstGeom>
          <a:gradFill flip="none" rotWithShape="1">
            <a:gsLst>
              <a:gs pos="0">
                <a:srgbClr val="F1F6FD"/>
              </a:gs>
              <a:gs pos="64000">
                <a:srgbClr val="E5EEFB"/>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64" name="矩形 63">
            <a:extLst>
              <a:ext uri="{FF2B5EF4-FFF2-40B4-BE49-F238E27FC236}">
                <a16:creationId xmlns:a16="http://schemas.microsoft.com/office/drawing/2014/main" id="{5E6D8726-CD47-5B3B-C660-C69721569F3E}"/>
              </a:ext>
            </a:extLst>
          </p:cNvPr>
          <p:cNvSpPr/>
          <p:nvPr/>
        </p:nvSpPr>
        <p:spPr>
          <a:xfrm>
            <a:off x="4438414" y="3815349"/>
            <a:ext cx="7753586" cy="1019068"/>
          </a:xfrm>
          <a:prstGeom prst="rect">
            <a:avLst/>
          </a:prstGeom>
          <a:gradFill flip="none" rotWithShape="1">
            <a:gsLst>
              <a:gs pos="0">
                <a:srgbClr val="F1F6FD"/>
              </a:gs>
              <a:gs pos="64000">
                <a:srgbClr val="E5EEFB"/>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69" name="任意多边形: 形状 68">
            <a:extLst>
              <a:ext uri="{FF2B5EF4-FFF2-40B4-BE49-F238E27FC236}">
                <a16:creationId xmlns:a16="http://schemas.microsoft.com/office/drawing/2014/main" id="{5BA3F09B-A691-2443-EEB5-8E8682456674}"/>
              </a:ext>
            </a:extLst>
          </p:cNvPr>
          <p:cNvSpPr/>
          <p:nvPr/>
        </p:nvSpPr>
        <p:spPr>
          <a:xfrm>
            <a:off x="0" y="0"/>
            <a:ext cx="4513942" cy="6858000"/>
          </a:xfrm>
          <a:custGeom>
            <a:avLst/>
            <a:gdLst>
              <a:gd name="connsiteX0" fmla="*/ 0 w 4513942"/>
              <a:gd name="connsiteY0" fmla="*/ 0 h 6858000"/>
              <a:gd name="connsiteX1" fmla="*/ 3641833 w 4513942"/>
              <a:gd name="connsiteY1" fmla="*/ 0 h 6858000"/>
              <a:gd name="connsiteX2" fmla="*/ 3657411 w 4513942"/>
              <a:gd name="connsiteY2" fmla="*/ 4006 h 6858000"/>
              <a:gd name="connsiteX3" fmla="*/ 4513942 w 4513942"/>
              <a:gd name="connsiteY3" fmla="*/ 1168235 h 6858000"/>
              <a:gd name="connsiteX4" fmla="*/ 4513942 w 4513942"/>
              <a:gd name="connsiteY4" fmla="*/ 6858000 h 6858000"/>
              <a:gd name="connsiteX5" fmla="*/ 0 w 451394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13942" h="6858000">
                <a:moveTo>
                  <a:pt x="0" y="0"/>
                </a:moveTo>
                <a:lnTo>
                  <a:pt x="3641833" y="0"/>
                </a:lnTo>
                <a:lnTo>
                  <a:pt x="3657411" y="4006"/>
                </a:lnTo>
                <a:cubicBezTo>
                  <a:pt x="4153641" y="158349"/>
                  <a:pt x="4513942" y="621216"/>
                  <a:pt x="4513942" y="1168235"/>
                </a:cubicBezTo>
                <a:lnTo>
                  <a:pt x="4513942" y="6858000"/>
                </a:lnTo>
                <a:lnTo>
                  <a:pt x="0" y="6858000"/>
                </a:ln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rgbClr val="FFFFFF"/>
              </a:solidFill>
              <a:cs typeface="+mn-ea"/>
              <a:sym typeface="+mn-lt"/>
            </a:endParaRPr>
          </a:p>
        </p:txBody>
      </p:sp>
      <p:sp>
        <p:nvSpPr>
          <p:cNvPr id="70" name="矩形: 单圆角 69">
            <a:extLst>
              <a:ext uri="{FF2B5EF4-FFF2-40B4-BE49-F238E27FC236}">
                <a16:creationId xmlns:a16="http://schemas.microsoft.com/office/drawing/2014/main" id="{153C1B70-1E57-59BD-2D83-33B05B6E57B8}"/>
              </a:ext>
            </a:extLst>
          </p:cNvPr>
          <p:cNvSpPr/>
          <p:nvPr/>
        </p:nvSpPr>
        <p:spPr>
          <a:xfrm>
            <a:off x="0" y="0"/>
            <a:ext cx="4438415" cy="6858000"/>
          </a:xfrm>
          <a:prstGeom prst="round1Rect">
            <a:avLst>
              <a:gd name="adj" fmla="val 27006"/>
            </a:avLst>
          </a:prstGeom>
          <a:gradFill flip="none" rotWithShape="1">
            <a:gsLst>
              <a:gs pos="36000">
                <a:srgbClr val="0052A2"/>
              </a:gs>
              <a:gs pos="100000">
                <a:schemeClr val="accent1">
                  <a:lumMod val="75000"/>
                </a:schemeClr>
              </a:gs>
            </a:gsLst>
            <a:lin ang="6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rgbClr val="FFFFFF"/>
              </a:solidFill>
              <a:cs typeface="+mn-ea"/>
              <a:sym typeface="+mn-lt"/>
            </a:endParaRPr>
          </a:p>
        </p:txBody>
      </p:sp>
      <p:grpSp>
        <p:nvGrpSpPr>
          <p:cNvPr id="71" name="组合 70">
            <a:extLst>
              <a:ext uri="{FF2B5EF4-FFF2-40B4-BE49-F238E27FC236}">
                <a16:creationId xmlns:a16="http://schemas.microsoft.com/office/drawing/2014/main" id="{0E8C92DA-C3B4-6C3D-AA7C-D6A0D8A7AB5A}"/>
              </a:ext>
            </a:extLst>
          </p:cNvPr>
          <p:cNvGrpSpPr/>
          <p:nvPr/>
        </p:nvGrpSpPr>
        <p:grpSpPr>
          <a:xfrm>
            <a:off x="539937" y="1329719"/>
            <a:ext cx="3670113" cy="1962150"/>
            <a:chOff x="539937" y="534080"/>
            <a:chExt cx="3670113" cy="1962150"/>
          </a:xfrm>
        </p:grpSpPr>
        <p:grpSp>
          <p:nvGrpSpPr>
            <p:cNvPr id="72" name="组合 71">
              <a:extLst>
                <a:ext uri="{FF2B5EF4-FFF2-40B4-BE49-F238E27FC236}">
                  <a16:creationId xmlns:a16="http://schemas.microsoft.com/office/drawing/2014/main" id="{AEB94AFD-0E83-D4B6-37F5-0A95DA8E710E}"/>
                </a:ext>
              </a:extLst>
            </p:cNvPr>
            <p:cNvGrpSpPr/>
            <p:nvPr/>
          </p:nvGrpSpPr>
          <p:grpSpPr>
            <a:xfrm>
              <a:off x="539937" y="780501"/>
              <a:ext cx="3395520" cy="1469307"/>
              <a:chOff x="539937" y="737553"/>
              <a:chExt cx="3395520" cy="1469307"/>
            </a:xfrm>
          </p:grpSpPr>
          <p:sp>
            <p:nvSpPr>
              <p:cNvPr id="75" name="文本框 74">
                <a:extLst>
                  <a:ext uri="{FF2B5EF4-FFF2-40B4-BE49-F238E27FC236}">
                    <a16:creationId xmlns:a16="http://schemas.microsoft.com/office/drawing/2014/main" id="{AA9EE7EB-7990-0B33-B01B-FBE86EFAF995}"/>
                  </a:ext>
                </a:extLst>
              </p:cNvPr>
              <p:cNvSpPr txBox="1"/>
              <p:nvPr/>
            </p:nvSpPr>
            <p:spPr>
              <a:xfrm>
                <a:off x="539937" y="1714417"/>
                <a:ext cx="2448796" cy="492443"/>
              </a:xfrm>
              <a:prstGeom prst="rect">
                <a:avLst/>
              </a:prstGeom>
              <a:noFill/>
            </p:spPr>
            <p:txBody>
              <a:bodyPr wrap="square" lIns="0" tIns="0" rIns="0" bIns="0" rtlCol="0" anchor="t">
                <a:spAutoFit/>
              </a:bodyPr>
              <a:lstStyle>
                <a:defPPr>
                  <a:defRPr lang="zh-CN"/>
                </a:defPPr>
                <a:lvl1pPr>
                  <a:defRPr sz="5400">
                    <a:gradFill flip="none" rotWithShape="1">
                      <a:gsLst>
                        <a:gs pos="0">
                          <a:schemeClr val="bg1"/>
                        </a:gs>
                        <a:gs pos="100000">
                          <a:schemeClr val="accent2">
                            <a:lumMod val="20000"/>
                            <a:lumOff val="80000"/>
                          </a:schemeClr>
                        </a:gs>
                      </a:gsLst>
                      <a:lin ang="5400000" scaled="1"/>
                      <a:tileRect/>
                    </a:gradFill>
                    <a:effectLst>
                      <a:outerShdw blurRad="50800" dist="63500" dir="5400000" algn="t" rotWithShape="0">
                        <a:schemeClr val="accent1">
                          <a:lumMod val="50000"/>
                          <a:alpha val="50000"/>
                        </a:schemeClr>
                      </a:outerShdw>
                    </a:effectLst>
                    <a:latin typeface="思源黑体 CN Heavy" panose="020B0A00000000000000" pitchFamily="34" charset="-122"/>
                    <a:ea typeface="思源黑体 CN Heavy" panose="020B0A00000000000000" pitchFamily="34" charset="-122"/>
                  </a:defRPr>
                </a:lvl1p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gradFill flip="none" rotWithShape="1">
                      <a:gsLst>
                        <a:gs pos="0">
                          <a:srgbClr val="FFFFFF"/>
                        </a:gs>
                        <a:gs pos="100000">
                          <a:srgbClr val="009CDE">
                            <a:lumMod val="20000"/>
                            <a:lumOff val="80000"/>
                          </a:srgbClr>
                        </a:gs>
                      </a:gsLst>
                      <a:lin ang="5400000" scaled="1"/>
                      <a:tileRect/>
                    </a:gradFill>
                    <a:effectLst>
                      <a:outerShdw blurRad="50800" dist="63500" dir="5400000" algn="t" rotWithShape="0">
                        <a:srgbClr val="1D4F91">
                          <a:lumMod val="50000"/>
                          <a:alpha val="50000"/>
                        </a:srgbClr>
                      </a:outerShdw>
                    </a:effectLst>
                    <a:uLnTx/>
                    <a:uFillTx/>
                    <a:latin typeface="+mn-lt"/>
                    <a:ea typeface="+mn-ea"/>
                    <a:cs typeface="+mn-ea"/>
                    <a:sym typeface="+mn-lt"/>
                  </a:rPr>
                  <a:t>CONTENTS</a:t>
                </a:r>
                <a:endParaRPr kumimoji="0" lang="zh-CN" altLang="en-US" sz="3200" b="0" i="0" u="none" strike="noStrike" kern="1200" cap="none" spc="0" normalizeH="0" baseline="0" noProof="0" dirty="0">
                  <a:ln>
                    <a:noFill/>
                  </a:ln>
                  <a:gradFill flip="none" rotWithShape="1">
                    <a:gsLst>
                      <a:gs pos="0">
                        <a:srgbClr val="FFFFFF"/>
                      </a:gs>
                      <a:gs pos="100000">
                        <a:srgbClr val="009CDE">
                          <a:lumMod val="20000"/>
                          <a:lumOff val="80000"/>
                        </a:srgbClr>
                      </a:gs>
                    </a:gsLst>
                    <a:lin ang="5400000" scaled="1"/>
                    <a:tileRect/>
                  </a:gradFill>
                  <a:effectLst>
                    <a:outerShdw blurRad="50800" dist="63500" dir="5400000" algn="t" rotWithShape="0">
                      <a:srgbClr val="1D4F91">
                        <a:lumMod val="50000"/>
                        <a:alpha val="50000"/>
                      </a:srgbClr>
                    </a:outerShdw>
                  </a:effectLst>
                  <a:uLnTx/>
                  <a:uFillTx/>
                  <a:latin typeface="+mn-lt"/>
                  <a:ea typeface="+mn-ea"/>
                  <a:cs typeface="+mn-ea"/>
                  <a:sym typeface="+mn-lt"/>
                </a:endParaRPr>
              </a:p>
            </p:txBody>
          </p:sp>
          <p:sp>
            <p:nvSpPr>
              <p:cNvPr id="76" name="文本框 75">
                <a:extLst>
                  <a:ext uri="{FF2B5EF4-FFF2-40B4-BE49-F238E27FC236}">
                    <a16:creationId xmlns:a16="http://schemas.microsoft.com/office/drawing/2014/main" id="{FAE8EDC4-474D-5E8B-F35A-8B1F4F6AF9DD}"/>
                  </a:ext>
                </a:extLst>
              </p:cNvPr>
              <p:cNvSpPr txBox="1"/>
              <p:nvPr/>
            </p:nvSpPr>
            <p:spPr>
              <a:xfrm>
                <a:off x="539937" y="737553"/>
                <a:ext cx="3395520" cy="923330"/>
              </a:xfrm>
              <a:prstGeom prst="rect">
                <a:avLst/>
              </a:prstGeom>
              <a:noFill/>
            </p:spPr>
            <p:txBody>
              <a:bodyPr wrap="square" lIns="0" tIns="0" rIns="0" bIns="0" rtlCol="0" anchor="t">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6000" b="1" i="0" u="none" strike="noStrike" kern="1200" cap="none" spc="0" normalizeH="0" baseline="0" noProof="0" dirty="0">
                    <a:ln>
                      <a:noFill/>
                    </a:ln>
                    <a:gradFill flip="none" rotWithShape="1">
                      <a:gsLst>
                        <a:gs pos="0">
                          <a:srgbClr val="FFFFFF"/>
                        </a:gs>
                        <a:gs pos="100000">
                          <a:srgbClr val="009CDE">
                            <a:lumMod val="20000"/>
                            <a:lumOff val="80000"/>
                          </a:srgbClr>
                        </a:gs>
                      </a:gsLst>
                      <a:lin ang="5400000" scaled="1"/>
                      <a:tileRect/>
                    </a:gradFill>
                    <a:effectLst>
                      <a:outerShdw blurRad="50800" dist="63500" dir="5400000" algn="t" rotWithShape="0">
                        <a:srgbClr val="1D4F91">
                          <a:lumMod val="50000"/>
                          <a:alpha val="50000"/>
                        </a:srgbClr>
                      </a:outerShdw>
                    </a:effectLst>
                    <a:uLnTx/>
                    <a:uFillTx/>
                    <a:cs typeface="+mn-ea"/>
                    <a:sym typeface="+mn-lt"/>
                  </a:rPr>
                  <a:t>目录</a:t>
                </a:r>
              </a:p>
            </p:txBody>
          </p:sp>
        </p:grpSp>
        <p:cxnSp>
          <p:nvCxnSpPr>
            <p:cNvPr id="73" name="直接连接符 72">
              <a:extLst>
                <a:ext uri="{FF2B5EF4-FFF2-40B4-BE49-F238E27FC236}">
                  <a16:creationId xmlns:a16="http://schemas.microsoft.com/office/drawing/2014/main" id="{0DD8D7C2-2EE9-16BC-3868-0371E209715C}"/>
                </a:ext>
              </a:extLst>
            </p:cNvPr>
            <p:cNvCxnSpPr>
              <a:cxnSpLocks/>
            </p:cNvCxnSpPr>
            <p:nvPr/>
          </p:nvCxnSpPr>
          <p:spPr>
            <a:xfrm>
              <a:off x="539937" y="2496230"/>
              <a:ext cx="3670113" cy="0"/>
            </a:xfrm>
            <a:prstGeom prst="line">
              <a:avLst/>
            </a:prstGeom>
            <a:noFill/>
            <a:ln w="31750">
              <a:gradFill flip="none" rotWithShape="1">
                <a:gsLst>
                  <a:gs pos="0">
                    <a:schemeClr val="accent2"/>
                  </a:gs>
                  <a:gs pos="87000">
                    <a:schemeClr val="accent2">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cxnSp>
        <p:cxnSp>
          <p:nvCxnSpPr>
            <p:cNvPr id="74" name="直接连接符 73">
              <a:extLst>
                <a:ext uri="{FF2B5EF4-FFF2-40B4-BE49-F238E27FC236}">
                  <a16:creationId xmlns:a16="http://schemas.microsoft.com/office/drawing/2014/main" id="{CFAFC449-9E6E-0A67-83F0-E68FCE00EA41}"/>
                </a:ext>
              </a:extLst>
            </p:cNvPr>
            <p:cNvCxnSpPr>
              <a:cxnSpLocks/>
            </p:cNvCxnSpPr>
            <p:nvPr/>
          </p:nvCxnSpPr>
          <p:spPr>
            <a:xfrm>
              <a:off x="539937" y="534080"/>
              <a:ext cx="3670113" cy="0"/>
            </a:xfrm>
            <a:prstGeom prst="line">
              <a:avLst/>
            </a:prstGeom>
            <a:noFill/>
            <a:ln w="31750">
              <a:gradFill flip="none" rotWithShape="1">
                <a:gsLst>
                  <a:gs pos="0">
                    <a:schemeClr val="accent2"/>
                  </a:gs>
                  <a:gs pos="87000">
                    <a:schemeClr val="accent2">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cxnSp>
      </p:grpSp>
      <p:sp>
        <p:nvSpPr>
          <p:cNvPr id="78" name="文本框 77">
            <a:extLst>
              <a:ext uri="{FF2B5EF4-FFF2-40B4-BE49-F238E27FC236}">
                <a16:creationId xmlns:a16="http://schemas.microsoft.com/office/drawing/2014/main" id="{27D98A38-C28F-28FD-FBDC-FDF0E01F9D9D}"/>
              </a:ext>
            </a:extLst>
          </p:cNvPr>
          <p:cNvSpPr txBox="1"/>
          <p:nvPr/>
        </p:nvSpPr>
        <p:spPr>
          <a:xfrm>
            <a:off x="6393203" y="1819505"/>
            <a:ext cx="4513942" cy="492443"/>
          </a:xfrm>
          <a:prstGeom prst="rect">
            <a:avLst/>
          </a:prstGeom>
          <a:noFill/>
        </p:spPr>
        <p:txBody>
          <a:bodyPr wrap="square" lIns="0" tIns="0" rIns="0" bIns="0" rtlCol="0" anchor="ctr">
            <a:spAutoFit/>
          </a:bodyPr>
          <a:lstStyle>
            <a:defPPr>
              <a:defRPr lang="zh-CN"/>
            </a:defPPr>
            <a:lvl1pPr marR="0" lvl="0" indent="0" algn="ctr" fontAlgn="auto">
              <a:lnSpc>
                <a:spcPct val="100000"/>
              </a:lnSpc>
              <a:spcBef>
                <a:spcPts val="0"/>
              </a:spcBef>
              <a:spcAft>
                <a:spcPts val="0"/>
              </a:spcAft>
              <a:buClrTx/>
              <a:buSzTx/>
              <a:buFontTx/>
              <a:buNone/>
              <a:tabLst/>
              <a:defRPr kumimoji="0" sz="5400" b="0" i="0" u="none" strike="noStrike" cap="none" spc="0" normalizeH="0" baseline="0">
                <a:ln>
                  <a:noFill/>
                </a:ln>
                <a:gradFill flip="none" rotWithShape="1">
                  <a:gsLst>
                    <a:gs pos="0">
                      <a:srgbClr val="1D4F91"/>
                    </a:gs>
                    <a:gs pos="100000">
                      <a:srgbClr val="1D4F91">
                        <a:lumMod val="75000"/>
                      </a:srgbClr>
                    </a:gs>
                  </a:gsLst>
                  <a:lin ang="5400000" scaled="1"/>
                  <a:tileRect/>
                </a:gradFill>
                <a:effectLst/>
                <a:uLnTx/>
                <a:uFillTx/>
                <a:latin typeface="思源黑体 CN Heavy" panose="020B0A00000000000000" pitchFamily="34" charset="-122"/>
                <a:ea typeface="思源黑体 CN Heavy" panose="020B0A00000000000000" pitchFamily="34" charset="-122"/>
              </a:defRPr>
            </a:lvl1pPr>
          </a:lstStyle>
          <a:p>
            <a:pPr algn="l"/>
            <a:r>
              <a:rPr lang="zh-CN" altLang="en-US" sz="3200" b="1" dirty="0">
                <a:latin typeface="+mn-lt"/>
                <a:ea typeface="+mn-ea"/>
                <a:cs typeface="+mn-ea"/>
                <a:sym typeface="+mn-lt"/>
              </a:rPr>
              <a:t>赛题评阅要点</a:t>
            </a:r>
          </a:p>
        </p:txBody>
      </p:sp>
      <p:sp>
        <p:nvSpPr>
          <p:cNvPr id="79" name="椭圆 78">
            <a:extLst>
              <a:ext uri="{FF2B5EF4-FFF2-40B4-BE49-F238E27FC236}">
                <a16:creationId xmlns:a16="http://schemas.microsoft.com/office/drawing/2014/main" id="{975C3C35-35C8-9F65-2D2E-2E27B3C2BD4E}"/>
              </a:ext>
            </a:extLst>
          </p:cNvPr>
          <p:cNvSpPr/>
          <p:nvPr/>
        </p:nvSpPr>
        <p:spPr>
          <a:xfrm>
            <a:off x="5421302" y="1740531"/>
            <a:ext cx="658824" cy="650392"/>
          </a:xfrm>
          <a:prstGeom prst="ellipse">
            <a:avLst/>
          </a:prstGeom>
          <a:gradFill>
            <a:gsLst>
              <a:gs pos="3000">
                <a:srgbClr val="0052A2"/>
              </a:gs>
              <a:gs pos="83000">
                <a:schemeClr val="accent2"/>
              </a:gs>
            </a:gsLst>
            <a:lin ang="13500000" scaled="1"/>
          </a:gradFill>
          <a:ln w="22225">
            <a:solidFill>
              <a:schemeClr val="accent2">
                <a:lumMod val="60000"/>
                <a:lumOff val="40000"/>
              </a:schemeClr>
            </a:solidFill>
          </a:ln>
          <a:effectLst>
            <a:outerShdw blurRad="114300" dist="101600" dir="5400000" sx="96000" sy="96000" algn="t" rotWithShape="0">
              <a:schemeClr val="accent1">
                <a:lumMod val="50000"/>
                <a:alpha val="3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800">
                <a:solidFill>
                  <a:schemeClr val="bg1"/>
                </a:solidFill>
                <a:cs typeface="+mn-ea"/>
                <a:sym typeface="+mn-lt"/>
              </a:rPr>
              <a:t>1</a:t>
            </a:r>
            <a:endParaRPr lang="zh-CN" altLang="en-US" sz="2800">
              <a:solidFill>
                <a:schemeClr val="bg1"/>
              </a:solidFill>
              <a:cs typeface="+mn-ea"/>
              <a:sym typeface="+mn-lt"/>
            </a:endParaRPr>
          </a:p>
        </p:txBody>
      </p:sp>
      <p:sp>
        <p:nvSpPr>
          <p:cNvPr id="80" name="文本框 79">
            <a:extLst>
              <a:ext uri="{FF2B5EF4-FFF2-40B4-BE49-F238E27FC236}">
                <a16:creationId xmlns:a16="http://schemas.microsoft.com/office/drawing/2014/main" id="{2DFBBFED-CA86-0FD9-BD3E-CCE1405B7F90}"/>
              </a:ext>
            </a:extLst>
          </p:cNvPr>
          <p:cNvSpPr txBox="1"/>
          <p:nvPr/>
        </p:nvSpPr>
        <p:spPr>
          <a:xfrm>
            <a:off x="6393203" y="4051521"/>
            <a:ext cx="4152877" cy="492443"/>
          </a:xfrm>
          <a:prstGeom prst="rect">
            <a:avLst/>
          </a:prstGeom>
          <a:noFill/>
        </p:spPr>
        <p:txBody>
          <a:bodyPr wrap="square" lIns="0" tIns="0" rIns="0" bIns="0" rtlCol="0" anchor="ctr">
            <a:spAutoFit/>
          </a:bodyPr>
          <a:lstStyle>
            <a:defPPr>
              <a:defRPr lang="zh-CN"/>
            </a:defPPr>
            <a:lvl1pPr marR="0" lvl="0" indent="0" algn="ctr" fontAlgn="auto">
              <a:lnSpc>
                <a:spcPct val="100000"/>
              </a:lnSpc>
              <a:spcBef>
                <a:spcPts val="0"/>
              </a:spcBef>
              <a:spcAft>
                <a:spcPts val="0"/>
              </a:spcAft>
              <a:buClrTx/>
              <a:buSzTx/>
              <a:buFontTx/>
              <a:buNone/>
              <a:tabLst/>
              <a:defRPr kumimoji="0" sz="5400" b="0" i="0" u="none" strike="noStrike" cap="none" spc="0" normalizeH="0" baseline="0">
                <a:ln>
                  <a:noFill/>
                </a:ln>
                <a:gradFill flip="none" rotWithShape="1">
                  <a:gsLst>
                    <a:gs pos="0">
                      <a:srgbClr val="1D4F91"/>
                    </a:gs>
                    <a:gs pos="100000">
                      <a:srgbClr val="1D4F91">
                        <a:lumMod val="75000"/>
                      </a:srgbClr>
                    </a:gs>
                  </a:gsLst>
                  <a:lin ang="5400000" scaled="1"/>
                  <a:tileRect/>
                </a:gradFill>
                <a:effectLst/>
                <a:uLnTx/>
                <a:uFillTx/>
                <a:latin typeface="思源黑体 CN Heavy" panose="020B0A00000000000000" pitchFamily="34" charset="-122"/>
                <a:ea typeface="思源黑体 CN Heavy" panose="020B0A00000000000000" pitchFamily="34" charset="-122"/>
              </a:defRPr>
            </a:lvl1pPr>
          </a:lstStyle>
          <a:p>
            <a:pPr algn="l"/>
            <a:r>
              <a:rPr lang="zh-CN" altLang="en-US" sz="3200" b="1" dirty="0">
                <a:latin typeface="+mn-lt"/>
                <a:ea typeface="+mn-ea"/>
                <a:cs typeface="+mn-ea"/>
                <a:sym typeface="+mn-lt"/>
              </a:rPr>
              <a:t>赛题讲评</a:t>
            </a:r>
          </a:p>
        </p:txBody>
      </p:sp>
      <p:sp>
        <p:nvSpPr>
          <p:cNvPr id="81" name="椭圆 80">
            <a:extLst>
              <a:ext uri="{FF2B5EF4-FFF2-40B4-BE49-F238E27FC236}">
                <a16:creationId xmlns:a16="http://schemas.microsoft.com/office/drawing/2014/main" id="{09D29EDB-8E07-9744-A97E-AB1822C468F0}"/>
              </a:ext>
            </a:extLst>
          </p:cNvPr>
          <p:cNvSpPr/>
          <p:nvPr/>
        </p:nvSpPr>
        <p:spPr>
          <a:xfrm>
            <a:off x="5421302" y="3972547"/>
            <a:ext cx="658824" cy="650392"/>
          </a:xfrm>
          <a:prstGeom prst="ellipse">
            <a:avLst/>
          </a:prstGeom>
          <a:gradFill>
            <a:gsLst>
              <a:gs pos="3000">
                <a:srgbClr val="0052A2"/>
              </a:gs>
              <a:gs pos="83000">
                <a:schemeClr val="accent2"/>
              </a:gs>
            </a:gsLst>
            <a:lin ang="13500000" scaled="1"/>
          </a:gradFill>
          <a:ln w="22225">
            <a:solidFill>
              <a:schemeClr val="accent2">
                <a:lumMod val="60000"/>
                <a:lumOff val="40000"/>
              </a:schemeClr>
            </a:solidFill>
          </a:ln>
          <a:effectLst>
            <a:outerShdw blurRad="114300" dist="101600" dir="5400000" sx="96000" sy="96000" algn="t" rotWithShape="0">
              <a:schemeClr val="accent1">
                <a:lumMod val="50000"/>
                <a:alpha val="3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800">
                <a:solidFill>
                  <a:schemeClr val="bg1"/>
                </a:solidFill>
                <a:cs typeface="+mn-ea"/>
                <a:sym typeface="+mn-lt"/>
              </a:rPr>
              <a:t>2</a:t>
            </a:r>
            <a:endParaRPr lang="zh-CN" altLang="en-US" sz="2800">
              <a:solidFill>
                <a:schemeClr val="bg1"/>
              </a:solidFill>
              <a:cs typeface="+mn-ea"/>
              <a:sym typeface="+mn-lt"/>
            </a:endParaRPr>
          </a:p>
        </p:txBody>
      </p:sp>
      <p:pic>
        <p:nvPicPr>
          <p:cNvPr id="97" name="图片 96">
            <a:extLst>
              <a:ext uri="{FF2B5EF4-FFF2-40B4-BE49-F238E27FC236}">
                <a16:creationId xmlns:a16="http://schemas.microsoft.com/office/drawing/2014/main" id="{3028B22F-5FDA-95E5-FF19-BD1DA92E1CE8}"/>
              </a:ext>
            </a:extLst>
          </p:cNvPr>
          <p:cNvPicPr>
            <a:picLocks noChangeAspect="1"/>
          </p:cNvPicPr>
          <p:nvPr/>
        </p:nvPicPr>
        <p:blipFill rotWithShape="1">
          <a:blip r:embed="rId3">
            <a:alphaModFix amt="25000"/>
            <a:extLst>
              <a:ext uri="{BEBA8EAE-BF5A-486C-A8C5-ECC9F3942E4B}">
                <a14:imgProps xmlns:a14="http://schemas.microsoft.com/office/drawing/2010/main">
                  <a14:imgLayer r:embed="rId4">
                    <a14:imgEffect>
                      <a14:brightnessContrast bright="10000"/>
                    </a14:imgEffect>
                  </a14:imgLayer>
                </a14:imgProps>
              </a:ext>
              <a:ext uri="{28A0092B-C50C-407E-A947-70E740481C1C}">
                <a14:useLocalDpi xmlns:a14="http://schemas.microsoft.com/office/drawing/2010/main" val="0"/>
              </a:ext>
            </a:extLst>
          </a:blip>
          <a:srcRect l="81689" r="171" b="28944"/>
          <a:stretch/>
        </p:blipFill>
        <p:spPr>
          <a:xfrm>
            <a:off x="-1" y="1885498"/>
            <a:ext cx="4438413" cy="4972502"/>
          </a:xfrm>
          <a:prstGeom prst="rect">
            <a:avLst/>
          </a:prstGeom>
          <a:noFill/>
        </p:spPr>
      </p:pic>
      <p:pic>
        <p:nvPicPr>
          <p:cNvPr id="24" name="Picture 23">
            <a:extLst>
              <a:ext uri="{FF2B5EF4-FFF2-40B4-BE49-F238E27FC236}">
                <a16:creationId xmlns:a16="http://schemas.microsoft.com/office/drawing/2014/main" id="{52DC2FD1-9F03-4312-B635-877A20DBE1B7}"/>
              </a:ext>
            </a:extLst>
          </p:cNvPr>
          <p:cNvPicPr>
            <a:picLocks noChangeAspect="1"/>
          </p:cNvPicPr>
          <p:nvPr/>
        </p:nvPicPr>
        <p:blipFill>
          <a:blip r:embed="rId5"/>
          <a:stretch>
            <a:fillRect/>
          </a:stretch>
        </p:blipFill>
        <p:spPr>
          <a:xfrm>
            <a:off x="7818653" y="15796"/>
            <a:ext cx="4373347" cy="570189"/>
          </a:xfrm>
          <a:prstGeom prst="rect">
            <a:avLst/>
          </a:prstGeom>
        </p:spPr>
      </p:pic>
    </p:spTree>
    <p:extLst>
      <p:ext uri="{BB962C8B-B14F-4D97-AF65-F5344CB8AC3E}">
        <p14:creationId xmlns:p14="http://schemas.microsoft.com/office/powerpoint/2010/main" val="2213151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6DE2D17-261D-1E93-7211-ECFEBC5F2706}"/>
              </a:ext>
            </a:extLst>
          </p:cNvPr>
          <p:cNvPicPr>
            <a:picLocks noChangeAspect="1"/>
          </p:cNvPicPr>
          <p:nvPr/>
        </p:nvPicPr>
        <p:blipFill>
          <a:blip r:embed="rId2"/>
          <a:srcRect l="4" t="19" r="4" b="6860"/>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20" name="Round Single Corner Rectangle 7+">
            <a:extLst>
              <a:ext uri="{FF2B5EF4-FFF2-40B4-BE49-F238E27FC236}">
                <a16:creationId xmlns:a16="http://schemas.microsoft.com/office/drawing/2014/main" id="{06DE3935-BB45-DFF1-06CF-7A777E8F037F}"/>
              </a:ext>
            </a:extLst>
          </p:cNvPr>
          <p:cNvSpPr/>
          <p:nvPr/>
        </p:nvSpPr>
        <p:spPr>
          <a:xfrm rot="16200000">
            <a:off x="4330229" y="-2137362"/>
            <a:ext cx="3531543" cy="12191998"/>
          </a:xfrm>
          <a:prstGeom prst="round1Rect">
            <a:avLst>
              <a:gd name="adj" fmla="val 27006"/>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rgbClr val="FFFFFF"/>
              </a:solidFill>
              <a:cs typeface="+mn-ea"/>
              <a:sym typeface="+mn-lt"/>
            </a:endParaRPr>
          </a:p>
        </p:txBody>
      </p:sp>
      <p:sp>
        <p:nvSpPr>
          <p:cNvPr id="4" name="文本框 3">
            <a:extLst>
              <a:ext uri="{FF2B5EF4-FFF2-40B4-BE49-F238E27FC236}">
                <a16:creationId xmlns:a16="http://schemas.microsoft.com/office/drawing/2014/main" id="{946F7734-B4F1-1CD0-B251-DEEAA1B526DB}"/>
              </a:ext>
            </a:extLst>
          </p:cNvPr>
          <p:cNvSpPr txBox="1"/>
          <p:nvPr/>
        </p:nvSpPr>
        <p:spPr>
          <a:xfrm>
            <a:off x="725558" y="640975"/>
            <a:ext cx="1641475" cy="1769715"/>
          </a:xfrm>
          <a:prstGeom prst="rect">
            <a:avLst/>
          </a:prstGeom>
          <a:noFill/>
        </p:spPr>
        <p:txBody>
          <a:bodyPr wrap="none" lIns="0" tIns="0" rIns="0" bIns="0" rtlCol="0" anchor="t">
            <a:spAutoFit/>
          </a:bodyPr>
          <a:lstStyle/>
          <a:p>
            <a:r>
              <a:rPr kumimoji="1" lang="en-US" altLang="zh-CN" sz="11500" dirty="0">
                <a:solidFill>
                  <a:schemeClr val="accent1"/>
                </a:solidFill>
                <a:cs typeface="+mn-ea"/>
                <a:sym typeface="+mn-lt"/>
              </a:rPr>
              <a:t>01</a:t>
            </a:r>
            <a:endParaRPr kumimoji="1" lang="zh-CN" altLang="en-US" sz="11500" dirty="0">
              <a:solidFill>
                <a:schemeClr val="accent1"/>
              </a:solidFill>
              <a:cs typeface="+mn-ea"/>
              <a:sym typeface="+mn-lt"/>
            </a:endParaRPr>
          </a:p>
        </p:txBody>
      </p:sp>
      <p:sp>
        <p:nvSpPr>
          <p:cNvPr id="5" name="文本框 4">
            <a:extLst>
              <a:ext uri="{FF2B5EF4-FFF2-40B4-BE49-F238E27FC236}">
                <a16:creationId xmlns:a16="http://schemas.microsoft.com/office/drawing/2014/main" id="{A9143584-3C7F-2BE2-B971-B50AB7FA77B1}"/>
              </a:ext>
            </a:extLst>
          </p:cNvPr>
          <p:cNvSpPr txBox="1"/>
          <p:nvPr/>
        </p:nvSpPr>
        <p:spPr>
          <a:xfrm>
            <a:off x="2402299" y="862446"/>
            <a:ext cx="594265" cy="553998"/>
          </a:xfrm>
          <a:prstGeom prst="rect">
            <a:avLst/>
          </a:prstGeom>
          <a:noFill/>
        </p:spPr>
        <p:txBody>
          <a:bodyPr wrap="none" lIns="0" tIns="0" rIns="0" bIns="0" rtlCol="0" anchor="t">
            <a:spAutoFit/>
          </a:bodyPr>
          <a:lstStyle/>
          <a:p>
            <a:pPr algn="l"/>
            <a:r>
              <a:rPr kumimoji="1" lang="en-US" altLang="zh-CN" dirty="0">
                <a:solidFill>
                  <a:schemeClr val="accent1">
                    <a:lumMod val="100000"/>
                  </a:schemeClr>
                </a:solidFill>
                <a:cs typeface="+mn-ea"/>
                <a:sym typeface="+mn-lt"/>
              </a:rPr>
              <a:t>PART</a:t>
            </a:r>
          </a:p>
          <a:p>
            <a:pPr algn="l"/>
            <a:r>
              <a:rPr kumimoji="1" lang="en-US" altLang="zh-CN" dirty="0">
                <a:solidFill>
                  <a:schemeClr val="accent1">
                    <a:lumMod val="100000"/>
                  </a:schemeClr>
                </a:solidFill>
                <a:cs typeface="+mn-ea"/>
                <a:sym typeface="+mn-lt"/>
              </a:rPr>
              <a:t>ONE</a:t>
            </a:r>
          </a:p>
        </p:txBody>
      </p:sp>
      <p:sp>
        <p:nvSpPr>
          <p:cNvPr id="8" name="矩形: 单圆角 7">
            <a:extLst>
              <a:ext uri="{FF2B5EF4-FFF2-40B4-BE49-F238E27FC236}">
                <a16:creationId xmlns:a16="http://schemas.microsoft.com/office/drawing/2014/main" id="{361248C5-76B3-3A46-C65A-804FB8336A1F}"/>
              </a:ext>
            </a:extLst>
          </p:cNvPr>
          <p:cNvSpPr/>
          <p:nvPr/>
        </p:nvSpPr>
        <p:spPr>
          <a:xfrm rot="16200000">
            <a:off x="4374434" y="-2048315"/>
            <a:ext cx="3443133" cy="12191998"/>
          </a:xfrm>
          <a:prstGeom prst="round1Rect">
            <a:avLst>
              <a:gd name="adj" fmla="val 27006"/>
            </a:avLst>
          </a:prstGeom>
          <a:gradFill flip="none" rotWithShape="1">
            <a:gsLst>
              <a:gs pos="36000">
                <a:srgbClr val="0052A2"/>
              </a:gs>
              <a:gs pos="100000">
                <a:schemeClr val="accent1">
                  <a:lumMod val="75000"/>
                </a:schemeClr>
              </a:gs>
            </a:gsLst>
            <a:lin ang="6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rgbClr val="FFFFFF"/>
              </a:solidFill>
              <a:cs typeface="+mn-ea"/>
              <a:sym typeface="+mn-lt"/>
            </a:endParaRPr>
          </a:p>
        </p:txBody>
      </p:sp>
      <p:pic>
        <p:nvPicPr>
          <p:cNvPr id="10" name="图片 9">
            <a:extLst>
              <a:ext uri="{FF2B5EF4-FFF2-40B4-BE49-F238E27FC236}">
                <a16:creationId xmlns:a16="http://schemas.microsoft.com/office/drawing/2014/main" id="{AE04B08D-2EAE-AF20-DA66-1D953A09F50C}"/>
              </a:ext>
            </a:extLst>
          </p:cNvPr>
          <p:cNvPicPr>
            <a:picLocks/>
          </p:cNvPicPr>
          <p:nvPr/>
        </p:nvPicPr>
        <p:blipFill>
          <a:blip r:embed="rId3">
            <a:alphaModFix amt="30000"/>
            <a:extLst>
              <a:ext uri="{28A0092B-C50C-407E-A947-70E740481C1C}">
                <a14:useLocalDpi xmlns:a14="http://schemas.microsoft.com/office/drawing/2010/main" val="0"/>
              </a:ext>
            </a:extLst>
          </a:blip>
          <a:stretch>
            <a:fillRect/>
          </a:stretch>
        </p:blipFill>
        <p:spPr>
          <a:xfrm>
            <a:off x="0" y="2968334"/>
            <a:ext cx="12192000" cy="2819400"/>
          </a:xfrm>
          <a:prstGeom prst="rect">
            <a:avLst/>
          </a:prstGeom>
        </p:spPr>
      </p:pic>
      <p:sp>
        <p:nvSpPr>
          <p:cNvPr id="3" name="文本框 2">
            <a:extLst>
              <a:ext uri="{FF2B5EF4-FFF2-40B4-BE49-F238E27FC236}">
                <a16:creationId xmlns:a16="http://schemas.microsoft.com/office/drawing/2014/main" id="{2B66D102-8E33-F33B-E6FA-630DA3DCE242}"/>
              </a:ext>
            </a:extLst>
          </p:cNvPr>
          <p:cNvSpPr txBox="1"/>
          <p:nvPr/>
        </p:nvSpPr>
        <p:spPr>
          <a:xfrm>
            <a:off x="725557" y="3411501"/>
            <a:ext cx="10227991" cy="1107996"/>
          </a:xfrm>
          <a:prstGeom prst="rect">
            <a:avLst/>
          </a:prstGeom>
          <a:noFill/>
        </p:spPr>
        <p:txBody>
          <a:bodyPr wrap="square" lIns="0" tIns="0" rIns="0" bIns="0" rtlCol="0" anchor="t">
            <a:spAutoFit/>
          </a:bodyPr>
          <a:lstStyle/>
          <a:p>
            <a:r>
              <a:rPr kumimoji="1" lang="zh-CN" altLang="en-US" sz="7200" b="1" dirty="0">
                <a:solidFill>
                  <a:schemeClr val="bg1"/>
                </a:solidFill>
                <a:cs typeface="+mn-ea"/>
                <a:sym typeface="+mn-lt"/>
              </a:rPr>
              <a:t>国赛</a:t>
            </a:r>
            <a:r>
              <a:rPr kumimoji="1" lang="en-US" altLang="zh-CN" sz="7200" b="1" dirty="0">
                <a:solidFill>
                  <a:schemeClr val="bg1"/>
                </a:solidFill>
                <a:cs typeface="+mn-ea"/>
                <a:sym typeface="+mn-lt"/>
              </a:rPr>
              <a:t>C</a:t>
            </a:r>
            <a:r>
              <a:rPr kumimoji="1" lang="zh-CN" altLang="en-US" sz="7200" b="1" dirty="0">
                <a:solidFill>
                  <a:schemeClr val="bg1"/>
                </a:solidFill>
                <a:cs typeface="+mn-ea"/>
                <a:sym typeface="+mn-lt"/>
              </a:rPr>
              <a:t>题评阅要点</a:t>
            </a:r>
          </a:p>
        </p:txBody>
      </p:sp>
      <p:pic>
        <p:nvPicPr>
          <p:cNvPr id="16" name="Picture 15">
            <a:extLst>
              <a:ext uri="{FF2B5EF4-FFF2-40B4-BE49-F238E27FC236}">
                <a16:creationId xmlns:a16="http://schemas.microsoft.com/office/drawing/2014/main" id="{4BE46F19-6614-4F9C-8DB7-C02A952443CF}"/>
              </a:ext>
            </a:extLst>
          </p:cNvPr>
          <p:cNvPicPr>
            <a:picLocks noChangeAspect="1"/>
          </p:cNvPicPr>
          <p:nvPr/>
        </p:nvPicPr>
        <p:blipFill>
          <a:blip r:embed="rId4"/>
          <a:stretch>
            <a:fillRect/>
          </a:stretch>
        </p:blipFill>
        <p:spPr>
          <a:xfrm>
            <a:off x="7818653" y="15796"/>
            <a:ext cx="4373347" cy="570189"/>
          </a:xfrm>
          <a:prstGeom prst="rect">
            <a:avLst/>
          </a:prstGeom>
        </p:spPr>
      </p:pic>
    </p:spTree>
    <p:extLst>
      <p:ext uri="{BB962C8B-B14F-4D97-AF65-F5344CB8AC3E}">
        <p14:creationId xmlns:p14="http://schemas.microsoft.com/office/powerpoint/2010/main" val="3045662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9E136611-BB9A-46D5-A4CE-E9C727427EEC}"/>
                  </a:ext>
                </a:extLst>
              </p:cNvPr>
              <p:cNvSpPr/>
              <p:nvPr/>
            </p:nvSpPr>
            <p:spPr>
              <a:xfrm>
                <a:off x="342900" y="1877942"/>
                <a:ext cx="11506200" cy="4660058"/>
              </a:xfrm>
              <a:prstGeom prst="rect">
                <a:avLst/>
              </a:prstGeom>
            </p:spPr>
            <p:txBody>
              <a:bodyPr wrap="square">
                <a:spAutoFit/>
              </a:bodyPr>
              <a:lstStyle/>
              <a:p>
                <a:pPr indent="304800" algn="just">
                  <a:lnSpc>
                    <a:spcPct val="115000"/>
                  </a:lnSpc>
                  <a:spcAft>
                    <a:spcPts val="0"/>
                  </a:spcAft>
                </a:pPr>
                <a:r>
                  <a:rPr lang="en-US" altLang="zh-CN" sz="26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600" b="1" kern="100" dirty="0">
                    <a:latin typeface="Times New Roman" panose="02020603050405020304" pitchFamily="18" charset="0"/>
                    <a:ea typeface="宋体" panose="02010600030101010101" pitchFamily="2" charset="-122"/>
                    <a:cs typeface="Times New Roman" panose="02020603050405020304" pitchFamily="18" charset="0"/>
                  </a:rPr>
                  <a:t>在实际中，由于中小微企业规模相对较小，也缺少抵押资产，因此银行通常是</a:t>
                </a:r>
                <a:r>
                  <a:rPr lang="zh-CN" altLang="zh-CN" sz="2600" b="1" kern="100" dirty="0">
                    <a:latin typeface="Calibri" panose="020F0502020204030204" pitchFamily="34" charset="0"/>
                    <a:ea typeface="宋体" panose="02010600030101010101" pitchFamily="2" charset="-122"/>
                    <a:cs typeface="Times New Roman" panose="02020603050405020304" pitchFamily="18" charset="0"/>
                  </a:rPr>
                  <a:t>依据</a:t>
                </a:r>
                <a:r>
                  <a:rPr lang="zh-CN" altLang="zh-CN" sz="2600" b="1" kern="100" dirty="0">
                    <a:solidFill>
                      <a:srgbClr val="FF0000"/>
                    </a:solidFill>
                    <a:latin typeface="Calibri" panose="020F0502020204030204" pitchFamily="34" charset="0"/>
                    <a:ea typeface="宋体" panose="02010600030101010101" pitchFamily="2" charset="-122"/>
                    <a:cs typeface="Times New Roman" panose="02020603050405020304" pitchFamily="18" charset="0"/>
                  </a:rPr>
                  <a:t>信贷政策</a:t>
                </a:r>
                <a:r>
                  <a:rPr lang="zh-CN" altLang="zh-CN" sz="2600" b="1" kern="100" dirty="0">
                    <a:latin typeface="Calibri" panose="020F0502020204030204" pitchFamily="34" charset="0"/>
                    <a:ea typeface="宋体" panose="02010600030101010101" pitchFamily="2" charset="-122"/>
                    <a:cs typeface="Times New Roman" panose="02020603050405020304" pitchFamily="18" charset="0"/>
                  </a:rPr>
                  <a:t>、</a:t>
                </a:r>
                <a:r>
                  <a:rPr lang="zh-CN" altLang="zh-CN" sz="2600" b="1" kern="100" dirty="0">
                    <a:solidFill>
                      <a:srgbClr val="FF0000"/>
                    </a:solidFill>
                    <a:latin typeface="Calibri" panose="020F0502020204030204" pitchFamily="34" charset="0"/>
                    <a:ea typeface="宋体" panose="02010600030101010101" pitchFamily="2" charset="-122"/>
                    <a:cs typeface="Times New Roman" panose="02020603050405020304" pitchFamily="18" charset="0"/>
                  </a:rPr>
                  <a:t>企业的交易票据信息</a:t>
                </a:r>
                <a:r>
                  <a:rPr lang="zh-CN" altLang="zh-CN" sz="2600" b="1" kern="100" dirty="0">
                    <a:latin typeface="Calibri" panose="020F0502020204030204" pitchFamily="34" charset="0"/>
                    <a:ea typeface="宋体" panose="02010600030101010101" pitchFamily="2" charset="-122"/>
                    <a:cs typeface="Times New Roman" panose="02020603050405020304" pitchFamily="18" charset="0"/>
                  </a:rPr>
                  <a:t>和</a:t>
                </a:r>
                <a:r>
                  <a:rPr lang="zh-CN" altLang="zh-CN" sz="2600" b="1" kern="100" dirty="0">
                    <a:solidFill>
                      <a:srgbClr val="FF0000"/>
                    </a:solidFill>
                    <a:latin typeface="Calibri" panose="020F0502020204030204" pitchFamily="34" charset="0"/>
                    <a:ea typeface="宋体" panose="02010600030101010101" pitchFamily="2" charset="-122"/>
                    <a:cs typeface="Times New Roman" panose="02020603050405020304" pitchFamily="18" charset="0"/>
                  </a:rPr>
                  <a:t>上下游企业的影响力</a:t>
                </a:r>
                <a:r>
                  <a:rPr lang="zh-CN" altLang="zh-CN" sz="2600" b="1" kern="100" dirty="0">
                    <a:latin typeface="Calibri" panose="020F0502020204030204" pitchFamily="34" charset="0"/>
                    <a:ea typeface="宋体" panose="02010600030101010101" pitchFamily="2" charset="-122"/>
                    <a:cs typeface="Times New Roman" panose="02020603050405020304" pitchFamily="18" charset="0"/>
                  </a:rPr>
                  <a:t>，向</a:t>
                </a:r>
                <a:r>
                  <a:rPr lang="zh-CN" altLang="zh-CN" sz="2600" b="1" kern="100" dirty="0">
                    <a:solidFill>
                      <a:srgbClr val="FF0000"/>
                    </a:solidFill>
                    <a:latin typeface="Calibri" panose="020F0502020204030204" pitchFamily="34" charset="0"/>
                    <a:ea typeface="宋体" panose="02010600030101010101" pitchFamily="2" charset="-122"/>
                    <a:cs typeface="Times New Roman" panose="02020603050405020304" pitchFamily="18" charset="0"/>
                  </a:rPr>
                  <a:t>实力强</a:t>
                </a:r>
                <a:r>
                  <a:rPr lang="zh-CN" altLang="zh-CN" sz="2600" b="1" kern="100" dirty="0">
                    <a:latin typeface="Calibri" panose="020F0502020204030204" pitchFamily="34" charset="0"/>
                    <a:ea typeface="宋体" panose="02010600030101010101" pitchFamily="2" charset="-122"/>
                    <a:cs typeface="Times New Roman" panose="02020603050405020304" pitchFamily="18" charset="0"/>
                  </a:rPr>
                  <a:t>、</a:t>
                </a:r>
                <a:r>
                  <a:rPr lang="zh-CN" altLang="zh-CN" sz="2600" b="1" kern="100" dirty="0">
                    <a:solidFill>
                      <a:srgbClr val="FF0000"/>
                    </a:solidFill>
                    <a:latin typeface="Calibri" panose="020F0502020204030204" pitchFamily="34" charset="0"/>
                    <a:ea typeface="宋体" panose="02010600030101010101" pitchFamily="2" charset="-122"/>
                    <a:cs typeface="Times New Roman" panose="02020603050405020304" pitchFamily="18" charset="0"/>
                  </a:rPr>
                  <a:t>供求关系稳定</a:t>
                </a:r>
                <a:r>
                  <a:rPr lang="zh-CN" altLang="zh-CN" sz="2600" b="1" kern="100" dirty="0">
                    <a:latin typeface="Calibri" panose="020F0502020204030204" pitchFamily="34" charset="0"/>
                    <a:ea typeface="宋体" panose="02010600030101010101" pitchFamily="2" charset="-122"/>
                    <a:cs typeface="Times New Roman" panose="02020603050405020304" pitchFamily="18" charset="0"/>
                  </a:rPr>
                  <a:t>的企业提供贷款，并可以对</a:t>
                </a:r>
                <a:r>
                  <a:rPr lang="zh-CN" altLang="zh-CN" sz="2600" b="1" kern="100" dirty="0">
                    <a:solidFill>
                      <a:srgbClr val="FF0000"/>
                    </a:solidFill>
                    <a:latin typeface="Calibri" panose="020F0502020204030204" pitchFamily="34" charset="0"/>
                    <a:ea typeface="宋体" panose="02010600030101010101" pitchFamily="2" charset="-122"/>
                    <a:cs typeface="Times New Roman" panose="02020603050405020304" pitchFamily="18" charset="0"/>
                  </a:rPr>
                  <a:t>信誉高</a:t>
                </a:r>
                <a:r>
                  <a:rPr lang="zh-CN" altLang="zh-CN" sz="2600" b="1" kern="100" dirty="0">
                    <a:latin typeface="Calibri" panose="020F0502020204030204" pitchFamily="34" charset="0"/>
                    <a:ea typeface="宋体" panose="02010600030101010101" pitchFamily="2" charset="-122"/>
                    <a:cs typeface="Times New Roman" panose="02020603050405020304" pitchFamily="18" charset="0"/>
                  </a:rPr>
                  <a:t>、</a:t>
                </a:r>
                <a:r>
                  <a:rPr lang="zh-CN" altLang="zh-CN" sz="2600" b="1" kern="100" dirty="0">
                    <a:solidFill>
                      <a:srgbClr val="FF0000"/>
                    </a:solidFill>
                    <a:latin typeface="Calibri" panose="020F0502020204030204" pitchFamily="34" charset="0"/>
                    <a:ea typeface="宋体" panose="02010600030101010101" pitchFamily="2" charset="-122"/>
                    <a:cs typeface="Times New Roman" panose="02020603050405020304" pitchFamily="18" charset="0"/>
                  </a:rPr>
                  <a:t>信贷风险小</a:t>
                </a:r>
                <a:r>
                  <a:rPr lang="zh-CN" altLang="zh-CN" sz="2600" b="1" kern="100" dirty="0">
                    <a:latin typeface="Calibri" panose="020F0502020204030204" pitchFamily="34" charset="0"/>
                    <a:ea typeface="宋体" panose="02010600030101010101" pitchFamily="2" charset="-122"/>
                    <a:cs typeface="Times New Roman" panose="02020603050405020304" pitchFamily="18" charset="0"/>
                  </a:rPr>
                  <a:t>的企业给予利率优惠。</a:t>
                </a:r>
                <a:r>
                  <a:rPr lang="zh-CN" altLang="zh-CN" sz="2600" b="1" kern="100" dirty="0">
                    <a:latin typeface="Times New Roman" panose="02020603050405020304" pitchFamily="18" charset="0"/>
                    <a:ea typeface="宋体" panose="02010600030101010101" pitchFamily="2" charset="-122"/>
                    <a:cs typeface="Times New Roman" panose="02020603050405020304" pitchFamily="18" charset="0"/>
                  </a:rPr>
                  <a:t>银行首先根据中小微企业的</a:t>
                </a:r>
                <a:r>
                  <a:rPr lang="zh-CN" altLang="zh-CN" sz="2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实力</a:t>
                </a:r>
                <a:r>
                  <a:rPr lang="zh-CN" altLang="zh-CN" sz="26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信誉</a:t>
                </a:r>
                <a:r>
                  <a:rPr lang="zh-CN" altLang="zh-CN" sz="2600" b="1" kern="100" dirty="0">
                    <a:latin typeface="Times New Roman" panose="02020603050405020304" pitchFamily="18" charset="0"/>
                    <a:ea typeface="宋体" panose="02010600030101010101" pitchFamily="2" charset="-122"/>
                    <a:cs typeface="Times New Roman" panose="02020603050405020304" pitchFamily="18" charset="0"/>
                  </a:rPr>
                  <a:t>对其</a:t>
                </a:r>
                <a:r>
                  <a:rPr lang="zh-CN" altLang="zh-CN" sz="2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信贷风险</a:t>
                </a:r>
                <a:r>
                  <a:rPr lang="zh-CN" altLang="zh-CN" sz="2600" b="1" kern="100" dirty="0">
                    <a:latin typeface="Times New Roman" panose="02020603050405020304" pitchFamily="18" charset="0"/>
                    <a:ea typeface="宋体" panose="02010600030101010101" pitchFamily="2" charset="-122"/>
                    <a:cs typeface="Times New Roman" panose="02020603050405020304" pitchFamily="18" charset="0"/>
                  </a:rPr>
                  <a:t>做出评估，然后依据</a:t>
                </a:r>
                <a:r>
                  <a:rPr lang="zh-CN" altLang="zh-CN" sz="2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信贷风险</a:t>
                </a:r>
                <a:r>
                  <a:rPr lang="zh-CN" altLang="zh-CN" sz="2600" b="1" kern="100" dirty="0">
                    <a:latin typeface="Times New Roman" panose="02020603050405020304" pitchFamily="18" charset="0"/>
                    <a:ea typeface="宋体" panose="02010600030101010101" pitchFamily="2" charset="-122"/>
                    <a:cs typeface="Times New Roman" panose="02020603050405020304" pitchFamily="18" charset="0"/>
                  </a:rPr>
                  <a:t>等因素来确定</a:t>
                </a:r>
                <a:r>
                  <a:rPr lang="zh-CN" altLang="zh-CN" sz="2600" b="1" kern="100" dirty="0">
                    <a:latin typeface="Calibri" panose="020F0502020204030204" pitchFamily="34" charset="0"/>
                    <a:ea typeface="宋体" panose="02010600030101010101" pitchFamily="2" charset="-122"/>
                    <a:cs typeface="Times New Roman" panose="02020603050405020304" pitchFamily="18" charset="0"/>
                  </a:rPr>
                  <a:t>是否放贷及贷款额度、利率和期限等</a:t>
                </a:r>
                <a:r>
                  <a:rPr lang="zh-CN" altLang="zh-CN" sz="26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信贷策略</a:t>
                </a:r>
                <a:r>
                  <a:rPr lang="zh-CN" altLang="zh-CN" sz="2600" b="1" kern="1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2600" b="1" kern="100" dirty="0">
                  <a:effectLst/>
                  <a:latin typeface="Calibri" panose="020F0502020204030204" pitchFamily="34" charset="0"/>
                  <a:ea typeface="宋体" panose="02010600030101010101" pitchFamily="2" charset="-122"/>
                  <a:cs typeface="Times New Roman" panose="02020603050405020304" pitchFamily="18" charset="0"/>
                </a:endParaRPr>
              </a:p>
              <a:p>
                <a:pPr indent="304800" algn="just">
                  <a:lnSpc>
                    <a:spcPct val="115000"/>
                  </a:lnSpc>
                  <a:spcAft>
                    <a:spcPts val="0"/>
                  </a:spcAft>
                </a:pPr>
                <a:r>
                  <a:rPr lang="en-US" altLang="zh-CN" sz="26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600" b="1" kern="100" dirty="0">
                    <a:latin typeface="Times New Roman" panose="02020603050405020304" pitchFamily="18" charset="0"/>
                    <a:ea typeface="宋体" panose="02010600030101010101" pitchFamily="2" charset="-122"/>
                    <a:cs typeface="Times New Roman" panose="02020603050405020304" pitchFamily="18" charset="0"/>
                  </a:rPr>
                  <a:t>某银行对确定要放贷企业的贷款额度为</a:t>
                </a:r>
                <a14:m>
                  <m:oMath xmlns:m="http://schemas.openxmlformats.org/officeDocument/2006/math">
                    <m:r>
                      <a:rPr lang="en-US" altLang="zh-CN" sz="2600" b="1" i="1" kern="100" smtClean="0">
                        <a:latin typeface="Cambria Math" panose="02040503050406030204" pitchFamily="18" charset="0"/>
                        <a:ea typeface="宋体" panose="02010600030101010101" pitchFamily="2" charset="-122"/>
                        <a:cs typeface="Times New Roman" panose="02020603050405020304" pitchFamily="18" charset="0"/>
                      </a:rPr>
                      <m:t>𝟏𝟎</m:t>
                    </m:r>
                    <m:r>
                      <a:rPr lang="en-US" altLang="zh-CN" sz="2600" b="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600" b="1" i="1" kern="100">
                        <a:latin typeface="Cambria Math" panose="02040503050406030204" pitchFamily="18" charset="0"/>
                        <a:ea typeface="宋体" panose="02010600030101010101" pitchFamily="2" charset="-122"/>
                        <a:cs typeface="Times New Roman" panose="02020603050405020304" pitchFamily="18" charset="0"/>
                      </a:rPr>
                      <m:t>𝟏𝟎𝟎</m:t>
                    </m:r>
                  </m:oMath>
                </a14:m>
                <a:r>
                  <a:rPr lang="zh-CN" altLang="zh-CN" sz="2600" b="1" kern="100" dirty="0">
                    <a:latin typeface="Times New Roman" panose="02020603050405020304" pitchFamily="18" charset="0"/>
                    <a:ea typeface="宋体" panose="02010600030101010101" pitchFamily="2" charset="-122"/>
                    <a:cs typeface="Times New Roman" panose="02020603050405020304" pitchFamily="18" charset="0"/>
                  </a:rPr>
                  <a:t>万元；年利率为</a:t>
                </a:r>
                <a:r>
                  <a:rPr lang="en-US" altLang="zh-CN" sz="2600" b="1" kern="100" dirty="0">
                    <a:latin typeface="Times New Roman" panose="02020603050405020304" pitchFamily="18" charset="0"/>
                    <a:ea typeface="宋体" panose="02010600030101010101" pitchFamily="2" charset="-122"/>
                    <a:cs typeface="Times New Roman" panose="02020603050405020304" pitchFamily="18" charset="0"/>
                  </a:rPr>
                  <a:t>4%~15%</a:t>
                </a:r>
                <a:r>
                  <a:rPr lang="zh-CN" altLang="zh-CN" sz="2600" b="1" kern="100" dirty="0">
                    <a:latin typeface="Times New Roman" panose="02020603050405020304" pitchFamily="18" charset="0"/>
                    <a:ea typeface="宋体" panose="02010600030101010101" pitchFamily="2" charset="-122"/>
                    <a:cs typeface="Times New Roman" panose="02020603050405020304" pitchFamily="18" charset="0"/>
                  </a:rPr>
                  <a:t>；贷款期限为</a:t>
                </a:r>
                <a:r>
                  <a:rPr lang="en-US" altLang="zh-CN" sz="2600" b="1" kern="100" dirty="0">
                    <a:latin typeface="Times New Roman" panose="02020603050405020304" pitchFamily="18" charset="0"/>
                    <a:ea typeface="宋体" panose="02010600030101010101" pitchFamily="2" charset="-122"/>
                    <a:cs typeface="Times New Roman" panose="02020603050405020304" pitchFamily="18" charset="0"/>
                  </a:rPr>
                  <a:t>1</a:t>
                </a:r>
                <a:r>
                  <a:rPr lang="zh-CN" altLang="zh-CN" sz="2600" b="1" kern="100" dirty="0">
                    <a:latin typeface="Times New Roman" panose="02020603050405020304" pitchFamily="18" charset="0"/>
                    <a:ea typeface="宋体" panose="02010600030101010101" pitchFamily="2" charset="-122"/>
                    <a:cs typeface="Times New Roman" panose="02020603050405020304" pitchFamily="18" charset="0"/>
                  </a:rPr>
                  <a:t>年。附件</a:t>
                </a:r>
                <a:r>
                  <a:rPr lang="en-US" altLang="zh-CN" sz="2600" b="1" kern="100" dirty="0">
                    <a:latin typeface="Times New Roman" panose="02020603050405020304" pitchFamily="18" charset="0"/>
                    <a:ea typeface="宋体" panose="02010600030101010101" pitchFamily="2" charset="-122"/>
                    <a:cs typeface="Times New Roman" panose="02020603050405020304" pitchFamily="18" charset="0"/>
                  </a:rPr>
                  <a:t>1~3</a:t>
                </a:r>
                <a:r>
                  <a:rPr lang="zh-CN" altLang="zh-CN" sz="2600" b="1" kern="100" dirty="0">
                    <a:latin typeface="Times New Roman" panose="02020603050405020304" pitchFamily="18" charset="0"/>
                    <a:ea typeface="宋体" panose="02010600030101010101" pitchFamily="2" charset="-122"/>
                    <a:cs typeface="Times New Roman" panose="02020603050405020304" pitchFamily="18" charset="0"/>
                  </a:rPr>
                  <a:t>分别给出了</a:t>
                </a:r>
                <a:r>
                  <a:rPr lang="en-US" altLang="zh-CN" sz="2600" b="1" kern="100" dirty="0">
                    <a:latin typeface="Times New Roman" panose="02020603050405020304" pitchFamily="18" charset="0"/>
                    <a:ea typeface="宋体" panose="02010600030101010101" pitchFamily="2" charset="-122"/>
                    <a:cs typeface="Times New Roman" panose="02020603050405020304" pitchFamily="18" charset="0"/>
                  </a:rPr>
                  <a:t>123</a:t>
                </a:r>
                <a:r>
                  <a:rPr lang="zh-CN" altLang="zh-CN" sz="2600" b="1" kern="100" dirty="0">
                    <a:latin typeface="Times New Roman" panose="02020603050405020304" pitchFamily="18" charset="0"/>
                    <a:ea typeface="宋体" panose="02010600030101010101" pitchFamily="2" charset="-122"/>
                    <a:cs typeface="Times New Roman" panose="02020603050405020304" pitchFamily="18" charset="0"/>
                  </a:rPr>
                  <a:t>家有信贷记录企业的相关数据、</a:t>
                </a:r>
                <a:r>
                  <a:rPr lang="en-US" altLang="zh-CN" sz="2600" b="1" kern="100" dirty="0">
                    <a:latin typeface="Times New Roman" panose="02020603050405020304" pitchFamily="18" charset="0"/>
                    <a:ea typeface="宋体" panose="02010600030101010101" pitchFamily="2" charset="-122"/>
                    <a:cs typeface="Times New Roman" panose="02020603050405020304" pitchFamily="18" charset="0"/>
                  </a:rPr>
                  <a:t>302</a:t>
                </a:r>
                <a:r>
                  <a:rPr lang="zh-CN" altLang="zh-CN" sz="2600" b="1" kern="100" dirty="0">
                    <a:latin typeface="Times New Roman" panose="02020603050405020304" pitchFamily="18" charset="0"/>
                    <a:ea typeface="宋体" panose="02010600030101010101" pitchFamily="2" charset="-122"/>
                    <a:cs typeface="Times New Roman" panose="02020603050405020304" pitchFamily="18" charset="0"/>
                  </a:rPr>
                  <a:t>家无信贷记录企业的相关数据和贷款利率与客户流失率关系的</a:t>
                </a:r>
                <a:r>
                  <a:rPr lang="en-US" altLang="zh-CN" sz="2600" b="1" kern="100" dirty="0">
                    <a:latin typeface="Times New Roman" panose="02020603050405020304" pitchFamily="18" charset="0"/>
                    <a:ea typeface="宋体" panose="02010600030101010101" pitchFamily="2" charset="-122"/>
                    <a:cs typeface="Times New Roman" panose="02020603050405020304" pitchFamily="18" charset="0"/>
                  </a:rPr>
                  <a:t>2019</a:t>
                </a:r>
                <a:r>
                  <a:rPr lang="zh-CN" altLang="zh-CN" sz="2600" b="1" kern="100" dirty="0">
                    <a:latin typeface="Times New Roman" panose="02020603050405020304" pitchFamily="18" charset="0"/>
                    <a:ea typeface="宋体" panose="02010600030101010101" pitchFamily="2" charset="-122"/>
                    <a:cs typeface="Times New Roman" panose="02020603050405020304" pitchFamily="18" charset="0"/>
                  </a:rPr>
                  <a:t>年统计数据。</a:t>
                </a:r>
                <a:r>
                  <a:rPr lang="zh-CN" altLang="zh-CN" sz="2600" b="1" kern="100" dirty="0">
                    <a:latin typeface="Calibri" panose="020F0502020204030204" pitchFamily="34" charset="0"/>
                    <a:ea typeface="宋体" panose="02010600030101010101" pitchFamily="2" charset="-122"/>
                    <a:cs typeface="Times New Roman" panose="02020603050405020304" pitchFamily="18" charset="0"/>
                  </a:rPr>
                  <a:t>该银行请你们团队根据实际和附件中的数据信息，通过建立数学模型研究对中小微企业的信贷策略，主要解决下列问题：</a:t>
                </a:r>
                <a:endParaRPr lang="zh-CN" altLang="zh-CN" sz="2600" b="1" kern="100" dirty="0">
                  <a:effectLst/>
                  <a:latin typeface="Calibri" panose="020F0502020204030204" pitchFamily="34" charset="0"/>
                  <a:ea typeface="宋体" panose="02010600030101010101" pitchFamily="2" charset="-122"/>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id="{9E136611-BB9A-46D5-A4CE-E9C727427EEC}"/>
                  </a:ext>
                </a:extLst>
              </p:cNvPr>
              <p:cNvSpPr>
                <a:spLocks noRot="1" noChangeAspect="1" noMove="1" noResize="1" noEditPoints="1" noAdjustHandles="1" noChangeArrowheads="1" noChangeShapeType="1" noTextEdit="1"/>
              </p:cNvSpPr>
              <p:nvPr/>
            </p:nvSpPr>
            <p:spPr>
              <a:xfrm>
                <a:off x="342900" y="1877942"/>
                <a:ext cx="11506200" cy="4660058"/>
              </a:xfrm>
              <a:prstGeom prst="rect">
                <a:avLst/>
              </a:prstGeom>
              <a:blipFill>
                <a:blip r:embed="rId3"/>
                <a:stretch>
                  <a:fillRect l="-953" t="-1046" r="-3814" b="-1961"/>
                </a:stretch>
              </a:blipFill>
            </p:spPr>
            <p:txBody>
              <a:bodyPr/>
              <a:lstStyle/>
              <a:p>
                <a:r>
                  <a:rPr lang="zh-CN" altLang="en-US">
                    <a:noFill/>
                  </a:rPr>
                  <a:t> </a:t>
                </a:r>
              </a:p>
            </p:txBody>
          </p:sp>
        </mc:Fallback>
      </mc:AlternateContent>
      <p:sp>
        <p:nvSpPr>
          <p:cNvPr id="3" name="Rectangle 2">
            <a:extLst>
              <a:ext uri="{FF2B5EF4-FFF2-40B4-BE49-F238E27FC236}">
                <a16:creationId xmlns:a16="http://schemas.microsoft.com/office/drawing/2014/main" id="{ECFBE61D-755F-4A54-B567-33ABCBDBAA6D}"/>
              </a:ext>
            </a:extLst>
          </p:cNvPr>
          <p:cNvSpPr/>
          <p:nvPr/>
        </p:nvSpPr>
        <p:spPr>
          <a:xfrm>
            <a:off x="517025" y="539234"/>
            <a:ext cx="5371983" cy="400110"/>
          </a:xfrm>
          <a:prstGeom prst="rect">
            <a:avLst/>
          </a:prstGeom>
        </p:spPr>
        <p:txBody>
          <a:bodyPr wrap="none">
            <a:spAutoFit/>
          </a:bodyPr>
          <a:lstStyle/>
          <a:p>
            <a:r>
              <a:rPr lang="zh-CN" altLang="en-US" sz="2000" b="1" dirty="0">
                <a:solidFill>
                  <a:srgbClr val="FF0000"/>
                </a:solidFill>
              </a:rPr>
              <a:t>2020 高教社杯全国大学生数学建模竞赛C题目</a:t>
            </a:r>
            <a:endParaRPr lang="en-US" altLang="zh-CN" sz="2000" b="1" dirty="0">
              <a:solidFill>
                <a:srgbClr val="FF0000"/>
              </a:solidFill>
            </a:endParaRPr>
          </a:p>
        </p:txBody>
      </p:sp>
      <p:sp>
        <p:nvSpPr>
          <p:cNvPr id="4" name="Rectangle 3">
            <a:extLst>
              <a:ext uri="{FF2B5EF4-FFF2-40B4-BE49-F238E27FC236}">
                <a16:creationId xmlns:a16="http://schemas.microsoft.com/office/drawing/2014/main" id="{11A32161-9BAC-4734-82F4-8E2682B9A198}"/>
              </a:ext>
            </a:extLst>
          </p:cNvPr>
          <p:cNvSpPr/>
          <p:nvPr/>
        </p:nvSpPr>
        <p:spPr>
          <a:xfrm>
            <a:off x="1054819" y="1271113"/>
            <a:ext cx="10080541" cy="461665"/>
          </a:xfrm>
          <a:prstGeom prst="rect">
            <a:avLst/>
          </a:prstGeom>
        </p:spPr>
        <p:txBody>
          <a:bodyPr wrap="square">
            <a:spAutoFit/>
          </a:bodyPr>
          <a:lstStyle/>
          <a:p>
            <a:r>
              <a:rPr lang="zh-CN" altLang="en-US" sz="2400" b="1" dirty="0"/>
              <a:t>数据分析题</a:t>
            </a:r>
            <a:r>
              <a:rPr lang="en-US" altLang="zh-CN" sz="2400" b="1" dirty="0"/>
              <a:t>——</a:t>
            </a:r>
            <a:r>
              <a:rPr lang="zh-CN" altLang="en-US" sz="2400" b="1" dirty="0">
                <a:solidFill>
                  <a:srgbClr val="333333"/>
                </a:solidFill>
                <a:latin typeface="system-ui"/>
              </a:rPr>
              <a:t>考点：数据处理、分类、回归、拟合、预测、优化模型</a:t>
            </a:r>
            <a:endParaRPr lang="zh-CN" altLang="en-US" sz="2400" b="1" dirty="0"/>
          </a:p>
        </p:txBody>
      </p:sp>
    </p:spTree>
    <p:extLst>
      <p:ext uri="{BB962C8B-B14F-4D97-AF65-F5344CB8AC3E}">
        <p14:creationId xmlns:p14="http://schemas.microsoft.com/office/powerpoint/2010/main" val="3362896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136611-BB9A-46D5-A4CE-E9C727427EEC}"/>
              </a:ext>
            </a:extLst>
          </p:cNvPr>
          <p:cNvSpPr/>
          <p:nvPr/>
        </p:nvSpPr>
        <p:spPr>
          <a:xfrm>
            <a:off x="349250" y="1469736"/>
            <a:ext cx="11493500" cy="5011437"/>
          </a:xfrm>
          <a:prstGeom prst="rect">
            <a:avLst/>
          </a:prstGeom>
        </p:spPr>
        <p:txBody>
          <a:bodyPr wrap="square">
            <a:spAutoFit/>
          </a:bodyPr>
          <a:lstStyle/>
          <a:p>
            <a:pPr indent="304800" algn="just">
              <a:lnSpc>
                <a:spcPct val="115000"/>
              </a:lnSpc>
              <a:spcAft>
                <a:spcPts val="0"/>
              </a:spcAft>
            </a:pPr>
            <a:r>
              <a:rPr lang="en-US" altLang="zh-CN" sz="2800" b="1" kern="100" dirty="0">
                <a:latin typeface="Times New Roman" panose="02020603050405020304" pitchFamily="18" charset="0"/>
                <a:ea typeface="宋体" panose="02010600030101010101" pitchFamily="2" charset="-122"/>
                <a:cs typeface="Times New Roman" panose="02020603050405020304" pitchFamily="18" charset="0"/>
              </a:rPr>
              <a:t>     (1) </a:t>
            </a: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对附件</a:t>
            </a:r>
            <a:r>
              <a:rPr lang="en-US" altLang="zh-CN" sz="2800" b="1" kern="100" dirty="0">
                <a:latin typeface="Times New Roman" panose="02020603050405020304" pitchFamily="18" charset="0"/>
                <a:ea typeface="宋体" panose="02010600030101010101" pitchFamily="2" charset="-122"/>
                <a:cs typeface="Times New Roman" panose="02020603050405020304" pitchFamily="18" charset="0"/>
              </a:rPr>
              <a:t>1</a:t>
            </a: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中</a:t>
            </a:r>
            <a:r>
              <a:rPr lang="en-US" altLang="zh-CN" sz="2800" b="1" kern="100" dirty="0">
                <a:latin typeface="Times New Roman" panose="02020603050405020304" pitchFamily="18" charset="0"/>
                <a:ea typeface="宋体" panose="02010600030101010101" pitchFamily="2" charset="-122"/>
                <a:cs typeface="Times New Roman" panose="02020603050405020304" pitchFamily="18" charset="0"/>
              </a:rPr>
              <a:t>123</a:t>
            </a: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家</a:t>
            </a:r>
            <a:r>
              <a:rPr lang="zh-CN" altLang="en-US" sz="28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b="1" kern="100" dirty="0">
                <a:solidFill>
                  <a:srgbClr val="034193"/>
                </a:solidFill>
                <a:latin typeface="Times New Roman" panose="02020603050405020304" pitchFamily="18" charset="0"/>
                <a:ea typeface="宋体" panose="02010600030101010101" pitchFamily="2" charset="-122"/>
                <a:cs typeface="Times New Roman" panose="02020603050405020304" pitchFamily="18" charset="0"/>
              </a:rPr>
              <a:t>有信贷记录</a:t>
            </a:r>
            <a:r>
              <a:rPr lang="zh-CN" altLang="en-US" sz="28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企业的</a:t>
            </a:r>
            <a:r>
              <a:rPr lang="zh-CN" altLang="zh-CN" sz="28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信贷风险</a:t>
            </a: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进行</a:t>
            </a:r>
            <a:r>
              <a:rPr lang="zh-CN" altLang="zh-CN" sz="28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量化</a:t>
            </a: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分析，给出该银行在</a:t>
            </a:r>
            <a:r>
              <a:rPr lang="zh-CN" altLang="zh-CN" sz="28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年度信贷总额固定</a:t>
            </a: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时对这些企业的信贷策略。</a:t>
            </a:r>
            <a:endParaRPr lang="zh-CN" altLang="zh-CN" sz="2000" b="1" kern="100" dirty="0">
              <a:effectLst/>
              <a:latin typeface="Calibri" panose="020F0502020204030204" pitchFamily="34" charset="0"/>
              <a:ea typeface="宋体" panose="02010600030101010101" pitchFamily="2" charset="-122"/>
              <a:cs typeface="Times New Roman" panose="02020603050405020304" pitchFamily="18" charset="0"/>
            </a:endParaRPr>
          </a:p>
          <a:p>
            <a:pPr indent="304800" algn="just">
              <a:lnSpc>
                <a:spcPct val="115000"/>
              </a:lnSpc>
              <a:spcAft>
                <a:spcPts val="0"/>
              </a:spcAft>
            </a:pPr>
            <a:r>
              <a:rPr lang="en-US" altLang="zh-CN" sz="2800" b="1" kern="100" dirty="0">
                <a:latin typeface="Times New Roman" panose="02020603050405020304" pitchFamily="18" charset="0"/>
                <a:ea typeface="宋体" panose="02010600030101010101" pitchFamily="2" charset="-122"/>
                <a:cs typeface="Times New Roman" panose="02020603050405020304" pitchFamily="18" charset="0"/>
              </a:rPr>
              <a:t>     (2) </a:t>
            </a:r>
            <a:r>
              <a:rPr lang="zh-CN" altLang="zh-CN" sz="28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在问题</a:t>
            </a:r>
            <a:r>
              <a:rPr lang="en-US" altLang="zh-CN" sz="28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zh-CN" sz="28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的基础上</a:t>
            </a: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，对附件</a:t>
            </a:r>
            <a:r>
              <a:rPr lang="en-US" altLang="zh-CN" sz="2800" b="1" kern="100" dirty="0">
                <a:latin typeface="Times New Roman" panose="02020603050405020304" pitchFamily="18" charset="0"/>
                <a:ea typeface="宋体" panose="02010600030101010101" pitchFamily="2" charset="-122"/>
                <a:cs typeface="Times New Roman" panose="02020603050405020304" pitchFamily="18" charset="0"/>
              </a:rPr>
              <a:t>2</a:t>
            </a: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中</a:t>
            </a:r>
            <a:r>
              <a:rPr lang="en-US" altLang="zh-CN" sz="2800" b="1" kern="100" dirty="0">
                <a:latin typeface="Times New Roman" panose="02020603050405020304" pitchFamily="18" charset="0"/>
                <a:ea typeface="宋体" panose="02010600030101010101" pitchFamily="2" charset="-122"/>
                <a:cs typeface="Times New Roman" panose="02020603050405020304" pitchFamily="18" charset="0"/>
              </a:rPr>
              <a:t>302</a:t>
            </a: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家</a:t>
            </a:r>
            <a:r>
              <a:rPr lang="zh-CN" altLang="en-US" sz="28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b="1" kern="100" dirty="0">
                <a:solidFill>
                  <a:srgbClr val="034193"/>
                </a:solidFill>
                <a:latin typeface="Times New Roman" panose="02020603050405020304" pitchFamily="18" charset="0"/>
                <a:ea typeface="宋体" panose="02010600030101010101" pitchFamily="2" charset="-122"/>
                <a:cs typeface="Times New Roman" panose="02020603050405020304" pitchFamily="18" charset="0"/>
              </a:rPr>
              <a:t>无信贷记录</a:t>
            </a:r>
            <a:r>
              <a:rPr lang="zh-CN" altLang="en-US" sz="28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企业的</a:t>
            </a:r>
            <a:r>
              <a:rPr lang="zh-CN" altLang="zh-CN" sz="28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信贷风险</a:t>
            </a: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进行</a:t>
            </a:r>
            <a:r>
              <a:rPr lang="zh-CN" altLang="zh-CN" sz="28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量化</a:t>
            </a: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分析，并给出该银行在</a:t>
            </a:r>
            <a:r>
              <a:rPr lang="zh-CN" altLang="zh-CN" sz="28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年度信贷总额为</a:t>
            </a:r>
            <a:r>
              <a:rPr lang="en-US" altLang="zh-CN" sz="28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zh-CN" sz="28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亿元</a:t>
            </a: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时对这些企业的信贷策略。</a:t>
            </a:r>
            <a:endParaRPr lang="zh-CN" altLang="zh-CN" sz="2000" b="1" kern="100" dirty="0">
              <a:effectLst/>
              <a:latin typeface="Calibri" panose="020F0502020204030204" pitchFamily="34" charset="0"/>
              <a:ea typeface="宋体" panose="02010600030101010101" pitchFamily="2" charset="-122"/>
              <a:cs typeface="Times New Roman" panose="02020603050405020304" pitchFamily="18" charset="0"/>
            </a:endParaRPr>
          </a:p>
          <a:p>
            <a:pPr indent="304800" algn="just">
              <a:lnSpc>
                <a:spcPct val="115000"/>
              </a:lnSpc>
              <a:spcAft>
                <a:spcPts val="0"/>
              </a:spcAft>
            </a:pPr>
            <a:r>
              <a:rPr lang="en-US" altLang="zh-CN" sz="2800" b="1" kern="100" dirty="0">
                <a:latin typeface="Times New Roman" panose="02020603050405020304" pitchFamily="18" charset="0"/>
                <a:ea typeface="宋体" panose="02010600030101010101" pitchFamily="2" charset="-122"/>
                <a:cs typeface="Times New Roman" panose="02020603050405020304" pitchFamily="18" charset="0"/>
              </a:rPr>
              <a:t>     (3) </a:t>
            </a: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企业的生产经营和经济效益可能会受到一些突发因素影响，而且突发因素往往对不同行业、不同类别的企业会有不同的影响。综合考虑附件</a:t>
            </a:r>
            <a:r>
              <a:rPr lang="en-US" altLang="zh-CN" sz="2800" b="1" kern="100" dirty="0">
                <a:latin typeface="Times New Roman" panose="02020603050405020304" pitchFamily="18" charset="0"/>
                <a:ea typeface="宋体" panose="02010600030101010101" pitchFamily="2" charset="-122"/>
                <a:cs typeface="Times New Roman" panose="02020603050405020304" pitchFamily="18" charset="0"/>
              </a:rPr>
              <a:t>2</a:t>
            </a: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中各</a:t>
            </a:r>
            <a:r>
              <a:rPr lang="zh-CN" altLang="en-US" sz="28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b="1" kern="100" dirty="0">
                <a:solidFill>
                  <a:srgbClr val="034193"/>
                </a:solidFill>
                <a:latin typeface="Times New Roman" panose="02020603050405020304" pitchFamily="18" charset="0"/>
                <a:ea typeface="宋体" panose="02010600030101010101" pitchFamily="2" charset="-122"/>
                <a:cs typeface="Times New Roman" panose="02020603050405020304" pitchFamily="18" charset="0"/>
              </a:rPr>
              <a:t>无信贷记录</a:t>
            </a:r>
            <a:r>
              <a:rPr lang="zh-CN" altLang="en-US" sz="2800" b="1"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企业的</a:t>
            </a:r>
            <a:r>
              <a:rPr lang="zh-CN" altLang="zh-CN" sz="28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信贷风险</a:t>
            </a: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和可能的</a:t>
            </a:r>
            <a:r>
              <a:rPr lang="zh-CN" altLang="zh-CN" sz="28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突发因素</a:t>
            </a: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（例如：新冠病毒疫情）对各企业的影响，给出该银行在</a:t>
            </a:r>
            <a:r>
              <a:rPr lang="zh-CN" altLang="zh-CN" sz="28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年度信贷总额为</a:t>
            </a:r>
            <a:r>
              <a:rPr lang="en-US" altLang="zh-CN" sz="28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zh-CN" sz="2800"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亿元</a:t>
            </a: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时的信贷调整策略。</a:t>
            </a:r>
            <a:endParaRPr lang="zh-CN" altLang="zh-CN" sz="2000" b="1"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3" name="Rectangle 2">
            <a:extLst>
              <a:ext uri="{FF2B5EF4-FFF2-40B4-BE49-F238E27FC236}">
                <a16:creationId xmlns:a16="http://schemas.microsoft.com/office/drawing/2014/main" id="{408F13BE-2633-48A7-A6C0-87B316B24229}"/>
              </a:ext>
            </a:extLst>
          </p:cNvPr>
          <p:cNvSpPr/>
          <p:nvPr/>
        </p:nvSpPr>
        <p:spPr>
          <a:xfrm>
            <a:off x="517025" y="539234"/>
            <a:ext cx="5371983" cy="400110"/>
          </a:xfrm>
          <a:prstGeom prst="rect">
            <a:avLst/>
          </a:prstGeom>
        </p:spPr>
        <p:txBody>
          <a:bodyPr wrap="none">
            <a:spAutoFit/>
          </a:bodyPr>
          <a:lstStyle/>
          <a:p>
            <a:r>
              <a:rPr lang="zh-CN" altLang="en-US" sz="2000" b="1" dirty="0">
                <a:solidFill>
                  <a:srgbClr val="FF0000"/>
                </a:solidFill>
              </a:rPr>
              <a:t>2020 高教社杯全国大学生数学建模竞赛C题目</a:t>
            </a:r>
            <a:endParaRPr lang="en-US" altLang="zh-CN" sz="2000" b="1" dirty="0">
              <a:solidFill>
                <a:srgbClr val="FF0000"/>
              </a:solidFill>
            </a:endParaRPr>
          </a:p>
        </p:txBody>
      </p:sp>
    </p:spTree>
    <p:extLst>
      <p:ext uri="{BB962C8B-B14F-4D97-AF65-F5344CB8AC3E}">
        <p14:creationId xmlns:p14="http://schemas.microsoft.com/office/powerpoint/2010/main" val="1203712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136611-BB9A-46D5-A4CE-E9C727427EEC}"/>
              </a:ext>
            </a:extLst>
          </p:cNvPr>
          <p:cNvSpPr/>
          <p:nvPr/>
        </p:nvSpPr>
        <p:spPr>
          <a:xfrm>
            <a:off x="679450" y="1066732"/>
            <a:ext cx="11239500" cy="5588068"/>
          </a:xfrm>
          <a:prstGeom prst="rect">
            <a:avLst/>
          </a:prstGeom>
        </p:spPr>
        <p:txBody>
          <a:bodyPr wrap="square">
            <a:spAutoFit/>
          </a:bodyPr>
          <a:lstStyle/>
          <a:p>
            <a:pPr algn="just">
              <a:lnSpc>
                <a:spcPct val="115000"/>
              </a:lnSpc>
              <a:spcAft>
                <a:spcPts val="0"/>
              </a:spcAft>
            </a:pP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附件</a:t>
            </a:r>
            <a:r>
              <a:rPr lang="en-US" altLang="zh-CN" sz="2800" b="1" kern="100" dirty="0">
                <a:latin typeface="Times New Roman" panose="02020603050405020304" pitchFamily="18" charset="0"/>
                <a:ea typeface="宋体" panose="02010600030101010101" pitchFamily="2" charset="-122"/>
                <a:cs typeface="Times New Roman" panose="02020603050405020304" pitchFamily="18" charset="0"/>
              </a:rPr>
              <a:t>1  </a:t>
            </a:r>
            <a:r>
              <a:rPr lang="en-US" altLang="zh-CN" sz="2800" kern="100" dirty="0">
                <a:latin typeface="Times New Roman" panose="02020603050405020304" pitchFamily="18" charset="0"/>
                <a:ea typeface="宋体" panose="02010600030101010101" pitchFamily="2" charset="-122"/>
                <a:cs typeface="Times New Roman" panose="02020603050405020304" pitchFamily="18" charset="0"/>
                <a:hlinkClick r:id="rId3" action="ppaction://hlinkfile"/>
              </a:rPr>
              <a:t>123</a:t>
            </a:r>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hlinkClick r:id="rId3" action="ppaction://hlinkfile"/>
              </a:rPr>
              <a:t>家有信贷记录企业的相关数据</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15000"/>
              </a:lnSpc>
              <a:spcAft>
                <a:spcPts val="0"/>
              </a:spcAft>
            </a:pP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附件</a:t>
            </a:r>
            <a:r>
              <a:rPr lang="en-US" altLang="zh-CN" sz="2800" b="1" kern="100" dirty="0">
                <a:latin typeface="Times New Roman" panose="02020603050405020304" pitchFamily="18" charset="0"/>
                <a:ea typeface="宋体" panose="02010600030101010101" pitchFamily="2" charset="-122"/>
                <a:cs typeface="Times New Roman" panose="02020603050405020304" pitchFamily="18" charset="0"/>
              </a:rPr>
              <a:t>2  </a:t>
            </a:r>
            <a:r>
              <a:rPr lang="en-US" altLang="zh-CN" sz="2800" kern="100" dirty="0">
                <a:latin typeface="Times New Roman" panose="02020603050405020304" pitchFamily="18" charset="0"/>
                <a:ea typeface="宋体" panose="02010600030101010101" pitchFamily="2" charset="-122"/>
                <a:cs typeface="Times New Roman" panose="02020603050405020304" pitchFamily="18" charset="0"/>
                <a:hlinkClick r:id="rId4" action="ppaction://hlinkfile"/>
              </a:rPr>
              <a:t>302</a:t>
            </a:r>
            <a:r>
              <a:rPr lang="zh-CN" altLang="zh-CN" sz="2800" kern="100" dirty="0">
                <a:latin typeface="Calibri" panose="020F0502020204030204" pitchFamily="34" charset="0"/>
                <a:ea typeface="宋体" panose="02010600030101010101" pitchFamily="2" charset="-122"/>
                <a:cs typeface="Times New Roman" panose="02020603050405020304" pitchFamily="18" charset="0"/>
                <a:hlinkClick r:id="rId4" action="ppaction://hlinkfile"/>
              </a:rPr>
              <a:t>家无信贷记录企业的相关数据</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15000"/>
              </a:lnSpc>
              <a:spcAft>
                <a:spcPts val="0"/>
              </a:spcAft>
            </a:pP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附件</a:t>
            </a:r>
            <a:r>
              <a:rPr lang="en-US" altLang="zh-CN" sz="2800" b="1" kern="100" dirty="0">
                <a:latin typeface="Times New Roman" panose="02020603050405020304" pitchFamily="18" charset="0"/>
                <a:ea typeface="宋体" panose="02010600030101010101" pitchFamily="2" charset="-122"/>
                <a:cs typeface="Times New Roman" panose="02020603050405020304" pitchFamily="18" charset="0"/>
              </a:rPr>
              <a:t>3  </a:t>
            </a:r>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hlinkClick r:id="rId5" action="ppaction://hlinkfile"/>
              </a:rPr>
              <a:t>银行贷款年利率与客户流失率关系的</a:t>
            </a:r>
            <a:r>
              <a:rPr lang="en-US" altLang="zh-CN" sz="2800" kern="100" dirty="0">
                <a:latin typeface="Times New Roman" panose="02020603050405020304" pitchFamily="18" charset="0"/>
                <a:ea typeface="宋体" panose="02010600030101010101" pitchFamily="2" charset="-122"/>
                <a:cs typeface="Times New Roman" panose="02020603050405020304" pitchFamily="18" charset="0"/>
                <a:hlinkClick r:id="rId5" action="ppaction://hlinkfile"/>
              </a:rPr>
              <a:t>2019</a:t>
            </a:r>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hlinkClick r:id="rId5" action="ppaction://hlinkfile"/>
              </a:rPr>
              <a:t>年统计数据</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15000"/>
              </a:lnSpc>
              <a:spcAft>
                <a:spcPts val="0"/>
              </a:spcAft>
            </a:pPr>
            <a:r>
              <a:rPr lang="en-US" altLang="zh-CN" sz="2800" kern="1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15000"/>
              </a:lnSpc>
              <a:spcAft>
                <a:spcPts val="0"/>
              </a:spcAft>
            </a:pPr>
            <a:r>
              <a:rPr lang="zh-CN" altLang="zh-CN" sz="2000" b="1" kern="100" dirty="0">
                <a:effectLst/>
                <a:latin typeface="Times New Roman" panose="02020603050405020304" pitchFamily="18" charset="0"/>
                <a:ea typeface="宋体" panose="02010600030101010101" pitchFamily="2" charset="-122"/>
                <a:cs typeface="Times New Roman" panose="02020603050405020304" pitchFamily="18" charset="0"/>
              </a:rPr>
              <a:t>附件中数据说明：</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lnSpc>
                <a:spcPct val="115000"/>
              </a:lnSpc>
              <a:spcAft>
                <a:spcPts val="0"/>
              </a:spcAft>
            </a:pP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(1) </a:t>
            </a:r>
            <a:r>
              <a:rPr lang="zh-CN" altLang="zh-CN" sz="2000" b="1" kern="100" dirty="0">
                <a:effectLst/>
                <a:latin typeface="Times New Roman" panose="02020603050405020304" pitchFamily="18" charset="0"/>
                <a:ea typeface="宋体" panose="02010600030101010101" pitchFamily="2" charset="-122"/>
                <a:cs typeface="Times New Roman" panose="02020603050405020304" pitchFamily="18" charset="0"/>
              </a:rPr>
              <a:t>进项发票：</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企业进货（购买产品）时销售方为其开具的发票。</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lnSpc>
                <a:spcPct val="115000"/>
              </a:lnSpc>
              <a:spcAft>
                <a:spcPts val="0"/>
              </a:spcAft>
            </a:pP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(2) </a:t>
            </a:r>
            <a:r>
              <a:rPr lang="zh-CN" altLang="zh-CN" sz="2000" b="1" kern="100" dirty="0">
                <a:effectLst/>
                <a:latin typeface="Times New Roman" panose="02020603050405020304" pitchFamily="18" charset="0"/>
                <a:ea typeface="宋体" panose="02010600030101010101" pitchFamily="2" charset="-122"/>
                <a:cs typeface="Times New Roman" panose="02020603050405020304" pitchFamily="18" charset="0"/>
              </a:rPr>
              <a:t>销项发票：</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企业销售产品时为购货方开具的发票。</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lnSpc>
                <a:spcPct val="115000"/>
              </a:lnSpc>
              <a:spcAft>
                <a:spcPts val="0"/>
              </a:spcAft>
            </a:pP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(3) </a:t>
            </a:r>
            <a:r>
              <a:rPr lang="zh-CN" altLang="zh-CN" sz="2000" b="1" kern="100" dirty="0">
                <a:effectLst/>
                <a:latin typeface="Times New Roman" panose="02020603050405020304" pitchFamily="18" charset="0"/>
                <a:ea typeface="宋体" panose="02010600030101010101" pitchFamily="2" charset="-122"/>
                <a:cs typeface="Times New Roman" panose="02020603050405020304" pitchFamily="18" charset="0"/>
              </a:rPr>
              <a:t>有效发票：</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为正常的交易活动开具的发票。</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lnSpc>
                <a:spcPct val="115000"/>
              </a:lnSpc>
              <a:spcAft>
                <a:spcPts val="0"/>
              </a:spcAft>
            </a:pP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(4) </a:t>
            </a:r>
            <a:r>
              <a:rPr lang="zh-CN" altLang="zh-CN" sz="2000" b="1" kern="100" dirty="0">
                <a:effectLst/>
                <a:latin typeface="Times New Roman" panose="02020603050405020304" pitchFamily="18" charset="0"/>
                <a:ea typeface="宋体" panose="02010600030101010101" pitchFamily="2" charset="-122"/>
                <a:cs typeface="Times New Roman" panose="02020603050405020304" pitchFamily="18" charset="0"/>
              </a:rPr>
              <a:t>作废发票：</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在为交易活动开具发票后，因故取消了该项交易，使发票作废。</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lnSpc>
                <a:spcPct val="115000"/>
              </a:lnSpc>
              <a:spcAft>
                <a:spcPts val="0"/>
              </a:spcAft>
            </a:pP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(5) </a:t>
            </a:r>
            <a:r>
              <a:rPr lang="zh-CN" altLang="zh-CN" sz="2000" b="1" kern="100" dirty="0">
                <a:effectLst/>
                <a:latin typeface="Times New Roman" panose="02020603050405020304" pitchFamily="18" charset="0"/>
                <a:ea typeface="宋体" panose="02010600030101010101" pitchFamily="2" charset="-122"/>
                <a:cs typeface="Times New Roman" panose="02020603050405020304" pitchFamily="18" charset="0"/>
              </a:rPr>
              <a:t>负数发票：</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在为交易活动开具发票后，企业已入账记税，之后购方因故发生退货并退款，此时，需开具的负数发票。</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lnSpc>
                <a:spcPct val="115000"/>
              </a:lnSpc>
              <a:spcAft>
                <a:spcPts val="0"/>
              </a:spcAft>
            </a:pP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(6) </a:t>
            </a:r>
            <a:r>
              <a:rPr lang="zh-CN" altLang="zh-CN" sz="2000" b="1" kern="100" dirty="0">
                <a:effectLst/>
                <a:latin typeface="Times New Roman" panose="02020603050405020304" pitchFamily="18" charset="0"/>
                <a:ea typeface="宋体" panose="02010600030101010101" pitchFamily="2" charset="-122"/>
                <a:cs typeface="Times New Roman" panose="02020603050405020304" pitchFamily="18" charset="0"/>
              </a:rPr>
              <a:t>信誉评级：</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银行内部根据企业的实际情况人工评定的，银行对信誉评级为</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D</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的企业原则上不予放贷。</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lnSpc>
                <a:spcPct val="115000"/>
              </a:lnSpc>
              <a:spcAft>
                <a:spcPts val="0"/>
              </a:spcAft>
            </a:pP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(7) </a:t>
            </a:r>
            <a:r>
              <a:rPr lang="zh-CN" altLang="zh-CN" sz="2000" b="1" kern="100" dirty="0">
                <a:effectLst/>
                <a:latin typeface="Times New Roman" panose="02020603050405020304" pitchFamily="18" charset="0"/>
                <a:ea typeface="宋体" panose="02010600030101010101" pitchFamily="2" charset="-122"/>
                <a:cs typeface="Times New Roman" panose="02020603050405020304" pitchFamily="18" charset="0"/>
              </a:rPr>
              <a:t>客户流失率：</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因为贷款利率等因素银行失去潜在客户的比率。</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3" name="Rectangle 2">
            <a:extLst>
              <a:ext uri="{FF2B5EF4-FFF2-40B4-BE49-F238E27FC236}">
                <a16:creationId xmlns:a16="http://schemas.microsoft.com/office/drawing/2014/main" id="{4708D181-1C53-4414-A4EA-3DFE87F97026}"/>
              </a:ext>
            </a:extLst>
          </p:cNvPr>
          <p:cNvSpPr/>
          <p:nvPr/>
        </p:nvSpPr>
        <p:spPr>
          <a:xfrm>
            <a:off x="517025" y="539234"/>
            <a:ext cx="5371983" cy="400110"/>
          </a:xfrm>
          <a:prstGeom prst="rect">
            <a:avLst/>
          </a:prstGeom>
        </p:spPr>
        <p:txBody>
          <a:bodyPr wrap="none">
            <a:spAutoFit/>
          </a:bodyPr>
          <a:lstStyle/>
          <a:p>
            <a:r>
              <a:rPr lang="zh-CN" altLang="en-US" sz="2000" b="1" dirty="0">
                <a:solidFill>
                  <a:srgbClr val="FF0000"/>
                </a:solidFill>
              </a:rPr>
              <a:t>2020 高教社杯全国大学生数学建模竞赛C题目</a:t>
            </a:r>
            <a:endParaRPr lang="en-US" altLang="zh-CN" sz="2000" b="1" dirty="0">
              <a:solidFill>
                <a:srgbClr val="FF0000"/>
              </a:solidFill>
            </a:endParaRPr>
          </a:p>
        </p:txBody>
      </p:sp>
    </p:spTree>
    <p:extLst>
      <p:ext uri="{BB962C8B-B14F-4D97-AF65-F5344CB8AC3E}">
        <p14:creationId xmlns:p14="http://schemas.microsoft.com/office/powerpoint/2010/main" val="3463084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929EC32-365E-4972-A631-AE76D7FCB672}"/>
              </a:ext>
            </a:extLst>
          </p:cNvPr>
          <p:cNvSpPr/>
          <p:nvPr/>
        </p:nvSpPr>
        <p:spPr>
          <a:xfrm>
            <a:off x="608789" y="1217109"/>
            <a:ext cx="10795811" cy="5328125"/>
          </a:xfrm>
          <a:prstGeom prst="rect">
            <a:avLst/>
          </a:prstGeom>
        </p:spPr>
        <p:txBody>
          <a:bodyPr wrap="square">
            <a:spAutoFit/>
          </a:bodyPr>
          <a:lstStyle/>
          <a:p>
            <a:pPr marL="285750" indent="-285750" algn="just">
              <a:lnSpc>
                <a:spcPct val="114000"/>
              </a:lnSpc>
              <a:buFont typeface="Wingdings" panose="05000000000000000000" pitchFamily="2" charset="2"/>
              <a:buChar char="Ø"/>
            </a:pPr>
            <a:r>
              <a:rPr lang="zh-CN" altLang="en-US" sz="2000" b="1" dirty="0"/>
              <a:t>这是一个实际的</a:t>
            </a:r>
            <a:r>
              <a:rPr lang="zh-CN" altLang="en-US" sz="2000" b="1" dirty="0">
                <a:solidFill>
                  <a:srgbClr val="FF0000"/>
                </a:solidFill>
              </a:rPr>
              <a:t>数据分析</a:t>
            </a:r>
            <a:r>
              <a:rPr lang="zh-CN" altLang="en-US" sz="2000" b="1" dirty="0"/>
              <a:t>与</a:t>
            </a:r>
            <a:r>
              <a:rPr lang="zh-CN" altLang="en-US" sz="2000" b="1" dirty="0">
                <a:solidFill>
                  <a:srgbClr val="FF0000"/>
                </a:solidFill>
              </a:rPr>
              <a:t>风险决策</a:t>
            </a:r>
            <a:r>
              <a:rPr lang="zh-CN" altLang="en-US" sz="2000" b="1" dirty="0"/>
              <a:t>问题。要求利用附件中的相关数据和银行的信贷政策对问题进行研究，建立银行对中小微企业的信贷决策模型，并给出具体的信贷策略。由于该问题的</a:t>
            </a:r>
            <a:r>
              <a:rPr lang="zh-CN" altLang="en-US" sz="2000" b="1" dirty="0">
                <a:solidFill>
                  <a:srgbClr val="FF0000"/>
                </a:solidFill>
              </a:rPr>
              <a:t>开放性</a:t>
            </a:r>
            <a:r>
              <a:rPr lang="zh-CN" altLang="en-US" sz="2000" b="1" dirty="0"/>
              <a:t>，对数据的处理方法不同，利用不同的方法会有不同的模型和结果。</a:t>
            </a:r>
            <a:endParaRPr lang="en-US" altLang="zh-CN" sz="2000" b="1" dirty="0"/>
          </a:p>
          <a:p>
            <a:pPr marL="285750" indent="-285750" algn="just">
              <a:lnSpc>
                <a:spcPct val="114000"/>
              </a:lnSpc>
              <a:buFont typeface="Wingdings" panose="05000000000000000000" pitchFamily="2" charset="2"/>
              <a:buChar char="Ø"/>
            </a:pPr>
            <a:r>
              <a:rPr lang="zh-CN" altLang="en-US" sz="2000" b="1" dirty="0"/>
              <a:t>问题1: 关注数据的</a:t>
            </a:r>
            <a:r>
              <a:rPr lang="zh-CN" altLang="en-US" sz="2000" b="1" dirty="0">
                <a:solidFill>
                  <a:srgbClr val="FF0000"/>
                </a:solidFill>
              </a:rPr>
              <a:t>预处理</a:t>
            </a:r>
            <a:r>
              <a:rPr lang="zh-CN" altLang="en-US" sz="2000" b="1" dirty="0"/>
              <a:t>和</a:t>
            </a:r>
            <a:r>
              <a:rPr lang="zh-CN" altLang="en-US" sz="2000" b="1" dirty="0">
                <a:solidFill>
                  <a:srgbClr val="FF0000"/>
                </a:solidFill>
              </a:rPr>
              <a:t>指标的提取</a:t>
            </a:r>
            <a:r>
              <a:rPr lang="zh-CN" altLang="en-US" sz="2000" b="1" dirty="0"/>
              <a:t>方法、附件1中123家企业</a:t>
            </a:r>
            <a:r>
              <a:rPr lang="zh-CN" altLang="en-US" sz="2000" b="1" dirty="0">
                <a:solidFill>
                  <a:srgbClr val="FF0000"/>
                </a:solidFill>
              </a:rPr>
              <a:t>信贷风险的量化</a:t>
            </a:r>
            <a:r>
              <a:rPr lang="zh-CN" altLang="en-US" sz="2000" b="1" dirty="0"/>
              <a:t>分析方法、</a:t>
            </a:r>
            <a:r>
              <a:rPr lang="zh-CN" altLang="en-US" sz="2000" b="1" dirty="0">
                <a:solidFill>
                  <a:srgbClr val="FF0000"/>
                </a:solidFill>
              </a:rPr>
              <a:t>决策模型</a:t>
            </a:r>
            <a:r>
              <a:rPr lang="zh-CN" altLang="en-US" sz="2000" b="1" dirty="0"/>
              <a:t>的建立过程和准确性，以及银行对这些企业</a:t>
            </a:r>
            <a:r>
              <a:rPr lang="zh-CN" altLang="en-US" sz="2000" b="1" dirty="0">
                <a:solidFill>
                  <a:srgbClr val="FF0000"/>
                </a:solidFill>
              </a:rPr>
              <a:t>信贷策略</a:t>
            </a:r>
            <a:r>
              <a:rPr lang="zh-CN" altLang="en-US" sz="2000" b="1" dirty="0"/>
              <a:t>的合理性。</a:t>
            </a:r>
            <a:endParaRPr lang="en-US" altLang="zh-CN" sz="2000" b="1" dirty="0"/>
          </a:p>
          <a:p>
            <a:pPr marL="684000" indent="-342900" algn="just">
              <a:lnSpc>
                <a:spcPct val="114000"/>
              </a:lnSpc>
              <a:buFont typeface="Arial" panose="020B0604020202020204" pitchFamily="34" charset="0"/>
              <a:buChar char="•"/>
            </a:pPr>
            <a:r>
              <a:rPr lang="zh-CN" altLang="en-US" sz="2000" b="1" dirty="0"/>
              <a:t>(1) 对于附件中数据的正确处理包括作废发票、负数发票、不同企业数据量的差异性及其他</a:t>
            </a:r>
            <a:r>
              <a:rPr lang="zh-CN" altLang="en-US" sz="2000" b="1" dirty="0">
                <a:solidFill>
                  <a:srgbClr val="FF0000"/>
                </a:solidFill>
              </a:rPr>
              <a:t>异常数据的处理</a:t>
            </a:r>
            <a:r>
              <a:rPr lang="zh-CN" altLang="en-US" sz="2000" b="1" dirty="0"/>
              <a:t>和</a:t>
            </a:r>
            <a:r>
              <a:rPr lang="zh-CN" altLang="en-US" sz="2000" b="1" dirty="0">
                <a:solidFill>
                  <a:srgbClr val="FF0000"/>
                </a:solidFill>
              </a:rPr>
              <a:t>数据的标准化处理</a:t>
            </a:r>
            <a:r>
              <a:rPr lang="zh-CN" altLang="en-US" sz="2000" b="1" dirty="0"/>
              <a:t>等。</a:t>
            </a:r>
            <a:endParaRPr lang="en-US" altLang="zh-CN" sz="2000" b="1" dirty="0"/>
          </a:p>
          <a:p>
            <a:pPr marL="684000" indent="-342900" algn="just">
              <a:lnSpc>
                <a:spcPct val="114000"/>
              </a:lnSpc>
              <a:buFont typeface="Arial" panose="020B0604020202020204" pitchFamily="34" charset="0"/>
              <a:buChar char="•"/>
            </a:pPr>
            <a:r>
              <a:rPr lang="zh-CN" altLang="en-US" sz="2000" b="1" dirty="0"/>
              <a:t>(2) 依据附件1中企业的相关数据对其信贷风险的量化分析过程和量化指标是重要的关注点应该综合考虑</a:t>
            </a:r>
            <a:r>
              <a:rPr lang="zh-CN" altLang="en-US" sz="2000" b="1" dirty="0">
                <a:solidFill>
                  <a:srgbClr val="FF0000"/>
                </a:solidFill>
              </a:rPr>
              <a:t>企业的经营实力</a:t>
            </a:r>
            <a:r>
              <a:rPr lang="zh-CN" altLang="en-US" sz="2000" b="1" dirty="0"/>
              <a:t>(如上下游交易的业务量、毛利润或直接收益与成本及其变化率等)和</a:t>
            </a:r>
            <a:r>
              <a:rPr lang="zh-CN" altLang="en-US" sz="2000" b="1" dirty="0">
                <a:solidFill>
                  <a:srgbClr val="FF0000"/>
                </a:solidFill>
              </a:rPr>
              <a:t>信誉</a:t>
            </a:r>
            <a:r>
              <a:rPr lang="zh-CN" altLang="en-US" sz="2000" b="1" dirty="0"/>
              <a:t>(信誉评级和是否违约)两个方面，给出各企业的信贷风险的量化模型和结果。</a:t>
            </a:r>
            <a:endParaRPr lang="en-US" altLang="zh-CN" sz="2000" b="1" dirty="0"/>
          </a:p>
          <a:p>
            <a:pPr marL="684000" indent="-342900" algn="just">
              <a:lnSpc>
                <a:spcPct val="114000"/>
              </a:lnSpc>
              <a:buFont typeface="Arial" panose="020B0604020202020204" pitchFamily="34" charset="0"/>
              <a:buChar char="•"/>
            </a:pPr>
            <a:r>
              <a:rPr lang="zh-CN" altLang="en-US" sz="2000" b="1" dirty="0"/>
              <a:t>(3) 根据各企业的信贷风险指标可将各企业分类，针对</a:t>
            </a:r>
            <a:r>
              <a:rPr lang="zh-CN" altLang="en-US" sz="2000" b="1" dirty="0">
                <a:solidFill>
                  <a:srgbClr val="FF0000"/>
                </a:solidFill>
              </a:rPr>
              <a:t>不同类别的企业</a:t>
            </a:r>
            <a:r>
              <a:rPr lang="zh-CN" altLang="en-US" sz="2000" b="1" dirty="0"/>
              <a:t>综合考虑</a:t>
            </a:r>
            <a:r>
              <a:rPr lang="zh-CN" altLang="en-US" sz="2000" b="1" dirty="0">
                <a:solidFill>
                  <a:srgbClr val="FF0000"/>
                </a:solidFill>
              </a:rPr>
              <a:t>贷款额度</a:t>
            </a:r>
            <a:r>
              <a:rPr lang="zh-CN" altLang="en-US" sz="2000" b="1" dirty="0"/>
              <a:t>、</a:t>
            </a:r>
            <a:r>
              <a:rPr lang="zh-CN" altLang="en-US" sz="2000" b="1" dirty="0">
                <a:solidFill>
                  <a:srgbClr val="FF0000"/>
                </a:solidFill>
              </a:rPr>
              <a:t>利率</a:t>
            </a:r>
            <a:r>
              <a:rPr lang="zh-CN" altLang="en-US" sz="2000" b="1" dirty="0"/>
              <a:t>、</a:t>
            </a:r>
            <a:r>
              <a:rPr lang="zh-CN" altLang="en-US" sz="2000" b="1" dirty="0">
                <a:solidFill>
                  <a:srgbClr val="FF0000"/>
                </a:solidFill>
              </a:rPr>
              <a:t>银行年度放贷总额</a:t>
            </a:r>
            <a:r>
              <a:rPr lang="zh-CN" altLang="en-US" sz="2000" b="1" dirty="0"/>
              <a:t>的要求，以及</a:t>
            </a:r>
            <a:r>
              <a:rPr lang="zh-CN" altLang="en-US" sz="2000" b="1" dirty="0">
                <a:solidFill>
                  <a:srgbClr val="FF0000"/>
                </a:solidFill>
              </a:rPr>
              <a:t>贷款利率与客户的流失率的关系</a:t>
            </a:r>
            <a:r>
              <a:rPr lang="zh-CN" altLang="en-US" sz="2000" b="1" dirty="0"/>
              <a:t>等建立信贷</a:t>
            </a:r>
            <a:r>
              <a:rPr lang="zh-CN" altLang="en-US" sz="2000" b="1" dirty="0">
                <a:solidFill>
                  <a:srgbClr val="FF0000"/>
                </a:solidFill>
              </a:rPr>
              <a:t>决策模型</a:t>
            </a:r>
            <a:r>
              <a:rPr lang="zh-CN" altLang="en-US" sz="2000" b="1" dirty="0"/>
              <a:t>，给出银行对这些企业的</a:t>
            </a:r>
            <a:r>
              <a:rPr lang="zh-CN" altLang="en-US" sz="2000" b="1" dirty="0">
                <a:solidFill>
                  <a:srgbClr val="FF0000"/>
                </a:solidFill>
              </a:rPr>
              <a:t>信贷策略</a:t>
            </a:r>
            <a:r>
              <a:rPr lang="zh-CN" altLang="en-US" sz="2000" b="1" dirty="0"/>
              <a:t>，使得</a:t>
            </a:r>
            <a:r>
              <a:rPr lang="zh-CN" altLang="en-US" sz="2000" b="1" dirty="0">
                <a:solidFill>
                  <a:srgbClr val="FF0000"/>
                </a:solidFill>
              </a:rPr>
              <a:t>银行的信贷风险最小、信贷收益最大</a:t>
            </a:r>
            <a:r>
              <a:rPr lang="zh-CN" altLang="en-US" sz="2000" b="1" dirty="0"/>
              <a:t>。</a:t>
            </a:r>
            <a:endParaRPr lang="en-US" altLang="zh-CN" sz="2000" b="1" dirty="0"/>
          </a:p>
          <a:p>
            <a:pPr marL="684000" indent="-342900" algn="just">
              <a:lnSpc>
                <a:spcPct val="114000"/>
              </a:lnSpc>
              <a:buFont typeface="Arial" panose="020B0604020202020204" pitchFamily="34" charset="0"/>
              <a:buChar char="•"/>
            </a:pPr>
            <a:r>
              <a:rPr lang="zh-CN" altLang="en-US" sz="2000" b="1" dirty="0"/>
              <a:t>(4) 合理的信贷策略应该是对不同信贷风险企业的贷款利率或额度不同。高信贷风险企业相对低信贷风险企业的贷款利率要高，额度要低，特别是对有违约纪录的企业不予放贷。</a:t>
            </a:r>
            <a:endParaRPr lang="en-US" altLang="zh-CN" sz="2000" b="1" dirty="0"/>
          </a:p>
        </p:txBody>
      </p:sp>
      <p:sp>
        <p:nvSpPr>
          <p:cNvPr id="2" name="Rectangle 1">
            <a:extLst>
              <a:ext uri="{FF2B5EF4-FFF2-40B4-BE49-F238E27FC236}">
                <a16:creationId xmlns:a16="http://schemas.microsoft.com/office/drawing/2014/main" id="{E61ACCF2-F8E3-4E5C-8CD2-9D0E02531967}"/>
              </a:ext>
            </a:extLst>
          </p:cNvPr>
          <p:cNvSpPr/>
          <p:nvPr/>
        </p:nvSpPr>
        <p:spPr>
          <a:xfrm>
            <a:off x="517025" y="539234"/>
            <a:ext cx="6141425" cy="400110"/>
          </a:xfrm>
          <a:prstGeom prst="rect">
            <a:avLst/>
          </a:prstGeom>
        </p:spPr>
        <p:txBody>
          <a:bodyPr wrap="none">
            <a:spAutoFit/>
          </a:bodyPr>
          <a:lstStyle/>
          <a:p>
            <a:r>
              <a:rPr lang="zh-CN" altLang="en-US" sz="2000" b="1" dirty="0">
                <a:solidFill>
                  <a:srgbClr val="FF0000"/>
                </a:solidFill>
              </a:rPr>
              <a:t>2020 高教社杯全国大学生数学建模竞赛C题评阅要点</a:t>
            </a:r>
            <a:endParaRPr lang="en-US" altLang="zh-CN" sz="2000" b="1" dirty="0">
              <a:solidFill>
                <a:srgbClr val="FF0000"/>
              </a:solidFill>
            </a:endParaRPr>
          </a:p>
        </p:txBody>
      </p:sp>
    </p:spTree>
    <p:extLst>
      <p:ext uri="{BB962C8B-B14F-4D97-AF65-F5344CB8AC3E}">
        <p14:creationId xmlns:p14="http://schemas.microsoft.com/office/powerpoint/2010/main" val="54147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929EC32-365E-4972-A631-AE76D7FCB672}"/>
              </a:ext>
            </a:extLst>
          </p:cNvPr>
          <p:cNvSpPr/>
          <p:nvPr/>
        </p:nvSpPr>
        <p:spPr>
          <a:xfrm>
            <a:off x="550892" y="1577234"/>
            <a:ext cx="10739408" cy="3848811"/>
          </a:xfrm>
          <a:prstGeom prst="rect">
            <a:avLst/>
          </a:prstGeom>
        </p:spPr>
        <p:txBody>
          <a:bodyPr wrap="square">
            <a:spAutoFit/>
          </a:bodyPr>
          <a:lstStyle/>
          <a:p>
            <a:pPr marL="285750" indent="-285750" algn="just">
              <a:lnSpc>
                <a:spcPct val="114000"/>
              </a:lnSpc>
              <a:buFont typeface="Wingdings" panose="05000000000000000000" pitchFamily="2" charset="2"/>
              <a:buChar char="Ø"/>
            </a:pPr>
            <a:r>
              <a:rPr lang="zh-CN" altLang="en-US" sz="2400" b="1" dirty="0"/>
              <a:t>问题2：关注附件2中302家企业的信誉评级、信贷风险的量化分析、信贷决策模型和银行对这些企业的信贷策略。</a:t>
            </a:r>
            <a:endParaRPr lang="en-US" altLang="zh-CN" sz="2400" b="1" dirty="0"/>
          </a:p>
          <a:p>
            <a:pPr marL="648000" indent="-285750" algn="just">
              <a:lnSpc>
                <a:spcPct val="114000"/>
              </a:lnSpc>
              <a:buFont typeface="Arial" panose="020B0604020202020204" pitchFamily="34" charset="0"/>
              <a:buChar char="•"/>
            </a:pPr>
            <a:r>
              <a:rPr lang="zh-CN" altLang="en-US" sz="2400" b="1" dirty="0"/>
              <a:t>(1) 利用附件1中123家企业的数据做</a:t>
            </a:r>
            <a:r>
              <a:rPr lang="zh-CN" altLang="en-US" sz="2400" b="1" dirty="0">
                <a:solidFill>
                  <a:srgbClr val="FF0000"/>
                </a:solidFill>
              </a:rPr>
              <a:t>机器学习(或回归拟合)</a:t>
            </a:r>
            <a:r>
              <a:rPr lang="zh-CN" altLang="en-US" sz="2400" b="1" dirty="0"/>
              <a:t>，确定企业信誉评级与其实力指标的关系，用于确定附件2中302家无信贷记录企业的</a:t>
            </a:r>
            <a:r>
              <a:rPr lang="zh-CN" altLang="en-US" sz="2400" b="1" dirty="0">
                <a:solidFill>
                  <a:srgbClr val="FF0000"/>
                </a:solidFill>
              </a:rPr>
              <a:t>信誉评级</a:t>
            </a:r>
            <a:r>
              <a:rPr lang="zh-CN" altLang="en-US" sz="2400" b="1" dirty="0"/>
              <a:t>。</a:t>
            </a:r>
            <a:endParaRPr lang="en-US" altLang="zh-CN" sz="2400" b="1" dirty="0"/>
          </a:p>
          <a:p>
            <a:pPr marL="648000" indent="-285750" algn="just">
              <a:lnSpc>
                <a:spcPct val="114000"/>
              </a:lnSpc>
              <a:buFont typeface="Arial" panose="020B0604020202020204" pitchFamily="34" charset="0"/>
              <a:buChar char="•"/>
            </a:pPr>
            <a:r>
              <a:rPr lang="zh-CN" altLang="en-US" sz="2400" b="1" dirty="0"/>
              <a:t>(2) 参照问题(1)的方法综合企业的经营实力和信誉两个方面建立信贷风险量化模型，并给出量化分析结果。</a:t>
            </a:r>
            <a:endParaRPr lang="en-US" altLang="zh-CN" sz="2400" b="1" dirty="0"/>
          </a:p>
          <a:p>
            <a:pPr marL="648000" indent="-285750" algn="just">
              <a:lnSpc>
                <a:spcPct val="114000"/>
              </a:lnSpc>
              <a:buFont typeface="Arial" panose="020B0604020202020204" pitchFamily="34" charset="0"/>
              <a:buChar char="•"/>
            </a:pPr>
            <a:r>
              <a:rPr lang="zh-CN" altLang="en-US" sz="2400" b="1" dirty="0"/>
              <a:t>(3) 类似地，综合考虑相关各因素建立信贷决策模型，给出银行总额1亿元对这些企业的信贷策略，并分析其模型和结果的合理性。</a:t>
            </a:r>
            <a:endParaRPr lang="en-US" altLang="zh-CN" sz="2400" b="1" dirty="0"/>
          </a:p>
        </p:txBody>
      </p:sp>
      <p:sp>
        <p:nvSpPr>
          <p:cNvPr id="4" name="Rectangle 3">
            <a:extLst>
              <a:ext uri="{FF2B5EF4-FFF2-40B4-BE49-F238E27FC236}">
                <a16:creationId xmlns:a16="http://schemas.microsoft.com/office/drawing/2014/main" id="{10DD0627-281B-4DF1-86D7-FAFEC107B8BC}"/>
              </a:ext>
            </a:extLst>
          </p:cNvPr>
          <p:cNvSpPr/>
          <p:nvPr/>
        </p:nvSpPr>
        <p:spPr>
          <a:xfrm>
            <a:off x="517025" y="539234"/>
            <a:ext cx="6141425" cy="400110"/>
          </a:xfrm>
          <a:prstGeom prst="rect">
            <a:avLst/>
          </a:prstGeom>
        </p:spPr>
        <p:txBody>
          <a:bodyPr wrap="none">
            <a:spAutoFit/>
          </a:bodyPr>
          <a:lstStyle/>
          <a:p>
            <a:r>
              <a:rPr lang="zh-CN" altLang="en-US" sz="2000" b="1" dirty="0">
                <a:solidFill>
                  <a:srgbClr val="FF0000"/>
                </a:solidFill>
              </a:rPr>
              <a:t>2020 高教社杯全国大学生数学建模竞赛C题评阅要点</a:t>
            </a:r>
            <a:endParaRPr lang="en-US" altLang="zh-CN" sz="2000" b="1" dirty="0">
              <a:solidFill>
                <a:srgbClr val="FF0000"/>
              </a:solidFill>
            </a:endParaRPr>
          </a:p>
        </p:txBody>
      </p:sp>
    </p:spTree>
    <p:extLst>
      <p:ext uri="{BB962C8B-B14F-4D97-AF65-F5344CB8AC3E}">
        <p14:creationId xmlns:p14="http://schemas.microsoft.com/office/powerpoint/2010/main" val="1282861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929EC32-365E-4972-A631-AE76D7FCB672}"/>
              </a:ext>
            </a:extLst>
          </p:cNvPr>
          <p:cNvSpPr/>
          <p:nvPr/>
        </p:nvSpPr>
        <p:spPr>
          <a:xfrm>
            <a:off x="550892" y="1504549"/>
            <a:ext cx="11018808" cy="4269823"/>
          </a:xfrm>
          <a:prstGeom prst="rect">
            <a:avLst/>
          </a:prstGeom>
        </p:spPr>
        <p:txBody>
          <a:bodyPr wrap="square">
            <a:spAutoFit/>
          </a:bodyPr>
          <a:lstStyle/>
          <a:p>
            <a:pPr marL="285750" indent="-285750" algn="just">
              <a:lnSpc>
                <a:spcPct val="114000"/>
              </a:lnSpc>
              <a:buFont typeface="Wingdings" panose="05000000000000000000" pitchFamily="2" charset="2"/>
              <a:buChar char="Ø"/>
            </a:pPr>
            <a:r>
              <a:rPr lang="zh-CN" altLang="en-US" sz="2400" b="1" dirty="0"/>
              <a:t>问题3：关注</a:t>
            </a:r>
            <a:r>
              <a:rPr lang="zh-CN" altLang="en-US" sz="2400" b="1" dirty="0">
                <a:solidFill>
                  <a:srgbClr val="FF0000"/>
                </a:solidFill>
              </a:rPr>
              <a:t>不确定的突出因素的处理方法</a:t>
            </a:r>
            <a:r>
              <a:rPr lang="zh-CN" altLang="en-US" sz="2400" b="1" dirty="0"/>
              <a:t>、对不同行业正负两个方面的影响，对企业信贷风险、信贷决策模型和信贷策略的影响效果。</a:t>
            </a:r>
            <a:endParaRPr lang="en-US" altLang="zh-CN" sz="2400" b="1" dirty="0"/>
          </a:p>
          <a:p>
            <a:pPr marL="648000" indent="-285750" algn="just">
              <a:lnSpc>
                <a:spcPct val="114000"/>
              </a:lnSpc>
              <a:buFont typeface="Arial" panose="020B0604020202020204" pitchFamily="34" charset="0"/>
              <a:buChar char="•"/>
            </a:pPr>
            <a:r>
              <a:rPr lang="zh-CN" altLang="en-US" sz="2400" b="1" dirty="0"/>
              <a:t>(1) 考虑一般的突发因素或某一类突发因素(如新冠病毒疫情)对不同行业企业的正负两个方面的影响及效果。</a:t>
            </a:r>
            <a:endParaRPr lang="en-US" altLang="zh-CN" sz="2400" b="1" dirty="0"/>
          </a:p>
          <a:p>
            <a:pPr marL="648000" indent="-285750" algn="just">
              <a:lnSpc>
                <a:spcPct val="114000"/>
              </a:lnSpc>
              <a:buFont typeface="Arial" panose="020B0604020202020204" pitchFamily="34" charset="0"/>
              <a:buChar char="•"/>
            </a:pPr>
            <a:r>
              <a:rPr lang="zh-CN" altLang="en-US" sz="2400" b="1" dirty="0"/>
              <a:t>(2) 在突发因素影响下，给出企业的信贷风险、银行信贷决策模型与信贷策略的影响及效果。</a:t>
            </a:r>
            <a:endParaRPr lang="en-US" altLang="zh-CN" sz="2400" b="1" dirty="0"/>
          </a:p>
          <a:p>
            <a:pPr marL="648000" indent="-285750" algn="just">
              <a:lnSpc>
                <a:spcPct val="114000"/>
              </a:lnSpc>
              <a:buFont typeface="Arial" panose="020B0604020202020204" pitchFamily="34" charset="0"/>
              <a:buChar char="•"/>
            </a:pPr>
            <a:r>
              <a:rPr lang="zh-CN" altLang="en-US" sz="2400" b="1" dirty="0"/>
              <a:t>(3) 只考虑突发因素的负面影响是不全面的，譬如新冠病毒疫情对很多行业都产生了负面的影响，而对于医药医疗行业产了正面的影响。</a:t>
            </a:r>
            <a:endParaRPr lang="en-US" altLang="zh-CN" sz="2400" b="1" dirty="0"/>
          </a:p>
          <a:p>
            <a:pPr algn="just">
              <a:lnSpc>
                <a:spcPct val="114000"/>
              </a:lnSpc>
            </a:pPr>
            <a:endParaRPr lang="en-US" altLang="zh-CN" sz="2400" b="1" dirty="0"/>
          </a:p>
          <a:p>
            <a:pPr algn="just">
              <a:lnSpc>
                <a:spcPct val="114000"/>
              </a:lnSpc>
            </a:pPr>
            <a:r>
              <a:rPr lang="zh-CN" altLang="en-US" sz="2400" b="1" dirty="0">
                <a:solidFill>
                  <a:srgbClr val="034193"/>
                </a:solidFill>
              </a:rPr>
              <a:t>注:简单主观地使用综合评价方法不是一个好的做法。</a:t>
            </a:r>
          </a:p>
        </p:txBody>
      </p:sp>
      <p:sp>
        <p:nvSpPr>
          <p:cNvPr id="5" name="Rectangle 4">
            <a:extLst>
              <a:ext uri="{FF2B5EF4-FFF2-40B4-BE49-F238E27FC236}">
                <a16:creationId xmlns:a16="http://schemas.microsoft.com/office/drawing/2014/main" id="{99BA3C25-152A-4F72-9B69-9649BF8D03B8}"/>
              </a:ext>
            </a:extLst>
          </p:cNvPr>
          <p:cNvSpPr/>
          <p:nvPr/>
        </p:nvSpPr>
        <p:spPr>
          <a:xfrm>
            <a:off x="517025" y="539234"/>
            <a:ext cx="6141425" cy="400110"/>
          </a:xfrm>
          <a:prstGeom prst="rect">
            <a:avLst/>
          </a:prstGeom>
        </p:spPr>
        <p:txBody>
          <a:bodyPr wrap="none">
            <a:spAutoFit/>
          </a:bodyPr>
          <a:lstStyle/>
          <a:p>
            <a:r>
              <a:rPr lang="zh-CN" altLang="en-US" sz="2000" b="1" dirty="0">
                <a:solidFill>
                  <a:srgbClr val="FF0000"/>
                </a:solidFill>
              </a:rPr>
              <a:t>2020 高教社杯全国大学生数学建模竞赛C题评阅要点</a:t>
            </a:r>
            <a:endParaRPr lang="en-US" altLang="zh-CN" sz="2000" b="1" dirty="0">
              <a:solidFill>
                <a:srgbClr val="FF0000"/>
              </a:solidFill>
            </a:endParaRPr>
          </a:p>
        </p:txBody>
      </p:sp>
    </p:spTree>
    <p:extLst>
      <p:ext uri="{BB962C8B-B14F-4D97-AF65-F5344CB8AC3E}">
        <p14:creationId xmlns:p14="http://schemas.microsoft.com/office/powerpoint/2010/main" val="23422043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6DE2D17-261D-1E93-7211-ECFEBC5F2706}"/>
              </a:ext>
            </a:extLst>
          </p:cNvPr>
          <p:cNvPicPr>
            <a:picLocks noChangeAspect="1"/>
          </p:cNvPicPr>
          <p:nvPr/>
        </p:nvPicPr>
        <p:blipFill>
          <a:blip r:embed="rId3"/>
          <a:srcRect l="4" t="19" r="4" b="6860"/>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20" name="Round Single Corner Rectangle 7+">
            <a:extLst>
              <a:ext uri="{FF2B5EF4-FFF2-40B4-BE49-F238E27FC236}">
                <a16:creationId xmlns:a16="http://schemas.microsoft.com/office/drawing/2014/main" id="{06DE3935-BB45-DFF1-06CF-7A777E8F037F}"/>
              </a:ext>
            </a:extLst>
          </p:cNvPr>
          <p:cNvSpPr/>
          <p:nvPr/>
        </p:nvSpPr>
        <p:spPr>
          <a:xfrm rot="16200000">
            <a:off x="4330229" y="-2137362"/>
            <a:ext cx="3531543" cy="12191998"/>
          </a:xfrm>
          <a:prstGeom prst="round1Rect">
            <a:avLst>
              <a:gd name="adj" fmla="val 27006"/>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rgbClr val="FFFFFF"/>
              </a:solidFill>
              <a:cs typeface="+mn-ea"/>
              <a:sym typeface="+mn-lt"/>
            </a:endParaRPr>
          </a:p>
        </p:txBody>
      </p:sp>
      <p:sp>
        <p:nvSpPr>
          <p:cNvPr id="4" name="文本框 3">
            <a:extLst>
              <a:ext uri="{FF2B5EF4-FFF2-40B4-BE49-F238E27FC236}">
                <a16:creationId xmlns:a16="http://schemas.microsoft.com/office/drawing/2014/main" id="{946F7734-B4F1-1CD0-B251-DEEAA1B526DB}"/>
              </a:ext>
            </a:extLst>
          </p:cNvPr>
          <p:cNvSpPr txBox="1"/>
          <p:nvPr/>
        </p:nvSpPr>
        <p:spPr>
          <a:xfrm>
            <a:off x="725558" y="640975"/>
            <a:ext cx="1641475" cy="1769715"/>
          </a:xfrm>
          <a:prstGeom prst="rect">
            <a:avLst/>
          </a:prstGeom>
          <a:noFill/>
        </p:spPr>
        <p:txBody>
          <a:bodyPr wrap="none" lIns="0" tIns="0" rIns="0" bIns="0" rtlCol="0" anchor="t">
            <a:spAutoFit/>
          </a:bodyPr>
          <a:lstStyle/>
          <a:p>
            <a:r>
              <a:rPr kumimoji="1" lang="en-US" altLang="zh-CN" sz="11500" dirty="0">
                <a:solidFill>
                  <a:schemeClr val="accent1"/>
                </a:solidFill>
                <a:cs typeface="+mn-ea"/>
                <a:sym typeface="+mn-lt"/>
              </a:rPr>
              <a:t>02</a:t>
            </a:r>
            <a:endParaRPr kumimoji="1" lang="zh-CN" altLang="en-US" sz="11500" dirty="0">
              <a:solidFill>
                <a:schemeClr val="accent1"/>
              </a:solidFill>
              <a:cs typeface="+mn-ea"/>
              <a:sym typeface="+mn-lt"/>
            </a:endParaRPr>
          </a:p>
        </p:txBody>
      </p:sp>
      <p:sp>
        <p:nvSpPr>
          <p:cNvPr id="5" name="文本框 4">
            <a:extLst>
              <a:ext uri="{FF2B5EF4-FFF2-40B4-BE49-F238E27FC236}">
                <a16:creationId xmlns:a16="http://schemas.microsoft.com/office/drawing/2014/main" id="{A9143584-3C7F-2BE2-B971-B50AB7FA77B1}"/>
              </a:ext>
            </a:extLst>
          </p:cNvPr>
          <p:cNvSpPr txBox="1"/>
          <p:nvPr/>
        </p:nvSpPr>
        <p:spPr>
          <a:xfrm>
            <a:off x="2402299" y="862446"/>
            <a:ext cx="594265" cy="553998"/>
          </a:xfrm>
          <a:prstGeom prst="rect">
            <a:avLst/>
          </a:prstGeom>
          <a:noFill/>
        </p:spPr>
        <p:txBody>
          <a:bodyPr wrap="none" lIns="0" tIns="0" rIns="0" bIns="0" rtlCol="0" anchor="t">
            <a:spAutoFit/>
          </a:bodyPr>
          <a:lstStyle/>
          <a:p>
            <a:pPr algn="l"/>
            <a:r>
              <a:rPr kumimoji="1" lang="en-US" altLang="zh-CN" dirty="0">
                <a:solidFill>
                  <a:schemeClr val="accent1">
                    <a:lumMod val="100000"/>
                  </a:schemeClr>
                </a:solidFill>
                <a:cs typeface="+mn-ea"/>
                <a:sym typeface="+mn-lt"/>
              </a:rPr>
              <a:t>PART</a:t>
            </a:r>
          </a:p>
          <a:p>
            <a:pPr algn="l"/>
            <a:r>
              <a:rPr kumimoji="1" lang="en-US" altLang="zh-CN" dirty="0">
                <a:solidFill>
                  <a:schemeClr val="accent1">
                    <a:lumMod val="100000"/>
                  </a:schemeClr>
                </a:solidFill>
                <a:cs typeface="+mn-ea"/>
                <a:sym typeface="+mn-lt"/>
              </a:rPr>
              <a:t>TWO</a:t>
            </a:r>
          </a:p>
        </p:txBody>
      </p:sp>
      <p:sp>
        <p:nvSpPr>
          <p:cNvPr id="8" name="矩形: 单圆角 7">
            <a:extLst>
              <a:ext uri="{FF2B5EF4-FFF2-40B4-BE49-F238E27FC236}">
                <a16:creationId xmlns:a16="http://schemas.microsoft.com/office/drawing/2014/main" id="{361248C5-76B3-3A46-C65A-804FB8336A1F}"/>
              </a:ext>
            </a:extLst>
          </p:cNvPr>
          <p:cNvSpPr/>
          <p:nvPr/>
        </p:nvSpPr>
        <p:spPr>
          <a:xfrm rot="16200000">
            <a:off x="4374434" y="-2048315"/>
            <a:ext cx="3443133" cy="12191998"/>
          </a:xfrm>
          <a:prstGeom prst="round1Rect">
            <a:avLst>
              <a:gd name="adj" fmla="val 27006"/>
            </a:avLst>
          </a:prstGeom>
          <a:gradFill flip="none" rotWithShape="1">
            <a:gsLst>
              <a:gs pos="36000">
                <a:srgbClr val="0052A2"/>
              </a:gs>
              <a:gs pos="100000">
                <a:schemeClr val="accent1">
                  <a:lumMod val="75000"/>
                </a:schemeClr>
              </a:gs>
            </a:gsLst>
            <a:lin ang="60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rgbClr val="FFFFFF"/>
              </a:solidFill>
              <a:cs typeface="+mn-ea"/>
              <a:sym typeface="+mn-lt"/>
            </a:endParaRPr>
          </a:p>
        </p:txBody>
      </p:sp>
      <p:pic>
        <p:nvPicPr>
          <p:cNvPr id="10" name="图片 9">
            <a:extLst>
              <a:ext uri="{FF2B5EF4-FFF2-40B4-BE49-F238E27FC236}">
                <a16:creationId xmlns:a16="http://schemas.microsoft.com/office/drawing/2014/main" id="{AE04B08D-2EAE-AF20-DA66-1D953A09F50C}"/>
              </a:ext>
            </a:extLst>
          </p:cNvPr>
          <p:cNvPicPr>
            <a:picLocks/>
          </p:cNvPicPr>
          <p:nvPr/>
        </p:nvPicPr>
        <p:blipFill>
          <a:blip r:embed="rId4">
            <a:alphaModFix amt="30000"/>
            <a:extLst>
              <a:ext uri="{28A0092B-C50C-407E-A947-70E740481C1C}">
                <a14:useLocalDpi xmlns:a14="http://schemas.microsoft.com/office/drawing/2010/main" val="0"/>
              </a:ext>
            </a:extLst>
          </a:blip>
          <a:stretch>
            <a:fillRect/>
          </a:stretch>
        </p:blipFill>
        <p:spPr>
          <a:xfrm>
            <a:off x="0" y="2968334"/>
            <a:ext cx="12192000" cy="2819400"/>
          </a:xfrm>
          <a:prstGeom prst="rect">
            <a:avLst/>
          </a:prstGeom>
        </p:spPr>
      </p:pic>
      <p:sp>
        <p:nvSpPr>
          <p:cNvPr id="3" name="文本框 2">
            <a:extLst>
              <a:ext uri="{FF2B5EF4-FFF2-40B4-BE49-F238E27FC236}">
                <a16:creationId xmlns:a16="http://schemas.microsoft.com/office/drawing/2014/main" id="{2B66D102-8E33-F33B-E6FA-630DA3DCE242}"/>
              </a:ext>
            </a:extLst>
          </p:cNvPr>
          <p:cNvSpPr txBox="1"/>
          <p:nvPr/>
        </p:nvSpPr>
        <p:spPr>
          <a:xfrm>
            <a:off x="725557" y="3411501"/>
            <a:ext cx="10227991" cy="1107996"/>
          </a:xfrm>
          <a:prstGeom prst="rect">
            <a:avLst/>
          </a:prstGeom>
          <a:noFill/>
        </p:spPr>
        <p:txBody>
          <a:bodyPr wrap="square" lIns="0" tIns="0" rIns="0" bIns="0" rtlCol="0" anchor="t">
            <a:spAutoFit/>
          </a:bodyPr>
          <a:lstStyle/>
          <a:p>
            <a:pPr algn="ctr"/>
            <a:r>
              <a:rPr kumimoji="1" lang="zh-CN" altLang="en-US" sz="7200" b="1" dirty="0">
                <a:solidFill>
                  <a:schemeClr val="bg1"/>
                </a:solidFill>
                <a:cs typeface="+mn-ea"/>
                <a:sym typeface="+mn-lt"/>
              </a:rPr>
              <a:t>赛题讲评</a:t>
            </a:r>
          </a:p>
        </p:txBody>
      </p:sp>
      <p:pic>
        <p:nvPicPr>
          <p:cNvPr id="15" name="Picture 14">
            <a:extLst>
              <a:ext uri="{FF2B5EF4-FFF2-40B4-BE49-F238E27FC236}">
                <a16:creationId xmlns:a16="http://schemas.microsoft.com/office/drawing/2014/main" id="{54C075C9-F16A-4349-9000-63785532DD3A}"/>
              </a:ext>
            </a:extLst>
          </p:cNvPr>
          <p:cNvPicPr>
            <a:picLocks noChangeAspect="1"/>
          </p:cNvPicPr>
          <p:nvPr/>
        </p:nvPicPr>
        <p:blipFill>
          <a:blip r:embed="rId5"/>
          <a:stretch>
            <a:fillRect/>
          </a:stretch>
        </p:blipFill>
        <p:spPr>
          <a:xfrm>
            <a:off x="7818653" y="15796"/>
            <a:ext cx="4373347" cy="570189"/>
          </a:xfrm>
          <a:prstGeom prst="rect">
            <a:avLst/>
          </a:prstGeom>
        </p:spPr>
      </p:pic>
    </p:spTree>
    <p:extLst>
      <p:ext uri="{BB962C8B-B14F-4D97-AF65-F5344CB8AC3E}">
        <p14:creationId xmlns:p14="http://schemas.microsoft.com/office/powerpoint/2010/main" val="79855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3D7337-4D7E-42CE-AC6A-C47968CFE2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85"/>
            <a:ext cx="12192000" cy="6860770"/>
          </a:xfrm>
          <a:prstGeom prst="rect">
            <a:avLst/>
          </a:prstGeom>
        </p:spPr>
      </p:pic>
    </p:spTree>
    <p:extLst>
      <p:ext uri="{BB962C8B-B14F-4D97-AF65-F5344CB8AC3E}">
        <p14:creationId xmlns:p14="http://schemas.microsoft.com/office/powerpoint/2010/main" val="1863106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E1DAB5-7AAB-4FC3-949C-8F53154364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85"/>
            <a:ext cx="12192000" cy="6860770"/>
          </a:xfrm>
          <a:prstGeom prst="rect">
            <a:avLst/>
          </a:prstGeom>
        </p:spPr>
      </p:pic>
    </p:spTree>
    <p:extLst>
      <p:ext uri="{BB962C8B-B14F-4D97-AF65-F5344CB8AC3E}">
        <p14:creationId xmlns:p14="http://schemas.microsoft.com/office/powerpoint/2010/main" val="2622219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8864A9-022D-445B-BFD8-6BAF6ABEA5E2}"/>
              </a:ext>
            </a:extLst>
          </p:cNvPr>
          <p:cNvPicPr>
            <a:picLocks noChangeAspect="1"/>
          </p:cNvPicPr>
          <p:nvPr/>
        </p:nvPicPr>
        <p:blipFill rotWithShape="1">
          <a:blip r:embed="rId2">
            <a:extLst>
              <a:ext uri="{28A0092B-C50C-407E-A947-70E740481C1C}">
                <a14:useLocalDpi xmlns:a14="http://schemas.microsoft.com/office/drawing/2010/main" val="0"/>
              </a:ext>
            </a:extLst>
          </a:blip>
          <a:srcRect t="86363"/>
          <a:stretch/>
        </p:blipFill>
        <p:spPr>
          <a:xfrm>
            <a:off x="0" y="5922369"/>
            <a:ext cx="12192000" cy="935631"/>
          </a:xfrm>
          <a:prstGeom prst="rect">
            <a:avLst/>
          </a:prstGeom>
        </p:spPr>
      </p:pic>
      <p:pic>
        <p:nvPicPr>
          <p:cNvPr id="4" name="Picture 3">
            <a:extLst>
              <a:ext uri="{FF2B5EF4-FFF2-40B4-BE49-F238E27FC236}">
                <a16:creationId xmlns:a16="http://schemas.microsoft.com/office/drawing/2014/main" id="{85621341-883B-4EF3-A1F1-74CB0D729A41}"/>
              </a:ext>
            </a:extLst>
          </p:cNvPr>
          <p:cNvPicPr>
            <a:picLocks noChangeAspect="1"/>
          </p:cNvPicPr>
          <p:nvPr/>
        </p:nvPicPr>
        <p:blipFill rotWithShape="1">
          <a:blip r:embed="rId2">
            <a:extLst>
              <a:ext uri="{28A0092B-C50C-407E-A947-70E740481C1C}">
                <a14:useLocalDpi xmlns:a14="http://schemas.microsoft.com/office/drawing/2010/main" val="0"/>
              </a:ext>
            </a:extLst>
          </a:blip>
          <a:srcRect t="20382" b="57405"/>
          <a:stretch/>
        </p:blipFill>
        <p:spPr>
          <a:xfrm>
            <a:off x="0" y="1039911"/>
            <a:ext cx="12192000" cy="1524001"/>
          </a:xfrm>
          <a:prstGeom prst="rect">
            <a:avLst/>
          </a:prstGeom>
        </p:spPr>
      </p:pic>
      <p:sp>
        <p:nvSpPr>
          <p:cNvPr id="7" name="Rectangle 6">
            <a:extLst>
              <a:ext uri="{FF2B5EF4-FFF2-40B4-BE49-F238E27FC236}">
                <a16:creationId xmlns:a16="http://schemas.microsoft.com/office/drawing/2014/main" id="{D87190BE-BE9C-4F65-A28D-443330399DC6}"/>
              </a:ext>
            </a:extLst>
          </p:cNvPr>
          <p:cNvSpPr/>
          <p:nvPr/>
        </p:nvSpPr>
        <p:spPr>
          <a:xfrm>
            <a:off x="517025" y="539234"/>
            <a:ext cx="4801314" cy="400110"/>
          </a:xfrm>
          <a:prstGeom prst="rect">
            <a:avLst/>
          </a:prstGeom>
        </p:spPr>
        <p:txBody>
          <a:bodyPr wrap="none">
            <a:spAutoFit/>
          </a:bodyPr>
          <a:lstStyle/>
          <a:p>
            <a:r>
              <a:rPr lang="zh-CN" altLang="en-US" sz="2000" b="1" dirty="0">
                <a:solidFill>
                  <a:srgbClr val="FF0000"/>
                </a:solidFill>
              </a:rPr>
              <a:t>第一问：有信贷记录企业的信贷决策模型</a:t>
            </a:r>
          </a:p>
        </p:txBody>
      </p:sp>
      <p:pic>
        <p:nvPicPr>
          <p:cNvPr id="8" name="Picture 7">
            <a:extLst>
              <a:ext uri="{FF2B5EF4-FFF2-40B4-BE49-F238E27FC236}">
                <a16:creationId xmlns:a16="http://schemas.microsoft.com/office/drawing/2014/main" id="{49EEB59A-D074-406E-A208-1A01832EEDBB}"/>
              </a:ext>
            </a:extLst>
          </p:cNvPr>
          <p:cNvPicPr>
            <a:picLocks noChangeAspect="1"/>
          </p:cNvPicPr>
          <p:nvPr/>
        </p:nvPicPr>
        <p:blipFill>
          <a:blip r:embed="rId3"/>
          <a:stretch>
            <a:fillRect/>
          </a:stretch>
        </p:blipFill>
        <p:spPr>
          <a:xfrm>
            <a:off x="716959" y="2332223"/>
            <a:ext cx="7296481" cy="3602846"/>
          </a:xfrm>
          <a:prstGeom prst="rect">
            <a:avLst/>
          </a:prstGeom>
        </p:spPr>
      </p:pic>
      <p:grpSp>
        <p:nvGrpSpPr>
          <p:cNvPr id="15" name="Group 14">
            <a:extLst>
              <a:ext uri="{FF2B5EF4-FFF2-40B4-BE49-F238E27FC236}">
                <a16:creationId xmlns:a16="http://schemas.microsoft.com/office/drawing/2014/main" id="{33C6979F-AEC5-4948-8165-468F50A29A1F}"/>
              </a:ext>
            </a:extLst>
          </p:cNvPr>
          <p:cNvGrpSpPr/>
          <p:nvPr/>
        </p:nvGrpSpPr>
        <p:grpSpPr>
          <a:xfrm>
            <a:off x="8651222" y="3654295"/>
            <a:ext cx="3305311" cy="954107"/>
            <a:chOff x="8651222" y="3654295"/>
            <a:chExt cx="3305311" cy="954107"/>
          </a:xfrm>
        </p:grpSpPr>
        <p:sp>
          <p:nvSpPr>
            <p:cNvPr id="13" name="TextBox 12">
              <a:extLst>
                <a:ext uri="{FF2B5EF4-FFF2-40B4-BE49-F238E27FC236}">
                  <a16:creationId xmlns:a16="http://schemas.microsoft.com/office/drawing/2014/main" id="{312E68A4-475D-495C-94E4-1453C308EF5F}"/>
                </a:ext>
              </a:extLst>
            </p:cNvPr>
            <p:cNvSpPr txBox="1"/>
            <p:nvPr/>
          </p:nvSpPr>
          <p:spPr>
            <a:xfrm>
              <a:off x="10125583" y="3654295"/>
              <a:ext cx="1830950" cy="954107"/>
            </a:xfrm>
            <a:prstGeom prst="rect">
              <a:avLst/>
            </a:prstGeom>
            <a:noFill/>
          </p:spPr>
          <p:txBody>
            <a:bodyPr wrap="none" rtlCol="0">
              <a:spAutoFit/>
            </a:bodyPr>
            <a:lstStyle/>
            <a:p>
              <a:r>
                <a:rPr lang="zh-CN" altLang="en-US" sz="2800" b="1" dirty="0">
                  <a:solidFill>
                    <a:srgbClr val="FF0000"/>
                  </a:solidFill>
                </a:rPr>
                <a:t>票据信息</a:t>
              </a:r>
              <a:r>
                <a:rPr lang="en-US" altLang="zh-CN" sz="2800" b="1" dirty="0">
                  <a:solidFill>
                    <a:srgbClr val="FF0000"/>
                  </a:solidFill>
                </a:rPr>
                <a:t>+</a:t>
              </a:r>
            </a:p>
            <a:p>
              <a:r>
                <a:rPr lang="zh-CN" altLang="en-US" sz="2800" b="1" dirty="0">
                  <a:solidFill>
                    <a:srgbClr val="FF0000"/>
                  </a:solidFill>
                </a:rPr>
                <a:t>信贷记录</a:t>
              </a:r>
            </a:p>
          </p:txBody>
        </p:sp>
        <p:sp>
          <p:nvSpPr>
            <p:cNvPr id="14" name="Arrow: Right 13">
              <a:extLst>
                <a:ext uri="{FF2B5EF4-FFF2-40B4-BE49-F238E27FC236}">
                  <a16:creationId xmlns:a16="http://schemas.microsoft.com/office/drawing/2014/main" id="{60AD73CB-F5D9-4D66-BA2F-BEB30C6E7F85}"/>
                </a:ext>
              </a:extLst>
            </p:cNvPr>
            <p:cNvSpPr/>
            <p:nvPr/>
          </p:nvSpPr>
          <p:spPr>
            <a:xfrm flipH="1">
              <a:off x="8651222" y="3865443"/>
              <a:ext cx="836579" cy="531813"/>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TextBox 9">
            <a:extLst>
              <a:ext uri="{FF2B5EF4-FFF2-40B4-BE49-F238E27FC236}">
                <a16:creationId xmlns:a16="http://schemas.microsoft.com/office/drawing/2014/main" id="{05BA76F2-8D9C-4B9E-9CFB-8116655251EB}"/>
              </a:ext>
            </a:extLst>
          </p:cNvPr>
          <p:cNvSpPr txBox="1"/>
          <p:nvPr/>
        </p:nvSpPr>
        <p:spPr>
          <a:xfrm>
            <a:off x="1066840" y="5273932"/>
            <a:ext cx="1210588" cy="400110"/>
          </a:xfrm>
          <a:prstGeom prst="rect">
            <a:avLst/>
          </a:prstGeom>
          <a:noFill/>
        </p:spPr>
        <p:txBody>
          <a:bodyPr wrap="none" rtlCol="0">
            <a:spAutoFit/>
          </a:bodyPr>
          <a:lstStyle/>
          <a:p>
            <a:r>
              <a:rPr lang="zh-CN" altLang="en-US" sz="2000" b="1" dirty="0">
                <a:solidFill>
                  <a:srgbClr val="FF0000"/>
                </a:solidFill>
              </a:rPr>
              <a:t>机理建模</a:t>
            </a:r>
          </a:p>
        </p:txBody>
      </p:sp>
      <p:sp>
        <p:nvSpPr>
          <p:cNvPr id="2" name="Arrow: Right 1">
            <a:extLst>
              <a:ext uri="{FF2B5EF4-FFF2-40B4-BE49-F238E27FC236}">
                <a16:creationId xmlns:a16="http://schemas.microsoft.com/office/drawing/2014/main" id="{4617C1FE-751C-4D95-AFCF-CF5B4CD29AB1}"/>
              </a:ext>
            </a:extLst>
          </p:cNvPr>
          <p:cNvSpPr/>
          <p:nvPr/>
        </p:nvSpPr>
        <p:spPr>
          <a:xfrm rot="16200000">
            <a:off x="1529669" y="4906272"/>
            <a:ext cx="284930" cy="1863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45895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F327036-BB81-4E97-B71E-96873D75BA9B}"/>
              </a:ext>
            </a:extLst>
          </p:cNvPr>
          <p:cNvPicPr>
            <a:picLocks noChangeAspect="1"/>
          </p:cNvPicPr>
          <p:nvPr/>
        </p:nvPicPr>
        <p:blipFill>
          <a:blip r:embed="rId3"/>
          <a:stretch>
            <a:fillRect/>
          </a:stretch>
        </p:blipFill>
        <p:spPr>
          <a:xfrm>
            <a:off x="1161466" y="1085311"/>
            <a:ext cx="6392830" cy="5772687"/>
          </a:xfrm>
          <a:prstGeom prst="rect">
            <a:avLst/>
          </a:prstGeom>
        </p:spPr>
      </p:pic>
      <p:pic>
        <p:nvPicPr>
          <p:cNvPr id="5" name="Picture 4">
            <a:extLst>
              <a:ext uri="{FF2B5EF4-FFF2-40B4-BE49-F238E27FC236}">
                <a16:creationId xmlns:a16="http://schemas.microsoft.com/office/drawing/2014/main" id="{3A32630B-BD5B-4522-956A-ADEDC4D6BCA4}"/>
              </a:ext>
            </a:extLst>
          </p:cNvPr>
          <p:cNvPicPr>
            <a:picLocks noChangeAspect="1"/>
          </p:cNvPicPr>
          <p:nvPr/>
        </p:nvPicPr>
        <p:blipFill>
          <a:blip r:embed="rId4"/>
          <a:stretch>
            <a:fillRect/>
          </a:stretch>
        </p:blipFill>
        <p:spPr>
          <a:xfrm>
            <a:off x="5861684" y="1085312"/>
            <a:ext cx="5632379" cy="5772687"/>
          </a:xfrm>
          <a:prstGeom prst="rect">
            <a:avLst/>
          </a:prstGeom>
        </p:spPr>
      </p:pic>
      <p:sp>
        <p:nvSpPr>
          <p:cNvPr id="6" name="TextBox 5">
            <a:extLst>
              <a:ext uri="{FF2B5EF4-FFF2-40B4-BE49-F238E27FC236}">
                <a16:creationId xmlns:a16="http://schemas.microsoft.com/office/drawing/2014/main" id="{57AC645E-BBAB-4DAB-9D5F-201D4B5CA22A}"/>
              </a:ext>
            </a:extLst>
          </p:cNvPr>
          <p:cNvSpPr txBox="1"/>
          <p:nvPr/>
        </p:nvSpPr>
        <p:spPr>
          <a:xfrm>
            <a:off x="77907" y="3257360"/>
            <a:ext cx="3344779" cy="646331"/>
          </a:xfrm>
          <a:prstGeom prst="rect">
            <a:avLst/>
          </a:prstGeom>
          <a:solidFill>
            <a:schemeClr val="bg1"/>
          </a:solidFill>
        </p:spPr>
        <p:txBody>
          <a:bodyPr wrap="square" rtlCol="0">
            <a:spAutoFit/>
          </a:bodyPr>
          <a:lstStyle/>
          <a:p>
            <a:pPr marL="702000" indent="-342900">
              <a:buFont typeface="Wingdings" panose="05000000000000000000" pitchFamily="2" charset="2"/>
              <a:buChar char="Ø"/>
            </a:pPr>
            <a:r>
              <a:rPr lang="zh-CN" altLang="en-US" b="1" dirty="0"/>
              <a:t>包括缺失值、异常值等预处理！</a:t>
            </a:r>
          </a:p>
        </p:txBody>
      </p:sp>
      <p:sp>
        <p:nvSpPr>
          <p:cNvPr id="2" name="Rectangle 2">
            <a:extLst>
              <a:ext uri="{FF2B5EF4-FFF2-40B4-BE49-F238E27FC236}">
                <a16:creationId xmlns:a16="http://schemas.microsoft.com/office/drawing/2014/main" id="{ECA00A03-8000-41E2-B666-B2086E732BEA}"/>
              </a:ext>
            </a:extLst>
          </p:cNvPr>
          <p:cNvSpPr/>
          <p:nvPr/>
        </p:nvSpPr>
        <p:spPr>
          <a:xfrm>
            <a:off x="527728" y="1085312"/>
            <a:ext cx="340418" cy="1631216"/>
          </a:xfrm>
          <a:prstGeom prst="rect">
            <a:avLst/>
          </a:prstGeom>
        </p:spPr>
        <p:txBody>
          <a:bodyPr wrap="square">
            <a:spAutoFit/>
          </a:bodyPr>
          <a:lstStyle/>
          <a:p>
            <a:r>
              <a:rPr lang="zh-CN" altLang="en-US" sz="2000" b="1" dirty="0"/>
              <a:t>数据预处理</a:t>
            </a:r>
          </a:p>
        </p:txBody>
      </p:sp>
      <p:sp>
        <p:nvSpPr>
          <p:cNvPr id="7" name="Rectangle 6">
            <a:extLst>
              <a:ext uri="{FF2B5EF4-FFF2-40B4-BE49-F238E27FC236}">
                <a16:creationId xmlns:a16="http://schemas.microsoft.com/office/drawing/2014/main" id="{54DF6DDD-A0FA-BB22-C823-8702BBAC831C}"/>
              </a:ext>
            </a:extLst>
          </p:cNvPr>
          <p:cNvSpPr/>
          <p:nvPr/>
        </p:nvSpPr>
        <p:spPr>
          <a:xfrm>
            <a:off x="517025" y="539234"/>
            <a:ext cx="4801314" cy="400110"/>
          </a:xfrm>
          <a:prstGeom prst="rect">
            <a:avLst/>
          </a:prstGeom>
        </p:spPr>
        <p:txBody>
          <a:bodyPr wrap="none">
            <a:spAutoFit/>
          </a:bodyPr>
          <a:lstStyle/>
          <a:p>
            <a:r>
              <a:rPr lang="zh-CN" altLang="en-US" sz="2000" b="1" dirty="0">
                <a:solidFill>
                  <a:srgbClr val="FF0000"/>
                </a:solidFill>
              </a:rPr>
              <a:t>第一问：有信贷记录企业的信贷决策模型</a:t>
            </a:r>
          </a:p>
        </p:txBody>
      </p:sp>
      <p:sp>
        <p:nvSpPr>
          <p:cNvPr id="8" name="文本框 7">
            <a:extLst>
              <a:ext uri="{FF2B5EF4-FFF2-40B4-BE49-F238E27FC236}">
                <a16:creationId xmlns:a16="http://schemas.microsoft.com/office/drawing/2014/main" id="{BF3358CF-391D-5266-45DB-2891B8B5E1C1}"/>
              </a:ext>
            </a:extLst>
          </p:cNvPr>
          <p:cNvSpPr txBox="1"/>
          <p:nvPr/>
        </p:nvSpPr>
        <p:spPr>
          <a:xfrm>
            <a:off x="-1" y="4062821"/>
            <a:ext cx="3585412" cy="2276521"/>
          </a:xfrm>
          <a:prstGeom prst="rect">
            <a:avLst/>
          </a:prstGeom>
          <a:solidFill>
            <a:schemeClr val="bg1"/>
          </a:solidFill>
        </p:spPr>
        <p:txBody>
          <a:bodyPr wrap="square" rtlCol="0">
            <a:spAutoFit/>
          </a:bodyPr>
          <a:lstStyle/>
          <a:p>
            <a:pPr marL="702000" indent="-342900">
              <a:lnSpc>
                <a:spcPct val="120000"/>
              </a:lnSpc>
              <a:buFont typeface="Wingdings" panose="05000000000000000000" pitchFamily="2" charset="2"/>
              <a:buChar char="n"/>
            </a:pPr>
            <a:r>
              <a:rPr lang="zh-CN" altLang="en-US" sz="2000" b="1" dirty="0"/>
              <a:t>数据预处理一定要根据实际情况来，切务不分析，完全按照套路处理！</a:t>
            </a:r>
            <a:r>
              <a:rPr lang="zh-CN" altLang="en-US" sz="2000" b="1" dirty="0">
                <a:solidFill>
                  <a:srgbClr val="FF0000"/>
                </a:solidFill>
              </a:rPr>
              <a:t>要分析实际情况！！！要分析实际情况！！！要分析实际情况！！！</a:t>
            </a:r>
          </a:p>
        </p:txBody>
      </p:sp>
    </p:spTree>
    <p:extLst>
      <p:ext uri="{BB962C8B-B14F-4D97-AF65-F5344CB8AC3E}">
        <p14:creationId xmlns:p14="http://schemas.microsoft.com/office/powerpoint/2010/main" val="1439618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C9B39E-8104-4ECC-8E4E-D56AA8C49A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85"/>
            <a:ext cx="12192000" cy="6860770"/>
          </a:xfrm>
          <a:prstGeom prst="rect">
            <a:avLst/>
          </a:prstGeom>
        </p:spPr>
      </p:pic>
    </p:spTree>
    <p:extLst>
      <p:ext uri="{BB962C8B-B14F-4D97-AF65-F5344CB8AC3E}">
        <p14:creationId xmlns:p14="http://schemas.microsoft.com/office/powerpoint/2010/main" val="21128142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4C2307-2B0B-494F-97AD-F88CECEC2F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85"/>
            <a:ext cx="12192000" cy="6860770"/>
          </a:xfrm>
          <a:prstGeom prst="rect">
            <a:avLst/>
          </a:prstGeom>
        </p:spPr>
      </p:pic>
    </p:spTree>
    <p:extLst>
      <p:ext uri="{BB962C8B-B14F-4D97-AF65-F5344CB8AC3E}">
        <p14:creationId xmlns:p14="http://schemas.microsoft.com/office/powerpoint/2010/main" val="3145073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730062-5DB1-41BC-84A7-0481662F9287}"/>
              </a:ext>
            </a:extLst>
          </p:cNvPr>
          <p:cNvSpPr txBox="1"/>
          <p:nvPr/>
        </p:nvSpPr>
        <p:spPr>
          <a:xfrm>
            <a:off x="660400" y="1651000"/>
            <a:ext cx="3416320" cy="461665"/>
          </a:xfrm>
          <a:prstGeom prst="rect">
            <a:avLst/>
          </a:prstGeom>
          <a:noFill/>
        </p:spPr>
        <p:txBody>
          <a:bodyPr wrap="none" rtlCol="0">
            <a:spAutoFit/>
          </a:bodyPr>
          <a:lstStyle/>
          <a:p>
            <a:r>
              <a:rPr lang="en-US" altLang="zh-CN" sz="2400" b="1" dirty="0">
                <a:solidFill>
                  <a:srgbClr val="FF0000"/>
                </a:solidFill>
              </a:rPr>
              <a:t>(3) </a:t>
            </a:r>
            <a:r>
              <a:rPr lang="zh-CN" altLang="en-US" sz="2400" b="1" dirty="0">
                <a:solidFill>
                  <a:srgbClr val="FF0000"/>
                </a:solidFill>
              </a:rPr>
              <a:t>有效正数发票的比例</a:t>
            </a:r>
          </a:p>
        </p:txBody>
      </p:sp>
      <p:pic>
        <p:nvPicPr>
          <p:cNvPr id="3" name="Picture 2">
            <a:extLst>
              <a:ext uri="{FF2B5EF4-FFF2-40B4-BE49-F238E27FC236}">
                <a16:creationId xmlns:a16="http://schemas.microsoft.com/office/drawing/2014/main" id="{DD80EFB9-CBF0-4A7A-AFC8-790DB815B246}"/>
              </a:ext>
            </a:extLst>
          </p:cNvPr>
          <p:cNvPicPr>
            <a:picLocks noChangeAspect="1"/>
          </p:cNvPicPr>
          <p:nvPr/>
        </p:nvPicPr>
        <p:blipFill rotWithShape="1">
          <a:blip r:embed="rId3">
            <a:extLst>
              <a:ext uri="{28A0092B-C50C-407E-A947-70E740481C1C}">
                <a14:useLocalDpi xmlns:a14="http://schemas.microsoft.com/office/drawing/2010/main" val="0"/>
              </a:ext>
            </a:extLst>
          </a:blip>
          <a:srcRect b="79618"/>
          <a:stretch/>
        </p:blipFill>
        <p:spPr>
          <a:xfrm>
            <a:off x="0" y="-1385"/>
            <a:ext cx="12192000" cy="1398385"/>
          </a:xfrm>
          <a:prstGeom prst="rect">
            <a:avLst/>
          </a:prstGeom>
        </p:spPr>
      </p:pic>
      <p:sp>
        <p:nvSpPr>
          <p:cNvPr id="6" name="Rectangle 5">
            <a:extLst>
              <a:ext uri="{FF2B5EF4-FFF2-40B4-BE49-F238E27FC236}">
                <a16:creationId xmlns:a16="http://schemas.microsoft.com/office/drawing/2014/main" id="{69DE5008-EE38-4244-AA33-B73A47AB0AC1}"/>
              </a:ext>
            </a:extLst>
          </p:cNvPr>
          <p:cNvSpPr/>
          <p:nvPr/>
        </p:nvSpPr>
        <p:spPr>
          <a:xfrm>
            <a:off x="1175735" y="3489994"/>
            <a:ext cx="10139965" cy="1826910"/>
          </a:xfrm>
          <a:prstGeom prst="rect">
            <a:avLst/>
          </a:prstGeom>
        </p:spPr>
        <p:txBody>
          <a:bodyPr wrap="square">
            <a:spAutoFit/>
          </a:bodyPr>
          <a:lstStyle/>
          <a:p>
            <a:pPr marL="285750" indent="-285750">
              <a:lnSpc>
                <a:spcPct val="120000"/>
              </a:lnSpc>
              <a:buFont typeface="Arial" panose="020B0604020202020204" pitchFamily="34" charset="0"/>
              <a:buChar char="•"/>
            </a:pPr>
            <a:r>
              <a:rPr lang="zh-CN" altLang="en-US" sz="2400" b="1" dirty="0"/>
              <a:t>统计各企业有效正数发票的张数占发票总张数的比例并计算出同一信誉级别下的均值；</a:t>
            </a:r>
            <a:endParaRPr lang="en-US" altLang="zh-CN" sz="2400" b="1" dirty="0"/>
          </a:p>
          <a:p>
            <a:pPr marL="285750" indent="-285750">
              <a:lnSpc>
                <a:spcPct val="120000"/>
              </a:lnSpc>
              <a:buFont typeface="Arial" panose="020B0604020202020204" pitchFamily="34" charset="0"/>
              <a:buChar char="•"/>
            </a:pPr>
            <a:r>
              <a:rPr lang="zh-CN" altLang="en-US" sz="2400" b="1" dirty="0"/>
              <a:t>考察不同信誉级别的平均正有效率是否有显著性差异或者是否有明显规律。</a:t>
            </a:r>
            <a:endParaRPr lang="en-US" altLang="zh-CN" sz="2400" b="1" dirty="0"/>
          </a:p>
        </p:txBody>
      </p:sp>
      <p:graphicFrame>
        <p:nvGraphicFramePr>
          <p:cNvPr id="7" name="Table 7">
            <a:extLst>
              <a:ext uri="{FF2B5EF4-FFF2-40B4-BE49-F238E27FC236}">
                <a16:creationId xmlns:a16="http://schemas.microsoft.com/office/drawing/2014/main" id="{F10E6A42-7545-49A0-9857-A57C3CF13F2B}"/>
              </a:ext>
            </a:extLst>
          </p:cNvPr>
          <p:cNvGraphicFramePr>
            <a:graphicFrameLocks noGrp="1"/>
          </p:cNvGraphicFramePr>
          <p:nvPr/>
        </p:nvGraphicFramePr>
        <p:xfrm>
          <a:off x="2032000" y="5506719"/>
          <a:ext cx="8128000" cy="91440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3611941176"/>
                    </a:ext>
                  </a:extLst>
                </a:gridCol>
                <a:gridCol w="1625600">
                  <a:extLst>
                    <a:ext uri="{9D8B030D-6E8A-4147-A177-3AD203B41FA5}">
                      <a16:colId xmlns:a16="http://schemas.microsoft.com/office/drawing/2014/main" val="3464497882"/>
                    </a:ext>
                  </a:extLst>
                </a:gridCol>
                <a:gridCol w="1625600">
                  <a:extLst>
                    <a:ext uri="{9D8B030D-6E8A-4147-A177-3AD203B41FA5}">
                      <a16:colId xmlns:a16="http://schemas.microsoft.com/office/drawing/2014/main" val="1484690245"/>
                    </a:ext>
                  </a:extLst>
                </a:gridCol>
                <a:gridCol w="1625600">
                  <a:extLst>
                    <a:ext uri="{9D8B030D-6E8A-4147-A177-3AD203B41FA5}">
                      <a16:colId xmlns:a16="http://schemas.microsoft.com/office/drawing/2014/main" val="3745352282"/>
                    </a:ext>
                  </a:extLst>
                </a:gridCol>
                <a:gridCol w="1625600">
                  <a:extLst>
                    <a:ext uri="{9D8B030D-6E8A-4147-A177-3AD203B41FA5}">
                      <a16:colId xmlns:a16="http://schemas.microsoft.com/office/drawing/2014/main" val="298134533"/>
                    </a:ext>
                  </a:extLst>
                </a:gridCol>
              </a:tblGrid>
              <a:tr h="370840">
                <a:tc>
                  <a:txBody>
                    <a:bodyPr/>
                    <a:lstStyle/>
                    <a:p>
                      <a:pPr algn="ctr"/>
                      <a:r>
                        <a:rPr lang="zh-CN" altLang="en-US" sz="2400" dirty="0"/>
                        <a:t>等级</a:t>
                      </a:r>
                    </a:p>
                  </a:txBody>
                  <a:tcPr/>
                </a:tc>
                <a:tc>
                  <a:txBody>
                    <a:bodyPr/>
                    <a:lstStyle/>
                    <a:p>
                      <a:pPr algn="ctr"/>
                      <a:r>
                        <a:rPr lang="en-US" altLang="zh-CN" sz="2400" dirty="0"/>
                        <a:t>A</a:t>
                      </a:r>
                      <a:endParaRPr lang="zh-CN" altLang="en-US" sz="2400" dirty="0"/>
                    </a:p>
                  </a:txBody>
                  <a:tcPr/>
                </a:tc>
                <a:tc>
                  <a:txBody>
                    <a:bodyPr/>
                    <a:lstStyle/>
                    <a:p>
                      <a:pPr algn="ctr"/>
                      <a:r>
                        <a:rPr lang="en-US" altLang="zh-CN" sz="2400" dirty="0"/>
                        <a:t>B</a:t>
                      </a:r>
                      <a:endParaRPr lang="zh-CN" altLang="en-US" sz="2400" dirty="0"/>
                    </a:p>
                  </a:txBody>
                  <a:tcPr/>
                </a:tc>
                <a:tc>
                  <a:txBody>
                    <a:bodyPr/>
                    <a:lstStyle/>
                    <a:p>
                      <a:pPr algn="ctr"/>
                      <a:r>
                        <a:rPr lang="en-US" altLang="zh-CN" sz="2400" dirty="0"/>
                        <a:t>C</a:t>
                      </a:r>
                      <a:endParaRPr lang="zh-CN" altLang="en-US" sz="2400" dirty="0"/>
                    </a:p>
                  </a:txBody>
                  <a:tcPr/>
                </a:tc>
                <a:tc>
                  <a:txBody>
                    <a:bodyPr/>
                    <a:lstStyle/>
                    <a:p>
                      <a:pPr algn="ctr"/>
                      <a:r>
                        <a:rPr lang="en-US" altLang="zh-CN" sz="2400" dirty="0"/>
                        <a:t>D</a:t>
                      </a:r>
                      <a:endParaRPr lang="zh-CN" altLang="en-US" sz="2400" dirty="0"/>
                    </a:p>
                  </a:txBody>
                  <a:tcPr/>
                </a:tc>
                <a:extLst>
                  <a:ext uri="{0D108BD9-81ED-4DB2-BD59-A6C34878D82A}">
                    <a16:rowId xmlns:a16="http://schemas.microsoft.com/office/drawing/2014/main" val="4147241701"/>
                  </a:ext>
                </a:extLst>
              </a:tr>
              <a:tr h="370840">
                <a:tc>
                  <a:txBody>
                    <a:bodyPr/>
                    <a:lstStyle/>
                    <a:p>
                      <a:pPr algn="ctr"/>
                      <a:r>
                        <a:rPr lang="zh-CN" altLang="en-US" sz="2400" dirty="0"/>
                        <a:t>正有效率</a:t>
                      </a:r>
                    </a:p>
                  </a:txBody>
                  <a:tcPr/>
                </a:tc>
                <a:tc>
                  <a:txBody>
                    <a:bodyPr/>
                    <a:lstStyle/>
                    <a:p>
                      <a:pPr algn="ctr"/>
                      <a:r>
                        <a:rPr lang="en-US" altLang="zh-CN" sz="2400" dirty="0"/>
                        <a:t>90.02%</a:t>
                      </a:r>
                      <a:endParaRPr lang="zh-CN" altLang="en-US" sz="2400" dirty="0"/>
                    </a:p>
                  </a:txBody>
                  <a:tcPr/>
                </a:tc>
                <a:tc>
                  <a:txBody>
                    <a:bodyPr/>
                    <a:lstStyle/>
                    <a:p>
                      <a:pPr algn="ctr"/>
                      <a:r>
                        <a:rPr lang="en-US" altLang="zh-CN" sz="2400" dirty="0"/>
                        <a:t>89.20%</a:t>
                      </a:r>
                      <a:endParaRPr lang="zh-CN" altLang="en-US" sz="2400" dirty="0"/>
                    </a:p>
                  </a:txBody>
                  <a:tcPr/>
                </a:tc>
                <a:tc>
                  <a:txBody>
                    <a:bodyPr/>
                    <a:lstStyle/>
                    <a:p>
                      <a:pPr algn="ctr"/>
                      <a:r>
                        <a:rPr lang="en-US" altLang="zh-CN" sz="2400" dirty="0"/>
                        <a:t>86.49%</a:t>
                      </a:r>
                      <a:endParaRPr lang="zh-CN" altLang="en-US" sz="2400" dirty="0"/>
                    </a:p>
                  </a:txBody>
                  <a:tcPr/>
                </a:tc>
                <a:tc>
                  <a:txBody>
                    <a:bodyPr/>
                    <a:lstStyle/>
                    <a:p>
                      <a:pPr algn="ctr"/>
                      <a:r>
                        <a:rPr lang="en-US" altLang="zh-CN" sz="2400" dirty="0"/>
                        <a:t>75.01%</a:t>
                      </a:r>
                      <a:endParaRPr lang="zh-CN" altLang="en-US" sz="2400" dirty="0"/>
                    </a:p>
                  </a:txBody>
                  <a:tcPr/>
                </a:tc>
                <a:extLst>
                  <a:ext uri="{0D108BD9-81ED-4DB2-BD59-A6C34878D82A}">
                    <a16:rowId xmlns:a16="http://schemas.microsoft.com/office/drawing/2014/main" val="3694658686"/>
                  </a:ext>
                </a:extLst>
              </a:tr>
            </a:tbl>
          </a:graphicData>
        </a:graphic>
      </p:graphicFrame>
      <p:sp>
        <p:nvSpPr>
          <p:cNvPr id="10" name="Arrow: Right 9">
            <a:extLst>
              <a:ext uri="{FF2B5EF4-FFF2-40B4-BE49-F238E27FC236}">
                <a16:creationId xmlns:a16="http://schemas.microsoft.com/office/drawing/2014/main" id="{A1AA5BAE-6E63-415C-86C7-5F9BF6A684F7}"/>
              </a:ext>
            </a:extLst>
          </p:cNvPr>
          <p:cNvSpPr/>
          <p:nvPr/>
        </p:nvSpPr>
        <p:spPr>
          <a:xfrm flipH="1">
            <a:off x="4318846" y="1698535"/>
            <a:ext cx="640080" cy="325120"/>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a:extLst>
              <a:ext uri="{FF2B5EF4-FFF2-40B4-BE49-F238E27FC236}">
                <a16:creationId xmlns:a16="http://schemas.microsoft.com/office/drawing/2014/main" id="{D705D109-3A9E-43A4-A4D3-CCB3876CA230}"/>
              </a:ext>
            </a:extLst>
          </p:cNvPr>
          <p:cNvSpPr txBox="1"/>
          <p:nvPr/>
        </p:nvSpPr>
        <p:spPr>
          <a:xfrm>
            <a:off x="5201052" y="1661040"/>
            <a:ext cx="1980029" cy="400110"/>
          </a:xfrm>
          <a:prstGeom prst="rect">
            <a:avLst/>
          </a:prstGeom>
          <a:noFill/>
        </p:spPr>
        <p:txBody>
          <a:bodyPr wrap="none" rtlCol="0">
            <a:spAutoFit/>
          </a:bodyPr>
          <a:lstStyle/>
          <a:p>
            <a:r>
              <a:rPr lang="zh-CN" altLang="en-US" sz="2000" b="1" dirty="0">
                <a:solidFill>
                  <a:srgbClr val="2064BE"/>
                </a:solidFill>
              </a:rPr>
              <a:t>值得注意！！！</a:t>
            </a:r>
          </a:p>
        </p:txBody>
      </p:sp>
      <p:pic>
        <p:nvPicPr>
          <p:cNvPr id="16" name="Picture 15">
            <a:extLst>
              <a:ext uri="{FF2B5EF4-FFF2-40B4-BE49-F238E27FC236}">
                <a16:creationId xmlns:a16="http://schemas.microsoft.com/office/drawing/2014/main" id="{15CEB408-BDE2-4F8D-86BB-403F90C216DB}"/>
              </a:ext>
            </a:extLst>
          </p:cNvPr>
          <p:cNvPicPr>
            <a:picLocks noChangeAspect="1"/>
          </p:cNvPicPr>
          <p:nvPr/>
        </p:nvPicPr>
        <p:blipFill>
          <a:blip r:embed="rId4"/>
          <a:stretch>
            <a:fillRect/>
          </a:stretch>
        </p:blipFill>
        <p:spPr>
          <a:xfrm>
            <a:off x="1725361" y="2237274"/>
            <a:ext cx="7541194" cy="985151"/>
          </a:xfrm>
          <a:prstGeom prst="rect">
            <a:avLst/>
          </a:prstGeom>
        </p:spPr>
      </p:pic>
    </p:spTree>
    <p:extLst>
      <p:ext uri="{BB962C8B-B14F-4D97-AF65-F5344CB8AC3E}">
        <p14:creationId xmlns:p14="http://schemas.microsoft.com/office/powerpoint/2010/main" val="24259421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F71338A-62DA-4C0C-8F2A-FD9068756216}"/>
              </a:ext>
            </a:extLst>
          </p:cNvPr>
          <p:cNvPicPr>
            <a:picLocks noChangeAspect="1"/>
          </p:cNvPicPr>
          <p:nvPr/>
        </p:nvPicPr>
        <p:blipFill>
          <a:blip r:embed="rId2"/>
          <a:stretch>
            <a:fillRect/>
          </a:stretch>
        </p:blipFill>
        <p:spPr>
          <a:xfrm>
            <a:off x="2462" y="0"/>
            <a:ext cx="12187076" cy="6858000"/>
          </a:xfrm>
          <a:prstGeom prst="rect">
            <a:avLst/>
          </a:prstGeom>
        </p:spPr>
      </p:pic>
      <p:sp>
        <p:nvSpPr>
          <p:cNvPr id="3" name="TextBox 2">
            <a:extLst>
              <a:ext uri="{FF2B5EF4-FFF2-40B4-BE49-F238E27FC236}">
                <a16:creationId xmlns:a16="http://schemas.microsoft.com/office/drawing/2014/main" id="{D4DFF4A6-89B2-4625-B3E1-0C4F0924C096}"/>
              </a:ext>
            </a:extLst>
          </p:cNvPr>
          <p:cNvSpPr txBox="1"/>
          <p:nvPr/>
        </p:nvSpPr>
        <p:spPr>
          <a:xfrm>
            <a:off x="6400800" y="2514600"/>
            <a:ext cx="1980029" cy="400110"/>
          </a:xfrm>
          <a:prstGeom prst="rect">
            <a:avLst/>
          </a:prstGeom>
          <a:noFill/>
        </p:spPr>
        <p:txBody>
          <a:bodyPr wrap="none" rtlCol="0">
            <a:spAutoFit/>
          </a:bodyPr>
          <a:lstStyle/>
          <a:p>
            <a:r>
              <a:rPr lang="zh-CN" altLang="en-US" sz="2000" b="1" dirty="0">
                <a:solidFill>
                  <a:srgbClr val="2064BE"/>
                </a:solidFill>
              </a:rPr>
              <a:t>企业的发展趋势</a:t>
            </a:r>
          </a:p>
        </p:txBody>
      </p:sp>
      <p:sp>
        <p:nvSpPr>
          <p:cNvPr id="4" name="TextBox 3">
            <a:extLst>
              <a:ext uri="{FF2B5EF4-FFF2-40B4-BE49-F238E27FC236}">
                <a16:creationId xmlns:a16="http://schemas.microsoft.com/office/drawing/2014/main" id="{B511BE4D-2525-4477-A22B-68014652D6C3}"/>
              </a:ext>
            </a:extLst>
          </p:cNvPr>
          <p:cNvSpPr txBox="1"/>
          <p:nvPr/>
        </p:nvSpPr>
        <p:spPr>
          <a:xfrm>
            <a:off x="5560826" y="955645"/>
            <a:ext cx="5897768" cy="400110"/>
          </a:xfrm>
          <a:prstGeom prst="rect">
            <a:avLst/>
          </a:prstGeom>
          <a:noFill/>
        </p:spPr>
        <p:txBody>
          <a:bodyPr wrap="none" rtlCol="0">
            <a:spAutoFit/>
          </a:bodyPr>
          <a:lstStyle/>
          <a:p>
            <a:r>
              <a:rPr lang="zh-CN" altLang="en-US" sz="2000" b="1" dirty="0">
                <a:solidFill>
                  <a:srgbClr val="2064BE"/>
                </a:solidFill>
              </a:rPr>
              <a:t>企业的经营实力</a:t>
            </a:r>
            <a:r>
              <a:rPr lang="en-US" altLang="zh-CN" sz="2000" b="1" dirty="0">
                <a:solidFill>
                  <a:srgbClr val="2064BE"/>
                </a:solidFill>
              </a:rPr>
              <a:t>/</a:t>
            </a:r>
            <a:r>
              <a:rPr lang="zh-CN" altLang="en-US" sz="2000" b="1" dirty="0">
                <a:solidFill>
                  <a:srgbClr val="2064BE"/>
                </a:solidFill>
              </a:rPr>
              <a:t>稳定性</a:t>
            </a:r>
            <a:r>
              <a:rPr lang="en-US" altLang="zh-CN" sz="2000" b="1" dirty="0">
                <a:solidFill>
                  <a:srgbClr val="2064BE"/>
                </a:solidFill>
              </a:rPr>
              <a:t>——</a:t>
            </a:r>
            <a:r>
              <a:rPr lang="zh-CN" altLang="en-US" sz="2000" b="1" dirty="0">
                <a:solidFill>
                  <a:srgbClr val="FF0000"/>
                </a:solidFill>
              </a:rPr>
              <a:t>当前业务量</a:t>
            </a:r>
            <a:r>
              <a:rPr lang="zh-CN" altLang="en-US" sz="2000" b="1" dirty="0">
                <a:solidFill>
                  <a:srgbClr val="2064BE"/>
                </a:solidFill>
              </a:rPr>
              <a:t>与</a:t>
            </a:r>
            <a:r>
              <a:rPr lang="zh-CN" altLang="en-US" sz="2000" b="1" dirty="0">
                <a:solidFill>
                  <a:srgbClr val="FF0000"/>
                </a:solidFill>
              </a:rPr>
              <a:t>发展趋势</a:t>
            </a:r>
          </a:p>
        </p:txBody>
      </p:sp>
    </p:spTree>
    <p:extLst>
      <p:ext uri="{BB962C8B-B14F-4D97-AF65-F5344CB8AC3E}">
        <p14:creationId xmlns:p14="http://schemas.microsoft.com/office/powerpoint/2010/main" val="14240975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3DDB34-94C3-4868-B619-3E28686553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85"/>
            <a:ext cx="12192000" cy="6860770"/>
          </a:xfrm>
          <a:prstGeom prst="rect">
            <a:avLst/>
          </a:prstGeom>
        </p:spPr>
      </p:pic>
    </p:spTree>
    <p:extLst>
      <p:ext uri="{BB962C8B-B14F-4D97-AF65-F5344CB8AC3E}">
        <p14:creationId xmlns:p14="http://schemas.microsoft.com/office/powerpoint/2010/main" val="3058915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4E2331-24A6-4CB5-BEA3-8AD81C2B44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85"/>
            <a:ext cx="12192000" cy="6860770"/>
          </a:xfrm>
          <a:prstGeom prst="rect">
            <a:avLst/>
          </a:prstGeom>
        </p:spPr>
      </p:pic>
    </p:spTree>
    <p:extLst>
      <p:ext uri="{BB962C8B-B14F-4D97-AF65-F5344CB8AC3E}">
        <p14:creationId xmlns:p14="http://schemas.microsoft.com/office/powerpoint/2010/main" val="3215944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407C10A-CE6B-491B-A35F-F2FEE1CB015E}"/>
              </a:ext>
            </a:extLst>
          </p:cNvPr>
          <p:cNvPicPr>
            <a:picLocks noChangeAspect="1"/>
          </p:cNvPicPr>
          <p:nvPr/>
        </p:nvPicPr>
        <p:blipFill>
          <a:blip r:embed="rId3"/>
          <a:stretch>
            <a:fillRect/>
          </a:stretch>
        </p:blipFill>
        <p:spPr>
          <a:xfrm>
            <a:off x="2006600" y="539234"/>
            <a:ext cx="7010400" cy="6076950"/>
          </a:xfrm>
          <a:prstGeom prst="rect">
            <a:avLst/>
          </a:prstGeom>
        </p:spPr>
      </p:pic>
      <p:sp>
        <p:nvSpPr>
          <p:cNvPr id="3" name="Rectangle 2">
            <a:extLst>
              <a:ext uri="{FF2B5EF4-FFF2-40B4-BE49-F238E27FC236}">
                <a16:creationId xmlns:a16="http://schemas.microsoft.com/office/drawing/2014/main" id="{39DD2039-AC3A-4583-94F8-5A359E42D35E}"/>
              </a:ext>
            </a:extLst>
          </p:cNvPr>
          <p:cNvSpPr/>
          <p:nvPr/>
        </p:nvSpPr>
        <p:spPr>
          <a:xfrm>
            <a:off x="517025" y="539234"/>
            <a:ext cx="1210588" cy="400110"/>
          </a:xfrm>
          <a:prstGeom prst="rect">
            <a:avLst/>
          </a:prstGeom>
        </p:spPr>
        <p:txBody>
          <a:bodyPr wrap="none">
            <a:spAutoFit/>
          </a:bodyPr>
          <a:lstStyle/>
          <a:p>
            <a:r>
              <a:rPr lang="zh-CN" altLang="en-US" sz="2000" b="1" dirty="0">
                <a:solidFill>
                  <a:srgbClr val="FF0000"/>
                </a:solidFill>
              </a:rPr>
              <a:t>指标提取</a:t>
            </a:r>
            <a:endParaRPr lang="en-US" altLang="zh-CN" sz="2000" b="1" dirty="0">
              <a:solidFill>
                <a:srgbClr val="FF0000"/>
              </a:solidFill>
            </a:endParaRPr>
          </a:p>
        </p:txBody>
      </p:sp>
    </p:spTree>
    <p:extLst>
      <p:ext uri="{BB962C8B-B14F-4D97-AF65-F5344CB8AC3E}">
        <p14:creationId xmlns:p14="http://schemas.microsoft.com/office/powerpoint/2010/main" val="13831948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27A788-59A1-4F3D-B075-A61F74005443}"/>
              </a:ext>
            </a:extLst>
          </p:cNvPr>
          <p:cNvSpPr/>
          <p:nvPr/>
        </p:nvSpPr>
        <p:spPr>
          <a:xfrm>
            <a:off x="654824" y="1051539"/>
            <a:ext cx="10701453" cy="5326330"/>
          </a:xfrm>
          <a:prstGeom prst="rect">
            <a:avLst/>
          </a:prstGeom>
        </p:spPr>
        <p:txBody>
          <a:bodyPr wrap="square">
            <a:spAutoFit/>
          </a:bodyPr>
          <a:lstStyle/>
          <a:p>
            <a:pPr>
              <a:lnSpc>
                <a:spcPct val="130000"/>
              </a:lnSpc>
            </a:pPr>
            <a:r>
              <a:rPr lang="zh-CN" altLang="en-US" sz="2400" b="1" dirty="0"/>
              <a:t>(1) 不良交易记录</a:t>
            </a:r>
            <a:endParaRPr lang="en-US" altLang="zh-CN" sz="2400" b="1" dirty="0"/>
          </a:p>
          <a:p>
            <a:pPr marL="342900" indent="-342900">
              <a:lnSpc>
                <a:spcPct val="130000"/>
              </a:lnSpc>
              <a:buFont typeface="Wingdings" panose="05000000000000000000" pitchFamily="2" charset="2"/>
              <a:buChar char="Ø"/>
            </a:pPr>
            <a:r>
              <a:rPr lang="zh-CN" altLang="en-US" sz="2400" dirty="0"/>
              <a:t>企业在出售产品之后，由于质量等原因遭到消费者退货，就会有负数发票的记录，负数发票过多可能说明该企业的产品有质量问题。企业的交易因故中断就会留下作废发票的记录。甚至有一些企业通过违规作废发票的手段偷税漏税被税务局稽查和罚款。负数发票和作废发票都被认为是不良的交易记录。我们用不良交易金额占该企业总交易金额的占比来衡量不良交易记录的水平。</a:t>
            </a:r>
            <a:endParaRPr lang="en-US" altLang="zh-CN" sz="2400" dirty="0"/>
          </a:p>
          <a:p>
            <a:pPr>
              <a:lnSpc>
                <a:spcPct val="130000"/>
              </a:lnSpc>
            </a:pPr>
            <a:r>
              <a:rPr lang="zh-CN" altLang="en-US" sz="2400" b="1" dirty="0"/>
              <a:t>(2) 企业规模</a:t>
            </a:r>
            <a:endParaRPr lang="en-US" altLang="zh-CN" sz="2400" b="1" dirty="0"/>
          </a:p>
          <a:p>
            <a:pPr marL="342900" indent="-342900">
              <a:lnSpc>
                <a:spcPct val="130000"/>
              </a:lnSpc>
              <a:buFont typeface="Wingdings" panose="05000000000000000000" pitchFamily="2" charset="2"/>
              <a:buChar char="Ø"/>
            </a:pPr>
            <a:r>
              <a:rPr lang="zh-CN" altLang="en-US" sz="2400" dirty="0"/>
              <a:t>用其进项发票金额和销项发票金额之和来表现企业的规模。</a:t>
            </a:r>
            <a:endParaRPr lang="en-US" altLang="zh-CN" sz="2400" dirty="0"/>
          </a:p>
          <a:p>
            <a:pPr>
              <a:lnSpc>
                <a:spcPct val="130000"/>
              </a:lnSpc>
            </a:pPr>
            <a:r>
              <a:rPr lang="zh-CN" altLang="en-US" sz="2400" b="1" dirty="0"/>
              <a:t>(3) 利润率</a:t>
            </a:r>
            <a:endParaRPr lang="en-US" altLang="zh-CN" sz="2400" b="1" dirty="0"/>
          </a:p>
          <a:p>
            <a:pPr marL="342900" indent="-342900">
              <a:lnSpc>
                <a:spcPct val="130000"/>
              </a:lnSpc>
              <a:buFont typeface="Wingdings" panose="05000000000000000000" pitchFamily="2" charset="2"/>
              <a:buChar char="Ø"/>
            </a:pPr>
            <a:r>
              <a:rPr lang="zh-CN" altLang="en-US" sz="2400" dirty="0"/>
              <a:t>利润率是衡量企业盈利能力的重要指标，往往被银行风险评估部门所看重。利润率</a:t>
            </a:r>
            <a:r>
              <a:rPr lang="en-US" altLang="zh-CN" sz="2400" dirty="0"/>
              <a:t>=(</a:t>
            </a:r>
            <a:r>
              <a:rPr lang="zh-CN" altLang="en-US" sz="2400" dirty="0"/>
              <a:t>销项发票金额</a:t>
            </a:r>
            <a:r>
              <a:rPr lang="en-US" altLang="zh-CN" sz="2400" dirty="0"/>
              <a:t>-</a:t>
            </a:r>
            <a:r>
              <a:rPr lang="zh-CN" altLang="en-US" sz="2400" dirty="0"/>
              <a:t>进项发票金额</a:t>
            </a:r>
            <a:r>
              <a:rPr lang="en-US" altLang="zh-CN" sz="2400" dirty="0"/>
              <a:t>)/</a:t>
            </a:r>
            <a:r>
              <a:rPr lang="zh-CN" altLang="en-US" sz="2400" dirty="0"/>
              <a:t>销项发票金额</a:t>
            </a:r>
            <a:endParaRPr lang="en-US" altLang="zh-CN" sz="2400" dirty="0"/>
          </a:p>
        </p:txBody>
      </p:sp>
      <p:sp>
        <p:nvSpPr>
          <p:cNvPr id="5" name="Rectangle 4">
            <a:extLst>
              <a:ext uri="{FF2B5EF4-FFF2-40B4-BE49-F238E27FC236}">
                <a16:creationId xmlns:a16="http://schemas.microsoft.com/office/drawing/2014/main" id="{1FEB2F45-6010-45A5-AC56-2AB653CB3ECF}"/>
              </a:ext>
            </a:extLst>
          </p:cNvPr>
          <p:cNvSpPr/>
          <p:nvPr/>
        </p:nvSpPr>
        <p:spPr>
          <a:xfrm>
            <a:off x="517025" y="539234"/>
            <a:ext cx="1210588" cy="400110"/>
          </a:xfrm>
          <a:prstGeom prst="rect">
            <a:avLst/>
          </a:prstGeom>
        </p:spPr>
        <p:txBody>
          <a:bodyPr wrap="none">
            <a:spAutoFit/>
          </a:bodyPr>
          <a:lstStyle/>
          <a:p>
            <a:r>
              <a:rPr lang="zh-CN" altLang="en-US" sz="2000" b="1" dirty="0">
                <a:solidFill>
                  <a:srgbClr val="FF0000"/>
                </a:solidFill>
              </a:rPr>
              <a:t>指标提取</a:t>
            </a:r>
            <a:endParaRPr lang="en-US" altLang="zh-CN" sz="2000" b="1" dirty="0">
              <a:solidFill>
                <a:srgbClr val="FF0000"/>
              </a:solidFill>
            </a:endParaRPr>
          </a:p>
        </p:txBody>
      </p:sp>
    </p:spTree>
    <p:extLst>
      <p:ext uri="{BB962C8B-B14F-4D97-AF65-F5344CB8AC3E}">
        <p14:creationId xmlns:p14="http://schemas.microsoft.com/office/powerpoint/2010/main" val="38130836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27A788-59A1-4F3D-B075-A61F74005443}"/>
              </a:ext>
            </a:extLst>
          </p:cNvPr>
          <p:cNvSpPr/>
          <p:nvPr/>
        </p:nvSpPr>
        <p:spPr>
          <a:xfrm>
            <a:off x="616724" y="1175940"/>
            <a:ext cx="10701453" cy="5326330"/>
          </a:xfrm>
          <a:prstGeom prst="rect">
            <a:avLst/>
          </a:prstGeom>
        </p:spPr>
        <p:txBody>
          <a:bodyPr wrap="square">
            <a:spAutoFit/>
          </a:bodyPr>
          <a:lstStyle/>
          <a:p>
            <a:pPr>
              <a:lnSpc>
                <a:spcPct val="130000"/>
              </a:lnSpc>
            </a:pPr>
            <a:r>
              <a:rPr lang="en-US" altLang="zh-CN" sz="2400" b="1" dirty="0"/>
              <a:t>(4)</a:t>
            </a:r>
            <a:r>
              <a:rPr lang="zh-CN" altLang="en-US" sz="2400" b="1" dirty="0"/>
              <a:t>年利润增长率</a:t>
            </a:r>
            <a:endParaRPr lang="en-US" altLang="zh-CN" sz="2400" b="1" dirty="0"/>
          </a:p>
          <a:p>
            <a:pPr marL="342900" indent="-342900">
              <a:lnSpc>
                <a:spcPct val="130000"/>
              </a:lnSpc>
              <a:buFont typeface="Wingdings" panose="05000000000000000000" pitchFamily="2" charset="2"/>
              <a:buChar char="Ø"/>
            </a:pPr>
            <a:r>
              <a:rPr lang="zh-CN" altLang="en-US" sz="2400" dirty="0"/>
              <a:t>在使用利润率反映企业盈利能力后，我们使用企业年利润率的增长率来表现其成长能力。</a:t>
            </a:r>
            <a:endParaRPr lang="en-US" altLang="zh-CN" sz="2400" dirty="0"/>
          </a:p>
          <a:p>
            <a:pPr algn="ctr">
              <a:lnSpc>
                <a:spcPct val="130000"/>
              </a:lnSpc>
            </a:pPr>
            <a:r>
              <a:rPr lang="zh-CN" altLang="en-US" sz="2400" dirty="0"/>
              <a:t>年利润增长率=（2019年利润率-2018年利润率）</a:t>
            </a:r>
            <a:r>
              <a:rPr lang="en-US" altLang="zh-CN" sz="2400" dirty="0"/>
              <a:t>/</a:t>
            </a:r>
            <a:r>
              <a:rPr lang="zh-CN" altLang="en-US" sz="2400" dirty="0"/>
              <a:t> 2018年利润率</a:t>
            </a:r>
            <a:endParaRPr lang="en-US" altLang="zh-CN" sz="2400" dirty="0"/>
          </a:p>
          <a:p>
            <a:pPr>
              <a:lnSpc>
                <a:spcPct val="130000"/>
              </a:lnSpc>
            </a:pPr>
            <a:r>
              <a:rPr lang="zh-CN" altLang="en-US" sz="2400" b="1" dirty="0"/>
              <a:t>(5)纳税能力</a:t>
            </a:r>
            <a:endParaRPr lang="en-US" altLang="zh-CN" sz="2400" b="1" dirty="0"/>
          </a:p>
          <a:p>
            <a:pPr marL="342900" indent="-342900">
              <a:lnSpc>
                <a:spcPct val="130000"/>
              </a:lnSpc>
              <a:buFont typeface="Wingdings" panose="05000000000000000000" pitchFamily="2" charset="2"/>
              <a:buChar char="Ø"/>
            </a:pPr>
            <a:r>
              <a:rPr lang="zh-CN" altLang="en-US" sz="2400" dirty="0"/>
              <a:t>我们通过企业的销项税额和进项税额之差描述其纳税能力。</a:t>
            </a:r>
            <a:endParaRPr lang="en-US" altLang="zh-CN" sz="2400" dirty="0"/>
          </a:p>
          <a:p>
            <a:pPr>
              <a:lnSpc>
                <a:spcPct val="130000"/>
              </a:lnSpc>
            </a:pPr>
            <a:r>
              <a:rPr lang="zh-CN" altLang="en-US" sz="2400" b="1" dirty="0"/>
              <a:t>(6)供求稳定性</a:t>
            </a:r>
            <a:endParaRPr lang="en-US" altLang="zh-CN" sz="2400" b="1" dirty="0"/>
          </a:p>
          <a:p>
            <a:pPr marL="342900" indent="-342900">
              <a:lnSpc>
                <a:spcPct val="130000"/>
              </a:lnSpc>
              <a:buFont typeface="Wingdings" panose="05000000000000000000" pitchFamily="2" charset="2"/>
              <a:buChar char="Ø"/>
            </a:pPr>
            <a:r>
              <a:rPr lang="zh-CN" altLang="en-US" sz="2400" dirty="0"/>
              <a:t>这是题干中提到的评价指标。我们使用“只出现一次的客户的频率之和”来界定各企业的供求稳定性。我们通过对销方单位代号及购方单位代号的频次进行分析 ，以“出现频次大于1”区分常客与散客。该数值越大，则常客占比越高，意味着该企业的供求关系越稳定。</a:t>
            </a:r>
          </a:p>
        </p:txBody>
      </p:sp>
      <p:sp>
        <p:nvSpPr>
          <p:cNvPr id="5" name="Rectangle 4">
            <a:extLst>
              <a:ext uri="{FF2B5EF4-FFF2-40B4-BE49-F238E27FC236}">
                <a16:creationId xmlns:a16="http://schemas.microsoft.com/office/drawing/2014/main" id="{1FEB2F45-6010-45A5-AC56-2AB653CB3ECF}"/>
              </a:ext>
            </a:extLst>
          </p:cNvPr>
          <p:cNvSpPr/>
          <p:nvPr/>
        </p:nvSpPr>
        <p:spPr>
          <a:xfrm>
            <a:off x="517025" y="539234"/>
            <a:ext cx="1210588" cy="400110"/>
          </a:xfrm>
          <a:prstGeom prst="rect">
            <a:avLst/>
          </a:prstGeom>
        </p:spPr>
        <p:txBody>
          <a:bodyPr wrap="none">
            <a:spAutoFit/>
          </a:bodyPr>
          <a:lstStyle/>
          <a:p>
            <a:r>
              <a:rPr lang="zh-CN" altLang="en-US" sz="2000" b="1" dirty="0">
                <a:solidFill>
                  <a:srgbClr val="FF0000"/>
                </a:solidFill>
              </a:rPr>
              <a:t>指标提取</a:t>
            </a:r>
            <a:endParaRPr lang="en-US" altLang="zh-CN" sz="2000" b="1" dirty="0">
              <a:solidFill>
                <a:srgbClr val="FF0000"/>
              </a:solidFill>
            </a:endParaRPr>
          </a:p>
        </p:txBody>
      </p:sp>
    </p:spTree>
    <p:extLst>
      <p:ext uri="{BB962C8B-B14F-4D97-AF65-F5344CB8AC3E}">
        <p14:creationId xmlns:p14="http://schemas.microsoft.com/office/powerpoint/2010/main" val="27765312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63A823-1E03-4DCD-8F02-6A3EEDBFC6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85"/>
            <a:ext cx="12192000" cy="6860770"/>
          </a:xfrm>
          <a:prstGeom prst="rect">
            <a:avLst/>
          </a:prstGeom>
        </p:spPr>
      </p:pic>
      <p:sp>
        <p:nvSpPr>
          <p:cNvPr id="2" name="TextBox 1">
            <a:extLst>
              <a:ext uri="{FF2B5EF4-FFF2-40B4-BE49-F238E27FC236}">
                <a16:creationId xmlns:a16="http://schemas.microsoft.com/office/drawing/2014/main" id="{47F89170-56CE-46D1-BE01-73ACEBC84E0E}"/>
              </a:ext>
            </a:extLst>
          </p:cNvPr>
          <p:cNvSpPr txBox="1"/>
          <p:nvPr/>
        </p:nvSpPr>
        <p:spPr>
          <a:xfrm>
            <a:off x="2662767" y="935567"/>
            <a:ext cx="1338828" cy="369332"/>
          </a:xfrm>
          <a:prstGeom prst="rect">
            <a:avLst/>
          </a:prstGeom>
          <a:noFill/>
        </p:spPr>
        <p:txBody>
          <a:bodyPr wrap="none" rtlCol="0">
            <a:spAutoFit/>
          </a:bodyPr>
          <a:lstStyle/>
          <a:p>
            <a:r>
              <a:rPr lang="zh-CN" altLang="en-US" b="1" dirty="0"/>
              <a:t>标准化处理</a:t>
            </a:r>
          </a:p>
        </p:txBody>
      </p:sp>
      <p:sp>
        <p:nvSpPr>
          <p:cNvPr id="4" name="矩形 3">
            <a:hlinkClick r:id="rId4" action="ppaction://hlinksldjump"/>
            <a:extLst>
              <a:ext uri="{FF2B5EF4-FFF2-40B4-BE49-F238E27FC236}">
                <a16:creationId xmlns:a16="http://schemas.microsoft.com/office/drawing/2014/main" id="{24D35800-C480-7227-4E20-C842307EBE97}"/>
              </a:ext>
            </a:extLst>
          </p:cNvPr>
          <p:cNvSpPr/>
          <p:nvPr/>
        </p:nvSpPr>
        <p:spPr>
          <a:xfrm>
            <a:off x="812800" y="4079240"/>
            <a:ext cx="2349500" cy="59436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109091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6D49FB2-6580-57E7-125D-0FBF74FDAD18}"/>
              </a:ext>
            </a:extLst>
          </p:cNvPr>
          <p:cNvSpPr txBox="1"/>
          <p:nvPr/>
        </p:nvSpPr>
        <p:spPr>
          <a:xfrm>
            <a:off x="923584" y="1147391"/>
            <a:ext cx="10074616" cy="5652317"/>
          </a:xfrm>
          <a:prstGeom prst="rect">
            <a:avLst/>
          </a:prstGeom>
          <a:noFill/>
        </p:spPr>
        <p:txBody>
          <a:bodyPr wrap="square">
            <a:spAutoFit/>
          </a:bodyPr>
          <a:lstStyle/>
          <a:p>
            <a:pPr marL="285750" indent="-285750" algn="just">
              <a:lnSpc>
                <a:spcPct val="110000"/>
              </a:lnSpc>
              <a:buFont typeface="Wingdings" panose="05000000000000000000" pitchFamily="2" charset="2"/>
              <a:buChar char="Ø"/>
            </a:pPr>
            <a:r>
              <a:rPr lang="zh-CN" altLang="en-US" sz="2200" b="1" i="0" kern="1200" dirty="0">
                <a:solidFill>
                  <a:schemeClr val="tx1"/>
                </a:solidFill>
                <a:effectLst/>
                <a:latin typeface="Times New Roman" panose="02020603050405020304" pitchFamily="18" charset="0"/>
                <a:cs typeface="Times New Roman" panose="02020603050405020304" pitchFamily="18" charset="0"/>
              </a:rPr>
              <a:t>归一化</a:t>
            </a:r>
            <a:r>
              <a:rPr lang="zh-CN" altLang="en-US" sz="2200" b="0" i="0" kern="1200" dirty="0">
                <a:solidFill>
                  <a:schemeClr val="tx1"/>
                </a:solidFill>
                <a:effectLst/>
                <a:latin typeface="Times New Roman" panose="02020603050405020304" pitchFamily="18" charset="0"/>
                <a:cs typeface="Times New Roman" panose="02020603050405020304" pitchFamily="18" charset="0"/>
              </a:rPr>
              <a:t>：归一化是将样本的特征值转换到同一量纲下，把数据映射到</a:t>
            </a:r>
            <a:r>
              <a:rPr lang="en-US" altLang="zh-CN" sz="2200" b="0" i="0" kern="1200" dirty="0">
                <a:solidFill>
                  <a:schemeClr val="tx1"/>
                </a:solidFill>
                <a:effectLst/>
                <a:latin typeface="Times New Roman" panose="02020603050405020304" pitchFamily="18" charset="0"/>
                <a:cs typeface="Times New Roman" panose="02020603050405020304" pitchFamily="18" charset="0"/>
              </a:rPr>
              <a:t>[0,1]</a:t>
            </a:r>
            <a:r>
              <a:rPr lang="zh-CN" altLang="en-US" sz="2200" b="0" i="0" kern="1200" dirty="0">
                <a:solidFill>
                  <a:schemeClr val="tx1"/>
                </a:solidFill>
                <a:effectLst/>
                <a:latin typeface="Times New Roman" panose="02020603050405020304" pitchFamily="18" charset="0"/>
                <a:cs typeface="Times New Roman" panose="02020603050405020304" pitchFamily="18" charset="0"/>
              </a:rPr>
              <a:t>或者</a:t>
            </a:r>
            <a:r>
              <a:rPr lang="en-US" altLang="zh-CN" sz="2200" b="0" i="0" kern="1200" dirty="0">
                <a:solidFill>
                  <a:schemeClr val="tx1"/>
                </a:solidFill>
                <a:effectLst/>
                <a:latin typeface="Times New Roman" panose="02020603050405020304" pitchFamily="18" charset="0"/>
                <a:cs typeface="Times New Roman" panose="02020603050405020304" pitchFamily="18" charset="0"/>
              </a:rPr>
              <a:t>[-1,1]</a:t>
            </a:r>
            <a:r>
              <a:rPr lang="zh-CN" altLang="en-US" sz="2200" b="0" i="0" kern="1200" dirty="0">
                <a:solidFill>
                  <a:schemeClr val="tx1"/>
                </a:solidFill>
                <a:effectLst/>
                <a:latin typeface="Times New Roman" panose="02020603050405020304" pitchFamily="18" charset="0"/>
                <a:cs typeface="Times New Roman" panose="02020603050405020304" pitchFamily="18" charset="0"/>
              </a:rPr>
              <a:t>区间内，仅由变量的极值决定。</a:t>
            </a:r>
            <a:r>
              <a:rPr lang="zh-CN" altLang="en-US" sz="2200" b="1" i="0" kern="1200" dirty="0">
                <a:solidFill>
                  <a:schemeClr val="tx1"/>
                </a:solidFill>
                <a:effectLst/>
                <a:latin typeface="Times New Roman" panose="02020603050405020304" pitchFamily="18" charset="0"/>
                <a:cs typeface="Times New Roman" panose="02020603050405020304" pitchFamily="18" charset="0"/>
              </a:rPr>
              <a:t>适用场景</a:t>
            </a:r>
            <a:r>
              <a:rPr lang="zh-CN" altLang="en-US" sz="2200" b="0" i="0" kern="1200" dirty="0">
                <a:solidFill>
                  <a:schemeClr val="tx1"/>
                </a:solidFill>
                <a:effectLst/>
                <a:latin typeface="Times New Roman" panose="02020603050405020304" pitchFamily="18" charset="0"/>
                <a:cs typeface="Times New Roman" panose="02020603050405020304" pitchFamily="18" charset="0"/>
              </a:rPr>
              <a:t>：</a:t>
            </a:r>
            <a:endParaRPr lang="en-US" altLang="zh-CN" sz="2200" b="0" i="0" kern="1200" dirty="0">
              <a:solidFill>
                <a:schemeClr val="tx1"/>
              </a:solidFill>
              <a:effectLst/>
              <a:latin typeface="Times New Roman" panose="02020603050405020304" pitchFamily="18" charset="0"/>
              <a:cs typeface="Times New Roman" panose="02020603050405020304" pitchFamily="18" charset="0"/>
            </a:endParaRPr>
          </a:p>
          <a:p>
            <a:pPr marL="684000" indent="-285750" algn="just">
              <a:lnSpc>
                <a:spcPct val="110000"/>
              </a:lnSpc>
              <a:buFont typeface="Arial" panose="020B0604020202020204" pitchFamily="34" charset="0"/>
              <a:buChar char="•"/>
            </a:pPr>
            <a:r>
              <a:rPr lang="zh-CN" altLang="en-US" sz="2200" b="0" i="0" kern="1200" dirty="0">
                <a:solidFill>
                  <a:schemeClr val="tx1"/>
                </a:solidFill>
                <a:effectLst/>
                <a:latin typeface="Times New Roman" panose="02020603050405020304" pitchFamily="18" charset="0"/>
                <a:cs typeface="Times New Roman" panose="02020603050405020304" pitchFamily="18" charset="0"/>
              </a:rPr>
              <a:t>如果对输出结果范围有要求，用归一化。</a:t>
            </a:r>
            <a:endParaRPr lang="en-US" altLang="zh-CN" sz="2200" b="0" i="0" kern="1200" dirty="0">
              <a:solidFill>
                <a:schemeClr val="tx1"/>
              </a:solidFill>
              <a:effectLst/>
              <a:latin typeface="Times New Roman" panose="02020603050405020304" pitchFamily="18" charset="0"/>
              <a:cs typeface="Times New Roman" panose="02020603050405020304" pitchFamily="18" charset="0"/>
            </a:endParaRPr>
          </a:p>
          <a:p>
            <a:pPr marL="684000" indent="-285750" algn="just">
              <a:lnSpc>
                <a:spcPct val="110000"/>
              </a:lnSpc>
              <a:buFont typeface="Arial" panose="020B0604020202020204" pitchFamily="34" charset="0"/>
              <a:buChar char="•"/>
            </a:pPr>
            <a:r>
              <a:rPr lang="zh-CN" altLang="en-US" sz="2200" b="0" i="0" kern="1200" dirty="0">
                <a:solidFill>
                  <a:schemeClr val="tx1"/>
                </a:solidFill>
                <a:effectLst/>
                <a:latin typeface="Times New Roman" panose="02020603050405020304" pitchFamily="18" charset="0"/>
                <a:cs typeface="Times New Roman" panose="02020603050405020304" pitchFamily="18" charset="0"/>
              </a:rPr>
              <a:t>如果数据较为稳定，不存在极端的最大最小值，用归一化。</a:t>
            </a:r>
            <a:endParaRPr lang="en-US" altLang="zh-CN" sz="2200" b="0" i="0" kern="1200" dirty="0">
              <a:solidFill>
                <a:schemeClr val="tx1"/>
              </a:solidFill>
              <a:effectLst/>
              <a:latin typeface="Times New Roman" panose="02020603050405020304" pitchFamily="18" charset="0"/>
              <a:cs typeface="Times New Roman" panose="02020603050405020304" pitchFamily="18" charset="0"/>
            </a:endParaRPr>
          </a:p>
          <a:p>
            <a:pPr marL="684000" indent="-285750" algn="just">
              <a:lnSpc>
                <a:spcPct val="110000"/>
              </a:lnSpc>
              <a:buFont typeface="Arial" panose="020B0604020202020204" pitchFamily="34" charset="0"/>
              <a:buChar char="•"/>
            </a:pPr>
            <a:r>
              <a:rPr lang="zh-CN" altLang="en-US" sz="2200" b="0" i="0" kern="1200" dirty="0">
                <a:solidFill>
                  <a:schemeClr val="tx1"/>
                </a:solidFill>
                <a:effectLst/>
                <a:latin typeface="Times New Roman" panose="02020603050405020304" pitchFamily="18" charset="0"/>
                <a:cs typeface="Times New Roman" panose="02020603050405020304" pitchFamily="18" charset="0"/>
              </a:rPr>
              <a:t>如果数据集小而稳定，可以选择归一化。</a:t>
            </a:r>
            <a:endParaRPr lang="en-US" altLang="zh-CN" sz="2200" b="0" i="0" kern="1200" dirty="0">
              <a:solidFill>
                <a:schemeClr val="tx1"/>
              </a:solidFill>
              <a:effectLst/>
              <a:latin typeface="Times New Roman" panose="02020603050405020304" pitchFamily="18" charset="0"/>
              <a:cs typeface="Times New Roman" panose="02020603050405020304" pitchFamily="18" charset="0"/>
            </a:endParaRPr>
          </a:p>
          <a:p>
            <a:pPr marL="285750" indent="-285750" algn="just">
              <a:lnSpc>
                <a:spcPct val="110000"/>
              </a:lnSpc>
              <a:buFont typeface="Wingdings" panose="05000000000000000000" pitchFamily="2" charset="2"/>
              <a:buChar char="Ø"/>
            </a:pPr>
            <a:r>
              <a:rPr lang="zh-CN" altLang="en-US" sz="2200" b="1" dirty="0">
                <a:latin typeface="Times New Roman" panose="02020603050405020304" pitchFamily="18" charset="0"/>
                <a:cs typeface="Times New Roman" panose="02020603050405020304" pitchFamily="18" charset="0"/>
              </a:rPr>
              <a:t>标准化</a:t>
            </a:r>
            <a:r>
              <a:rPr lang="zh-CN" altLang="en-US" sz="2200" dirty="0">
                <a:latin typeface="Times New Roman" panose="02020603050405020304" pitchFamily="18" charset="0"/>
                <a:cs typeface="Times New Roman" panose="02020603050405020304" pitchFamily="18" charset="0"/>
              </a:rPr>
              <a:t>：标准化是依照特征矩阵的列处理数据，其通过求</a:t>
            </a:r>
            <a:r>
              <a:rPr lang="en-US" altLang="zh-CN" sz="2200" dirty="0">
                <a:latin typeface="Times New Roman" panose="02020603050405020304" pitchFamily="18" charset="0"/>
                <a:cs typeface="Times New Roman" panose="02020603050405020304" pitchFamily="18" charset="0"/>
              </a:rPr>
              <a:t>z-score</a:t>
            </a:r>
            <a:r>
              <a:rPr lang="zh-CN" altLang="en-US" sz="2200" dirty="0">
                <a:latin typeface="Times New Roman" panose="02020603050405020304" pitchFamily="18" charset="0"/>
                <a:cs typeface="Times New Roman" panose="02020603050405020304" pitchFamily="18" charset="0"/>
              </a:rPr>
              <a:t>的方法，转换为标准正态分布，和整体样本分布相关，每个样本点都能对标准化产生影响。</a:t>
            </a:r>
            <a:endParaRPr lang="en-US" altLang="zh-CN" sz="2200" dirty="0">
              <a:latin typeface="Times New Roman" panose="02020603050405020304" pitchFamily="18" charset="0"/>
              <a:cs typeface="Times New Roman" panose="02020603050405020304" pitchFamily="18" charset="0"/>
            </a:endParaRPr>
          </a:p>
          <a:p>
            <a:pPr marL="285750" indent="-285750" algn="just">
              <a:lnSpc>
                <a:spcPct val="110000"/>
              </a:lnSpc>
              <a:buFont typeface="Wingdings" panose="05000000000000000000" pitchFamily="2" charset="2"/>
              <a:buChar char="Ø"/>
            </a:pPr>
            <a:r>
              <a:rPr lang="zh-CN" altLang="en-US" sz="2200" b="1" i="0" kern="1200" dirty="0">
                <a:solidFill>
                  <a:schemeClr val="tx1"/>
                </a:solidFill>
                <a:effectLst/>
                <a:latin typeface="Times New Roman" panose="02020603050405020304" pitchFamily="18" charset="0"/>
                <a:cs typeface="Times New Roman" panose="02020603050405020304" pitchFamily="18" charset="0"/>
              </a:rPr>
              <a:t>适用场景</a:t>
            </a:r>
            <a:r>
              <a:rPr lang="zh-CN" altLang="en-US" sz="2200" b="0" i="0" kern="1200" dirty="0">
                <a:solidFill>
                  <a:schemeClr val="tx1"/>
                </a:solidFill>
                <a:effectLst/>
                <a:latin typeface="Times New Roman" panose="02020603050405020304" pitchFamily="18" charset="0"/>
                <a:cs typeface="Times New Roman" panose="02020603050405020304" pitchFamily="18" charset="0"/>
              </a:rPr>
              <a:t>：</a:t>
            </a:r>
            <a:endParaRPr lang="en-US" altLang="zh-CN" sz="2200" b="0" i="0" kern="1200" dirty="0">
              <a:solidFill>
                <a:schemeClr val="tx1"/>
              </a:solidFill>
              <a:effectLst/>
              <a:latin typeface="Times New Roman" panose="02020603050405020304" pitchFamily="18" charset="0"/>
              <a:cs typeface="Times New Roman" panose="02020603050405020304" pitchFamily="18" charset="0"/>
            </a:endParaRPr>
          </a:p>
          <a:p>
            <a:pPr marL="684000" indent="-285750" algn="just">
              <a:lnSpc>
                <a:spcPct val="110000"/>
              </a:lnSpc>
              <a:buFont typeface="Arial" panose="020B0604020202020204" pitchFamily="34" charset="0"/>
              <a:buChar char="•"/>
            </a:pPr>
            <a:r>
              <a:rPr lang="zh-CN" altLang="en-US" sz="2200" b="0" i="0" kern="1200" dirty="0">
                <a:solidFill>
                  <a:schemeClr val="tx1"/>
                </a:solidFill>
                <a:effectLst/>
                <a:latin typeface="Times New Roman" panose="02020603050405020304" pitchFamily="18" charset="0"/>
                <a:cs typeface="Times New Roman" panose="02020603050405020304" pitchFamily="18" charset="0"/>
              </a:rPr>
              <a:t>如果数据存在异常值和较多噪音，用标准化，可以间接通过中心化避免异常值和极端值的影响。</a:t>
            </a:r>
            <a:endParaRPr lang="en-US" altLang="zh-CN" sz="2200" b="0" i="0" kern="1200" dirty="0">
              <a:solidFill>
                <a:schemeClr val="tx1"/>
              </a:solidFill>
              <a:effectLst/>
              <a:latin typeface="Times New Roman" panose="02020603050405020304" pitchFamily="18" charset="0"/>
              <a:cs typeface="Times New Roman" panose="02020603050405020304" pitchFamily="18" charset="0"/>
            </a:endParaRPr>
          </a:p>
          <a:p>
            <a:pPr marL="684000" indent="-285750" algn="just">
              <a:lnSpc>
                <a:spcPct val="110000"/>
              </a:lnSpc>
              <a:buFont typeface="Arial" panose="020B0604020202020204" pitchFamily="34" charset="0"/>
              <a:buChar char="•"/>
            </a:pPr>
            <a:r>
              <a:rPr lang="zh-CN" altLang="en-US" sz="2200" b="0" i="0" kern="1200" dirty="0">
                <a:solidFill>
                  <a:schemeClr val="tx1"/>
                </a:solidFill>
                <a:effectLst/>
                <a:latin typeface="Times New Roman" panose="02020603050405020304" pitchFamily="18" charset="0"/>
                <a:cs typeface="Times New Roman" panose="02020603050405020304" pitchFamily="18" charset="0"/>
              </a:rPr>
              <a:t>如果需要消除不同特征之间的量纲差异，降低噪声和异常值的影响，使数据更加稳定，用标准化。</a:t>
            </a:r>
            <a:endParaRPr lang="en-US" altLang="zh-CN" sz="2200" dirty="0">
              <a:latin typeface="Times New Roman" panose="02020603050405020304" pitchFamily="18" charset="0"/>
              <a:cs typeface="Times New Roman" panose="02020603050405020304" pitchFamily="18" charset="0"/>
            </a:endParaRPr>
          </a:p>
          <a:p>
            <a:pPr marL="284400" indent="-284400" algn="just">
              <a:lnSpc>
                <a:spcPct val="110000"/>
              </a:lnSpc>
              <a:buFont typeface="Wingdings" panose="05000000000000000000" pitchFamily="2" charset="2"/>
              <a:buChar char="Ø"/>
            </a:pPr>
            <a:r>
              <a:rPr lang="zh-CN" altLang="en-US" sz="2200" b="1" dirty="0">
                <a:latin typeface="Times New Roman" panose="02020603050405020304" pitchFamily="18" charset="0"/>
                <a:cs typeface="Times New Roman" panose="02020603050405020304" pitchFamily="18" charset="0"/>
              </a:rPr>
              <a:t>归一化和标准化的相同点都是对某个特征进行缩放而不是对某个样本的特征向量进行缩放，都能取消由于量纲不同引起的误差；都是一种线性变换，都是对向量</a:t>
            </a:r>
            <a:r>
              <a:rPr lang="en-US" altLang="zh-CN" sz="2200" b="1" dirty="0">
                <a:latin typeface="Times New Roman" panose="02020603050405020304" pitchFamily="18" charset="0"/>
                <a:cs typeface="Times New Roman" panose="02020603050405020304" pitchFamily="18" charset="0"/>
              </a:rPr>
              <a:t>X</a:t>
            </a:r>
            <a:r>
              <a:rPr lang="zh-CN" altLang="en-US" sz="2200" b="1" dirty="0">
                <a:latin typeface="Times New Roman" panose="02020603050405020304" pitchFamily="18" charset="0"/>
                <a:cs typeface="Times New Roman" panose="02020603050405020304" pitchFamily="18" charset="0"/>
              </a:rPr>
              <a:t>按照比例压缩再进行平移。</a:t>
            </a:r>
            <a:endParaRPr lang="zh-CN" altLang="en-US" sz="2200" b="0" i="0" kern="1200" dirty="0">
              <a:solidFill>
                <a:schemeClr val="tx1"/>
              </a:solidFill>
              <a:effectLst/>
              <a:latin typeface="Times New Roman" panose="02020603050405020304" pitchFamily="18" charset="0"/>
              <a:cs typeface="Times New Roman" panose="02020603050405020304" pitchFamily="18" charset="0"/>
            </a:endParaRPr>
          </a:p>
        </p:txBody>
      </p:sp>
      <p:sp>
        <p:nvSpPr>
          <p:cNvPr id="4" name="Rectangle 4">
            <a:extLst>
              <a:ext uri="{FF2B5EF4-FFF2-40B4-BE49-F238E27FC236}">
                <a16:creationId xmlns:a16="http://schemas.microsoft.com/office/drawing/2014/main" id="{CF23D3C5-DF2E-1F87-1A56-8295EDA8CA0E}"/>
              </a:ext>
            </a:extLst>
          </p:cNvPr>
          <p:cNvSpPr/>
          <p:nvPr/>
        </p:nvSpPr>
        <p:spPr>
          <a:xfrm>
            <a:off x="517025" y="539234"/>
            <a:ext cx="2749471" cy="400110"/>
          </a:xfrm>
          <a:prstGeom prst="rect">
            <a:avLst/>
          </a:prstGeom>
        </p:spPr>
        <p:txBody>
          <a:bodyPr wrap="none">
            <a:spAutoFit/>
          </a:bodyPr>
          <a:lstStyle/>
          <a:p>
            <a:r>
              <a:rPr lang="zh-CN" altLang="en-US" sz="2000" b="1" dirty="0">
                <a:solidFill>
                  <a:srgbClr val="FF0000"/>
                </a:solidFill>
              </a:rPr>
              <a:t>标准化与归一化的区别</a:t>
            </a:r>
            <a:endParaRPr lang="en-US" altLang="zh-CN" sz="2000" b="1" dirty="0">
              <a:solidFill>
                <a:srgbClr val="FF0000"/>
              </a:solidFill>
            </a:endParaRPr>
          </a:p>
        </p:txBody>
      </p:sp>
    </p:spTree>
    <p:extLst>
      <p:ext uri="{BB962C8B-B14F-4D97-AF65-F5344CB8AC3E}">
        <p14:creationId xmlns:p14="http://schemas.microsoft.com/office/powerpoint/2010/main" val="16469886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AEA441-68A2-4A1E-8482-3CDE69834B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85"/>
            <a:ext cx="12192000" cy="6860770"/>
          </a:xfrm>
          <a:prstGeom prst="rect">
            <a:avLst/>
          </a:prstGeom>
        </p:spPr>
      </p:pic>
      <p:sp>
        <p:nvSpPr>
          <p:cNvPr id="2" name="TextBox 1">
            <a:extLst>
              <a:ext uri="{FF2B5EF4-FFF2-40B4-BE49-F238E27FC236}">
                <a16:creationId xmlns:a16="http://schemas.microsoft.com/office/drawing/2014/main" id="{B6FA4438-5B3D-4242-8146-C99E9CA87742}"/>
              </a:ext>
            </a:extLst>
          </p:cNvPr>
          <p:cNvSpPr txBox="1"/>
          <p:nvPr/>
        </p:nvSpPr>
        <p:spPr>
          <a:xfrm>
            <a:off x="363221" y="3177540"/>
            <a:ext cx="1211580" cy="923330"/>
          </a:xfrm>
          <a:prstGeom prst="rect">
            <a:avLst/>
          </a:prstGeom>
          <a:noFill/>
        </p:spPr>
        <p:txBody>
          <a:bodyPr wrap="square" rtlCol="0">
            <a:spAutoFit/>
          </a:bodyPr>
          <a:lstStyle/>
          <a:p>
            <a:r>
              <a:rPr lang="zh-CN" altLang="en-US" b="1" dirty="0"/>
              <a:t>注：也可用熵权法确定权重</a:t>
            </a:r>
          </a:p>
        </p:txBody>
      </p:sp>
    </p:spTree>
    <p:extLst>
      <p:ext uri="{BB962C8B-B14F-4D97-AF65-F5344CB8AC3E}">
        <p14:creationId xmlns:p14="http://schemas.microsoft.com/office/powerpoint/2010/main" val="18084595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624E5E-AC3A-499A-9747-E5E28F3F0E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85"/>
            <a:ext cx="12192000" cy="6860770"/>
          </a:xfrm>
          <a:prstGeom prst="rect">
            <a:avLst/>
          </a:prstGeom>
        </p:spPr>
      </p:pic>
    </p:spTree>
    <p:extLst>
      <p:ext uri="{BB962C8B-B14F-4D97-AF65-F5344CB8AC3E}">
        <p14:creationId xmlns:p14="http://schemas.microsoft.com/office/powerpoint/2010/main" val="39089192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044C7E-F99C-409C-A7CC-6235232692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85"/>
            <a:ext cx="12192000" cy="6860770"/>
          </a:xfrm>
          <a:prstGeom prst="rect">
            <a:avLst/>
          </a:prstGeom>
        </p:spPr>
      </p:pic>
      <p:sp>
        <p:nvSpPr>
          <p:cNvPr id="2" name="TextBox 1">
            <a:extLst>
              <a:ext uri="{FF2B5EF4-FFF2-40B4-BE49-F238E27FC236}">
                <a16:creationId xmlns:a16="http://schemas.microsoft.com/office/drawing/2014/main" id="{EDA421DF-DD4D-444D-B0E1-A28778CD3669}"/>
              </a:ext>
            </a:extLst>
          </p:cNvPr>
          <p:cNvSpPr txBox="1"/>
          <p:nvPr/>
        </p:nvSpPr>
        <p:spPr>
          <a:xfrm>
            <a:off x="9373771" y="5903323"/>
            <a:ext cx="1980029" cy="400110"/>
          </a:xfrm>
          <a:prstGeom prst="rect">
            <a:avLst/>
          </a:prstGeom>
          <a:noFill/>
        </p:spPr>
        <p:txBody>
          <a:bodyPr wrap="none" rtlCol="0">
            <a:spAutoFit/>
          </a:bodyPr>
          <a:lstStyle/>
          <a:p>
            <a:r>
              <a:rPr lang="zh-CN" altLang="en-US" sz="2000" b="1">
                <a:solidFill>
                  <a:srgbClr val="FF0000"/>
                </a:solidFill>
              </a:rPr>
              <a:t>机理建模！！！</a:t>
            </a:r>
            <a:endParaRPr lang="zh-CN" altLang="en-US" sz="2000" b="1" dirty="0">
              <a:solidFill>
                <a:srgbClr val="FF0000"/>
              </a:solidFill>
            </a:endParaRPr>
          </a:p>
        </p:txBody>
      </p:sp>
      <p:sp>
        <p:nvSpPr>
          <p:cNvPr id="4" name="Arrow: Right 3">
            <a:extLst>
              <a:ext uri="{FF2B5EF4-FFF2-40B4-BE49-F238E27FC236}">
                <a16:creationId xmlns:a16="http://schemas.microsoft.com/office/drawing/2014/main" id="{BE4019F8-9720-4532-B77C-97A7F76CC8ED}"/>
              </a:ext>
            </a:extLst>
          </p:cNvPr>
          <p:cNvSpPr/>
          <p:nvPr/>
        </p:nvSpPr>
        <p:spPr>
          <a:xfrm flipH="1">
            <a:off x="8771467" y="5952067"/>
            <a:ext cx="516466" cy="338666"/>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04768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F1684A-4EEF-4FF3-8837-F8C6E2BBDCC6}"/>
              </a:ext>
            </a:extLst>
          </p:cNvPr>
          <p:cNvPicPr>
            <a:picLocks noChangeAspect="1"/>
          </p:cNvPicPr>
          <p:nvPr/>
        </p:nvPicPr>
        <p:blipFill>
          <a:blip r:embed="rId3"/>
          <a:stretch>
            <a:fillRect/>
          </a:stretch>
        </p:blipFill>
        <p:spPr>
          <a:xfrm>
            <a:off x="2462" y="0"/>
            <a:ext cx="12187076" cy="6858000"/>
          </a:xfrm>
          <a:prstGeom prst="rect">
            <a:avLst/>
          </a:prstGeom>
        </p:spPr>
      </p:pic>
    </p:spTree>
    <p:extLst>
      <p:ext uri="{BB962C8B-B14F-4D97-AF65-F5344CB8AC3E}">
        <p14:creationId xmlns:p14="http://schemas.microsoft.com/office/powerpoint/2010/main" val="6258166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E13C50-83EC-4F00-BA4C-9AA69237D0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85"/>
            <a:ext cx="12192000" cy="6860770"/>
          </a:xfrm>
          <a:prstGeom prst="rect">
            <a:avLst/>
          </a:prstGeom>
        </p:spPr>
      </p:pic>
    </p:spTree>
    <p:extLst>
      <p:ext uri="{BB962C8B-B14F-4D97-AF65-F5344CB8AC3E}">
        <p14:creationId xmlns:p14="http://schemas.microsoft.com/office/powerpoint/2010/main" val="16505583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B89533-8A06-4F07-BAD3-7004035C4CA9}"/>
              </a:ext>
            </a:extLst>
          </p:cNvPr>
          <p:cNvPicPr>
            <a:picLocks noChangeAspect="1"/>
          </p:cNvPicPr>
          <p:nvPr/>
        </p:nvPicPr>
        <p:blipFill>
          <a:blip r:embed="rId2"/>
          <a:stretch>
            <a:fillRect/>
          </a:stretch>
        </p:blipFill>
        <p:spPr>
          <a:xfrm>
            <a:off x="229762" y="343133"/>
            <a:ext cx="6102755" cy="3420000"/>
          </a:xfrm>
          <a:prstGeom prst="rect">
            <a:avLst/>
          </a:prstGeom>
        </p:spPr>
      </p:pic>
      <p:pic>
        <p:nvPicPr>
          <p:cNvPr id="5" name="Picture 4">
            <a:extLst>
              <a:ext uri="{FF2B5EF4-FFF2-40B4-BE49-F238E27FC236}">
                <a16:creationId xmlns:a16="http://schemas.microsoft.com/office/drawing/2014/main" id="{03A8089A-03EE-45C7-B725-315C35F6A00A}"/>
              </a:ext>
            </a:extLst>
          </p:cNvPr>
          <p:cNvPicPr>
            <a:picLocks noChangeAspect="1"/>
          </p:cNvPicPr>
          <p:nvPr/>
        </p:nvPicPr>
        <p:blipFill>
          <a:blip r:embed="rId3"/>
          <a:stretch>
            <a:fillRect/>
          </a:stretch>
        </p:blipFill>
        <p:spPr>
          <a:xfrm>
            <a:off x="6797811" y="318891"/>
            <a:ext cx="4812647" cy="3420000"/>
          </a:xfrm>
          <a:prstGeom prst="rect">
            <a:avLst/>
          </a:prstGeom>
        </p:spPr>
      </p:pic>
      <p:pic>
        <p:nvPicPr>
          <p:cNvPr id="6" name="Picture 5">
            <a:extLst>
              <a:ext uri="{FF2B5EF4-FFF2-40B4-BE49-F238E27FC236}">
                <a16:creationId xmlns:a16="http://schemas.microsoft.com/office/drawing/2014/main" id="{7142ED28-3204-4AEA-9315-E971887BAAC1}"/>
              </a:ext>
            </a:extLst>
          </p:cNvPr>
          <p:cNvPicPr>
            <a:picLocks noChangeAspect="1"/>
          </p:cNvPicPr>
          <p:nvPr/>
        </p:nvPicPr>
        <p:blipFill>
          <a:blip r:embed="rId4"/>
          <a:stretch>
            <a:fillRect/>
          </a:stretch>
        </p:blipFill>
        <p:spPr>
          <a:xfrm>
            <a:off x="1845467" y="3860408"/>
            <a:ext cx="9746185" cy="2775976"/>
          </a:xfrm>
          <a:prstGeom prst="rect">
            <a:avLst/>
          </a:prstGeom>
        </p:spPr>
      </p:pic>
      <p:sp>
        <p:nvSpPr>
          <p:cNvPr id="7" name="TextBox 6">
            <a:extLst>
              <a:ext uri="{FF2B5EF4-FFF2-40B4-BE49-F238E27FC236}">
                <a16:creationId xmlns:a16="http://schemas.microsoft.com/office/drawing/2014/main" id="{EB18DECD-0AC4-45BC-AEA9-8B4BEE63931C}"/>
              </a:ext>
            </a:extLst>
          </p:cNvPr>
          <p:cNvSpPr txBox="1"/>
          <p:nvPr/>
        </p:nvSpPr>
        <p:spPr>
          <a:xfrm>
            <a:off x="141995" y="4025568"/>
            <a:ext cx="1631680" cy="923330"/>
          </a:xfrm>
          <a:prstGeom prst="rect">
            <a:avLst/>
          </a:prstGeom>
          <a:noFill/>
        </p:spPr>
        <p:txBody>
          <a:bodyPr wrap="square" rtlCol="0">
            <a:spAutoFit/>
          </a:bodyPr>
          <a:lstStyle/>
          <a:p>
            <a:r>
              <a:rPr lang="zh-CN" altLang="en-US" b="1" dirty="0">
                <a:solidFill>
                  <a:srgbClr val="FF0000"/>
                </a:solidFill>
                <a:hlinkClick r:id="rId5" action="ppaction://hlinkfile"/>
              </a:rPr>
              <a:t>最小二乘拟合：二次、三次、指数。</a:t>
            </a:r>
            <a:endParaRPr lang="zh-CN" altLang="en-US" b="1" dirty="0">
              <a:solidFill>
                <a:srgbClr val="FF0000"/>
              </a:solidFill>
            </a:endParaRPr>
          </a:p>
        </p:txBody>
      </p:sp>
    </p:spTree>
    <p:extLst>
      <p:ext uri="{BB962C8B-B14F-4D97-AF65-F5344CB8AC3E}">
        <p14:creationId xmlns:p14="http://schemas.microsoft.com/office/powerpoint/2010/main" val="19568587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70779C-6FB9-41F1-AA0F-006480BA8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85"/>
            <a:ext cx="12192000" cy="6860770"/>
          </a:xfrm>
          <a:prstGeom prst="rect">
            <a:avLst/>
          </a:prstGeom>
        </p:spPr>
      </p:pic>
    </p:spTree>
    <p:extLst>
      <p:ext uri="{BB962C8B-B14F-4D97-AF65-F5344CB8AC3E}">
        <p14:creationId xmlns:p14="http://schemas.microsoft.com/office/powerpoint/2010/main" val="39287976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F90E30-B9C4-4C95-B4F6-15B0FBB4F3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85"/>
            <a:ext cx="12192000" cy="6860770"/>
          </a:xfrm>
          <a:prstGeom prst="rect">
            <a:avLst/>
          </a:prstGeom>
        </p:spPr>
      </p:pic>
      <p:grpSp>
        <p:nvGrpSpPr>
          <p:cNvPr id="11" name="Group 10">
            <a:extLst>
              <a:ext uri="{FF2B5EF4-FFF2-40B4-BE49-F238E27FC236}">
                <a16:creationId xmlns:a16="http://schemas.microsoft.com/office/drawing/2014/main" id="{387F072A-8AAD-45A1-93E7-032C48BD645E}"/>
              </a:ext>
            </a:extLst>
          </p:cNvPr>
          <p:cNvGrpSpPr/>
          <p:nvPr/>
        </p:nvGrpSpPr>
        <p:grpSpPr>
          <a:xfrm>
            <a:off x="5613400" y="3944572"/>
            <a:ext cx="6360127" cy="1935528"/>
            <a:chOff x="5613400" y="3944572"/>
            <a:chExt cx="6360127" cy="1935528"/>
          </a:xfrm>
        </p:grpSpPr>
        <p:sp>
          <p:nvSpPr>
            <p:cNvPr id="2" name="Rectangle 1">
              <a:extLst>
                <a:ext uri="{FF2B5EF4-FFF2-40B4-BE49-F238E27FC236}">
                  <a16:creationId xmlns:a16="http://schemas.microsoft.com/office/drawing/2014/main" id="{DCC291C0-C553-4EE7-AFDB-A42016131DD1}"/>
                </a:ext>
              </a:extLst>
            </p:cNvPr>
            <p:cNvSpPr/>
            <p:nvPr/>
          </p:nvSpPr>
          <p:spPr>
            <a:xfrm>
              <a:off x="5613400" y="4533900"/>
              <a:ext cx="1727200" cy="13462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a:extLst>
                <a:ext uri="{FF2B5EF4-FFF2-40B4-BE49-F238E27FC236}">
                  <a16:creationId xmlns:a16="http://schemas.microsoft.com/office/drawing/2014/main" id="{8B8BBB61-D3F6-4DE1-A629-98863BE02A85}"/>
                </a:ext>
              </a:extLst>
            </p:cNvPr>
            <p:cNvSpPr txBox="1"/>
            <p:nvPr/>
          </p:nvSpPr>
          <p:spPr>
            <a:xfrm>
              <a:off x="9018872" y="3944572"/>
              <a:ext cx="2954655" cy="369332"/>
            </a:xfrm>
            <a:prstGeom prst="rect">
              <a:avLst/>
            </a:prstGeom>
            <a:noFill/>
          </p:spPr>
          <p:txBody>
            <a:bodyPr wrap="none" rtlCol="0">
              <a:spAutoFit/>
            </a:bodyPr>
            <a:lstStyle/>
            <a:p>
              <a:r>
                <a:rPr lang="zh-CN" altLang="en-US" b="1" dirty="0">
                  <a:solidFill>
                    <a:srgbClr val="FF0000"/>
                  </a:solidFill>
                </a:rPr>
                <a:t>改变参数，进行灵敏度分析</a:t>
              </a:r>
            </a:p>
          </p:txBody>
        </p:sp>
        <p:cxnSp>
          <p:nvCxnSpPr>
            <p:cNvPr id="6" name="Straight Arrow Connector 5">
              <a:extLst>
                <a:ext uri="{FF2B5EF4-FFF2-40B4-BE49-F238E27FC236}">
                  <a16:creationId xmlns:a16="http://schemas.microsoft.com/office/drawing/2014/main" id="{8E8210BD-B4B8-473E-9744-FEF54A8B1EAD}"/>
                </a:ext>
              </a:extLst>
            </p:cNvPr>
            <p:cNvCxnSpPr>
              <a:cxnSpLocks/>
            </p:cNvCxnSpPr>
            <p:nvPr/>
          </p:nvCxnSpPr>
          <p:spPr>
            <a:xfrm flipH="1">
              <a:off x="7421078" y="4129238"/>
              <a:ext cx="1597794" cy="40466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8992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C1E6A70-1204-43EF-A77A-F891BAABB2E1}"/>
              </a:ext>
            </a:extLst>
          </p:cNvPr>
          <p:cNvPicPr>
            <a:picLocks noChangeAspect="1"/>
          </p:cNvPicPr>
          <p:nvPr/>
        </p:nvPicPr>
        <p:blipFill rotWithShape="1">
          <a:blip r:embed="rId3">
            <a:extLst>
              <a:ext uri="{28A0092B-C50C-407E-A947-70E740481C1C}">
                <a14:useLocalDpi xmlns:a14="http://schemas.microsoft.com/office/drawing/2010/main" val="0"/>
              </a:ext>
            </a:extLst>
          </a:blip>
          <a:srcRect l="21129" t="12223" r="20327" b="39167"/>
          <a:stretch/>
        </p:blipFill>
        <p:spPr>
          <a:xfrm rot="16200000">
            <a:off x="2635988" y="-2736155"/>
            <a:ext cx="6857999" cy="12330307"/>
          </a:xfrm>
          <a:prstGeom prst="rect">
            <a:avLst/>
          </a:prstGeom>
        </p:spPr>
      </p:pic>
      <p:sp>
        <p:nvSpPr>
          <p:cNvPr id="2" name="TextBox 1">
            <a:extLst>
              <a:ext uri="{FF2B5EF4-FFF2-40B4-BE49-F238E27FC236}">
                <a16:creationId xmlns:a16="http://schemas.microsoft.com/office/drawing/2014/main" id="{04692D96-FEB6-41AD-89B9-3ECD47513141}"/>
              </a:ext>
            </a:extLst>
          </p:cNvPr>
          <p:cNvSpPr txBox="1"/>
          <p:nvPr/>
        </p:nvSpPr>
        <p:spPr>
          <a:xfrm>
            <a:off x="6434255" y="3300087"/>
            <a:ext cx="5109091" cy="461665"/>
          </a:xfrm>
          <a:prstGeom prst="rect">
            <a:avLst/>
          </a:prstGeom>
          <a:noFill/>
        </p:spPr>
        <p:txBody>
          <a:bodyPr wrap="none" rtlCol="0">
            <a:spAutoFit/>
          </a:bodyPr>
          <a:lstStyle/>
          <a:p>
            <a:r>
              <a:rPr lang="zh-CN" altLang="en-US" sz="2400" b="1" dirty="0">
                <a:solidFill>
                  <a:srgbClr val="FF0000"/>
                </a:solidFill>
              </a:rPr>
              <a:t>也可以计算违约的概率，预测违约。</a:t>
            </a:r>
          </a:p>
        </p:txBody>
      </p:sp>
    </p:spTree>
    <p:extLst>
      <p:ext uri="{BB962C8B-B14F-4D97-AF65-F5344CB8AC3E}">
        <p14:creationId xmlns:p14="http://schemas.microsoft.com/office/powerpoint/2010/main" val="4831345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ABE8A7-EB3D-490C-98AB-0B37990CCB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85"/>
            <a:ext cx="12192000" cy="6860770"/>
          </a:xfrm>
          <a:prstGeom prst="rect">
            <a:avLst/>
          </a:prstGeom>
        </p:spPr>
      </p:pic>
    </p:spTree>
    <p:extLst>
      <p:ext uri="{BB962C8B-B14F-4D97-AF65-F5344CB8AC3E}">
        <p14:creationId xmlns:p14="http://schemas.microsoft.com/office/powerpoint/2010/main" val="11442671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D10A80-CD43-47BA-9F60-D2CF51CDE9C4}"/>
              </a:ext>
            </a:extLst>
          </p:cNvPr>
          <p:cNvSpPr txBox="1"/>
          <p:nvPr/>
        </p:nvSpPr>
        <p:spPr>
          <a:xfrm>
            <a:off x="566760" y="538776"/>
            <a:ext cx="2031325" cy="461665"/>
          </a:xfrm>
          <a:prstGeom prst="rect">
            <a:avLst/>
          </a:prstGeom>
          <a:noFill/>
        </p:spPr>
        <p:txBody>
          <a:bodyPr wrap="none" rtlCol="0">
            <a:spAutoFit/>
          </a:bodyPr>
          <a:lstStyle/>
          <a:p>
            <a:r>
              <a:rPr lang="zh-CN" altLang="en-US" sz="2400" b="1" dirty="0">
                <a:solidFill>
                  <a:srgbClr val="FF0000"/>
                </a:solidFill>
              </a:rPr>
              <a:t>机器学习模型</a:t>
            </a:r>
          </a:p>
        </p:txBody>
      </p:sp>
      <p:graphicFrame>
        <p:nvGraphicFramePr>
          <p:cNvPr id="9" name="Table 8">
            <a:extLst>
              <a:ext uri="{FF2B5EF4-FFF2-40B4-BE49-F238E27FC236}">
                <a16:creationId xmlns:a16="http://schemas.microsoft.com/office/drawing/2014/main" id="{CB626052-8A83-44CD-B119-0762A979F0BC}"/>
              </a:ext>
            </a:extLst>
          </p:cNvPr>
          <p:cNvGraphicFramePr>
            <a:graphicFrameLocks noGrp="1"/>
          </p:cNvGraphicFramePr>
          <p:nvPr>
            <p:extLst>
              <p:ext uri="{D42A27DB-BD31-4B8C-83A1-F6EECF244321}">
                <p14:modId xmlns:p14="http://schemas.microsoft.com/office/powerpoint/2010/main" val="1177994904"/>
              </p:ext>
            </p:extLst>
          </p:nvPr>
        </p:nvGraphicFramePr>
        <p:xfrm>
          <a:off x="222249" y="1327712"/>
          <a:ext cx="11747502" cy="4991512"/>
        </p:xfrm>
        <a:graphic>
          <a:graphicData uri="http://schemas.openxmlformats.org/drawingml/2006/table">
            <a:tbl>
              <a:tblPr>
                <a:tableStyleId>{5C22544A-7EE6-4342-B048-85BDC9FD1C3A}</a:tableStyleId>
              </a:tblPr>
              <a:tblGrid>
                <a:gridCol w="903654">
                  <a:extLst>
                    <a:ext uri="{9D8B030D-6E8A-4147-A177-3AD203B41FA5}">
                      <a16:colId xmlns:a16="http://schemas.microsoft.com/office/drawing/2014/main" val="924811887"/>
                    </a:ext>
                  </a:extLst>
                </a:gridCol>
                <a:gridCol w="903654">
                  <a:extLst>
                    <a:ext uri="{9D8B030D-6E8A-4147-A177-3AD203B41FA5}">
                      <a16:colId xmlns:a16="http://schemas.microsoft.com/office/drawing/2014/main" val="3466526438"/>
                    </a:ext>
                  </a:extLst>
                </a:gridCol>
                <a:gridCol w="903654">
                  <a:extLst>
                    <a:ext uri="{9D8B030D-6E8A-4147-A177-3AD203B41FA5}">
                      <a16:colId xmlns:a16="http://schemas.microsoft.com/office/drawing/2014/main" val="539497848"/>
                    </a:ext>
                  </a:extLst>
                </a:gridCol>
                <a:gridCol w="903654">
                  <a:extLst>
                    <a:ext uri="{9D8B030D-6E8A-4147-A177-3AD203B41FA5}">
                      <a16:colId xmlns:a16="http://schemas.microsoft.com/office/drawing/2014/main" val="3207741362"/>
                    </a:ext>
                  </a:extLst>
                </a:gridCol>
                <a:gridCol w="903654">
                  <a:extLst>
                    <a:ext uri="{9D8B030D-6E8A-4147-A177-3AD203B41FA5}">
                      <a16:colId xmlns:a16="http://schemas.microsoft.com/office/drawing/2014/main" val="3289314500"/>
                    </a:ext>
                  </a:extLst>
                </a:gridCol>
                <a:gridCol w="903654">
                  <a:extLst>
                    <a:ext uri="{9D8B030D-6E8A-4147-A177-3AD203B41FA5}">
                      <a16:colId xmlns:a16="http://schemas.microsoft.com/office/drawing/2014/main" val="2276337299"/>
                    </a:ext>
                  </a:extLst>
                </a:gridCol>
                <a:gridCol w="903654">
                  <a:extLst>
                    <a:ext uri="{9D8B030D-6E8A-4147-A177-3AD203B41FA5}">
                      <a16:colId xmlns:a16="http://schemas.microsoft.com/office/drawing/2014/main" val="3507623356"/>
                    </a:ext>
                  </a:extLst>
                </a:gridCol>
                <a:gridCol w="903654">
                  <a:extLst>
                    <a:ext uri="{9D8B030D-6E8A-4147-A177-3AD203B41FA5}">
                      <a16:colId xmlns:a16="http://schemas.microsoft.com/office/drawing/2014/main" val="3439447831"/>
                    </a:ext>
                  </a:extLst>
                </a:gridCol>
                <a:gridCol w="903654">
                  <a:extLst>
                    <a:ext uri="{9D8B030D-6E8A-4147-A177-3AD203B41FA5}">
                      <a16:colId xmlns:a16="http://schemas.microsoft.com/office/drawing/2014/main" val="3915773383"/>
                    </a:ext>
                  </a:extLst>
                </a:gridCol>
                <a:gridCol w="903654">
                  <a:extLst>
                    <a:ext uri="{9D8B030D-6E8A-4147-A177-3AD203B41FA5}">
                      <a16:colId xmlns:a16="http://schemas.microsoft.com/office/drawing/2014/main" val="1132165628"/>
                    </a:ext>
                  </a:extLst>
                </a:gridCol>
                <a:gridCol w="903654">
                  <a:extLst>
                    <a:ext uri="{9D8B030D-6E8A-4147-A177-3AD203B41FA5}">
                      <a16:colId xmlns:a16="http://schemas.microsoft.com/office/drawing/2014/main" val="3364219668"/>
                    </a:ext>
                  </a:extLst>
                </a:gridCol>
                <a:gridCol w="903654">
                  <a:extLst>
                    <a:ext uri="{9D8B030D-6E8A-4147-A177-3AD203B41FA5}">
                      <a16:colId xmlns:a16="http://schemas.microsoft.com/office/drawing/2014/main" val="1601880487"/>
                    </a:ext>
                  </a:extLst>
                </a:gridCol>
                <a:gridCol w="903654">
                  <a:extLst>
                    <a:ext uri="{9D8B030D-6E8A-4147-A177-3AD203B41FA5}">
                      <a16:colId xmlns:a16="http://schemas.microsoft.com/office/drawing/2014/main" val="897709184"/>
                    </a:ext>
                  </a:extLst>
                </a:gridCol>
              </a:tblGrid>
              <a:tr h="638175">
                <a:tc>
                  <a:txBody>
                    <a:bodyPr/>
                    <a:lstStyle/>
                    <a:p>
                      <a:pPr algn="ctr" fontAlgn="ctr"/>
                      <a:endParaRPr lang="zh-CN" altLang="en-US"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af-ZA" sz="2000" u="none" strike="noStrike" dirty="0">
                          <a:effectLst/>
                        </a:rPr>
                        <a:t>x1</a:t>
                      </a:r>
                      <a:endParaRPr lang="af-ZA"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af-ZA" sz="2000" u="none" strike="noStrike" dirty="0">
                          <a:effectLst/>
                        </a:rPr>
                        <a:t>x2</a:t>
                      </a:r>
                      <a:endParaRPr lang="af-ZA"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af-ZA" sz="2000" u="none" strike="noStrike" dirty="0">
                          <a:effectLst/>
                        </a:rPr>
                        <a:t>x3</a:t>
                      </a:r>
                      <a:endParaRPr lang="af-ZA"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af-ZA" sz="2000" u="none" strike="noStrike" dirty="0">
                          <a:effectLst/>
                        </a:rPr>
                        <a:t>x4</a:t>
                      </a:r>
                      <a:endParaRPr lang="af-ZA"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af-ZA" sz="2000" u="none" strike="noStrike" dirty="0">
                          <a:effectLst/>
                        </a:rPr>
                        <a:t>x5</a:t>
                      </a:r>
                      <a:endParaRPr lang="af-ZA"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af-ZA" sz="2000" u="none" strike="noStrike">
                          <a:effectLst/>
                        </a:rPr>
                        <a:t>x6</a:t>
                      </a:r>
                      <a:endParaRPr lang="af-ZA"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af-ZA" sz="2000" u="none" strike="noStrike">
                          <a:effectLst/>
                        </a:rPr>
                        <a:t>x7</a:t>
                      </a:r>
                      <a:endParaRPr lang="af-ZA"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af-ZA" sz="2000" u="none" strike="noStrike">
                          <a:effectLst/>
                        </a:rPr>
                        <a:t>x8</a:t>
                      </a:r>
                      <a:endParaRPr lang="af-ZA"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af-ZA" sz="2000" u="none" strike="noStrike">
                          <a:effectLst/>
                        </a:rPr>
                        <a:t>x9</a:t>
                      </a:r>
                      <a:endParaRPr lang="af-ZA"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af-ZA" sz="2000" u="none" strike="noStrike">
                          <a:effectLst/>
                        </a:rPr>
                        <a:t>y</a:t>
                      </a:r>
                      <a:endParaRPr lang="af-ZA" sz="2000" b="0" i="0" u="none" strike="noStrike">
                        <a:effectLst/>
                        <a:latin typeface="宋体" panose="02010600030101010101" pitchFamily="2" charset="-122"/>
                        <a:ea typeface="宋体" panose="02010600030101010101" pitchFamily="2" charset="-122"/>
                      </a:endParaRPr>
                    </a:p>
                  </a:txBody>
                  <a:tcPr marL="6350" marR="6350" marT="6350" marB="0" anchor="ctr"/>
                </a:tc>
                <a:extLst>
                  <a:ext uri="{0D108BD9-81ED-4DB2-BD59-A6C34878D82A}">
                    <a16:rowId xmlns:a16="http://schemas.microsoft.com/office/drawing/2014/main" val="662904863"/>
                  </a:ext>
                </a:extLst>
              </a:tr>
              <a:tr h="1911350">
                <a:tc>
                  <a:txBody>
                    <a:bodyPr/>
                    <a:lstStyle/>
                    <a:p>
                      <a:pPr algn="ctr" rtl="0" fontAlgn="ctr"/>
                      <a:r>
                        <a:rPr lang="zh-CN" altLang="en-US" sz="2000" u="none" strike="noStrike">
                          <a:effectLst/>
                        </a:rPr>
                        <a:t>　</a:t>
                      </a:r>
                      <a:endParaRPr lang="zh-CN" altLang="en-US" sz="20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rtl="0" fontAlgn="ctr"/>
                      <a:r>
                        <a:rPr lang="zh-CN" altLang="en-US" sz="2000" u="none" strike="noStrike" dirty="0">
                          <a:effectLst/>
                        </a:rPr>
                        <a:t>企业</a:t>
                      </a:r>
                      <a:endParaRPr lang="en-US" altLang="zh-CN" sz="2000" u="none" strike="noStrike" dirty="0">
                        <a:effectLst/>
                      </a:endParaRPr>
                    </a:p>
                    <a:p>
                      <a:pPr algn="ctr" rtl="0" fontAlgn="ctr"/>
                      <a:r>
                        <a:rPr lang="zh-CN" altLang="en-US" sz="2000" u="none" strike="noStrike" dirty="0">
                          <a:effectLst/>
                        </a:rPr>
                        <a:t>代号</a:t>
                      </a:r>
                      <a:endParaRPr lang="zh-CN" altLang="en-US" sz="2000" b="1" i="0" u="none" strike="noStrike" dirty="0">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rtl="0" fontAlgn="ctr"/>
                      <a:r>
                        <a:rPr lang="zh-CN" altLang="en-US" sz="2000" u="none" strike="noStrike">
                          <a:effectLst/>
                        </a:rPr>
                        <a:t>毛利润</a:t>
                      </a:r>
                      <a:endParaRPr lang="zh-CN" altLang="en-US" sz="20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rtl="0" fontAlgn="ctr"/>
                      <a:r>
                        <a:rPr lang="zh-CN" altLang="en-US" sz="2000" u="none" strike="noStrike" dirty="0">
                          <a:effectLst/>
                        </a:rPr>
                        <a:t>有效销售占比</a:t>
                      </a:r>
                      <a:endParaRPr lang="zh-CN" altLang="en-US" sz="2000" b="1" i="0" u="none" strike="noStrike" dirty="0">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rtl="0" fontAlgn="ctr"/>
                      <a:r>
                        <a:rPr lang="zh-CN" altLang="en-US" sz="2000" u="none" strike="noStrike">
                          <a:effectLst/>
                        </a:rPr>
                        <a:t>有效购买占比</a:t>
                      </a:r>
                      <a:endParaRPr lang="zh-CN" altLang="en-US" sz="20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rtl="0" fontAlgn="ctr"/>
                      <a:r>
                        <a:rPr lang="zh-CN" altLang="en-US" sz="2000" u="none" strike="noStrike" dirty="0">
                          <a:effectLst/>
                        </a:rPr>
                        <a:t>销售负数占比</a:t>
                      </a:r>
                      <a:endParaRPr lang="zh-CN" altLang="en-US" sz="2000" b="1" i="0" u="none" strike="noStrike" dirty="0">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rtl="0" fontAlgn="ctr"/>
                      <a:r>
                        <a:rPr lang="zh-CN" altLang="en-US" sz="2000" u="none" strike="noStrike">
                          <a:effectLst/>
                        </a:rPr>
                        <a:t>购买负数占比</a:t>
                      </a:r>
                      <a:endParaRPr lang="zh-CN" altLang="en-US" sz="20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rtl="0" fontAlgn="ctr"/>
                      <a:r>
                        <a:rPr lang="zh-CN" altLang="en-US" sz="2000" u="none" strike="noStrike" dirty="0">
                          <a:effectLst/>
                        </a:rPr>
                        <a:t>企业上游年均业务量</a:t>
                      </a:r>
                      <a:endParaRPr lang="zh-CN" altLang="en-US" sz="2000" b="1" i="0" u="none" strike="noStrike" dirty="0">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rtl="0" fontAlgn="ctr"/>
                      <a:r>
                        <a:rPr lang="zh-CN" altLang="en-US" sz="2000" u="none" strike="noStrike" dirty="0">
                          <a:effectLst/>
                        </a:rPr>
                        <a:t>企业上游年均业务量变化率</a:t>
                      </a:r>
                      <a:endParaRPr lang="zh-CN" altLang="en-US" sz="2000" b="1" i="0" u="none" strike="noStrike" dirty="0">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rtl="0" fontAlgn="ctr"/>
                      <a:r>
                        <a:rPr lang="zh-CN" altLang="en-US" sz="2000" u="none" strike="noStrike" dirty="0">
                          <a:effectLst/>
                        </a:rPr>
                        <a:t>企业下游年均业务量</a:t>
                      </a:r>
                      <a:endParaRPr lang="zh-CN" altLang="en-US" sz="2000" b="1" i="0" u="none" strike="noStrike" dirty="0">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rtl="0" fontAlgn="ctr"/>
                      <a:r>
                        <a:rPr lang="zh-CN" altLang="en-US" sz="2000" u="none" strike="noStrike" dirty="0">
                          <a:effectLst/>
                        </a:rPr>
                        <a:t>企业下游年均业务量变化率</a:t>
                      </a:r>
                      <a:endParaRPr lang="zh-CN" altLang="en-US" sz="2000" b="1" i="0" u="none" strike="noStrike" dirty="0">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rtl="0" fontAlgn="ctr"/>
                      <a:r>
                        <a:rPr lang="en-US" altLang="zh-CN" sz="2000" u="none" strike="noStrike" dirty="0">
                          <a:effectLst/>
                        </a:rPr>
                        <a:t>…...</a:t>
                      </a:r>
                      <a:endParaRPr lang="en-US" altLang="zh-CN" sz="2000" b="1" i="0" u="none" strike="noStrike" dirty="0">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rtl="0" fontAlgn="ctr"/>
                      <a:r>
                        <a:rPr lang="zh-CN" altLang="en-US" sz="2000" u="none" strike="noStrike" dirty="0">
                          <a:effectLst/>
                        </a:rPr>
                        <a:t>信誉</a:t>
                      </a:r>
                      <a:endParaRPr lang="en-US" altLang="zh-CN" sz="2000" u="none" strike="noStrike" dirty="0">
                        <a:effectLst/>
                      </a:endParaRPr>
                    </a:p>
                    <a:p>
                      <a:pPr algn="ctr" rtl="0" fontAlgn="ctr"/>
                      <a:r>
                        <a:rPr lang="zh-CN" altLang="en-US" sz="2000" u="none" strike="noStrike" dirty="0">
                          <a:effectLst/>
                        </a:rPr>
                        <a:t>评级</a:t>
                      </a:r>
                      <a:endParaRPr lang="zh-CN" altLang="en-US" sz="2000" b="1" i="0" u="none" strike="noStrike" dirty="0">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tc>
                <a:extLst>
                  <a:ext uri="{0D108BD9-81ED-4DB2-BD59-A6C34878D82A}">
                    <a16:rowId xmlns:a16="http://schemas.microsoft.com/office/drawing/2014/main" val="1071027513"/>
                  </a:ext>
                </a:extLst>
              </a:tr>
              <a:tr h="597746">
                <a:tc>
                  <a:txBody>
                    <a:bodyPr/>
                    <a:lstStyle/>
                    <a:p>
                      <a:pPr algn="ctr" fontAlgn="ctr"/>
                      <a:r>
                        <a:rPr lang="zh-CN" altLang="en-US" sz="2000" u="none" strike="noStrike">
                          <a:effectLst/>
                        </a:rPr>
                        <a:t>样本</a:t>
                      </a:r>
                      <a:r>
                        <a:rPr lang="en-US" altLang="zh-CN" sz="2000" u="none" strike="noStrike">
                          <a:effectLst/>
                        </a:rPr>
                        <a:t>1</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extLst>
                  <a:ext uri="{0D108BD9-81ED-4DB2-BD59-A6C34878D82A}">
                    <a16:rowId xmlns:a16="http://schemas.microsoft.com/office/drawing/2014/main" val="785229385"/>
                  </a:ext>
                </a:extLst>
              </a:tr>
              <a:tr h="599652">
                <a:tc>
                  <a:txBody>
                    <a:bodyPr/>
                    <a:lstStyle/>
                    <a:p>
                      <a:pPr algn="ctr" fontAlgn="ctr"/>
                      <a:r>
                        <a:rPr lang="zh-CN" altLang="en-US" sz="2000" u="none" strike="noStrike">
                          <a:effectLst/>
                        </a:rPr>
                        <a:t>样本</a:t>
                      </a:r>
                      <a:r>
                        <a:rPr lang="en-US" altLang="zh-CN" sz="2000" u="none" strike="noStrike">
                          <a:effectLst/>
                        </a:rPr>
                        <a:t>2</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extLst>
                  <a:ext uri="{0D108BD9-81ED-4DB2-BD59-A6C34878D82A}">
                    <a16:rowId xmlns:a16="http://schemas.microsoft.com/office/drawing/2014/main" val="3983255583"/>
                  </a:ext>
                </a:extLst>
              </a:tr>
              <a:tr h="558800">
                <a:tc>
                  <a:txBody>
                    <a:bodyPr/>
                    <a:lstStyle/>
                    <a:p>
                      <a:pPr algn="ctr" rtl="0" fontAlgn="ctr"/>
                      <a:r>
                        <a:rPr lang="en-US" altLang="zh-CN" sz="2000" u="none" strike="noStrike">
                          <a:effectLst/>
                        </a:rPr>
                        <a:t>…...</a:t>
                      </a:r>
                      <a:endParaRPr lang="en-US" altLang="zh-CN" sz="20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dirty="0">
                        <a:effectLst/>
                        <a:latin typeface="宋体" panose="02010600030101010101" pitchFamily="2" charset="-122"/>
                        <a:ea typeface="宋体" panose="02010600030101010101" pitchFamily="2" charset="-122"/>
                      </a:endParaRPr>
                    </a:p>
                  </a:txBody>
                  <a:tcPr marL="6350" marR="6350" marT="6350" marB="0" anchor="ctr"/>
                </a:tc>
                <a:extLst>
                  <a:ext uri="{0D108BD9-81ED-4DB2-BD59-A6C34878D82A}">
                    <a16:rowId xmlns:a16="http://schemas.microsoft.com/office/drawing/2014/main" val="734839373"/>
                  </a:ext>
                </a:extLst>
              </a:tr>
              <a:tr h="685789">
                <a:tc>
                  <a:txBody>
                    <a:bodyPr/>
                    <a:lstStyle/>
                    <a:p>
                      <a:pPr algn="ctr" fontAlgn="ctr"/>
                      <a:r>
                        <a:rPr lang="zh-CN" altLang="en-US" sz="2000" u="none" strike="noStrike">
                          <a:effectLst/>
                        </a:rPr>
                        <a:t>样本</a:t>
                      </a:r>
                      <a:r>
                        <a:rPr lang="af-ZA" sz="2000" u="none" strike="noStrike">
                          <a:effectLst/>
                        </a:rPr>
                        <a:t>n</a:t>
                      </a:r>
                      <a:endParaRPr lang="af-ZA"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endParaRPr lang="zh-CN" altLang="en-US" sz="2000" b="0" i="0" u="none" strike="noStrike" dirty="0">
                        <a:effectLst/>
                        <a:latin typeface="宋体" panose="02010600030101010101" pitchFamily="2" charset="-122"/>
                        <a:ea typeface="宋体" panose="02010600030101010101" pitchFamily="2" charset="-122"/>
                      </a:endParaRPr>
                    </a:p>
                  </a:txBody>
                  <a:tcPr marL="6350" marR="6350" marT="6350" marB="0" anchor="ctr"/>
                </a:tc>
                <a:extLst>
                  <a:ext uri="{0D108BD9-81ED-4DB2-BD59-A6C34878D82A}">
                    <a16:rowId xmlns:a16="http://schemas.microsoft.com/office/drawing/2014/main" val="3809484121"/>
                  </a:ext>
                </a:extLst>
              </a:tr>
            </a:tbl>
          </a:graphicData>
        </a:graphic>
      </p:graphicFrame>
    </p:spTree>
    <p:extLst>
      <p:ext uri="{BB962C8B-B14F-4D97-AF65-F5344CB8AC3E}">
        <p14:creationId xmlns:p14="http://schemas.microsoft.com/office/powerpoint/2010/main" val="41961194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670C804E-A83B-47D8-A295-9BE92D3B8796}"/>
              </a:ext>
            </a:extLst>
          </p:cNvPr>
          <p:cNvGrpSpPr/>
          <p:nvPr/>
        </p:nvGrpSpPr>
        <p:grpSpPr>
          <a:xfrm>
            <a:off x="2462" y="0"/>
            <a:ext cx="12187076" cy="6858000"/>
            <a:chOff x="2462" y="0"/>
            <a:chExt cx="12187076" cy="6858000"/>
          </a:xfrm>
        </p:grpSpPr>
        <p:pic>
          <p:nvPicPr>
            <p:cNvPr id="3" name="Picture 2">
              <a:extLst>
                <a:ext uri="{FF2B5EF4-FFF2-40B4-BE49-F238E27FC236}">
                  <a16:creationId xmlns:a16="http://schemas.microsoft.com/office/drawing/2014/main" id="{AC383530-7424-4C93-BAA2-B2A9BAC712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2" y="0"/>
              <a:ext cx="12187076" cy="6858000"/>
            </a:xfrm>
            <a:prstGeom prst="rect">
              <a:avLst/>
            </a:prstGeom>
          </p:spPr>
        </p:pic>
        <p:pic>
          <p:nvPicPr>
            <p:cNvPr id="2" name="Picture 1">
              <a:extLst>
                <a:ext uri="{FF2B5EF4-FFF2-40B4-BE49-F238E27FC236}">
                  <a16:creationId xmlns:a16="http://schemas.microsoft.com/office/drawing/2014/main" id="{3D748225-0A86-445B-B91F-9400F598EB44}"/>
                </a:ext>
              </a:extLst>
            </p:cNvPr>
            <p:cNvPicPr>
              <a:picLocks noChangeAspect="1"/>
            </p:cNvPicPr>
            <p:nvPr/>
          </p:nvPicPr>
          <p:blipFill>
            <a:blip r:embed="rId3"/>
            <a:stretch>
              <a:fillRect/>
            </a:stretch>
          </p:blipFill>
          <p:spPr>
            <a:xfrm>
              <a:off x="6115040" y="1338778"/>
              <a:ext cx="509280" cy="972621"/>
            </a:xfrm>
            <a:prstGeom prst="rect">
              <a:avLst/>
            </a:prstGeom>
          </p:spPr>
        </p:pic>
      </p:grpSp>
    </p:spTree>
    <p:extLst>
      <p:ext uri="{BB962C8B-B14F-4D97-AF65-F5344CB8AC3E}">
        <p14:creationId xmlns:p14="http://schemas.microsoft.com/office/powerpoint/2010/main" val="10254572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6A35F9-BCC7-4DC0-BA40-4270F4D575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85"/>
            <a:ext cx="12192000" cy="6860770"/>
          </a:xfrm>
          <a:prstGeom prst="rect">
            <a:avLst/>
          </a:prstGeom>
        </p:spPr>
      </p:pic>
    </p:spTree>
    <p:extLst>
      <p:ext uri="{BB962C8B-B14F-4D97-AF65-F5344CB8AC3E}">
        <p14:creationId xmlns:p14="http://schemas.microsoft.com/office/powerpoint/2010/main" val="31329630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9602A1-F426-4EDE-AA8A-54223C3B1D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85"/>
            <a:ext cx="12192000" cy="6860770"/>
          </a:xfrm>
          <a:prstGeom prst="rect">
            <a:avLst/>
          </a:prstGeom>
        </p:spPr>
      </p:pic>
    </p:spTree>
    <p:extLst>
      <p:ext uri="{BB962C8B-B14F-4D97-AF65-F5344CB8AC3E}">
        <p14:creationId xmlns:p14="http://schemas.microsoft.com/office/powerpoint/2010/main" val="28744408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36508B-A7C1-4C23-BB3A-217DA1EFBF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85"/>
            <a:ext cx="12192000" cy="6860770"/>
          </a:xfrm>
          <a:prstGeom prst="rect">
            <a:avLst/>
          </a:prstGeom>
        </p:spPr>
      </p:pic>
    </p:spTree>
    <p:extLst>
      <p:ext uri="{BB962C8B-B14F-4D97-AF65-F5344CB8AC3E}">
        <p14:creationId xmlns:p14="http://schemas.microsoft.com/office/powerpoint/2010/main" val="21105055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AD698B-C8C5-4FBD-80FD-9C100EFFDE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2" y="-1386"/>
            <a:ext cx="12189538" cy="6859385"/>
          </a:xfrm>
          <a:prstGeom prst="rect">
            <a:avLst/>
          </a:prstGeom>
        </p:spPr>
      </p:pic>
    </p:spTree>
    <p:extLst>
      <p:ext uri="{BB962C8B-B14F-4D97-AF65-F5344CB8AC3E}">
        <p14:creationId xmlns:p14="http://schemas.microsoft.com/office/powerpoint/2010/main" val="12559868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30BCDE-389C-4FDE-9E9D-C56E1AA0C904}"/>
              </a:ext>
            </a:extLst>
          </p:cNvPr>
          <p:cNvSpPr/>
          <p:nvPr/>
        </p:nvSpPr>
        <p:spPr>
          <a:xfrm>
            <a:off x="379662" y="1191239"/>
            <a:ext cx="11253538" cy="5568447"/>
          </a:xfrm>
          <a:prstGeom prst="rect">
            <a:avLst/>
          </a:prstGeom>
        </p:spPr>
        <p:txBody>
          <a:bodyPr wrap="square">
            <a:spAutoFit/>
          </a:bodyPr>
          <a:lstStyle/>
          <a:p>
            <a:pPr marL="342900" indent="-342900" algn="just">
              <a:lnSpc>
                <a:spcPct val="130000"/>
              </a:lnSpc>
              <a:buFont typeface="Wingdings" panose="05000000000000000000" pitchFamily="2" charset="2"/>
              <a:buChar char="Ø"/>
            </a:pPr>
            <a:r>
              <a:rPr lang="zh-CN" altLang="en-US" sz="2300" dirty="0"/>
              <a:t>企业的生产经营和经济效益可能会受到一些突发因素影响，而且突发因素往往对不同行业、不同类别的企业会有不同的影响。综合考虑附件2中各企业的信贷风险和可能的突发因素(例如:新冠病毒疫情)对各企业的影响，给出该银行在年度信贷总额为1亿元时的信贷调整策略。</a:t>
            </a:r>
            <a:endParaRPr lang="en-US" altLang="zh-CN" sz="2300" dirty="0"/>
          </a:p>
          <a:p>
            <a:pPr marL="342900" indent="-342900" algn="just">
              <a:lnSpc>
                <a:spcPct val="130000"/>
              </a:lnSpc>
              <a:buFont typeface="Wingdings" panose="05000000000000000000" pitchFamily="2" charset="2"/>
              <a:buChar char="Ø"/>
            </a:pPr>
            <a:r>
              <a:rPr lang="zh-CN" altLang="en-US" sz="2300" dirty="0"/>
              <a:t>这里要求给出信贷调整策略，原因是</a:t>
            </a:r>
            <a:r>
              <a:rPr lang="zh-CN" altLang="en-US" sz="2300" b="1" dirty="0">
                <a:solidFill>
                  <a:srgbClr val="FF0000"/>
                </a:solidFill>
              </a:rPr>
              <a:t>突发因素会对不同行业、不同类别的企业会有不同的影响</a:t>
            </a:r>
            <a:r>
              <a:rPr lang="zh-CN" altLang="en-US" sz="2300" dirty="0"/>
              <a:t>，例如对互联网行业，新冠病毒疫情是促进的，但是对于旅游业，新冠病毒疫情则导致了其大萧条。</a:t>
            </a:r>
            <a:endParaRPr lang="en-US" altLang="zh-CN" sz="2300" dirty="0"/>
          </a:p>
          <a:p>
            <a:pPr marL="342900" indent="-342900" algn="just">
              <a:lnSpc>
                <a:spcPct val="130000"/>
              </a:lnSpc>
              <a:buFont typeface="Wingdings" panose="05000000000000000000" pitchFamily="2" charset="2"/>
              <a:buChar char="Ø"/>
            </a:pPr>
            <a:r>
              <a:rPr lang="zh-CN" altLang="en-US" sz="2300" dirty="0"/>
              <a:t>问题三,它是建立在问题二的基础之上的,不同的是题目要求考虑突发因素(以新冠病毒疫情为例研究)。我们先对企业进行有关行业和类型的划分，找到情对不同行业、不同类别的企业产生的不同的影响程度和影响方向，并以此对问题二中所构建的指标进行改进。改进完成后，问题三与问题二类似，可以继续套用问题一中的模型进行求解。</a:t>
            </a:r>
          </a:p>
        </p:txBody>
      </p:sp>
      <p:sp>
        <p:nvSpPr>
          <p:cNvPr id="5" name="Rectangle 4">
            <a:extLst>
              <a:ext uri="{FF2B5EF4-FFF2-40B4-BE49-F238E27FC236}">
                <a16:creationId xmlns:a16="http://schemas.microsoft.com/office/drawing/2014/main" id="{359AEF11-0316-4CE3-AE07-E4053A6ACC2E}"/>
              </a:ext>
            </a:extLst>
          </p:cNvPr>
          <p:cNvSpPr/>
          <p:nvPr/>
        </p:nvSpPr>
        <p:spPr>
          <a:xfrm>
            <a:off x="529517" y="555505"/>
            <a:ext cx="5057795" cy="400110"/>
          </a:xfrm>
          <a:prstGeom prst="rect">
            <a:avLst/>
          </a:prstGeom>
        </p:spPr>
        <p:txBody>
          <a:bodyPr wrap="none">
            <a:spAutoFit/>
          </a:bodyPr>
          <a:lstStyle/>
          <a:p>
            <a:r>
              <a:rPr lang="zh-CN" altLang="en-US" sz="2000" b="1" dirty="0">
                <a:solidFill>
                  <a:srgbClr val="FF0000"/>
                </a:solidFill>
              </a:rPr>
              <a:t>新冠疫情对不同类别、不同行业的影响分析</a:t>
            </a:r>
            <a:endParaRPr lang="en-US" altLang="zh-CN" sz="2000" b="1" dirty="0">
              <a:solidFill>
                <a:srgbClr val="FF0000"/>
              </a:solidFill>
            </a:endParaRPr>
          </a:p>
        </p:txBody>
      </p:sp>
    </p:spTree>
    <p:extLst>
      <p:ext uri="{BB962C8B-B14F-4D97-AF65-F5344CB8AC3E}">
        <p14:creationId xmlns:p14="http://schemas.microsoft.com/office/powerpoint/2010/main" val="22378457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B81A20-C87E-43FC-AC70-D3AC6E9D56A4}"/>
              </a:ext>
            </a:extLst>
          </p:cNvPr>
          <p:cNvSpPr/>
          <p:nvPr/>
        </p:nvSpPr>
        <p:spPr>
          <a:xfrm>
            <a:off x="475524" y="1148816"/>
            <a:ext cx="11240951" cy="4846198"/>
          </a:xfrm>
          <a:prstGeom prst="rect">
            <a:avLst/>
          </a:prstGeom>
        </p:spPr>
        <p:txBody>
          <a:bodyPr wrap="square">
            <a:spAutoFit/>
          </a:bodyPr>
          <a:lstStyle/>
          <a:p>
            <a:pPr marL="342900" indent="-342900" algn="just">
              <a:lnSpc>
                <a:spcPct val="130000"/>
              </a:lnSpc>
              <a:buFont typeface="Wingdings" panose="05000000000000000000" pitchFamily="2" charset="2"/>
              <a:buChar char="Ø"/>
            </a:pPr>
            <a:r>
              <a:rPr lang="zh-CN" altLang="en-US" sz="2400" dirty="0"/>
              <a:t>在疫情期间，政府出台了不少的政府扶持政策，其中就有银行的相关扶持政策(以四川为例)。《四川省人民政府办公厅关于应对新型冠状病毒肺炎疫情缓解中小企业生产经营困难的政策措施》中，小微企业存量贷款疫情防控期间到期办理续贷或展期，利率按原合同利率下浮 10%，新增贷款利率下浮10%。</a:t>
            </a:r>
            <a:endParaRPr lang="en-US" altLang="zh-CN" sz="2400" dirty="0"/>
          </a:p>
          <a:p>
            <a:pPr marL="342900" indent="-342900" algn="just">
              <a:lnSpc>
                <a:spcPct val="130000"/>
              </a:lnSpc>
              <a:buFont typeface="Wingdings" panose="05000000000000000000" pitchFamily="2" charset="2"/>
              <a:buChar char="Ø"/>
            </a:pPr>
            <a:r>
              <a:rPr lang="zh-CN" altLang="en-US" sz="2400" dirty="0"/>
              <a:t>在国家统计局官方网站收集的数据发现：疫情对不同行业的影响不同，疫情给批发零售、住宿餐饮、交通运输、文体娱乐、房地产等行业带来较大冲击；对线上教育、信息技术产业、金融业却带来一定的利好与机遇。若将行业分为线上和线下企业，那么线上企业基本没有影响，线下的企业除个体经营户外几乎都收到了影响且持续的时间较长。因此，不同行业的企业的营业能力、现金流减少，评价信贷风险的指标也发生相应的改变。</a:t>
            </a:r>
          </a:p>
        </p:txBody>
      </p:sp>
      <p:sp>
        <p:nvSpPr>
          <p:cNvPr id="5" name="Rectangle 4">
            <a:extLst>
              <a:ext uri="{FF2B5EF4-FFF2-40B4-BE49-F238E27FC236}">
                <a16:creationId xmlns:a16="http://schemas.microsoft.com/office/drawing/2014/main" id="{24300FD1-723D-43D1-A52B-4B06DCC5D45A}"/>
              </a:ext>
            </a:extLst>
          </p:cNvPr>
          <p:cNvSpPr/>
          <p:nvPr/>
        </p:nvSpPr>
        <p:spPr>
          <a:xfrm>
            <a:off x="529517" y="555505"/>
            <a:ext cx="5057795" cy="400110"/>
          </a:xfrm>
          <a:prstGeom prst="rect">
            <a:avLst/>
          </a:prstGeom>
        </p:spPr>
        <p:txBody>
          <a:bodyPr wrap="none">
            <a:spAutoFit/>
          </a:bodyPr>
          <a:lstStyle/>
          <a:p>
            <a:r>
              <a:rPr lang="zh-CN" altLang="en-US" sz="2000" b="1" dirty="0">
                <a:solidFill>
                  <a:srgbClr val="FF0000"/>
                </a:solidFill>
              </a:rPr>
              <a:t>新冠疫情对不同类别、不同行业的影响分析</a:t>
            </a:r>
            <a:endParaRPr lang="en-US" altLang="zh-CN" sz="2000" b="1" dirty="0">
              <a:solidFill>
                <a:srgbClr val="FF0000"/>
              </a:solidFill>
            </a:endParaRPr>
          </a:p>
        </p:txBody>
      </p:sp>
    </p:spTree>
    <p:extLst>
      <p:ext uri="{BB962C8B-B14F-4D97-AF65-F5344CB8AC3E}">
        <p14:creationId xmlns:p14="http://schemas.microsoft.com/office/powerpoint/2010/main" val="11966259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B81A20-C87E-43FC-AC70-D3AC6E9D56A4}"/>
              </a:ext>
            </a:extLst>
          </p:cNvPr>
          <p:cNvSpPr/>
          <p:nvPr/>
        </p:nvSpPr>
        <p:spPr>
          <a:xfrm>
            <a:off x="529517" y="1966163"/>
            <a:ext cx="10878276" cy="2925673"/>
          </a:xfrm>
          <a:prstGeom prst="rect">
            <a:avLst/>
          </a:prstGeom>
        </p:spPr>
        <p:txBody>
          <a:bodyPr wrap="square">
            <a:spAutoFit/>
          </a:bodyPr>
          <a:lstStyle/>
          <a:p>
            <a:pPr marL="342900" indent="-342900" algn="just">
              <a:lnSpc>
                <a:spcPct val="130000"/>
              </a:lnSpc>
              <a:buFont typeface="Wingdings" panose="05000000000000000000" pitchFamily="2" charset="2"/>
              <a:buChar char="Ø"/>
            </a:pPr>
            <a:r>
              <a:rPr lang="zh-CN" altLang="en-US" sz="2400" dirty="0"/>
              <a:t>由于疫情的影响，评价指标中的发票总金额发生改变。通过新闻的报道及对四川中小微型企业进行了网络问卷调查发现：线上教育、信息技术产业、电商业大致没有发生学生在线变化，其他行业均发生变化，如：中型企业平均下降</a:t>
            </a:r>
            <a:r>
              <a:rPr lang="en-US" altLang="zh-CN" sz="2400" dirty="0"/>
              <a:t>20%</a:t>
            </a:r>
            <a:r>
              <a:rPr lang="zh-CN" altLang="en-US" sz="2400" dirty="0"/>
              <a:t>，小型企业平均下降</a:t>
            </a:r>
            <a:r>
              <a:rPr lang="en-US" altLang="zh-CN" sz="2400" dirty="0"/>
              <a:t>15%</a:t>
            </a:r>
            <a:r>
              <a:rPr lang="zh-CN" altLang="en-US" sz="2400" dirty="0"/>
              <a:t>，微型企业平均下降 </a:t>
            </a:r>
            <a:r>
              <a:rPr lang="en-US" altLang="zh-CN" sz="2400" dirty="0"/>
              <a:t>5%(</a:t>
            </a:r>
            <a:r>
              <a:rPr lang="zh-CN" altLang="en-US" sz="2400" dirty="0"/>
              <a:t>受到的影响较小</a:t>
            </a:r>
            <a:r>
              <a:rPr lang="en-US" altLang="zh-CN" sz="2400" dirty="0"/>
              <a:t>)</a:t>
            </a:r>
            <a:r>
              <a:rPr lang="zh-CN" altLang="en-US" sz="2400" dirty="0"/>
              <a:t>；发票金额也发生改变，资金的周转率也发生变化</a:t>
            </a:r>
            <a:r>
              <a:rPr lang="en-US" altLang="zh-CN" sz="2400" dirty="0"/>
              <a:t>(</a:t>
            </a:r>
            <a:r>
              <a:rPr lang="zh-CN" altLang="en-US" sz="2400" dirty="0"/>
              <a:t>与发票总金额改变的规律大致相同</a:t>
            </a:r>
            <a:r>
              <a:rPr lang="en-US" altLang="zh-CN" sz="2400" dirty="0"/>
              <a:t>)</a:t>
            </a:r>
            <a:r>
              <a:rPr lang="zh-CN" altLang="en-US" sz="2400" dirty="0"/>
              <a:t>。</a:t>
            </a:r>
          </a:p>
        </p:txBody>
      </p:sp>
      <p:sp>
        <p:nvSpPr>
          <p:cNvPr id="5" name="Rectangle 4">
            <a:extLst>
              <a:ext uri="{FF2B5EF4-FFF2-40B4-BE49-F238E27FC236}">
                <a16:creationId xmlns:a16="http://schemas.microsoft.com/office/drawing/2014/main" id="{24300FD1-723D-43D1-A52B-4B06DCC5D45A}"/>
              </a:ext>
            </a:extLst>
          </p:cNvPr>
          <p:cNvSpPr/>
          <p:nvPr/>
        </p:nvSpPr>
        <p:spPr>
          <a:xfrm>
            <a:off x="529517" y="555505"/>
            <a:ext cx="5057795" cy="400110"/>
          </a:xfrm>
          <a:prstGeom prst="rect">
            <a:avLst/>
          </a:prstGeom>
        </p:spPr>
        <p:txBody>
          <a:bodyPr wrap="none">
            <a:spAutoFit/>
          </a:bodyPr>
          <a:lstStyle/>
          <a:p>
            <a:r>
              <a:rPr lang="zh-CN" altLang="en-US" sz="2000" b="1" dirty="0">
                <a:solidFill>
                  <a:srgbClr val="FF0000"/>
                </a:solidFill>
              </a:rPr>
              <a:t>新冠疫情对不同类别、不同行业的影响分析</a:t>
            </a:r>
            <a:endParaRPr lang="en-US" altLang="zh-CN" sz="2000" b="1" dirty="0">
              <a:solidFill>
                <a:srgbClr val="FF0000"/>
              </a:solidFill>
            </a:endParaRPr>
          </a:p>
        </p:txBody>
      </p:sp>
    </p:spTree>
    <p:extLst>
      <p:ext uri="{BB962C8B-B14F-4D97-AF65-F5344CB8AC3E}">
        <p14:creationId xmlns:p14="http://schemas.microsoft.com/office/powerpoint/2010/main" val="21126086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42E9F0BD-18D6-434B-8B84-3E19567518D8}"/>
              </a:ext>
            </a:extLst>
          </p:cNvPr>
          <p:cNvGraphicFramePr>
            <a:graphicFrameLocks noGrp="1"/>
          </p:cNvGraphicFramePr>
          <p:nvPr>
            <p:extLst>
              <p:ext uri="{D42A27DB-BD31-4B8C-83A1-F6EECF244321}">
                <p14:modId xmlns:p14="http://schemas.microsoft.com/office/powerpoint/2010/main" val="2822699216"/>
              </p:ext>
            </p:extLst>
          </p:nvPr>
        </p:nvGraphicFramePr>
        <p:xfrm>
          <a:off x="165100" y="353995"/>
          <a:ext cx="11912600" cy="591820"/>
        </p:xfrm>
        <a:graphic>
          <a:graphicData uri="http://schemas.openxmlformats.org/drawingml/2006/table">
            <a:tbl>
              <a:tblPr>
                <a:tableStyleId>{5C22544A-7EE6-4342-B048-85BDC9FD1C3A}</a:tableStyleId>
              </a:tblPr>
              <a:tblGrid>
                <a:gridCol w="2504356">
                  <a:extLst>
                    <a:ext uri="{9D8B030D-6E8A-4147-A177-3AD203B41FA5}">
                      <a16:colId xmlns:a16="http://schemas.microsoft.com/office/drawing/2014/main" val="3037681504"/>
                    </a:ext>
                  </a:extLst>
                </a:gridCol>
                <a:gridCol w="989897">
                  <a:extLst>
                    <a:ext uri="{9D8B030D-6E8A-4147-A177-3AD203B41FA5}">
                      <a16:colId xmlns:a16="http://schemas.microsoft.com/office/drawing/2014/main" val="742408814"/>
                    </a:ext>
                  </a:extLst>
                </a:gridCol>
                <a:gridCol w="1066043">
                  <a:extLst>
                    <a:ext uri="{9D8B030D-6E8A-4147-A177-3AD203B41FA5}">
                      <a16:colId xmlns:a16="http://schemas.microsoft.com/office/drawing/2014/main" val="731383125"/>
                    </a:ext>
                  </a:extLst>
                </a:gridCol>
                <a:gridCol w="1057583">
                  <a:extLst>
                    <a:ext uri="{9D8B030D-6E8A-4147-A177-3AD203B41FA5}">
                      <a16:colId xmlns:a16="http://schemas.microsoft.com/office/drawing/2014/main" val="3127168560"/>
                    </a:ext>
                  </a:extLst>
                </a:gridCol>
                <a:gridCol w="1066043">
                  <a:extLst>
                    <a:ext uri="{9D8B030D-6E8A-4147-A177-3AD203B41FA5}">
                      <a16:colId xmlns:a16="http://schemas.microsoft.com/office/drawing/2014/main" val="3318861973"/>
                    </a:ext>
                  </a:extLst>
                </a:gridCol>
                <a:gridCol w="888369">
                  <a:extLst>
                    <a:ext uri="{9D8B030D-6E8A-4147-A177-3AD203B41FA5}">
                      <a16:colId xmlns:a16="http://schemas.microsoft.com/office/drawing/2014/main" val="2406247088"/>
                    </a:ext>
                  </a:extLst>
                </a:gridCol>
                <a:gridCol w="820686">
                  <a:extLst>
                    <a:ext uri="{9D8B030D-6E8A-4147-A177-3AD203B41FA5}">
                      <a16:colId xmlns:a16="http://schemas.microsoft.com/office/drawing/2014/main" val="1659670379"/>
                    </a:ext>
                  </a:extLst>
                </a:gridCol>
                <a:gridCol w="1015280">
                  <a:extLst>
                    <a:ext uri="{9D8B030D-6E8A-4147-A177-3AD203B41FA5}">
                      <a16:colId xmlns:a16="http://schemas.microsoft.com/office/drawing/2014/main" val="3055718623"/>
                    </a:ext>
                  </a:extLst>
                </a:gridCol>
                <a:gridCol w="829144">
                  <a:extLst>
                    <a:ext uri="{9D8B030D-6E8A-4147-A177-3AD203B41FA5}">
                      <a16:colId xmlns:a16="http://schemas.microsoft.com/office/drawing/2014/main" val="11891022"/>
                    </a:ext>
                  </a:extLst>
                </a:gridCol>
                <a:gridCol w="871450">
                  <a:extLst>
                    <a:ext uri="{9D8B030D-6E8A-4147-A177-3AD203B41FA5}">
                      <a16:colId xmlns:a16="http://schemas.microsoft.com/office/drawing/2014/main" val="2996610413"/>
                    </a:ext>
                  </a:extLst>
                </a:gridCol>
                <a:gridCol w="803749">
                  <a:extLst>
                    <a:ext uri="{9D8B030D-6E8A-4147-A177-3AD203B41FA5}">
                      <a16:colId xmlns:a16="http://schemas.microsoft.com/office/drawing/2014/main" val="3342389891"/>
                    </a:ext>
                  </a:extLst>
                </a:gridCol>
              </a:tblGrid>
              <a:tr h="190500">
                <a:tc>
                  <a:txBody>
                    <a:bodyPr/>
                    <a:lstStyle/>
                    <a:p>
                      <a:pPr algn="ctr" fontAlgn="ctr"/>
                      <a:r>
                        <a:rPr lang="zh-CN" altLang="en-US" sz="1900" u="none" strike="noStrike" dirty="0">
                          <a:effectLst/>
                        </a:rPr>
                        <a:t>行业</a:t>
                      </a:r>
                      <a:endParaRPr lang="zh-CN" altLang="en-US" sz="19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zh-CN" altLang="en-US" sz="1900" u="none" strike="noStrike">
                          <a:effectLst/>
                        </a:rPr>
                        <a:t>信息技术</a:t>
                      </a:r>
                      <a:endParaRPr lang="zh-CN" altLang="en-US" sz="19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zh-CN" altLang="en-US" sz="1900" u="none" strike="noStrike">
                          <a:effectLst/>
                        </a:rPr>
                        <a:t>日常消费</a:t>
                      </a:r>
                      <a:endParaRPr lang="zh-CN" altLang="en-US" sz="19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zh-CN" altLang="en-US" sz="1900" u="none" strike="noStrike">
                          <a:effectLst/>
                        </a:rPr>
                        <a:t>医疗保键</a:t>
                      </a:r>
                      <a:endParaRPr lang="zh-CN" altLang="en-US" sz="19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zh-CN" altLang="en-US" sz="1900" u="none" strike="noStrike">
                          <a:effectLst/>
                        </a:rPr>
                        <a:t>可选消费</a:t>
                      </a:r>
                      <a:endParaRPr lang="zh-CN" altLang="en-US" sz="19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zh-CN" altLang="en-US" sz="1900" u="none" strike="noStrike">
                          <a:effectLst/>
                        </a:rPr>
                        <a:t>材料</a:t>
                      </a:r>
                      <a:endParaRPr lang="zh-CN" altLang="en-US" sz="19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zh-CN" altLang="en-US" sz="1900" u="none" strike="noStrike">
                          <a:effectLst/>
                        </a:rPr>
                        <a:t>能源</a:t>
                      </a:r>
                      <a:endParaRPr lang="zh-CN" altLang="en-US" sz="19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zh-CN" altLang="en-US" sz="1900" u="none" strike="noStrike">
                          <a:effectLst/>
                        </a:rPr>
                        <a:t>公用事业</a:t>
                      </a:r>
                      <a:endParaRPr lang="zh-CN" altLang="en-US" sz="19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zh-CN" altLang="en-US" sz="1900" u="none" strike="noStrike">
                          <a:effectLst/>
                        </a:rPr>
                        <a:t>工业</a:t>
                      </a:r>
                      <a:endParaRPr lang="zh-CN" altLang="en-US" sz="19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zh-CN" altLang="en-US" sz="1900" u="none" strike="noStrike">
                          <a:effectLst/>
                        </a:rPr>
                        <a:t>房地产</a:t>
                      </a:r>
                      <a:endParaRPr lang="zh-CN" altLang="en-US" sz="19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zh-CN" altLang="en-US" sz="1900" u="none" strike="noStrike">
                          <a:effectLst/>
                        </a:rPr>
                        <a:t>金融</a:t>
                      </a:r>
                      <a:endParaRPr lang="zh-CN" altLang="en-US" sz="1900" b="0" i="0" u="none" strike="noStrike">
                        <a:effectLst/>
                        <a:latin typeface="宋体" panose="02010600030101010101" pitchFamily="2" charset="-122"/>
                        <a:ea typeface="宋体" panose="02010600030101010101" pitchFamily="2" charset="-122"/>
                      </a:endParaRPr>
                    </a:p>
                  </a:txBody>
                  <a:tcPr marL="6350" marR="6350" marT="6350" marB="0" anchor="ctr"/>
                </a:tc>
                <a:extLst>
                  <a:ext uri="{0D108BD9-81ED-4DB2-BD59-A6C34878D82A}">
                    <a16:rowId xmlns:a16="http://schemas.microsoft.com/office/drawing/2014/main" val="2635357797"/>
                  </a:ext>
                </a:extLst>
              </a:tr>
              <a:tr h="190500">
                <a:tc>
                  <a:txBody>
                    <a:bodyPr/>
                    <a:lstStyle/>
                    <a:p>
                      <a:pPr algn="ctr" fontAlgn="ctr"/>
                      <a:r>
                        <a:rPr lang="zh-CN" altLang="en-US" sz="1900" u="none" strike="noStrike" dirty="0">
                          <a:effectLst/>
                        </a:rPr>
                        <a:t>行业风险调整系数</a:t>
                      </a:r>
                      <a:r>
                        <a:rPr lang="en-US" altLang="zh-CN" sz="1900" u="none" strike="noStrike" dirty="0">
                          <a:effectLst/>
                        </a:rPr>
                        <a:t>(%)</a:t>
                      </a:r>
                      <a:endParaRPr lang="en-US" altLang="zh-CN" sz="19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en-US" altLang="zh-CN" sz="1900" u="none" strike="noStrike">
                          <a:effectLst/>
                        </a:rPr>
                        <a:t>11.58</a:t>
                      </a:r>
                      <a:endParaRPr lang="en-US" altLang="zh-CN" sz="19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en-US" altLang="zh-CN" sz="1900" u="none" strike="noStrike" dirty="0">
                          <a:effectLst/>
                        </a:rPr>
                        <a:t>3.85</a:t>
                      </a:r>
                      <a:endParaRPr lang="en-US" altLang="zh-CN" sz="19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en-US" altLang="zh-CN" sz="1900" u="none" strike="noStrike">
                          <a:effectLst/>
                        </a:rPr>
                        <a:t>0.76</a:t>
                      </a:r>
                      <a:endParaRPr lang="en-US" altLang="zh-CN" sz="19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en-US" altLang="zh-CN" sz="1900" u="none" strike="noStrike">
                          <a:effectLst/>
                        </a:rPr>
                        <a:t>1.7</a:t>
                      </a:r>
                      <a:endParaRPr lang="en-US" altLang="zh-CN" sz="19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en-US" altLang="zh-CN" sz="1900" u="none" strike="noStrike">
                          <a:effectLst/>
                        </a:rPr>
                        <a:t>0.99</a:t>
                      </a:r>
                      <a:endParaRPr lang="en-US" altLang="zh-CN" sz="19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en-US" altLang="zh-CN" sz="1900" u="none" strike="noStrike" dirty="0">
                          <a:effectLst/>
                        </a:rPr>
                        <a:t>-0.12</a:t>
                      </a:r>
                      <a:endParaRPr lang="en-US" altLang="zh-CN" sz="19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en-US" altLang="zh-CN" sz="1900" u="none" strike="noStrike">
                          <a:effectLst/>
                        </a:rPr>
                        <a:t>0.09</a:t>
                      </a:r>
                      <a:endParaRPr lang="en-US" altLang="zh-CN" sz="19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en-US" altLang="zh-CN" sz="1900" u="none" strike="noStrike" dirty="0">
                          <a:effectLst/>
                        </a:rPr>
                        <a:t>0.27</a:t>
                      </a:r>
                      <a:endParaRPr lang="en-US" altLang="zh-CN" sz="19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en-US" altLang="zh-CN" sz="1900" u="none" strike="noStrike">
                          <a:effectLst/>
                        </a:rPr>
                        <a:t>0.25</a:t>
                      </a:r>
                      <a:endParaRPr lang="en-US" altLang="zh-CN" sz="19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ctr" fontAlgn="ctr"/>
                      <a:r>
                        <a:rPr lang="en-US" altLang="zh-CN" sz="1900" u="none" strike="noStrike" dirty="0">
                          <a:effectLst/>
                        </a:rPr>
                        <a:t>0.03</a:t>
                      </a:r>
                      <a:endParaRPr lang="en-US" altLang="zh-CN" sz="1900" b="0" i="0" u="none" strike="noStrike" dirty="0">
                        <a:effectLst/>
                        <a:latin typeface="宋体" panose="02010600030101010101" pitchFamily="2" charset="-122"/>
                        <a:ea typeface="宋体" panose="02010600030101010101" pitchFamily="2" charset="-122"/>
                      </a:endParaRPr>
                    </a:p>
                  </a:txBody>
                  <a:tcPr marL="6350" marR="6350" marT="6350" marB="0" anchor="ctr"/>
                </a:tc>
                <a:extLst>
                  <a:ext uri="{0D108BD9-81ED-4DB2-BD59-A6C34878D82A}">
                    <a16:rowId xmlns:a16="http://schemas.microsoft.com/office/drawing/2014/main" val="127653917"/>
                  </a:ext>
                </a:extLst>
              </a:tr>
            </a:tbl>
          </a:graphicData>
        </a:graphic>
      </p:graphicFrame>
      <p:pic>
        <p:nvPicPr>
          <p:cNvPr id="7" name="Picture 6">
            <a:extLst>
              <a:ext uri="{FF2B5EF4-FFF2-40B4-BE49-F238E27FC236}">
                <a16:creationId xmlns:a16="http://schemas.microsoft.com/office/drawing/2014/main" id="{632929D0-6569-4331-8F7B-166A8EDC96D4}"/>
              </a:ext>
            </a:extLst>
          </p:cNvPr>
          <p:cNvPicPr>
            <a:picLocks noChangeAspect="1"/>
          </p:cNvPicPr>
          <p:nvPr/>
        </p:nvPicPr>
        <p:blipFill rotWithShape="1">
          <a:blip r:embed="rId2">
            <a:extLst>
              <a:ext uri="{28A0092B-C50C-407E-A947-70E740481C1C}">
                <a14:useLocalDpi xmlns:a14="http://schemas.microsoft.com/office/drawing/2010/main" val="0"/>
              </a:ext>
            </a:extLst>
          </a:blip>
          <a:srcRect l="27917" t="7708" r="26250" b="30151"/>
          <a:stretch/>
        </p:blipFill>
        <p:spPr>
          <a:xfrm>
            <a:off x="1257300" y="1030894"/>
            <a:ext cx="9245600" cy="5789006"/>
          </a:xfrm>
          <a:prstGeom prst="rect">
            <a:avLst/>
          </a:prstGeom>
        </p:spPr>
      </p:pic>
    </p:spTree>
    <p:extLst>
      <p:ext uri="{BB962C8B-B14F-4D97-AF65-F5344CB8AC3E}">
        <p14:creationId xmlns:p14="http://schemas.microsoft.com/office/powerpoint/2010/main" val="11403947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47CE9CC-FA52-429F-8B52-D98564E0C5DC}"/>
              </a:ext>
            </a:extLst>
          </p:cNvPr>
          <p:cNvSpPr/>
          <p:nvPr/>
        </p:nvSpPr>
        <p:spPr>
          <a:xfrm>
            <a:off x="517025" y="1242032"/>
            <a:ext cx="10922703" cy="5584542"/>
          </a:xfrm>
          <a:prstGeom prst="rect">
            <a:avLst/>
          </a:prstGeom>
        </p:spPr>
        <p:txBody>
          <a:bodyPr wrap="square">
            <a:spAutoFit/>
          </a:bodyPr>
          <a:lstStyle/>
          <a:p>
            <a:pPr marL="285750" indent="-285750" algn="just">
              <a:lnSpc>
                <a:spcPct val="120000"/>
              </a:lnSpc>
              <a:buFont typeface="Wingdings" panose="05000000000000000000" pitchFamily="2" charset="2"/>
              <a:buChar char="Ø"/>
            </a:pPr>
            <a:r>
              <a:rPr lang="zh-CN" altLang="en-US" sz="3000" b="1" dirty="0"/>
              <a:t>适用的模型和方法</a:t>
            </a:r>
            <a:endParaRPr lang="en-US" altLang="zh-CN" sz="3000" b="1" dirty="0"/>
          </a:p>
          <a:p>
            <a:pPr marL="648000" indent="-285750" algn="just">
              <a:lnSpc>
                <a:spcPct val="120000"/>
              </a:lnSpc>
              <a:buFont typeface="Arial" panose="020B0604020202020204" pitchFamily="34" charset="0"/>
              <a:buChar char="•"/>
            </a:pPr>
            <a:r>
              <a:rPr lang="zh-CN" altLang="en-US" sz="3000" dirty="0">
                <a:solidFill>
                  <a:srgbClr val="FF0000"/>
                </a:solidFill>
              </a:rPr>
              <a:t>(1) 多指标的选择方法</a:t>
            </a:r>
            <a:r>
              <a:rPr lang="zh-CN" altLang="en-US" sz="3000" dirty="0"/>
              <a:t>：数据分析、相关分析、多重共线性分析等。</a:t>
            </a:r>
            <a:endParaRPr lang="en-US" altLang="zh-CN" sz="3000" dirty="0"/>
          </a:p>
          <a:p>
            <a:pPr marL="648000" indent="-285750" algn="just">
              <a:lnSpc>
                <a:spcPct val="120000"/>
              </a:lnSpc>
              <a:buFont typeface="Arial" panose="020B0604020202020204" pitchFamily="34" charset="0"/>
              <a:buChar char="•"/>
            </a:pPr>
            <a:r>
              <a:rPr lang="zh-CN" altLang="en-US" sz="3000" dirty="0">
                <a:solidFill>
                  <a:srgbClr val="FF0000"/>
                </a:solidFill>
              </a:rPr>
              <a:t>(2) 信贷风险的量化分析方法</a:t>
            </a:r>
            <a:r>
              <a:rPr lang="zh-CN" altLang="en-US" sz="3000" dirty="0"/>
              <a:t>：从经济实力和信誉两个方面的机理分析；机器学习确定可能的违约 </a:t>
            </a:r>
            <a:r>
              <a:rPr lang="en-US" altLang="zh-CN" sz="3000" dirty="0"/>
              <a:t>(</a:t>
            </a:r>
            <a:r>
              <a:rPr lang="zh-CN" altLang="en-US" sz="3000" dirty="0"/>
              <a:t>信誉</a:t>
            </a:r>
            <a:r>
              <a:rPr lang="en-US" altLang="zh-CN" sz="3000" dirty="0"/>
              <a:t>) </a:t>
            </a:r>
            <a:r>
              <a:rPr lang="zh-CN" altLang="en-US" sz="3000" dirty="0"/>
              <a:t>概率等。</a:t>
            </a:r>
            <a:endParaRPr lang="en-US" altLang="zh-CN" sz="3000" dirty="0"/>
          </a:p>
          <a:p>
            <a:pPr marL="648000" indent="-285750" algn="just">
              <a:lnSpc>
                <a:spcPct val="120000"/>
              </a:lnSpc>
              <a:buFont typeface="Arial" panose="020B0604020202020204" pitchFamily="34" charset="0"/>
              <a:buChar char="•"/>
            </a:pPr>
            <a:r>
              <a:rPr lang="zh-CN" altLang="en-US" sz="3000" dirty="0">
                <a:solidFill>
                  <a:srgbClr val="FF0000"/>
                </a:solidFill>
              </a:rPr>
              <a:t>(3) 信贷决策模型</a:t>
            </a:r>
            <a:r>
              <a:rPr lang="zh-CN" altLang="en-US" sz="3000" dirty="0"/>
              <a:t>：银行信贷总收益最大和信贷风险最小的双目标优化模型；或在控制信贷风险条件下，信贷总收益最大的单目标优化模型。</a:t>
            </a:r>
            <a:endParaRPr lang="en-US" altLang="zh-CN" sz="3000" dirty="0"/>
          </a:p>
          <a:p>
            <a:pPr marL="648000" indent="-285750" algn="just">
              <a:lnSpc>
                <a:spcPct val="120000"/>
              </a:lnSpc>
              <a:buFont typeface="Arial" panose="020B0604020202020204" pitchFamily="34" charset="0"/>
              <a:buChar char="•"/>
            </a:pPr>
            <a:r>
              <a:rPr lang="zh-CN" altLang="en-US" sz="3000" dirty="0">
                <a:solidFill>
                  <a:srgbClr val="FF0000"/>
                </a:solidFill>
              </a:rPr>
              <a:t>(4) 无信贷记录企业的信誉评级的确定方法</a:t>
            </a:r>
            <a:r>
              <a:rPr lang="zh-CN" altLang="en-US" sz="3000" dirty="0"/>
              <a:t>：机器学习、Logistic回归、多元线性回归等。</a:t>
            </a:r>
          </a:p>
        </p:txBody>
      </p:sp>
      <p:sp>
        <p:nvSpPr>
          <p:cNvPr id="4" name="Rectangle 3">
            <a:extLst>
              <a:ext uri="{FF2B5EF4-FFF2-40B4-BE49-F238E27FC236}">
                <a16:creationId xmlns:a16="http://schemas.microsoft.com/office/drawing/2014/main" id="{DA7464E7-1F61-45A6-B0D8-D9D145929FCD}"/>
              </a:ext>
            </a:extLst>
          </p:cNvPr>
          <p:cNvSpPr/>
          <p:nvPr/>
        </p:nvSpPr>
        <p:spPr>
          <a:xfrm>
            <a:off x="517025" y="539234"/>
            <a:ext cx="1210588" cy="400110"/>
          </a:xfrm>
          <a:prstGeom prst="rect">
            <a:avLst/>
          </a:prstGeom>
        </p:spPr>
        <p:txBody>
          <a:bodyPr wrap="none">
            <a:spAutoFit/>
          </a:bodyPr>
          <a:lstStyle/>
          <a:p>
            <a:r>
              <a:rPr lang="zh-CN" altLang="en-US" sz="2000" b="1" dirty="0">
                <a:solidFill>
                  <a:srgbClr val="FF0000"/>
                </a:solidFill>
              </a:rPr>
              <a:t>综合评述</a:t>
            </a:r>
          </a:p>
        </p:txBody>
      </p:sp>
    </p:spTree>
    <p:extLst>
      <p:ext uri="{BB962C8B-B14F-4D97-AF65-F5344CB8AC3E}">
        <p14:creationId xmlns:p14="http://schemas.microsoft.com/office/powerpoint/2010/main" val="8547004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98893C8-8A7D-4142-B8A8-EE07ED5F566C}"/>
              </a:ext>
            </a:extLst>
          </p:cNvPr>
          <p:cNvSpPr/>
          <p:nvPr/>
        </p:nvSpPr>
        <p:spPr>
          <a:xfrm>
            <a:off x="343711" y="1185339"/>
            <a:ext cx="11115472" cy="5434501"/>
          </a:xfrm>
          <a:prstGeom prst="rect">
            <a:avLst/>
          </a:prstGeom>
        </p:spPr>
        <p:txBody>
          <a:bodyPr wrap="square">
            <a:spAutoFit/>
          </a:bodyPr>
          <a:lstStyle/>
          <a:p>
            <a:pPr marL="457200" indent="-457200" algn="just">
              <a:lnSpc>
                <a:spcPct val="130000"/>
              </a:lnSpc>
              <a:buFont typeface="Wingdings" panose="05000000000000000000" pitchFamily="2" charset="2"/>
              <a:buChar char="Ø"/>
            </a:pPr>
            <a:r>
              <a:rPr lang="zh-CN" altLang="en-US" sz="3000" b="1" dirty="0"/>
              <a:t>不适用的模型和方法</a:t>
            </a:r>
            <a:endParaRPr lang="en-US" altLang="zh-CN" sz="3000" b="1" dirty="0"/>
          </a:p>
          <a:p>
            <a:pPr marL="1008000" indent="-457200" algn="just">
              <a:lnSpc>
                <a:spcPct val="130000"/>
              </a:lnSpc>
              <a:buFont typeface="Arial" panose="020B0604020202020204" pitchFamily="34" charset="0"/>
              <a:buChar char="•"/>
            </a:pPr>
            <a:r>
              <a:rPr lang="zh-CN" altLang="en-US" sz="3000" dirty="0">
                <a:solidFill>
                  <a:srgbClr val="FF0000"/>
                </a:solidFill>
              </a:rPr>
              <a:t>(1) 多指标的选择方法</a:t>
            </a:r>
            <a:r>
              <a:rPr lang="zh-CN" altLang="en-US" sz="3000" dirty="0"/>
              <a:t>：主成分分析、因子分析等。</a:t>
            </a:r>
            <a:endParaRPr lang="en-US" altLang="zh-CN" sz="3000" dirty="0"/>
          </a:p>
          <a:p>
            <a:pPr marL="1008000" indent="-457200" algn="just">
              <a:lnSpc>
                <a:spcPct val="130000"/>
              </a:lnSpc>
              <a:buFont typeface="Arial" panose="020B0604020202020204" pitchFamily="34" charset="0"/>
              <a:buChar char="•"/>
            </a:pPr>
            <a:r>
              <a:rPr lang="zh-CN" altLang="en-US" sz="3000" dirty="0">
                <a:solidFill>
                  <a:srgbClr val="FF0000"/>
                </a:solidFill>
              </a:rPr>
              <a:t>(2) 信贷风险的量化分析方法</a:t>
            </a:r>
            <a:r>
              <a:rPr lang="zh-CN" altLang="en-US" sz="3000" dirty="0"/>
              <a:t>：AHP、模糊综合评价、TOPSIS等简单的线性加权方法。</a:t>
            </a:r>
            <a:endParaRPr lang="en-US" altLang="zh-CN" sz="3000" dirty="0"/>
          </a:p>
          <a:p>
            <a:pPr marL="1008000" indent="-457200" algn="just">
              <a:lnSpc>
                <a:spcPct val="130000"/>
              </a:lnSpc>
              <a:buFont typeface="Arial" panose="020B0604020202020204" pitchFamily="34" charset="0"/>
              <a:buChar char="•"/>
            </a:pPr>
            <a:r>
              <a:rPr lang="zh-CN" altLang="en-US" sz="3000" dirty="0">
                <a:solidFill>
                  <a:srgbClr val="FF0000"/>
                </a:solidFill>
              </a:rPr>
              <a:t>(3) 无信贷记录企业的信誉评级的确定方法</a:t>
            </a:r>
            <a:r>
              <a:rPr lang="zh-CN" altLang="en-US" sz="3000" dirty="0"/>
              <a:t>：没有模型的信誉评级、没有检验过程回归拟合、灰色预测等。</a:t>
            </a:r>
            <a:endParaRPr lang="en-US" altLang="zh-CN" sz="3000" dirty="0"/>
          </a:p>
          <a:p>
            <a:pPr marL="1008000" indent="-457200" algn="just">
              <a:lnSpc>
                <a:spcPct val="130000"/>
              </a:lnSpc>
              <a:buFont typeface="Arial" panose="020B0604020202020204" pitchFamily="34" charset="0"/>
              <a:buChar char="•"/>
            </a:pPr>
            <a:r>
              <a:rPr lang="zh-CN" altLang="en-US" sz="3000" dirty="0">
                <a:solidFill>
                  <a:srgbClr val="FF0000"/>
                </a:solidFill>
              </a:rPr>
              <a:t>(4) 信贷决策模型</a:t>
            </a:r>
            <a:r>
              <a:rPr lang="zh-CN" altLang="en-US" sz="3000" dirty="0"/>
              <a:t>：无明确优化目标的模型、不考虑信贷风险的总收益最大的优化模型、约束不完全的形式优化模型、不考虑信誉评级的决策模型等。</a:t>
            </a:r>
          </a:p>
        </p:txBody>
      </p:sp>
      <p:sp>
        <p:nvSpPr>
          <p:cNvPr id="5" name="Rectangle 4">
            <a:extLst>
              <a:ext uri="{FF2B5EF4-FFF2-40B4-BE49-F238E27FC236}">
                <a16:creationId xmlns:a16="http://schemas.microsoft.com/office/drawing/2014/main" id="{14AFBDB2-2346-49E9-8E89-9486197A0EA1}"/>
              </a:ext>
            </a:extLst>
          </p:cNvPr>
          <p:cNvSpPr/>
          <p:nvPr/>
        </p:nvSpPr>
        <p:spPr>
          <a:xfrm>
            <a:off x="517025" y="539234"/>
            <a:ext cx="1210588" cy="400110"/>
          </a:xfrm>
          <a:prstGeom prst="rect">
            <a:avLst/>
          </a:prstGeom>
        </p:spPr>
        <p:txBody>
          <a:bodyPr wrap="none">
            <a:spAutoFit/>
          </a:bodyPr>
          <a:lstStyle/>
          <a:p>
            <a:r>
              <a:rPr lang="zh-CN" altLang="en-US" sz="2000" b="1" dirty="0">
                <a:solidFill>
                  <a:srgbClr val="FF0000"/>
                </a:solidFill>
              </a:rPr>
              <a:t>综合评述</a:t>
            </a:r>
          </a:p>
        </p:txBody>
      </p:sp>
    </p:spTree>
    <p:extLst>
      <p:ext uri="{BB962C8B-B14F-4D97-AF65-F5344CB8AC3E}">
        <p14:creationId xmlns:p14="http://schemas.microsoft.com/office/powerpoint/2010/main" val="23865111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D4D884D-B283-4950-9229-831C1F9DAF4D}"/>
              </a:ext>
            </a:extLst>
          </p:cNvPr>
          <p:cNvSpPr/>
          <p:nvPr/>
        </p:nvSpPr>
        <p:spPr>
          <a:xfrm>
            <a:off x="739306" y="1418800"/>
            <a:ext cx="10564238" cy="4475328"/>
          </a:xfrm>
          <a:prstGeom prst="rect">
            <a:avLst/>
          </a:prstGeom>
        </p:spPr>
        <p:txBody>
          <a:bodyPr wrap="square">
            <a:spAutoFit/>
          </a:bodyPr>
          <a:lstStyle/>
          <a:p>
            <a:pPr marL="457200" indent="-457200" algn="just">
              <a:lnSpc>
                <a:spcPct val="114000"/>
              </a:lnSpc>
              <a:buFont typeface="Wingdings" panose="05000000000000000000" pitchFamily="2" charset="2"/>
              <a:buChar char="Ø"/>
            </a:pPr>
            <a:r>
              <a:rPr lang="zh-CN" altLang="en-US" sz="2800" b="1" dirty="0"/>
              <a:t>(1) 实际的问题，实际的数据：易读易懂、看似容易，但要真实地解决问题很难；开放性很强，也很有挑战性。虽然选题的很多，但针对问题</a:t>
            </a:r>
            <a:r>
              <a:rPr lang="zh-CN" altLang="en-US" sz="2800" b="1" dirty="0">
                <a:solidFill>
                  <a:srgbClr val="FF0000"/>
                </a:solidFill>
              </a:rPr>
              <a:t>深入研究的不多，完成质量高的更少</a:t>
            </a:r>
            <a:r>
              <a:rPr lang="zh-CN" altLang="en-US" sz="2800" b="1" dirty="0"/>
              <a:t>。</a:t>
            </a:r>
            <a:endParaRPr lang="en-US" altLang="zh-CN" sz="2800" b="1" dirty="0"/>
          </a:p>
          <a:p>
            <a:pPr marL="457200" indent="-457200" algn="just">
              <a:lnSpc>
                <a:spcPct val="114000"/>
              </a:lnSpc>
              <a:buFont typeface="Wingdings" panose="05000000000000000000" pitchFamily="2" charset="2"/>
              <a:buChar char="Ø"/>
            </a:pPr>
            <a:r>
              <a:rPr lang="zh-CN" altLang="en-US" sz="2800" b="1" dirty="0"/>
              <a:t>(2)</a:t>
            </a:r>
            <a:r>
              <a:rPr lang="en-US" altLang="zh-CN" sz="2800" b="1" dirty="0"/>
              <a:t> </a:t>
            </a:r>
            <a:r>
              <a:rPr lang="zh-CN" altLang="en-US" sz="2800" b="1" dirty="0"/>
              <a:t>该问题是一个典型的风险决策问题，</a:t>
            </a:r>
            <a:r>
              <a:rPr lang="zh-CN" altLang="en-US" sz="2800" b="1" dirty="0">
                <a:solidFill>
                  <a:srgbClr val="FF0000"/>
                </a:solidFill>
              </a:rPr>
              <a:t>信贷风险的量化</a:t>
            </a:r>
            <a:r>
              <a:rPr lang="zh-CN" altLang="en-US" sz="2800" b="1" dirty="0"/>
              <a:t>是一个重要内容。一些参赛队简单地将问题视为一个综合评价问题，把所有相关因素指标简单地用综合加权综合到一起，综合指标的含义是什么?</a:t>
            </a:r>
            <a:endParaRPr lang="en-US" altLang="zh-CN" sz="2800" b="1" dirty="0"/>
          </a:p>
          <a:p>
            <a:pPr marL="457200" indent="-457200" algn="just">
              <a:lnSpc>
                <a:spcPct val="114000"/>
              </a:lnSpc>
              <a:buFont typeface="Wingdings" panose="05000000000000000000" pitchFamily="2" charset="2"/>
              <a:buChar char="Ø"/>
            </a:pPr>
            <a:r>
              <a:rPr lang="en-US" altLang="zh-CN" sz="2800" b="1" dirty="0"/>
              <a:t>(3) </a:t>
            </a:r>
            <a:r>
              <a:rPr lang="zh-CN" altLang="en-US" sz="2800" b="1" dirty="0"/>
              <a:t>有些信贷决策模型只是形式优化模型，单目标、变量多、约束少，</a:t>
            </a:r>
            <a:r>
              <a:rPr lang="zh-CN" altLang="en-US" sz="2800" b="1" dirty="0">
                <a:solidFill>
                  <a:srgbClr val="FF0000"/>
                </a:solidFill>
              </a:rPr>
              <a:t>直观的结果与模型无关</a:t>
            </a:r>
            <a:r>
              <a:rPr lang="zh-CN" altLang="en-US" sz="2800" b="1" dirty="0"/>
              <a:t>。</a:t>
            </a:r>
          </a:p>
        </p:txBody>
      </p:sp>
      <p:sp>
        <p:nvSpPr>
          <p:cNvPr id="5" name="Rectangle 4">
            <a:extLst>
              <a:ext uri="{FF2B5EF4-FFF2-40B4-BE49-F238E27FC236}">
                <a16:creationId xmlns:a16="http://schemas.microsoft.com/office/drawing/2014/main" id="{04F443C0-AD77-4C67-B367-B9A1DAE02853}"/>
              </a:ext>
            </a:extLst>
          </p:cNvPr>
          <p:cNvSpPr/>
          <p:nvPr/>
        </p:nvSpPr>
        <p:spPr>
          <a:xfrm>
            <a:off x="517025" y="539234"/>
            <a:ext cx="1210588" cy="400110"/>
          </a:xfrm>
          <a:prstGeom prst="rect">
            <a:avLst/>
          </a:prstGeom>
        </p:spPr>
        <p:txBody>
          <a:bodyPr wrap="none">
            <a:spAutoFit/>
          </a:bodyPr>
          <a:lstStyle/>
          <a:p>
            <a:r>
              <a:rPr lang="zh-CN" altLang="en-US" sz="2000" b="1" dirty="0">
                <a:solidFill>
                  <a:srgbClr val="FF0000"/>
                </a:solidFill>
              </a:rPr>
              <a:t>综合评述</a:t>
            </a:r>
          </a:p>
        </p:txBody>
      </p:sp>
    </p:spTree>
    <p:extLst>
      <p:ext uri="{BB962C8B-B14F-4D97-AF65-F5344CB8AC3E}">
        <p14:creationId xmlns:p14="http://schemas.microsoft.com/office/powerpoint/2010/main" val="20940554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CBFD6D6-F3D2-42C7-8D58-A5FEBD063B85}"/>
              </a:ext>
            </a:extLst>
          </p:cNvPr>
          <p:cNvSpPr/>
          <p:nvPr/>
        </p:nvSpPr>
        <p:spPr>
          <a:xfrm>
            <a:off x="758761" y="1379890"/>
            <a:ext cx="10564238" cy="4966552"/>
          </a:xfrm>
          <a:prstGeom prst="rect">
            <a:avLst/>
          </a:prstGeom>
        </p:spPr>
        <p:txBody>
          <a:bodyPr wrap="square">
            <a:spAutoFit/>
          </a:bodyPr>
          <a:lstStyle/>
          <a:p>
            <a:pPr marL="457200" indent="-457200" algn="just">
              <a:lnSpc>
                <a:spcPct val="114000"/>
              </a:lnSpc>
              <a:buFont typeface="Wingdings" panose="05000000000000000000" pitchFamily="2" charset="2"/>
              <a:buChar char="Ø"/>
            </a:pPr>
            <a:r>
              <a:rPr lang="en-US" altLang="zh-CN" sz="2800" b="1" dirty="0"/>
              <a:t>(4) </a:t>
            </a:r>
            <a:r>
              <a:rPr lang="zh-CN" altLang="en-US" sz="2800" b="1" dirty="0">
                <a:solidFill>
                  <a:srgbClr val="FF0000"/>
                </a:solidFill>
              </a:rPr>
              <a:t>有的利用机器学习，没有说明训练样本和验证样本各是什么，即便是交叉检验也应设定相应比例。有的用神经网络只抄了一般算法，没有具体实现过程，输入与输出是什么，又如何实现</a:t>
            </a:r>
            <a:r>
              <a:rPr lang="en-US" altLang="zh-CN" sz="2800" b="1" dirty="0">
                <a:solidFill>
                  <a:srgbClr val="FF0000"/>
                </a:solidFill>
              </a:rPr>
              <a:t>?</a:t>
            </a:r>
          </a:p>
          <a:p>
            <a:pPr marL="457200" indent="-457200" algn="just">
              <a:lnSpc>
                <a:spcPct val="114000"/>
              </a:lnSpc>
              <a:buFont typeface="Wingdings" panose="05000000000000000000" pitchFamily="2" charset="2"/>
              <a:buChar char="Ø"/>
            </a:pPr>
            <a:r>
              <a:rPr lang="en-US" altLang="zh-CN" sz="2800" b="1" dirty="0"/>
              <a:t>(5) </a:t>
            </a:r>
            <a:r>
              <a:rPr lang="zh-CN" altLang="en-US" sz="2800" b="1" dirty="0"/>
              <a:t>由于问题的开放性，无固定模型和方法，更无确定结果，几乎无可参考的资料。有的参赛队</a:t>
            </a:r>
            <a:r>
              <a:rPr lang="zh-CN" altLang="en-US" sz="2800" b="1" dirty="0">
                <a:solidFill>
                  <a:srgbClr val="FF0000"/>
                </a:solidFill>
              </a:rPr>
              <a:t>死搬硬套</a:t>
            </a:r>
            <a:r>
              <a:rPr lang="zh-CN" altLang="en-US" sz="2800" b="1" dirty="0"/>
              <a:t>或</a:t>
            </a:r>
            <a:r>
              <a:rPr lang="zh-CN" altLang="en-US" sz="2800" b="1" dirty="0">
                <a:solidFill>
                  <a:srgbClr val="FF0000"/>
                </a:solidFill>
              </a:rPr>
              <a:t>照抄</a:t>
            </a:r>
            <a:r>
              <a:rPr lang="zh-CN" altLang="en-US" sz="2800" b="1" dirty="0"/>
              <a:t>了一些不相关的模型、方法和不搭界的所谓“高大上”的算法。</a:t>
            </a:r>
            <a:endParaRPr lang="en-US" altLang="zh-CN" sz="2800" b="1" dirty="0"/>
          </a:p>
          <a:p>
            <a:pPr marL="457200" indent="-457200" algn="just">
              <a:lnSpc>
                <a:spcPct val="114000"/>
              </a:lnSpc>
              <a:buFont typeface="Wingdings" panose="05000000000000000000" pitchFamily="2" charset="2"/>
              <a:buChar char="Ø"/>
            </a:pPr>
            <a:r>
              <a:rPr lang="en-US" altLang="zh-CN" sz="2800" b="1" dirty="0"/>
              <a:t>(6) </a:t>
            </a:r>
            <a:r>
              <a:rPr lang="zh-CN" altLang="en-US" sz="2800" b="1" dirty="0"/>
              <a:t>从竞赛论文的表述看，搬方法、套模型、抄算法的“</a:t>
            </a:r>
            <a:r>
              <a:rPr lang="zh-CN" altLang="en-US" sz="2800" b="1" dirty="0">
                <a:solidFill>
                  <a:srgbClr val="FF0000"/>
                </a:solidFill>
              </a:rPr>
              <a:t>套路化</a:t>
            </a:r>
            <a:r>
              <a:rPr lang="zh-CN" altLang="en-US" sz="2800" b="1" dirty="0"/>
              <a:t>”做法仍存在，形式化和虚拟化的表面文章过多”</a:t>
            </a:r>
            <a:r>
              <a:rPr lang="zh-CN" altLang="en-US" sz="2800" b="1" dirty="0">
                <a:solidFill>
                  <a:srgbClr val="FF0000"/>
                </a:solidFill>
              </a:rPr>
              <a:t>模板化</a:t>
            </a:r>
            <a:r>
              <a:rPr lang="zh-CN" altLang="en-US" sz="2800" b="1" dirty="0"/>
              <a:t>”和“</a:t>
            </a:r>
            <a:r>
              <a:rPr lang="zh-CN" altLang="en-US" sz="2800" b="1" dirty="0">
                <a:solidFill>
                  <a:srgbClr val="FF0000"/>
                </a:solidFill>
              </a:rPr>
              <a:t>套路化</a:t>
            </a:r>
            <a:r>
              <a:rPr lang="zh-CN" altLang="en-US" sz="2800" b="1" dirty="0"/>
              <a:t>”的论文较为普遍。没有特性，没有针对性，何以创新。</a:t>
            </a:r>
          </a:p>
        </p:txBody>
      </p:sp>
      <p:sp>
        <p:nvSpPr>
          <p:cNvPr id="3" name="Rectangle 2">
            <a:extLst>
              <a:ext uri="{FF2B5EF4-FFF2-40B4-BE49-F238E27FC236}">
                <a16:creationId xmlns:a16="http://schemas.microsoft.com/office/drawing/2014/main" id="{17EB5892-55D2-49E0-9AD5-DF922B942B0D}"/>
              </a:ext>
            </a:extLst>
          </p:cNvPr>
          <p:cNvSpPr/>
          <p:nvPr/>
        </p:nvSpPr>
        <p:spPr>
          <a:xfrm>
            <a:off x="517025" y="539234"/>
            <a:ext cx="1210588" cy="400110"/>
          </a:xfrm>
          <a:prstGeom prst="rect">
            <a:avLst/>
          </a:prstGeom>
        </p:spPr>
        <p:txBody>
          <a:bodyPr wrap="none">
            <a:spAutoFit/>
          </a:bodyPr>
          <a:lstStyle/>
          <a:p>
            <a:r>
              <a:rPr lang="zh-CN" altLang="en-US" sz="2000" b="1" dirty="0">
                <a:solidFill>
                  <a:srgbClr val="FF0000"/>
                </a:solidFill>
              </a:rPr>
              <a:t>综合评述</a:t>
            </a:r>
          </a:p>
        </p:txBody>
      </p:sp>
    </p:spTree>
    <p:extLst>
      <p:ext uri="{BB962C8B-B14F-4D97-AF65-F5344CB8AC3E}">
        <p14:creationId xmlns:p14="http://schemas.microsoft.com/office/powerpoint/2010/main" val="1791795292"/>
      </p:ext>
    </p:extLst>
  </p:cSld>
  <p:clrMapOvr>
    <a:masterClrMapping/>
  </p:clrMapOvr>
</p:sld>
</file>

<file path=ppt/theme/theme1.xml><?xml version="1.0" encoding="utf-8"?>
<a:theme xmlns:a="http://schemas.openxmlformats.org/drawingml/2006/main" name="自定义设计方案">
  <a:themeElements>
    <a:clrScheme name="PPT效率库保存的主题色-20220601122027">
      <a:dk1>
        <a:srgbClr val="000000"/>
      </a:dk1>
      <a:lt1>
        <a:srgbClr val="FFFFFF"/>
      </a:lt1>
      <a:dk2>
        <a:srgbClr val="404040"/>
      </a:dk2>
      <a:lt2>
        <a:srgbClr val="D9D9D9"/>
      </a:lt2>
      <a:accent1>
        <a:srgbClr val="1D4F91"/>
      </a:accent1>
      <a:accent2>
        <a:srgbClr val="009CDE"/>
      </a:accent2>
      <a:accent3>
        <a:srgbClr val="333F48"/>
      </a:accent3>
      <a:accent4>
        <a:srgbClr val="94C8E8"/>
      </a:accent4>
      <a:accent5>
        <a:srgbClr val="4C5F75"/>
      </a:accent5>
      <a:accent6>
        <a:srgbClr val="00233E"/>
      </a:accent6>
      <a:hlink>
        <a:srgbClr val="0000FF"/>
      </a:hlink>
      <a:folHlink>
        <a:srgbClr val="800080"/>
      </a:folHlink>
    </a:clrScheme>
    <a:fontScheme name="uihwra32">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6903</TotalTime>
  <Words>3661</Words>
  <Application>Microsoft Office PowerPoint</Application>
  <PresentationFormat>宽屏</PresentationFormat>
  <Paragraphs>241</Paragraphs>
  <Slides>49</Slides>
  <Notes>22</Notes>
  <HiddenSlides>1</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49</vt:i4>
      </vt:variant>
    </vt:vector>
  </HeadingPairs>
  <TitlesOfParts>
    <vt:vector size="62" baseType="lpstr">
      <vt:lpstr>system-ui</vt:lpstr>
      <vt:lpstr>等线</vt:lpstr>
      <vt:lpstr>华文楷体</vt:lpstr>
      <vt:lpstr>思源黑体 CN Bold</vt:lpstr>
      <vt:lpstr>思源黑体 CN Light</vt:lpstr>
      <vt:lpstr>宋体</vt:lpstr>
      <vt:lpstr>微软雅黑</vt:lpstr>
      <vt:lpstr>Arial</vt:lpstr>
      <vt:lpstr>Calibri</vt:lpstr>
      <vt:lpstr>Cambria Math</vt:lpstr>
      <vt:lpstr>Times New Roman</vt:lpstr>
      <vt:lpstr>Wingdings</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liang kaihao</dc:creator>
  <cp:lastModifiedBy>xubin17@cdut.edu.cn</cp:lastModifiedBy>
  <cp:revision>275</cp:revision>
  <dcterms:created xsi:type="dcterms:W3CDTF">2022-06-30T13:16:37Z</dcterms:created>
  <dcterms:modified xsi:type="dcterms:W3CDTF">2026-07-19T12:37:17Z</dcterms:modified>
</cp:coreProperties>
</file>