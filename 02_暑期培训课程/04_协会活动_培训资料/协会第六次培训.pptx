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6256000" cy="9144000"/>
  <p:notesSz cx="9144000" cy="16256000"/>
  <p:embeddedFontLst>
    <p:embeddedFont>
      <p:font typeface="MiSans" pitchFamily="34" charset="-122"/>
      <p:regular r:id="rId37"/>
    </p:embeddedFont>
    <p:embeddedFont>
      <p:font typeface="MiSans" pitchFamily="34" charset="-120"/>
      <p:regular r:id="rId38"/>
    </p:embeddedFont>
    <p:embeddedFont>
      <p:font typeface="阿里妈妈数黑体" pitchFamily="34" charset="-122"/>
      <p:bold r:id="rId39"/>
    </p:embeddedFont>
    <p:embeddedFont>
      <p:font typeface="阿里妈妈数黑体" pitchFamily="34" charset="-120"/>
      <p:bold r:id="rId40"/>
    </p:embeddedFont>
    <p:embeddedFont>
      <p:font typeface="Calibri" panose="020F0502020204030204" charset="0"/>
      <p:regular r:id="rId41"/>
      <p:bold r:id="rId42"/>
      <p:italic r:id="rId43"/>
      <p:boldItalic r:id="rId44"/>
    </p:embeddedFont>
    <p:embeddedFont>
      <p:font typeface="微软雅黑" panose="020B0503020204020204" charset="-122"/>
      <p:regular r:id="rId45"/>
    </p:embeddedFont>
    <p:embeddedFont>
      <p:font typeface="微软雅黑" panose="020B0503020204020204" pitchFamily="34" charset="-120"/>
      <p:regular r:id="rId4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font" Target="fonts/font10.fntdata"/><Relationship Id="rId45" Type="http://schemas.openxmlformats.org/officeDocument/2006/relationships/font" Target="fonts/font9.fntdata"/><Relationship Id="rId44" Type="http://schemas.openxmlformats.org/officeDocument/2006/relationships/font" Target="fonts/font8.fntdata"/><Relationship Id="rId43" Type="http://schemas.openxmlformats.org/officeDocument/2006/relationships/font" Target="fonts/font7.fntdata"/><Relationship Id="rId42" Type="http://schemas.openxmlformats.org/officeDocument/2006/relationships/font" Target="fonts/font6.fntdata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2f59e3ead220dc6c6dc489b9c3ec37cf9bea412c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21875" b="21875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12C42">
                  <a:alpha val="90000"/>
                </a:srgbClr>
              </a:gs>
              <a:gs pos="50000">
                <a:srgbClr val="212C42">
                  <a:alpha val="70000"/>
                </a:srgbClr>
              </a:gs>
              <a:gs pos="100000">
                <a:srgbClr val="16A085">
                  <a:alpha val="5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08000" y="1714500"/>
            <a:ext cx="3771900" cy="558800"/>
          </a:xfrm>
          <a:custGeom>
            <a:avLst/>
            <a:gdLst/>
            <a:ahLst/>
            <a:cxnLst/>
            <a:rect l="l" t="t" r="r" b="b"/>
            <a:pathLst>
              <a:path w="3771900" h="558800">
                <a:moveTo>
                  <a:pt x="101601" y="0"/>
                </a:moveTo>
                <a:lnTo>
                  <a:pt x="3670299" y="0"/>
                </a:lnTo>
                <a:cubicBezTo>
                  <a:pt x="3726412" y="0"/>
                  <a:pt x="3771900" y="45488"/>
                  <a:pt x="3771900" y="101601"/>
                </a:cubicBezTo>
                <a:lnTo>
                  <a:pt x="3771900" y="457199"/>
                </a:lnTo>
                <a:cubicBezTo>
                  <a:pt x="3771900" y="513312"/>
                  <a:pt x="3726412" y="558800"/>
                  <a:pt x="36702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Text 2"/>
          <p:cNvSpPr/>
          <p:nvPr/>
        </p:nvSpPr>
        <p:spPr>
          <a:xfrm>
            <a:off x="762000" y="1816100"/>
            <a:ext cx="3378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90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MATHEMATICAL MODELING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679700"/>
            <a:ext cx="15849600" cy="304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8F9FA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数学建模协会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8F9FA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第六次培训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6032500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8" name="Text 5"/>
          <p:cNvSpPr/>
          <p:nvPr/>
        </p:nvSpPr>
        <p:spPr>
          <a:xfrm>
            <a:off x="508000" y="65151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F8F9FA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五大核心模型类型详解与应用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5150" y="8280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0"/>
                </a:moveTo>
                <a:cubicBezTo>
                  <a:pt x="65663" y="0"/>
                  <a:pt x="57150" y="8513"/>
                  <a:pt x="57150" y="19050"/>
                </a:cubicBezTo>
                <a:lnTo>
                  <a:pt x="57150" y="38100"/>
                </a:lnTo>
                <a:lnTo>
                  <a:pt x="38100" y="38100"/>
                </a:lnTo>
                <a:cubicBezTo>
                  <a:pt x="17085" y="38100"/>
                  <a:pt x="0" y="55185"/>
                  <a:pt x="0" y="76200"/>
                </a:cubicBezTo>
                <a:lnTo>
                  <a:pt x="0" y="104775"/>
                </a:lnTo>
                <a:lnTo>
                  <a:pt x="266700" y="104775"/>
                </a:lnTo>
                <a:lnTo>
                  <a:pt x="266700" y="76200"/>
                </a:lnTo>
                <a:cubicBezTo>
                  <a:pt x="266700" y="55185"/>
                  <a:pt x="249615" y="38100"/>
                  <a:pt x="228600" y="38100"/>
                </a:cubicBezTo>
                <a:lnTo>
                  <a:pt x="209550" y="38100"/>
                </a:lnTo>
                <a:lnTo>
                  <a:pt x="209550" y="19050"/>
                </a:lnTo>
                <a:cubicBezTo>
                  <a:pt x="209550" y="8513"/>
                  <a:pt x="201037" y="0"/>
                  <a:pt x="190500" y="0"/>
                </a:cubicBezTo>
                <a:cubicBezTo>
                  <a:pt x="179963" y="0"/>
                  <a:pt x="171450" y="8513"/>
                  <a:pt x="171450" y="19050"/>
                </a:cubicBezTo>
                <a:lnTo>
                  <a:pt x="171450" y="38100"/>
                </a:lnTo>
                <a:lnTo>
                  <a:pt x="95250" y="38100"/>
                </a:lnTo>
                <a:lnTo>
                  <a:pt x="95250" y="19050"/>
                </a:lnTo>
                <a:cubicBezTo>
                  <a:pt x="95250" y="8513"/>
                  <a:pt x="86737" y="0"/>
                  <a:pt x="76200" y="0"/>
                </a:cubicBezTo>
                <a:close/>
                <a:moveTo>
                  <a:pt x="0" y="133350"/>
                </a:move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0" name="Text 7"/>
          <p:cNvSpPr/>
          <p:nvPr/>
        </p:nvSpPr>
        <p:spPr>
          <a:xfrm>
            <a:off x="1041400" y="8255000"/>
            <a:ext cx="1473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2025年12月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94794" y="8229600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40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3213894" y="8280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3" name="Text 10"/>
          <p:cNvSpPr/>
          <p:nvPr/>
        </p:nvSpPr>
        <p:spPr>
          <a:xfrm>
            <a:off x="3747294" y="825500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数学建模协会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54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90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1016000"/>
            <a:ext cx="15621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培训内容概览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981200"/>
            <a:ext cx="1625600" cy="76200"/>
          </a:xfrm>
          <a:custGeom>
            <a:avLst/>
            <a:gdLst/>
            <a:ahLst/>
            <a:cxnLst/>
            <a:rect l="l" t="t" r="r" b="b"/>
            <a:pathLst>
              <a:path w="1625600" h="76200">
                <a:moveTo>
                  <a:pt x="0" y="0"/>
                </a:moveTo>
                <a:lnTo>
                  <a:pt x="1625600" y="0"/>
                </a:lnTo>
                <a:lnTo>
                  <a:pt x="16256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533400" y="2463800"/>
            <a:ext cx="4851400" cy="2362200"/>
          </a:xfrm>
          <a:custGeom>
            <a:avLst/>
            <a:gdLst/>
            <a:ahLst/>
            <a:cxnLst/>
            <a:rect l="l" t="t" r="r" b="b"/>
            <a:pathLst>
              <a:path w="4851400" h="2362200">
                <a:moveTo>
                  <a:pt x="50800" y="0"/>
                </a:moveTo>
                <a:lnTo>
                  <a:pt x="4698991" y="0"/>
                </a:lnTo>
                <a:cubicBezTo>
                  <a:pt x="4783108" y="0"/>
                  <a:pt x="4851400" y="68292"/>
                  <a:pt x="4851400" y="152409"/>
                </a:cubicBezTo>
                <a:lnTo>
                  <a:pt x="4851400" y="2209791"/>
                </a:lnTo>
                <a:cubicBezTo>
                  <a:pt x="4851400" y="2293964"/>
                  <a:pt x="4783164" y="2362200"/>
                  <a:pt x="4698991" y="2362200"/>
                </a:cubicBez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3400" y="2463800"/>
            <a:ext cx="50800" cy="2362200"/>
          </a:xfrm>
          <a:custGeom>
            <a:avLst/>
            <a:gdLst/>
            <a:ahLst/>
            <a:cxnLst/>
            <a:rect l="l" t="t" r="r" b="b"/>
            <a:pathLst>
              <a:path w="50800" h="2362200">
                <a:moveTo>
                  <a:pt x="50800" y="0"/>
                </a:moveTo>
                <a:lnTo>
                  <a:pt x="50800" y="0"/>
                </a:lnTo>
                <a:lnTo>
                  <a:pt x="50800" y="2362200"/>
                </a:ln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7" name="Shape 5"/>
          <p:cNvSpPr/>
          <p:nvPr/>
        </p:nvSpPr>
        <p:spPr>
          <a:xfrm>
            <a:off x="863600" y="2768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8" name="Text 6"/>
          <p:cNvSpPr/>
          <p:nvPr/>
        </p:nvSpPr>
        <p:spPr>
          <a:xfrm>
            <a:off x="787400" y="2768600"/>
            <a:ext cx="8636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29210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预测模型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" y="3683000"/>
            <a:ext cx="4318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推未来——基于历史规律的时间与因果推断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" y="41656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863600" y="4165600"/>
            <a:ext cx="11049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时间序列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81200" y="41656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981200" y="4165600"/>
            <a:ext cx="11049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回归分析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98800" y="41656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3098800" y="4165600"/>
            <a:ext cx="11049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机器学习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0" y="2463800"/>
            <a:ext cx="4851400" cy="2362200"/>
          </a:xfrm>
          <a:custGeom>
            <a:avLst/>
            <a:gdLst/>
            <a:ahLst/>
            <a:cxnLst/>
            <a:rect l="l" t="t" r="r" b="b"/>
            <a:pathLst>
              <a:path w="4851400" h="2362200">
                <a:moveTo>
                  <a:pt x="50800" y="0"/>
                </a:moveTo>
                <a:lnTo>
                  <a:pt x="4698991" y="0"/>
                </a:lnTo>
                <a:cubicBezTo>
                  <a:pt x="4783108" y="0"/>
                  <a:pt x="4851400" y="68292"/>
                  <a:pt x="4851400" y="152409"/>
                </a:cubicBezTo>
                <a:lnTo>
                  <a:pt x="4851400" y="2209791"/>
                </a:lnTo>
                <a:cubicBezTo>
                  <a:pt x="4851400" y="2293964"/>
                  <a:pt x="4783164" y="2362200"/>
                  <a:pt x="4698991" y="2362200"/>
                </a:cubicBez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0" y="2463800"/>
            <a:ext cx="50800" cy="2362200"/>
          </a:xfrm>
          <a:custGeom>
            <a:avLst/>
            <a:gdLst/>
            <a:ahLst/>
            <a:cxnLst/>
            <a:rect l="l" t="t" r="r" b="b"/>
            <a:pathLst>
              <a:path w="50800" h="2362200">
                <a:moveTo>
                  <a:pt x="50800" y="0"/>
                </a:moveTo>
                <a:lnTo>
                  <a:pt x="50800" y="0"/>
                </a:lnTo>
                <a:lnTo>
                  <a:pt x="50800" y="2362200"/>
                </a:ln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19" name="Shape 17"/>
          <p:cNvSpPr/>
          <p:nvPr/>
        </p:nvSpPr>
        <p:spPr>
          <a:xfrm>
            <a:off x="6045200" y="2768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0" name="Text 18"/>
          <p:cNvSpPr/>
          <p:nvPr/>
        </p:nvSpPr>
        <p:spPr>
          <a:xfrm>
            <a:off x="5969000" y="2768600"/>
            <a:ext cx="8636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59600" y="29210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优化模型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45200" y="3683000"/>
            <a:ext cx="4318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寻最优——在约束条件下寻找极值方案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45200" y="41656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6045200" y="4165600"/>
            <a:ext cx="11049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线性规划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62800" y="41656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7162800" y="4165600"/>
            <a:ext cx="11049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整数规划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80400" y="4165600"/>
            <a:ext cx="1193800" cy="355600"/>
          </a:xfrm>
          <a:custGeom>
            <a:avLst/>
            <a:gdLst/>
            <a:ahLst/>
            <a:cxnLst/>
            <a:rect l="l" t="t" r="r" b="b"/>
            <a:pathLst>
              <a:path w="1193800" h="355600">
                <a:moveTo>
                  <a:pt x="177800" y="0"/>
                </a:moveTo>
                <a:lnTo>
                  <a:pt x="1016000" y="0"/>
                </a:lnTo>
                <a:cubicBezTo>
                  <a:pt x="1114130" y="0"/>
                  <a:pt x="1193800" y="79670"/>
                  <a:pt x="1193800" y="177800"/>
                </a:cubicBezTo>
                <a:lnTo>
                  <a:pt x="1193800" y="177800"/>
                </a:lnTo>
                <a:cubicBezTo>
                  <a:pt x="1193800" y="275930"/>
                  <a:pt x="1114130" y="355600"/>
                  <a:pt x="10160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8280400" y="4165600"/>
            <a:ext cx="12827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非线性规划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896600" y="2463800"/>
            <a:ext cx="4851400" cy="2362200"/>
          </a:xfrm>
          <a:custGeom>
            <a:avLst/>
            <a:gdLst/>
            <a:ahLst/>
            <a:cxnLst/>
            <a:rect l="l" t="t" r="r" b="b"/>
            <a:pathLst>
              <a:path w="4851400" h="2362200">
                <a:moveTo>
                  <a:pt x="50800" y="0"/>
                </a:moveTo>
                <a:lnTo>
                  <a:pt x="4698991" y="0"/>
                </a:lnTo>
                <a:cubicBezTo>
                  <a:pt x="4783108" y="0"/>
                  <a:pt x="4851400" y="68292"/>
                  <a:pt x="4851400" y="152409"/>
                </a:cubicBezTo>
                <a:lnTo>
                  <a:pt x="4851400" y="2209791"/>
                </a:lnTo>
                <a:cubicBezTo>
                  <a:pt x="4851400" y="2293964"/>
                  <a:pt x="4783164" y="2362200"/>
                  <a:pt x="4698991" y="2362200"/>
                </a:cubicBez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896600" y="2463800"/>
            <a:ext cx="50800" cy="2362200"/>
          </a:xfrm>
          <a:custGeom>
            <a:avLst/>
            <a:gdLst/>
            <a:ahLst/>
            <a:cxnLst/>
            <a:rect l="l" t="t" r="r" b="b"/>
            <a:pathLst>
              <a:path w="50800" h="2362200">
                <a:moveTo>
                  <a:pt x="50800" y="0"/>
                </a:moveTo>
                <a:lnTo>
                  <a:pt x="50800" y="0"/>
                </a:lnTo>
                <a:lnTo>
                  <a:pt x="50800" y="2362200"/>
                </a:ln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31" name="Shape 29"/>
          <p:cNvSpPr/>
          <p:nvPr/>
        </p:nvSpPr>
        <p:spPr>
          <a:xfrm>
            <a:off x="11226800" y="2768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32" name="Text 30"/>
          <p:cNvSpPr/>
          <p:nvPr/>
        </p:nvSpPr>
        <p:spPr>
          <a:xfrm>
            <a:off x="11150600" y="2768600"/>
            <a:ext cx="8636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141200" y="29210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评价模型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226800" y="3683000"/>
            <a:ext cx="4318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定优劣——构建科学指标体系进行量化打分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226800" y="4165600"/>
            <a:ext cx="660400" cy="355600"/>
          </a:xfrm>
          <a:custGeom>
            <a:avLst/>
            <a:gdLst/>
            <a:ahLst/>
            <a:cxnLst/>
            <a:rect l="l" t="t" r="r" b="b"/>
            <a:pathLst>
              <a:path w="660400" h="355600">
                <a:moveTo>
                  <a:pt x="177800" y="0"/>
                </a:moveTo>
                <a:lnTo>
                  <a:pt x="482600" y="0"/>
                </a:lnTo>
                <a:cubicBezTo>
                  <a:pt x="580730" y="0"/>
                  <a:pt x="660400" y="79670"/>
                  <a:pt x="660400" y="177800"/>
                </a:cubicBezTo>
                <a:lnTo>
                  <a:pt x="660400" y="177800"/>
                </a:lnTo>
                <a:cubicBezTo>
                  <a:pt x="660400" y="275930"/>
                  <a:pt x="580730" y="355600"/>
                  <a:pt x="4826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11226800" y="4165600"/>
            <a:ext cx="7493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AHP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986895" y="4165600"/>
            <a:ext cx="838200" cy="355600"/>
          </a:xfrm>
          <a:custGeom>
            <a:avLst/>
            <a:gdLst/>
            <a:ahLst/>
            <a:cxnLst/>
            <a:rect l="l" t="t" r="r" b="b"/>
            <a:pathLst>
              <a:path w="838200" h="355600">
                <a:moveTo>
                  <a:pt x="177800" y="0"/>
                </a:moveTo>
                <a:lnTo>
                  <a:pt x="660400" y="0"/>
                </a:lnTo>
                <a:cubicBezTo>
                  <a:pt x="758530" y="0"/>
                  <a:pt x="838200" y="79670"/>
                  <a:pt x="838200" y="177800"/>
                </a:cubicBezTo>
                <a:lnTo>
                  <a:pt x="838200" y="177800"/>
                </a:lnTo>
                <a:cubicBezTo>
                  <a:pt x="838200" y="275930"/>
                  <a:pt x="758530" y="355600"/>
                  <a:pt x="6604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11986895" y="4165600"/>
            <a:ext cx="9271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熵权法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926695" y="41656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177800" y="0"/>
                </a:moveTo>
                <a:lnTo>
                  <a:pt x="736600" y="0"/>
                </a:lnTo>
                <a:cubicBezTo>
                  <a:pt x="834730" y="0"/>
                  <a:pt x="914400" y="79670"/>
                  <a:pt x="914400" y="177800"/>
                </a:cubicBezTo>
                <a:lnTo>
                  <a:pt x="914400" y="177800"/>
                </a:lnTo>
                <a:cubicBezTo>
                  <a:pt x="914400" y="275930"/>
                  <a:pt x="834730" y="355600"/>
                  <a:pt x="7366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12926695" y="4165600"/>
            <a:ext cx="10033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TOPSIS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3400" y="5080000"/>
            <a:ext cx="4851400" cy="2362200"/>
          </a:xfrm>
          <a:custGeom>
            <a:avLst/>
            <a:gdLst/>
            <a:ahLst/>
            <a:cxnLst/>
            <a:rect l="l" t="t" r="r" b="b"/>
            <a:pathLst>
              <a:path w="4851400" h="2362200">
                <a:moveTo>
                  <a:pt x="50800" y="0"/>
                </a:moveTo>
                <a:lnTo>
                  <a:pt x="4698991" y="0"/>
                </a:lnTo>
                <a:cubicBezTo>
                  <a:pt x="4783108" y="0"/>
                  <a:pt x="4851400" y="68292"/>
                  <a:pt x="4851400" y="152409"/>
                </a:cubicBezTo>
                <a:lnTo>
                  <a:pt x="4851400" y="2209791"/>
                </a:lnTo>
                <a:cubicBezTo>
                  <a:pt x="4851400" y="2293964"/>
                  <a:pt x="4783164" y="2362200"/>
                  <a:pt x="4698991" y="2362200"/>
                </a:cubicBez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3400" y="5080000"/>
            <a:ext cx="50800" cy="2362200"/>
          </a:xfrm>
          <a:custGeom>
            <a:avLst/>
            <a:gdLst/>
            <a:ahLst/>
            <a:cxnLst/>
            <a:rect l="l" t="t" r="r" b="b"/>
            <a:pathLst>
              <a:path w="50800" h="2362200">
                <a:moveTo>
                  <a:pt x="50800" y="0"/>
                </a:moveTo>
                <a:lnTo>
                  <a:pt x="50800" y="0"/>
                </a:lnTo>
                <a:lnTo>
                  <a:pt x="50800" y="2362200"/>
                </a:ln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3" name="Shape 41"/>
          <p:cNvSpPr/>
          <p:nvPr/>
        </p:nvSpPr>
        <p:spPr>
          <a:xfrm>
            <a:off x="863600" y="5384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44" name="Text 42"/>
          <p:cNvSpPr/>
          <p:nvPr/>
        </p:nvSpPr>
        <p:spPr>
          <a:xfrm>
            <a:off x="787400" y="5384800"/>
            <a:ext cx="8636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778000" y="55372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分类模型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3600" y="6299200"/>
            <a:ext cx="4318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划归属——通过学习样本特征进行类别判断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63600" y="67818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863600" y="6781800"/>
            <a:ext cx="11049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逻辑回归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981200" y="6781800"/>
            <a:ext cx="838200" cy="355600"/>
          </a:xfrm>
          <a:custGeom>
            <a:avLst/>
            <a:gdLst/>
            <a:ahLst/>
            <a:cxnLst/>
            <a:rect l="l" t="t" r="r" b="b"/>
            <a:pathLst>
              <a:path w="838200" h="355600">
                <a:moveTo>
                  <a:pt x="177800" y="0"/>
                </a:moveTo>
                <a:lnTo>
                  <a:pt x="660400" y="0"/>
                </a:lnTo>
                <a:cubicBezTo>
                  <a:pt x="758530" y="0"/>
                  <a:pt x="838200" y="79670"/>
                  <a:pt x="838200" y="177800"/>
                </a:cubicBezTo>
                <a:lnTo>
                  <a:pt x="838200" y="177800"/>
                </a:lnTo>
                <a:cubicBezTo>
                  <a:pt x="838200" y="275930"/>
                  <a:pt x="758530" y="355600"/>
                  <a:pt x="6604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1981200" y="6781800"/>
            <a:ext cx="9271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决策树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921000" y="6781800"/>
            <a:ext cx="685800" cy="355600"/>
          </a:xfrm>
          <a:custGeom>
            <a:avLst/>
            <a:gdLst/>
            <a:ahLst/>
            <a:cxnLst/>
            <a:rect l="l" t="t" r="r" b="b"/>
            <a:pathLst>
              <a:path w="685800" h="355600">
                <a:moveTo>
                  <a:pt x="177800" y="0"/>
                </a:moveTo>
                <a:lnTo>
                  <a:pt x="508000" y="0"/>
                </a:lnTo>
                <a:cubicBezTo>
                  <a:pt x="606130" y="0"/>
                  <a:pt x="685800" y="79670"/>
                  <a:pt x="685800" y="177800"/>
                </a:cubicBezTo>
                <a:lnTo>
                  <a:pt x="685800" y="177800"/>
                </a:lnTo>
                <a:cubicBezTo>
                  <a:pt x="685800" y="275930"/>
                  <a:pt x="606130" y="355600"/>
                  <a:pt x="5080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2921000" y="6781800"/>
            <a:ext cx="7747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SVM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715000" y="5080000"/>
            <a:ext cx="4851400" cy="2362200"/>
          </a:xfrm>
          <a:custGeom>
            <a:avLst/>
            <a:gdLst/>
            <a:ahLst/>
            <a:cxnLst/>
            <a:rect l="l" t="t" r="r" b="b"/>
            <a:pathLst>
              <a:path w="4851400" h="2362200">
                <a:moveTo>
                  <a:pt x="50800" y="0"/>
                </a:moveTo>
                <a:lnTo>
                  <a:pt x="4698991" y="0"/>
                </a:lnTo>
                <a:cubicBezTo>
                  <a:pt x="4783108" y="0"/>
                  <a:pt x="4851400" y="68292"/>
                  <a:pt x="4851400" y="152409"/>
                </a:cubicBezTo>
                <a:lnTo>
                  <a:pt x="4851400" y="2209791"/>
                </a:lnTo>
                <a:cubicBezTo>
                  <a:pt x="4851400" y="2293964"/>
                  <a:pt x="4783164" y="2362200"/>
                  <a:pt x="4698991" y="2362200"/>
                </a:cubicBez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715000" y="5080000"/>
            <a:ext cx="50800" cy="2362200"/>
          </a:xfrm>
          <a:custGeom>
            <a:avLst/>
            <a:gdLst/>
            <a:ahLst/>
            <a:cxnLst/>
            <a:rect l="l" t="t" r="r" b="b"/>
            <a:pathLst>
              <a:path w="50800" h="2362200">
                <a:moveTo>
                  <a:pt x="50800" y="0"/>
                </a:moveTo>
                <a:lnTo>
                  <a:pt x="50800" y="0"/>
                </a:lnTo>
                <a:lnTo>
                  <a:pt x="50800" y="2362200"/>
                </a:ln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55" name="Shape 53"/>
          <p:cNvSpPr/>
          <p:nvPr/>
        </p:nvSpPr>
        <p:spPr>
          <a:xfrm>
            <a:off x="6045200" y="5384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6" name="Text 54"/>
          <p:cNvSpPr/>
          <p:nvPr/>
        </p:nvSpPr>
        <p:spPr>
          <a:xfrm>
            <a:off x="5969000" y="5384800"/>
            <a:ext cx="8636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959600" y="55372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关联模型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045200" y="6299200"/>
            <a:ext cx="4318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找关联——挖掘变量间的潜在共存规律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045200" y="6781800"/>
            <a:ext cx="850900" cy="355600"/>
          </a:xfrm>
          <a:custGeom>
            <a:avLst/>
            <a:gdLst/>
            <a:ahLst/>
            <a:cxnLst/>
            <a:rect l="l" t="t" r="r" b="b"/>
            <a:pathLst>
              <a:path w="850900" h="355600">
                <a:moveTo>
                  <a:pt x="177800" y="0"/>
                </a:moveTo>
                <a:lnTo>
                  <a:pt x="673100" y="0"/>
                </a:lnTo>
                <a:cubicBezTo>
                  <a:pt x="771230" y="0"/>
                  <a:pt x="850900" y="79670"/>
                  <a:pt x="850900" y="177800"/>
                </a:cubicBezTo>
                <a:lnTo>
                  <a:pt x="850900" y="177800"/>
                </a:lnTo>
                <a:cubicBezTo>
                  <a:pt x="850900" y="275930"/>
                  <a:pt x="771230" y="355600"/>
                  <a:pt x="6731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60" name="Text 58"/>
          <p:cNvSpPr/>
          <p:nvPr/>
        </p:nvSpPr>
        <p:spPr>
          <a:xfrm>
            <a:off x="6045200" y="6781800"/>
            <a:ext cx="9398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Apriori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995319" y="6781800"/>
            <a:ext cx="1193800" cy="355600"/>
          </a:xfrm>
          <a:custGeom>
            <a:avLst/>
            <a:gdLst/>
            <a:ahLst/>
            <a:cxnLst/>
            <a:rect l="l" t="t" r="r" b="b"/>
            <a:pathLst>
              <a:path w="1193800" h="355600">
                <a:moveTo>
                  <a:pt x="177800" y="0"/>
                </a:moveTo>
                <a:lnTo>
                  <a:pt x="1016000" y="0"/>
                </a:lnTo>
                <a:cubicBezTo>
                  <a:pt x="1114130" y="0"/>
                  <a:pt x="1193800" y="79670"/>
                  <a:pt x="1193800" y="177800"/>
                </a:cubicBezTo>
                <a:lnTo>
                  <a:pt x="1193800" y="177800"/>
                </a:lnTo>
                <a:cubicBezTo>
                  <a:pt x="1193800" y="275930"/>
                  <a:pt x="1114130" y="355600"/>
                  <a:pt x="10160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62" name="Text 60"/>
          <p:cNvSpPr/>
          <p:nvPr/>
        </p:nvSpPr>
        <p:spPr>
          <a:xfrm>
            <a:off x="6995319" y="6781800"/>
            <a:ext cx="12827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FP-Growth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95958" y="6781800"/>
            <a:ext cx="1193800" cy="355600"/>
          </a:xfrm>
          <a:custGeom>
            <a:avLst/>
            <a:gdLst/>
            <a:ahLst/>
            <a:cxnLst/>
            <a:rect l="l" t="t" r="r" b="b"/>
            <a:pathLst>
              <a:path w="1193800" h="355600">
                <a:moveTo>
                  <a:pt x="177800" y="0"/>
                </a:moveTo>
                <a:lnTo>
                  <a:pt x="1016000" y="0"/>
                </a:lnTo>
                <a:cubicBezTo>
                  <a:pt x="1114130" y="0"/>
                  <a:pt x="1193800" y="79670"/>
                  <a:pt x="1193800" y="177800"/>
                </a:cubicBezTo>
                <a:lnTo>
                  <a:pt x="1193800" y="177800"/>
                </a:lnTo>
                <a:cubicBezTo>
                  <a:pt x="1193800" y="275930"/>
                  <a:pt x="1114130" y="355600"/>
                  <a:pt x="10160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64" name="Text 62"/>
          <p:cNvSpPr/>
          <p:nvPr/>
        </p:nvSpPr>
        <p:spPr>
          <a:xfrm>
            <a:off x="8295958" y="6781800"/>
            <a:ext cx="12827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相关性分析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881360" y="5090160"/>
            <a:ext cx="4859020" cy="2344420"/>
          </a:xfrm>
          <a:custGeom>
            <a:avLst/>
            <a:gdLst/>
            <a:ahLst/>
            <a:cxnLst/>
            <a:rect l="l" t="t" r="r" b="b"/>
            <a:pathLst>
              <a:path w="4859020" h="2344420">
                <a:moveTo>
                  <a:pt x="152411" y="0"/>
                </a:moveTo>
                <a:lnTo>
                  <a:pt x="4706609" y="0"/>
                </a:lnTo>
                <a:cubicBezTo>
                  <a:pt x="4790783" y="0"/>
                  <a:pt x="4859020" y="68237"/>
                  <a:pt x="4859020" y="152411"/>
                </a:cubicBezTo>
                <a:lnTo>
                  <a:pt x="4859020" y="2192009"/>
                </a:lnTo>
                <a:cubicBezTo>
                  <a:pt x="4859020" y="2276183"/>
                  <a:pt x="4790783" y="2344420"/>
                  <a:pt x="4706609" y="2344420"/>
                </a:cubicBezTo>
                <a:lnTo>
                  <a:pt x="152411" y="2344420"/>
                </a:lnTo>
                <a:cubicBezTo>
                  <a:pt x="68237" y="2344420"/>
                  <a:pt x="0" y="2276183"/>
                  <a:pt x="0" y="2192009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>
                  <a:alpha val="10000"/>
                </a:srgbClr>
              </a:gs>
              <a:gs pos="100000">
                <a:srgbClr val="212C42">
                  <a:alpha val="10000"/>
                </a:srgbClr>
              </a:gs>
            </a:gsLst>
            <a:lin ang="2700000" scaled="1"/>
          </a:gra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294745" y="5417662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67" name="Text 65"/>
          <p:cNvSpPr/>
          <p:nvPr/>
        </p:nvSpPr>
        <p:spPr>
          <a:xfrm>
            <a:off x="11824970" y="540512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综合应用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196320" y="6014562"/>
            <a:ext cx="43307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复杂问题可组合使用多类模型，形成完整的解决方案体系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-blog.csdnimg.cn/e6d3ee9ba98088ebbcf1aa4f00ef94646f625d17.png"/>
          <p:cNvPicPr>
            <a:picLocks noChangeAspect="1"/>
          </p:cNvPicPr>
          <p:nvPr/>
        </p:nvPicPr>
        <p:blipFill>
          <a:blip r:embed="rId1">
            <a:alphaModFix amt="20000"/>
          </a:blip>
          <a:srcRect l="1025" r="1025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12C42">
                  <a:alpha val="95000"/>
                </a:srgbClr>
              </a:gs>
              <a:gs pos="50000">
                <a:srgbClr val="212C42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08000" y="1526541"/>
            <a:ext cx="2108200" cy="558800"/>
          </a:xfrm>
          <a:custGeom>
            <a:avLst/>
            <a:gdLst/>
            <a:ahLst/>
            <a:cxnLst/>
            <a:rect l="l" t="t" r="r" b="b"/>
            <a:pathLst>
              <a:path w="2108200" h="558800">
                <a:moveTo>
                  <a:pt x="101601" y="0"/>
                </a:moveTo>
                <a:lnTo>
                  <a:pt x="2006599" y="0"/>
                </a:lnTo>
                <a:cubicBezTo>
                  <a:pt x="2062712" y="0"/>
                  <a:pt x="2108200" y="45488"/>
                  <a:pt x="2108200" y="101601"/>
                </a:cubicBezTo>
                <a:lnTo>
                  <a:pt x="2108200" y="457199"/>
                </a:lnTo>
                <a:cubicBezTo>
                  <a:pt x="2108200" y="513312"/>
                  <a:pt x="2062712" y="558800"/>
                  <a:pt x="20065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Text 2"/>
          <p:cNvSpPr/>
          <p:nvPr/>
        </p:nvSpPr>
        <p:spPr>
          <a:xfrm>
            <a:off x="762000" y="1628141"/>
            <a:ext cx="1727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491741"/>
            <a:ext cx="158496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8F9FA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预测模型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422141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8" name="Text 5"/>
          <p:cNvSpPr/>
          <p:nvPr/>
        </p:nvSpPr>
        <p:spPr>
          <a:xfrm>
            <a:off x="508000" y="5006341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F8F9FA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推未来——基于历史规律的时间与因果推断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3080" y="6129021"/>
            <a:ext cx="4899660" cy="1483360"/>
          </a:xfrm>
          <a:custGeom>
            <a:avLst/>
            <a:gdLst/>
            <a:ahLst/>
            <a:cxnLst/>
            <a:rect l="l" t="t" r="r" b="b"/>
            <a:pathLst>
              <a:path w="4899660" h="1483360">
                <a:moveTo>
                  <a:pt x="101595" y="0"/>
                </a:moveTo>
                <a:lnTo>
                  <a:pt x="4798065" y="0"/>
                </a:lnTo>
                <a:cubicBezTo>
                  <a:pt x="4854174" y="0"/>
                  <a:pt x="4899660" y="45486"/>
                  <a:pt x="4899660" y="101595"/>
                </a:cubicBezTo>
                <a:lnTo>
                  <a:pt x="4899660" y="1381765"/>
                </a:lnTo>
                <a:cubicBezTo>
                  <a:pt x="4899660" y="1437874"/>
                  <a:pt x="4854174" y="1483360"/>
                  <a:pt x="47980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9310" y="6388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1" name="Text 8"/>
          <p:cNvSpPr/>
          <p:nvPr/>
        </p:nvSpPr>
        <p:spPr>
          <a:xfrm>
            <a:off x="772160" y="6997700"/>
            <a:ext cx="450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时间序列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77694" y="6129021"/>
            <a:ext cx="4899660" cy="1483360"/>
          </a:xfrm>
          <a:custGeom>
            <a:avLst/>
            <a:gdLst/>
            <a:ahLst/>
            <a:cxnLst/>
            <a:rect l="l" t="t" r="r" b="b"/>
            <a:pathLst>
              <a:path w="4899660" h="1483360">
                <a:moveTo>
                  <a:pt x="101595" y="0"/>
                </a:moveTo>
                <a:lnTo>
                  <a:pt x="4798065" y="0"/>
                </a:lnTo>
                <a:cubicBezTo>
                  <a:pt x="4854174" y="0"/>
                  <a:pt x="4899660" y="45486"/>
                  <a:pt x="4899660" y="101595"/>
                </a:cubicBezTo>
                <a:lnTo>
                  <a:pt x="4899660" y="1381765"/>
                </a:lnTo>
                <a:cubicBezTo>
                  <a:pt x="4899660" y="1437874"/>
                  <a:pt x="4854174" y="1483360"/>
                  <a:pt x="47980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93924" y="6388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71438"/>
                </a:moveTo>
                <a:cubicBezTo>
                  <a:pt x="0" y="47774"/>
                  <a:pt x="19199" y="28575"/>
                  <a:pt x="42863" y="28575"/>
                </a:cubicBezTo>
                <a:lnTo>
                  <a:pt x="128588" y="28575"/>
                </a:lnTo>
                <a:cubicBezTo>
                  <a:pt x="152251" y="28575"/>
                  <a:pt x="171450" y="47774"/>
                  <a:pt x="171450" y="71438"/>
                </a:cubicBezTo>
                <a:lnTo>
                  <a:pt x="171450" y="85725"/>
                </a:lnTo>
                <a:lnTo>
                  <a:pt x="285750" y="85725"/>
                </a:lnTo>
                <a:lnTo>
                  <a:pt x="285750" y="71438"/>
                </a:lnTo>
                <a:cubicBezTo>
                  <a:pt x="285750" y="47774"/>
                  <a:pt x="304949" y="28575"/>
                  <a:pt x="328613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157163"/>
                </a:lnTo>
                <a:cubicBezTo>
                  <a:pt x="457200" y="180826"/>
                  <a:pt x="438001" y="200025"/>
                  <a:pt x="414338" y="200025"/>
                </a:cubicBezTo>
                <a:lnTo>
                  <a:pt x="328613" y="200025"/>
                </a:lnTo>
                <a:cubicBezTo>
                  <a:pt x="304949" y="200025"/>
                  <a:pt x="285750" y="180826"/>
                  <a:pt x="285750" y="157163"/>
                </a:cubicBezTo>
                <a:lnTo>
                  <a:pt x="285750" y="142875"/>
                </a:lnTo>
                <a:lnTo>
                  <a:pt x="171450" y="142875"/>
                </a:lnTo>
                <a:lnTo>
                  <a:pt x="171450" y="157163"/>
                </a:lnTo>
                <a:cubicBezTo>
                  <a:pt x="171450" y="163681"/>
                  <a:pt x="169932" y="169932"/>
                  <a:pt x="167342" y="175468"/>
                </a:cubicBezTo>
                <a:lnTo>
                  <a:pt x="228600" y="257175"/>
                </a:lnTo>
                <a:lnTo>
                  <a:pt x="300038" y="257175"/>
                </a:lnTo>
                <a:cubicBezTo>
                  <a:pt x="323701" y="257175"/>
                  <a:pt x="342900" y="276374"/>
                  <a:pt x="342900" y="300038"/>
                </a:cubicBezTo>
                <a:lnTo>
                  <a:pt x="342900" y="385763"/>
                </a:lnTo>
                <a:cubicBezTo>
                  <a:pt x="342900" y="409426"/>
                  <a:pt x="323701" y="428625"/>
                  <a:pt x="300038" y="428625"/>
                </a:cubicBezTo>
                <a:lnTo>
                  <a:pt x="214313" y="428625"/>
                </a:lnTo>
                <a:cubicBezTo>
                  <a:pt x="190649" y="428625"/>
                  <a:pt x="171450" y="409426"/>
                  <a:pt x="171450" y="385763"/>
                </a:cubicBezTo>
                <a:lnTo>
                  <a:pt x="171450" y="300038"/>
                </a:lnTo>
                <a:cubicBezTo>
                  <a:pt x="171450" y="293519"/>
                  <a:pt x="172968" y="287268"/>
                  <a:pt x="175558" y="281732"/>
                </a:cubicBezTo>
                <a:lnTo>
                  <a:pt x="114300" y="200025"/>
                </a:lnTo>
                <a:lnTo>
                  <a:pt x="42863" y="200025"/>
                </a:lnTo>
                <a:cubicBezTo>
                  <a:pt x="19199" y="200025"/>
                  <a:pt x="0" y="180826"/>
                  <a:pt x="0" y="157163"/>
                </a:cubicBezTo>
                <a:lnTo>
                  <a:pt x="0" y="71438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4" name="Text 11"/>
          <p:cNvSpPr/>
          <p:nvPr/>
        </p:nvSpPr>
        <p:spPr>
          <a:xfrm>
            <a:off x="5936774" y="6997700"/>
            <a:ext cx="450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回归分析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842308" y="6129021"/>
            <a:ext cx="4899660" cy="1483360"/>
          </a:xfrm>
          <a:custGeom>
            <a:avLst/>
            <a:gdLst/>
            <a:ahLst/>
            <a:cxnLst/>
            <a:rect l="l" t="t" r="r" b="b"/>
            <a:pathLst>
              <a:path w="4899660" h="1483360">
                <a:moveTo>
                  <a:pt x="101595" y="0"/>
                </a:moveTo>
                <a:lnTo>
                  <a:pt x="4798065" y="0"/>
                </a:lnTo>
                <a:cubicBezTo>
                  <a:pt x="4854174" y="0"/>
                  <a:pt x="4899660" y="45486"/>
                  <a:pt x="4899660" y="101595"/>
                </a:cubicBezTo>
                <a:lnTo>
                  <a:pt x="4899660" y="1381765"/>
                </a:lnTo>
                <a:cubicBezTo>
                  <a:pt x="4899660" y="1437874"/>
                  <a:pt x="4854174" y="1483360"/>
                  <a:pt x="47980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8538" y="6388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7" name="Text 14"/>
          <p:cNvSpPr/>
          <p:nvPr/>
        </p:nvSpPr>
        <p:spPr>
          <a:xfrm>
            <a:off x="11101388" y="6997700"/>
            <a:ext cx="450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机器学习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9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PREDICTIVE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62000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预测模型核心概念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397000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44500" y="1693333"/>
            <a:ext cx="7556500" cy="1566333"/>
          </a:xfrm>
          <a:custGeom>
            <a:avLst/>
            <a:gdLst/>
            <a:ahLst/>
            <a:cxnLst/>
            <a:rect l="l" t="t" r="r" b="b"/>
            <a:pathLst>
              <a:path w="7556500" h="1566333">
                <a:moveTo>
                  <a:pt x="42333" y="0"/>
                </a:moveTo>
                <a:lnTo>
                  <a:pt x="7429502" y="0"/>
                </a:lnTo>
                <a:cubicBezTo>
                  <a:pt x="7499641" y="0"/>
                  <a:pt x="7556500" y="56859"/>
                  <a:pt x="7556500" y="126998"/>
                </a:cubicBezTo>
                <a:lnTo>
                  <a:pt x="7556500" y="1439335"/>
                </a:lnTo>
                <a:cubicBezTo>
                  <a:pt x="7556500" y="1509474"/>
                  <a:pt x="7499641" y="1566333"/>
                  <a:pt x="7429502" y="1566333"/>
                </a:cubicBezTo>
                <a:lnTo>
                  <a:pt x="42333" y="1566333"/>
                </a:lnTo>
                <a:cubicBezTo>
                  <a:pt x="18953" y="1566333"/>
                  <a:pt x="0" y="1547380"/>
                  <a:pt x="0" y="1524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4500" y="1693333"/>
            <a:ext cx="42333" cy="1566333"/>
          </a:xfrm>
          <a:custGeom>
            <a:avLst/>
            <a:gdLst/>
            <a:ahLst/>
            <a:cxnLst/>
            <a:rect l="l" t="t" r="r" b="b"/>
            <a:pathLst>
              <a:path w="42333" h="1566333">
                <a:moveTo>
                  <a:pt x="42333" y="0"/>
                </a:moveTo>
                <a:lnTo>
                  <a:pt x="42333" y="0"/>
                </a:lnTo>
                <a:lnTo>
                  <a:pt x="42333" y="1566333"/>
                </a:lnTo>
                <a:lnTo>
                  <a:pt x="42333" y="1566333"/>
                </a:lnTo>
                <a:cubicBezTo>
                  <a:pt x="18953" y="1566333"/>
                  <a:pt x="0" y="1547380"/>
                  <a:pt x="0" y="1524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7" name="Shape 5"/>
          <p:cNvSpPr/>
          <p:nvPr/>
        </p:nvSpPr>
        <p:spPr>
          <a:xfrm>
            <a:off x="762000" y="195778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277813" y="158750"/>
                </a:moveTo>
                <a:cubicBezTo>
                  <a:pt x="277813" y="93038"/>
                  <a:pt x="224462" y="39688"/>
                  <a:pt x="158750" y="39688"/>
                </a:cubicBezTo>
                <a:cubicBezTo>
                  <a:pt x="93038" y="39688"/>
                  <a:pt x="39688" y="93038"/>
                  <a:pt x="39688" y="158750"/>
                </a:cubicBezTo>
                <a:cubicBezTo>
                  <a:pt x="39688" y="224462"/>
                  <a:pt x="93038" y="277813"/>
                  <a:pt x="158750" y="277813"/>
                </a:cubicBezTo>
                <a:cubicBezTo>
                  <a:pt x="224462" y="277813"/>
                  <a:pt x="277813" y="224462"/>
                  <a:pt x="277813" y="158750"/>
                </a:cubicBezTo>
                <a:close/>
                <a:moveTo>
                  <a:pt x="0" y="158750"/>
                </a:moveTo>
                <a:cubicBezTo>
                  <a:pt x="0" y="71133"/>
                  <a:pt x="71133" y="0"/>
                  <a:pt x="158750" y="0"/>
                </a:cubicBezTo>
                <a:cubicBezTo>
                  <a:pt x="246367" y="0"/>
                  <a:pt x="317500" y="71133"/>
                  <a:pt x="317500" y="158750"/>
                </a:cubicBezTo>
                <a:cubicBezTo>
                  <a:pt x="317500" y="246367"/>
                  <a:pt x="246367" y="317500"/>
                  <a:pt x="158750" y="317500"/>
                </a:cubicBezTo>
                <a:cubicBezTo>
                  <a:pt x="71133" y="317500"/>
                  <a:pt x="0" y="246367"/>
                  <a:pt x="0" y="158750"/>
                </a:cubicBezTo>
                <a:close/>
                <a:moveTo>
                  <a:pt x="158750" y="208359"/>
                </a:moveTo>
                <a:cubicBezTo>
                  <a:pt x="186130" y="208359"/>
                  <a:pt x="208359" y="186130"/>
                  <a:pt x="208359" y="158750"/>
                </a:cubicBezTo>
                <a:cubicBezTo>
                  <a:pt x="208359" y="131370"/>
                  <a:pt x="186130" y="109141"/>
                  <a:pt x="158750" y="109141"/>
                </a:cubicBezTo>
                <a:cubicBezTo>
                  <a:pt x="131370" y="109141"/>
                  <a:pt x="109141" y="131370"/>
                  <a:pt x="109141" y="158750"/>
                </a:cubicBezTo>
                <a:cubicBezTo>
                  <a:pt x="109141" y="186130"/>
                  <a:pt x="131370" y="208359"/>
                  <a:pt x="158750" y="208359"/>
                </a:cubicBezTo>
                <a:close/>
                <a:moveTo>
                  <a:pt x="158750" y="69453"/>
                </a:moveTo>
                <a:cubicBezTo>
                  <a:pt x="208034" y="69453"/>
                  <a:pt x="248047" y="109466"/>
                  <a:pt x="248047" y="158750"/>
                </a:cubicBezTo>
                <a:cubicBezTo>
                  <a:pt x="248047" y="208034"/>
                  <a:pt x="208034" y="248047"/>
                  <a:pt x="158750" y="248047"/>
                </a:cubicBezTo>
                <a:cubicBezTo>
                  <a:pt x="109466" y="248047"/>
                  <a:pt x="69453" y="208034"/>
                  <a:pt x="69453" y="158750"/>
                </a:cubicBezTo>
                <a:cubicBezTo>
                  <a:pt x="69453" y="109466"/>
                  <a:pt x="109466" y="69453"/>
                  <a:pt x="158750" y="69453"/>
                </a:cubicBezTo>
                <a:close/>
                <a:moveTo>
                  <a:pt x="138906" y="158750"/>
                </a:moveTo>
                <a:cubicBezTo>
                  <a:pt x="138906" y="147798"/>
                  <a:pt x="147798" y="138906"/>
                  <a:pt x="158750" y="138906"/>
                </a:cubicBezTo>
                <a:cubicBezTo>
                  <a:pt x="169702" y="138906"/>
                  <a:pt x="178594" y="147798"/>
                  <a:pt x="178594" y="158750"/>
                </a:cubicBezTo>
                <a:cubicBezTo>
                  <a:pt x="178594" y="169702"/>
                  <a:pt x="169702" y="178594"/>
                  <a:pt x="158750" y="178594"/>
                </a:cubicBezTo>
                <a:cubicBezTo>
                  <a:pt x="147798" y="178594"/>
                  <a:pt x="138906" y="169702"/>
                  <a:pt x="138906" y="15875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8" name="Text 6"/>
          <p:cNvSpPr/>
          <p:nvPr/>
        </p:nvSpPr>
        <p:spPr>
          <a:xfrm>
            <a:off x="1243542" y="1947333"/>
            <a:ext cx="11430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核心定义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9667" y="2455202"/>
            <a:ext cx="7112000" cy="550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通过分析</a:t>
            </a:r>
            <a:r>
              <a:rPr lang="en-US" sz="1335" b="1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历史数据或已知信息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，挖掘数据背后的演变规律（如时间趋势、因果关系），建立数学映射关系，进而对</a:t>
            </a:r>
            <a:r>
              <a:rPr lang="en-US" sz="1335" b="1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未来未知状态或数值进行推测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500" y="3471202"/>
            <a:ext cx="7556500" cy="1651000"/>
          </a:xfrm>
          <a:custGeom>
            <a:avLst/>
            <a:gdLst/>
            <a:ahLst/>
            <a:cxnLst/>
            <a:rect l="l" t="t" r="r" b="b"/>
            <a:pathLst>
              <a:path w="7556500" h="1651000">
                <a:moveTo>
                  <a:pt x="42333" y="0"/>
                </a:moveTo>
                <a:lnTo>
                  <a:pt x="7429505" y="0"/>
                </a:lnTo>
                <a:cubicBezTo>
                  <a:pt x="7499642" y="0"/>
                  <a:pt x="7556500" y="56858"/>
                  <a:pt x="7556500" y="126995"/>
                </a:cubicBezTo>
                <a:lnTo>
                  <a:pt x="7556500" y="1524005"/>
                </a:lnTo>
                <a:cubicBezTo>
                  <a:pt x="7556500" y="1594142"/>
                  <a:pt x="7499642" y="1651000"/>
                  <a:pt x="7429505" y="1651000"/>
                </a:cubicBezTo>
                <a:lnTo>
                  <a:pt x="42333" y="1651000"/>
                </a:lnTo>
                <a:cubicBezTo>
                  <a:pt x="18953" y="1651000"/>
                  <a:pt x="0" y="1632047"/>
                  <a:pt x="0" y="160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4500" y="3471202"/>
            <a:ext cx="42333" cy="1651000"/>
          </a:xfrm>
          <a:custGeom>
            <a:avLst/>
            <a:gdLst/>
            <a:ahLst/>
            <a:cxnLst/>
            <a:rect l="l" t="t" r="r" b="b"/>
            <a:pathLst>
              <a:path w="42333" h="1651000">
                <a:moveTo>
                  <a:pt x="42333" y="0"/>
                </a:moveTo>
                <a:lnTo>
                  <a:pt x="42333" y="0"/>
                </a:lnTo>
                <a:lnTo>
                  <a:pt x="42333" y="1651000"/>
                </a:lnTo>
                <a:lnTo>
                  <a:pt x="42333" y="1651000"/>
                </a:lnTo>
                <a:cubicBezTo>
                  <a:pt x="18953" y="1651000"/>
                  <a:pt x="0" y="1632047"/>
                  <a:pt x="0" y="160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12" name="Shape 10"/>
          <p:cNvSpPr/>
          <p:nvPr/>
        </p:nvSpPr>
        <p:spPr>
          <a:xfrm>
            <a:off x="762000" y="373565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317500"/>
                </a:moveTo>
                <a:cubicBezTo>
                  <a:pt x="246367" y="317500"/>
                  <a:pt x="317500" y="246367"/>
                  <a:pt x="317500" y="158750"/>
                </a:cubicBezTo>
                <a:cubicBezTo>
                  <a:pt x="317500" y="71133"/>
                  <a:pt x="246367" y="0"/>
                  <a:pt x="158750" y="0"/>
                </a:cubicBezTo>
                <a:cubicBezTo>
                  <a:pt x="71133" y="0"/>
                  <a:pt x="0" y="71133"/>
                  <a:pt x="0" y="158750"/>
                </a:cubicBezTo>
                <a:cubicBezTo>
                  <a:pt x="0" y="246367"/>
                  <a:pt x="71133" y="317500"/>
                  <a:pt x="158750" y="317500"/>
                </a:cubicBezTo>
                <a:close/>
                <a:moveTo>
                  <a:pt x="211088" y="131899"/>
                </a:moveTo>
                <a:lnTo>
                  <a:pt x="161479" y="211274"/>
                </a:lnTo>
                <a:cubicBezTo>
                  <a:pt x="158874" y="215429"/>
                  <a:pt x="154409" y="218033"/>
                  <a:pt x="149510" y="218281"/>
                </a:cubicBezTo>
                <a:cubicBezTo>
                  <a:pt x="144611" y="218529"/>
                  <a:pt x="139898" y="216297"/>
                  <a:pt x="136984" y="212328"/>
                </a:cubicBezTo>
                <a:lnTo>
                  <a:pt x="107218" y="172641"/>
                </a:lnTo>
                <a:cubicBezTo>
                  <a:pt x="102257" y="166067"/>
                  <a:pt x="103622" y="156766"/>
                  <a:pt x="110195" y="151805"/>
                </a:cubicBezTo>
                <a:cubicBezTo>
                  <a:pt x="116768" y="146844"/>
                  <a:pt x="126070" y="148208"/>
                  <a:pt x="131031" y="154781"/>
                </a:cubicBezTo>
                <a:lnTo>
                  <a:pt x="147774" y="177105"/>
                </a:lnTo>
                <a:lnTo>
                  <a:pt x="185849" y="116148"/>
                </a:lnTo>
                <a:cubicBezTo>
                  <a:pt x="190190" y="109203"/>
                  <a:pt x="199368" y="107032"/>
                  <a:pt x="206375" y="111435"/>
                </a:cubicBezTo>
                <a:cubicBezTo>
                  <a:pt x="213382" y="115838"/>
                  <a:pt x="215491" y="124954"/>
                  <a:pt x="211088" y="131961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13" name="Text 11"/>
          <p:cNvSpPr/>
          <p:nvPr/>
        </p:nvSpPr>
        <p:spPr>
          <a:xfrm>
            <a:off x="1243542" y="3725202"/>
            <a:ext cx="11430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核心前提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0833" y="4275403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45446" y="80624"/>
                </a:moveTo>
                <a:cubicBezTo>
                  <a:pt x="149064" y="77006"/>
                  <a:pt x="149064" y="71132"/>
                  <a:pt x="145446" y="67514"/>
                </a:cubicBezTo>
                <a:lnTo>
                  <a:pt x="99144" y="21212"/>
                </a:lnTo>
                <a:cubicBezTo>
                  <a:pt x="95527" y="17595"/>
                  <a:pt x="89652" y="17595"/>
                  <a:pt x="86035" y="21212"/>
                </a:cubicBezTo>
                <a:cubicBezTo>
                  <a:pt x="82418" y="24829"/>
                  <a:pt x="82418" y="30704"/>
                  <a:pt x="86035" y="34321"/>
                </a:cubicBezTo>
                <a:lnTo>
                  <a:pt x="116537" y="64823"/>
                </a:lnTo>
                <a:lnTo>
                  <a:pt x="9260" y="64823"/>
                </a:lnTo>
                <a:cubicBezTo>
                  <a:pt x="4138" y="64823"/>
                  <a:pt x="0" y="68961"/>
                  <a:pt x="0" y="74083"/>
                </a:cubicBezTo>
                <a:cubicBezTo>
                  <a:pt x="0" y="79206"/>
                  <a:pt x="4138" y="83344"/>
                  <a:pt x="9260" y="83344"/>
                </a:cubicBezTo>
                <a:lnTo>
                  <a:pt x="116537" y="83344"/>
                </a:lnTo>
                <a:lnTo>
                  <a:pt x="86035" y="113845"/>
                </a:lnTo>
                <a:cubicBezTo>
                  <a:pt x="82418" y="117463"/>
                  <a:pt x="82418" y="123337"/>
                  <a:pt x="86035" y="126955"/>
                </a:cubicBezTo>
                <a:cubicBezTo>
                  <a:pt x="89652" y="130572"/>
                  <a:pt x="95527" y="130572"/>
                  <a:pt x="99144" y="126955"/>
                </a:cubicBezTo>
                <a:lnTo>
                  <a:pt x="145446" y="80652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5" name="Text 13"/>
          <p:cNvSpPr/>
          <p:nvPr/>
        </p:nvSpPr>
        <p:spPr>
          <a:xfrm>
            <a:off x="989542" y="4233070"/>
            <a:ext cx="3735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历史规律具有可延续性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— 未来趋势可由过去推导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833" y="4656403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45446" y="80624"/>
                </a:moveTo>
                <a:cubicBezTo>
                  <a:pt x="149064" y="77006"/>
                  <a:pt x="149064" y="71132"/>
                  <a:pt x="145446" y="67514"/>
                </a:cubicBezTo>
                <a:lnTo>
                  <a:pt x="99144" y="21212"/>
                </a:lnTo>
                <a:cubicBezTo>
                  <a:pt x="95527" y="17595"/>
                  <a:pt x="89652" y="17595"/>
                  <a:pt x="86035" y="21212"/>
                </a:cubicBezTo>
                <a:cubicBezTo>
                  <a:pt x="82418" y="24829"/>
                  <a:pt x="82418" y="30704"/>
                  <a:pt x="86035" y="34321"/>
                </a:cubicBezTo>
                <a:lnTo>
                  <a:pt x="116537" y="64823"/>
                </a:lnTo>
                <a:lnTo>
                  <a:pt x="9260" y="64823"/>
                </a:lnTo>
                <a:cubicBezTo>
                  <a:pt x="4138" y="64823"/>
                  <a:pt x="0" y="68961"/>
                  <a:pt x="0" y="74083"/>
                </a:cubicBezTo>
                <a:cubicBezTo>
                  <a:pt x="0" y="79206"/>
                  <a:pt x="4138" y="83344"/>
                  <a:pt x="9260" y="83344"/>
                </a:cubicBezTo>
                <a:lnTo>
                  <a:pt x="116537" y="83344"/>
                </a:lnTo>
                <a:lnTo>
                  <a:pt x="86035" y="113845"/>
                </a:lnTo>
                <a:cubicBezTo>
                  <a:pt x="82418" y="117463"/>
                  <a:pt x="82418" y="123337"/>
                  <a:pt x="86035" y="126955"/>
                </a:cubicBezTo>
                <a:cubicBezTo>
                  <a:pt x="89652" y="130572"/>
                  <a:pt x="95527" y="130572"/>
                  <a:pt x="99144" y="126955"/>
                </a:cubicBezTo>
                <a:lnTo>
                  <a:pt x="145446" y="80652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7" name="Text 15"/>
          <p:cNvSpPr/>
          <p:nvPr/>
        </p:nvSpPr>
        <p:spPr>
          <a:xfrm>
            <a:off x="989542" y="4614070"/>
            <a:ext cx="3905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影响因素与预测目标存在明确关联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— 因果关系清晰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1800" y="5342203"/>
            <a:ext cx="7562850" cy="1413933"/>
          </a:xfrm>
          <a:custGeom>
            <a:avLst/>
            <a:gdLst/>
            <a:ahLst/>
            <a:cxnLst/>
            <a:rect l="l" t="t" r="r" b="b"/>
            <a:pathLst>
              <a:path w="7562850" h="1413933">
                <a:moveTo>
                  <a:pt x="126999" y="0"/>
                </a:moveTo>
                <a:lnTo>
                  <a:pt x="7435851" y="0"/>
                </a:lnTo>
                <a:cubicBezTo>
                  <a:pt x="7505990" y="0"/>
                  <a:pt x="7562850" y="56860"/>
                  <a:pt x="7562850" y="126999"/>
                </a:cubicBezTo>
                <a:lnTo>
                  <a:pt x="7562850" y="1286934"/>
                </a:lnTo>
                <a:cubicBezTo>
                  <a:pt x="7562850" y="1357074"/>
                  <a:pt x="7505990" y="1413933"/>
                  <a:pt x="7435851" y="1413933"/>
                </a:cubicBezTo>
                <a:lnTo>
                  <a:pt x="126999" y="1413933"/>
                </a:lnTo>
                <a:cubicBezTo>
                  <a:pt x="56907" y="1413933"/>
                  <a:pt x="0" y="1357027"/>
                  <a:pt x="0" y="1286934"/>
                </a:cubicBezTo>
                <a:lnTo>
                  <a:pt x="0" y="126999"/>
                </a:lnTo>
                <a:cubicBezTo>
                  <a:pt x="0" y="56907"/>
                  <a:pt x="56907" y="0"/>
                  <a:pt x="126999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433" y="5583502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0" name="Text 18"/>
          <p:cNvSpPr/>
          <p:nvPr/>
        </p:nvSpPr>
        <p:spPr>
          <a:xfrm>
            <a:off x="1096433" y="5562335"/>
            <a:ext cx="95250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933" y="5985668"/>
            <a:ext cx="7207250" cy="550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预测模型的本质是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从已知到未知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的推断过程，其准确性高度依赖于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数据质量、特征工程和模型选择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55000" y="1693333"/>
            <a:ext cx="7577667" cy="4064000"/>
          </a:xfrm>
          <a:custGeom>
            <a:avLst/>
            <a:gdLst/>
            <a:ahLst/>
            <a:cxnLst/>
            <a:rect l="l" t="t" r="r" b="b"/>
            <a:pathLst>
              <a:path w="7577667" h="4064000">
                <a:moveTo>
                  <a:pt x="127000" y="0"/>
                </a:moveTo>
                <a:lnTo>
                  <a:pt x="7450667" y="0"/>
                </a:lnTo>
                <a:cubicBezTo>
                  <a:pt x="7520760" y="0"/>
                  <a:pt x="7577667" y="56907"/>
                  <a:pt x="7577667" y="127000"/>
                </a:cubicBezTo>
                <a:lnTo>
                  <a:pt x="7577667" y="3937000"/>
                </a:lnTo>
                <a:cubicBezTo>
                  <a:pt x="7577667" y="4007093"/>
                  <a:pt x="7520760" y="4064000"/>
                  <a:pt x="7450667" y="4064000"/>
                </a:cubicBezTo>
                <a:lnTo>
                  <a:pt x="127000" y="4064000"/>
                </a:lnTo>
                <a:cubicBezTo>
                  <a:pt x="56907" y="4064000"/>
                  <a:pt x="0" y="4007093"/>
                  <a:pt x="0" y="393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2700000" scaled="1"/>
          </a:gradFill>
          <a:effectLst>
            <a:outerShdw blurRad="264583" dist="2116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40750" y="198953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4" name="Text 22"/>
          <p:cNvSpPr/>
          <p:nvPr/>
        </p:nvSpPr>
        <p:spPr>
          <a:xfrm>
            <a:off x="8826500" y="1947333"/>
            <a:ext cx="6879167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广泛应用场景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9000" y="2497535"/>
            <a:ext cx="3450167" cy="1418167"/>
          </a:xfrm>
          <a:custGeom>
            <a:avLst/>
            <a:gdLst/>
            <a:ahLst/>
            <a:cxnLst/>
            <a:rect l="l" t="t" r="r" b="b"/>
            <a:pathLst>
              <a:path w="3450167" h="1418167">
                <a:moveTo>
                  <a:pt x="84665" y="0"/>
                </a:moveTo>
                <a:lnTo>
                  <a:pt x="3365502" y="0"/>
                </a:lnTo>
                <a:cubicBezTo>
                  <a:pt x="3412261" y="0"/>
                  <a:pt x="3450167" y="37906"/>
                  <a:pt x="3450167" y="84665"/>
                </a:cubicBezTo>
                <a:lnTo>
                  <a:pt x="3450167" y="1333502"/>
                </a:lnTo>
                <a:cubicBezTo>
                  <a:pt x="3450167" y="1380261"/>
                  <a:pt x="3412261" y="1418167"/>
                  <a:pt x="3365502" y="1418167"/>
                </a:cubicBezTo>
                <a:lnTo>
                  <a:pt x="84665" y="1418167"/>
                </a:lnTo>
                <a:cubicBezTo>
                  <a:pt x="37937" y="1418167"/>
                  <a:pt x="0" y="1380230"/>
                  <a:pt x="0" y="1333502"/>
                </a:cubicBezTo>
                <a:lnTo>
                  <a:pt x="0" y="84665"/>
                </a:lnTo>
                <a:cubicBezTo>
                  <a:pt x="0" y="37906"/>
                  <a:pt x="37906" y="0"/>
                  <a:pt x="8466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8720667" y="266686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39688" y="39688"/>
                </a:moveTo>
                <a:cubicBezTo>
                  <a:pt x="39688" y="28711"/>
                  <a:pt x="30820" y="19844"/>
                  <a:pt x="19844" y="19844"/>
                </a:cubicBezTo>
                <a:cubicBezTo>
                  <a:pt x="8868" y="19844"/>
                  <a:pt x="0" y="28711"/>
                  <a:pt x="0" y="39688"/>
                </a:cubicBezTo>
                <a:lnTo>
                  <a:pt x="0" y="248047"/>
                </a:lnTo>
                <a:cubicBezTo>
                  <a:pt x="0" y="275456"/>
                  <a:pt x="22200" y="297656"/>
                  <a:pt x="49609" y="297656"/>
                </a:cubicBezTo>
                <a:lnTo>
                  <a:pt x="297656" y="297656"/>
                </a:lnTo>
                <a:cubicBezTo>
                  <a:pt x="308632" y="297656"/>
                  <a:pt x="317500" y="288789"/>
                  <a:pt x="317500" y="277813"/>
                </a:cubicBezTo>
                <a:cubicBezTo>
                  <a:pt x="317500" y="266836"/>
                  <a:pt x="308632" y="257969"/>
                  <a:pt x="297656" y="257969"/>
                </a:cubicBezTo>
                <a:lnTo>
                  <a:pt x="49609" y="257969"/>
                </a:lnTo>
                <a:cubicBezTo>
                  <a:pt x="44152" y="257969"/>
                  <a:pt x="39688" y="253504"/>
                  <a:pt x="39688" y="248047"/>
                </a:cubicBezTo>
                <a:lnTo>
                  <a:pt x="39688" y="39688"/>
                </a:lnTo>
                <a:close/>
                <a:moveTo>
                  <a:pt x="291827" y="93390"/>
                </a:moveTo>
                <a:cubicBezTo>
                  <a:pt x="299579" y="85638"/>
                  <a:pt x="299579" y="73050"/>
                  <a:pt x="291827" y="65298"/>
                </a:cubicBezTo>
                <a:cubicBezTo>
                  <a:pt x="284076" y="57547"/>
                  <a:pt x="271487" y="57547"/>
                  <a:pt x="263736" y="65298"/>
                </a:cubicBezTo>
                <a:lnTo>
                  <a:pt x="198438" y="130659"/>
                </a:lnTo>
                <a:lnTo>
                  <a:pt x="162843" y="95126"/>
                </a:lnTo>
                <a:cubicBezTo>
                  <a:pt x="155091" y="87375"/>
                  <a:pt x="142503" y="87375"/>
                  <a:pt x="134751" y="95126"/>
                </a:cubicBezTo>
                <a:lnTo>
                  <a:pt x="75220" y="154657"/>
                </a:lnTo>
                <a:cubicBezTo>
                  <a:pt x="67469" y="162409"/>
                  <a:pt x="67469" y="174997"/>
                  <a:pt x="75220" y="182749"/>
                </a:cubicBezTo>
                <a:cubicBezTo>
                  <a:pt x="82972" y="190500"/>
                  <a:pt x="95560" y="190500"/>
                  <a:pt x="103312" y="182749"/>
                </a:cubicBezTo>
                <a:lnTo>
                  <a:pt x="148828" y="137232"/>
                </a:lnTo>
                <a:lnTo>
                  <a:pt x="184423" y="172827"/>
                </a:lnTo>
                <a:cubicBezTo>
                  <a:pt x="192174" y="180578"/>
                  <a:pt x="204763" y="180578"/>
                  <a:pt x="212514" y="172827"/>
                </a:cubicBezTo>
                <a:lnTo>
                  <a:pt x="291889" y="93452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27" name="Text 25"/>
          <p:cNvSpPr/>
          <p:nvPr/>
        </p:nvSpPr>
        <p:spPr>
          <a:xfrm>
            <a:off x="8678333" y="3111368"/>
            <a:ext cx="32067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趋势预判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78333" y="3492368"/>
            <a:ext cx="31961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股价预测、市场趋势分析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128500" y="2497535"/>
            <a:ext cx="3450167" cy="1418167"/>
          </a:xfrm>
          <a:custGeom>
            <a:avLst/>
            <a:gdLst/>
            <a:ahLst/>
            <a:cxnLst/>
            <a:rect l="l" t="t" r="r" b="b"/>
            <a:pathLst>
              <a:path w="3450167" h="1418167">
                <a:moveTo>
                  <a:pt x="84665" y="0"/>
                </a:moveTo>
                <a:lnTo>
                  <a:pt x="3365502" y="0"/>
                </a:lnTo>
                <a:cubicBezTo>
                  <a:pt x="3412261" y="0"/>
                  <a:pt x="3450167" y="37906"/>
                  <a:pt x="3450167" y="84665"/>
                </a:cubicBezTo>
                <a:lnTo>
                  <a:pt x="3450167" y="1333502"/>
                </a:lnTo>
                <a:cubicBezTo>
                  <a:pt x="3450167" y="1380261"/>
                  <a:pt x="3412261" y="1418167"/>
                  <a:pt x="3365502" y="1418167"/>
                </a:cubicBezTo>
                <a:lnTo>
                  <a:pt x="84665" y="1418167"/>
                </a:lnTo>
                <a:cubicBezTo>
                  <a:pt x="37937" y="1418167"/>
                  <a:pt x="0" y="1380230"/>
                  <a:pt x="0" y="1333502"/>
                </a:cubicBezTo>
                <a:lnTo>
                  <a:pt x="0" y="84665"/>
                </a:lnTo>
                <a:cubicBezTo>
                  <a:pt x="0" y="37906"/>
                  <a:pt x="37906" y="0"/>
                  <a:pt x="8466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12300479" y="2666868"/>
            <a:ext cx="396875" cy="317500"/>
          </a:xfrm>
          <a:custGeom>
            <a:avLst/>
            <a:gdLst/>
            <a:ahLst/>
            <a:cxnLst/>
            <a:rect l="l" t="t" r="r" b="b"/>
            <a:pathLst>
              <a:path w="396875" h="317500">
                <a:moveTo>
                  <a:pt x="14883" y="-9922"/>
                </a:moveTo>
                <a:cubicBezTo>
                  <a:pt x="6635" y="-9922"/>
                  <a:pt x="0" y="-3287"/>
                  <a:pt x="0" y="4961"/>
                </a:cubicBezTo>
                <a:cubicBezTo>
                  <a:pt x="0" y="13208"/>
                  <a:pt x="6635" y="19844"/>
                  <a:pt x="14883" y="19844"/>
                </a:cubicBezTo>
                <a:lnTo>
                  <a:pt x="42974" y="19844"/>
                </a:lnTo>
                <a:cubicBezTo>
                  <a:pt x="45393" y="19844"/>
                  <a:pt x="47439" y="21580"/>
                  <a:pt x="47873" y="23937"/>
                </a:cubicBezTo>
                <a:lnTo>
                  <a:pt x="80181" y="201476"/>
                </a:lnTo>
                <a:cubicBezTo>
                  <a:pt x="84026" y="222684"/>
                  <a:pt x="102505" y="238125"/>
                  <a:pt x="124085" y="238125"/>
                </a:cubicBezTo>
                <a:lnTo>
                  <a:pt x="282773" y="238125"/>
                </a:lnTo>
                <a:cubicBezTo>
                  <a:pt x="291021" y="238125"/>
                  <a:pt x="297656" y="231490"/>
                  <a:pt x="297656" y="223242"/>
                </a:cubicBezTo>
                <a:cubicBezTo>
                  <a:pt x="297656" y="214995"/>
                  <a:pt x="291021" y="208359"/>
                  <a:pt x="282773" y="208359"/>
                </a:cubicBezTo>
                <a:lnTo>
                  <a:pt x="124085" y="208359"/>
                </a:lnTo>
                <a:cubicBezTo>
                  <a:pt x="116892" y="208359"/>
                  <a:pt x="110753" y="203212"/>
                  <a:pt x="109451" y="196143"/>
                </a:cubicBezTo>
                <a:lnTo>
                  <a:pt x="106288" y="178594"/>
                </a:lnTo>
                <a:lnTo>
                  <a:pt x="294556" y="178594"/>
                </a:lnTo>
                <a:cubicBezTo>
                  <a:pt x="313655" y="178594"/>
                  <a:pt x="330026" y="165013"/>
                  <a:pt x="333561" y="146224"/>
                </a:cubicBezTo>
                <a:lnTo>
                  <a:pt x="352785" y="43346"/>
                </a:lnTo>
                <a:cubicBezTo>
                  <a:pt x="355079" y="31130"/>
                  <a:pt x="345715" y="19844"/>
                  <a:pt x="333251" y="19844"/>
                </a:cubicBezTo>
                <a:lnTo>
                  <a:pt x="77329" y="19844"/>
                </a:lnTo>
                <a:lnTo>
                  <a:pt x="77081" y="18604"/>
                </a:lnTo>
                <a:cubicBezTo>
                  <a:pt x="74104" y="2108"/>
                  <a:pt x="59717" y="-9922"/>
                  <a:pt x="42912" y="-9922"/>
                </a:cubicBezTo>
                <a:lnTo>
                  <a:pt x="14883" y="-9922"/>
                </a:lnTo>
                <a:close/>
                <a:moveTo>
                  <a:pt x="128984" y="317500"/>
                </a:moveTo>
                <a:cubicBezTo>
                  <a:pt x="145412" y="317500"/>
                  <a:pt x="158750" y="304162"/>
                  <a:pt x="158750" y="287734"/>
                </a:cubicBezTo>
                <a:cubicBezTo>
                  <a:pt x="158750" y="271306"/>
                  <a:pt x="145412" y="257969"/>
                  <a:pt x="128984" y="257969"/>
                </a:cubicBezTo>
                <a:cubicBezTo>
                  <a:pt x="112556" y="257969"/>
                  <a:pt x="99219" y="271306"/>
                  <a:pt x="99219" y="287734"/>
                </a:cubicBezTo>
                <a:cubicBezTo>
                  <a:pt x="99219" y="304162"/>
                  <a:pt x="112556" y="317500"/>
                  <a:pt x="128984" y="317500"/>
                </a:cubicBezTo>
                <a:close/>
                <a:moveTo>
                  <a:pt x="267891" y="317500"/>
                </a:moveTo>
                <a:cubicBezTo>
                  <a:pt x="284319" y="317500"/>
                  <a:pt x="297656" y="304162"/>
                  <a:pt x="297656" y="287734"/>
                </a:cubicBezTo>
                <a:cubicBezTo>
                  <a:pt x="297656" y="271306"/>
                  <a:pt x="284319" y="257969"/>
                  <a:pt x="267891" y="257969"/>
                </a:cubicBezTo>
                <a:cubicBezTo>
                  <a:pt x="251463" y="257969"/>
                  <a:pt x="238125" y="271306"/>
                  <a:pt x="238125" y="287734"/>
                </a:cubicBezTo>
                <a:cubicBezTo>
                  <a:pt x="238125" y="304162"/>
                  <a:pt x="251463" y="317500"/>
                  <a:pt x="267891" y="31750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1" name="Text 29"/>
          <p:cNvSpPr/>
          <p:nvPr/>
        </p:nvSpPr>
        <p:spPr>
          <a:xfrm>
            <a:off x="12297833" y="3111368"/>
            <a:ext cx="32067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需求估算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297833" y="3492368"/>
            <a:ext cx="31961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销量预测、库存优化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09000" y="4085035"/>
            <a:ext cx="3450167" cy="1418167"/>
          </a:xfrm>
          <a:custGeom>
            <a:avLst/>
            <a:gdLst/>
            <a:ahLst/>
            <a:cxnLst/>
            <a:rect l="l" t="t" r="r" b="b"/>
            <a:pathLst>
              <a:path w="3450167" h="1418167">
                <a:moveTo>
                  <a:pt x="84665" y="0"/>
                </a:moveTo>
                <a:lnTo>
                  <a:pt x="3365502" y="0"/>
                </a:lnTo>
                <a:cubicBezTo>
                  <a:pt x="3412261" y="0"/>
                  <a:pt x="3450167" y="37906"/>
                  <a:pt x="3450167" y="84665"/>
                </a:cubicBezTo>
                <a:lnTo>
                  <a:pt x="3450167" y="1333502"/>
                </a:lnTo>
                <a:cubicBezTo>
                  <a:pt x="3450167" y="1380261"/>
                  <a:pt x="3412261" y="1418167"/>
                  <a:pt x="3365502" y="1418167"/>
                </a:cubicBezTo>
                <a:lnTo>
                  <a:pt x="84665" y="1418167"/>
                </a:lnTo>
                <a:cubicBezTo>
                  <a:pt x="37937" y="1418167"/>
                  <a:pt x="0" y="1380230"/>
                  <a:pt x="0" y="1333502"/>
                </a:cubicBezTo>
                <a:lnTo>
                  <a:pt x="0" y="84665"/>
                </a:lnTo>
                <a:cubicBezTo>
                  <a:pt x="0" y="37906"/>
                  <a:pt x="37906" y="0"/>
                  <a:pt x="8466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8700823" y="4254368"/>
            <a:ext cx="357188" cy="317500"/>
          </a:xfrm>
          <a:custGeom>
            <a:avLst/>
            <a:gdLst/>
            <a:ahLst/>
            <a:cxnLst/>
            <a:rect l="l" t="t" r="r" b="b"/>
            <a:pathLst>
              <a:path w="357188" h="317500">
                <a:moveTo>
                  <a:pt x="281285" y="-9178"/>
                </a:moveTo>
                <a:cubicBezTo>
                  <a:pt x="284324" y="-7937"/>
                  <a:pt x="286556" y="-5209"/>
                  <a:pt x="287176" y="-1984"/>
                </a:cubicBezTo>
                <a:lnTo>
                  <a:pt x="297656" y="49609"/>
                </a:lnTo>
                <a:lnTo>
                  <a:pt x="349250" y="60027"/>
                </a:lnTo>
                <a:cubicBezTo>
                  <a:pt x="352475" y="60709"/>
                  <a:pt x="355141" y="62880"/>
                  <a:pt x="356443" y="65918"/>
                </a:cubicBezTo>
                <a:cubicBezTo>
                  <a:pt x="357746" y="68957"/>
                  <a:pt x="357374" y="72430"/>
                  <a:pt x="355575" y="75158"/>
                </a:cubicBezTo>
                <a:lnTo>
                  <a:pt x="326492" y="119000"/>
                </a:lnTo>
                <a:lnTo>
                  <a:pt x="355575" y="162843"/>
                </a:lnTo>
                <a:cubicBezTo>
                  <a:pt x="357374" y="165571"/>
                  <a:pt x="357746" y="169044"/>
                  <a:pt x="356443" y="172083"/>
                </a:cubicBezTo>
                <a:cubicBezTo>
                  <a:pt x="355141" y="175121"/>
                  <a:pt x="352475" y="177354"/>
                  <a:pt x="349250" y="177974"/>
                </a:cubicBezTo>
                <a:lnTo>
                  <a:pt x="310679" y="185849"/>
                </a:lnTo>
                <a:cubicBezTo>
                  <a:pt x="303299" y="180454"/>
                  <a:pt x="295114" y="176175"/>
                  <a:pt x="286246" y="173199"/>
                </a:cubicBezTo>
                <a:cubicBezTo>
                  <a:pt x="284696" y="165323"/>
                  <a:pt x="282029" y="157882"/>
                  <a:pt x="278371" y="151061"/>
                </a:cubicBezTo>
                <a:cubicBezTo>
                  <a:pt x="284262" y="141821"/>
                  <a:pt x="287734" y="130845"/>
                  <a:pt x="287734" y="119000"/>
                </a:cubicBezTo>
                <a:cubicBezTo>
                  <a:pt x="287734" y="86134"/>
                  <a:pt x="261069" y="59469"/>
                  <a:pt x="228203" y="59469"/>
                </a:cubicBezTo>
                <a:cubicBezTo>
                  <a:pt x="198500" y="59469"/>
                  <a:pt x="173881" y="81235"/>
                  <a:pt x="169416" y="109637"/>
                </a:cubicBezTo>
                <a:cubicBezTo>
                  <a:pt x="152983" y="97048"/>
                  <a:pt x="132519" y="89483"/>
                  <a:pt x="110257" y="89235"/>
                </a:cubicBezTo>
                <a:lnTo>
                  <a:pt x="100893" y="75158"/>
                </a:lnTo>
                <a:cubicBezTo>
                  <a:pt x="99095" y="72430"/>
                  <a:pt x="98723" y="68957"/>
                  <a:pt x="100025" y="65918"/>
                </a:cubicBezTo>
                <a:cubicBezTo>
                  <a:pt x="101327" y="62880"/>
                  <a:pt x="103994" y="60647"/>
                  <a:pt x="107218" y="60027"/>
                </a:cubicBezTo>
                <a:lnTo>
                  <a:pt x="158750" y="49609"/>
                </a:lnTo>
                <a:lnTo>
                  <a:pt x="169168" y="-1984"/>
                </a:lnTo>
                <a:cubicBezTo>
                  <a:pt x="169850" y="-5209"/>
                  <a:pt x="172021" y="-7875"/>
                  <a:pt x="175059" y="-9178"/>
                </a:cubicBezTo>
                <a:cubicBezTo>
                  <a:pt x="178098" y="-10480"/>
                  <a:pt x="181570" y="-10108"/>
                  <a:pt x="184299" y="-8310"/>
                </a:cubicBezTo>
                <a:lnTo>
                  <a:pt x="228203" y="20836"/>
                </a:lnTo>
                <a:lnTo>
                  <a:pt x="272045" y="-8248"/>
                </a:lnTo>
                <a:cubicBezTo>
                  <a:pt x="274774" y="-10046"/>
                  <a:pt x="278247" y="-10418"/>
                  <a:pt x="281285" y="-9116"/>
                </a:cubicBezTo>
                <a:close/>
                <a:moveTo>
                  <a:pt x="257969" y="119062"/>
                </a:moveTo>
                <a:cubicBezTo>
                  <a:pt x="257969" y="121419"/>
                  <a:pt x="257721" y="123713"/>
                  <a:pt x="257163" y="125946"/>
                </a:cubicBezTo>
                <a:cubicBezTo>
                  <a:pt x="243706" y="115404"/>
                  <a:pt x="226777" y="109141"/>
                  <a:pt x="208359" y="109141"/>
                </a:cubicBezTo>
                <a:cubicBezTo>
                  <a:pt x="205507" y="109141"/>
                  <a:pt x="202716" y="109265"/>
                  <a:pt x="199988" y="109575"/>
                </a:cubicBezTo>
                <a:cubicBezTo>
                  <a:pt x="203957" y="97792"/>
                  <a:pt x="215119" y="89297"/>
                  <a:pt x="228203" y="89297"/>
                </a:cubicBezTo>
                <a:cubicBezTo>
                  <a:pt x="244636" y="89297"/>
                  <a:pt x="257969" y="102629"/>
                  <a:pt x="257969" y="119062"/>
                </a:cubicBezTo>
                <a:close/>
                <a:moveTo>
                  <a:pt x="59531" y="317500"/>
                </a:moveTo>
                <a:cubicBezTo>
                  <a:pt x="26665" y="317500"/>
                  <a:pt x="0" y="290835"/>
                  <a:pt x="0" y="257969"/>
                </a:cubicBezTo>
                <a:cubicBezTo>
                  <a:pt x="0" y="231614"/>
                  <a:pt x="17115" y="209228"/>
                  <a:pt x="40866" y="201414"/>
                </a:cubicBezTo>
                <a:cubicBezTo>
                  <a:pt x="40060" y="197259"/>
                  <a:pt x="39688" y="192918"/>
                  <a:pt x="39688" y="188516"/>
                </a:cubicBezTo>
                <a:cubicBezTo>
                  <a:pt x="39688" y="150130"/>
                  <a:pt x="70755" y="119062"/>
                  <a:pt x="109141" y="119062"/>
                </a:cubicBezTo>
                <a:cubicBezTo>
                  <a:pt x="135868" y="119062"/>
                  <a:pt x="159060" y="134131"/>
                  <a:pt x="170656" y="156270"/>
                </a:cubicBezTo>
                <a:cubicBezTo>
                  <a:pt x="179772" y="145666"/>
                  <a:pt x="193291" y="138906"/>
                  <a:pt x="208359" y="138906"/>
                </a:cubicBezTo>
                <a:cubicBezTo>
                  <a:pt x="235769" y="138906"/>
                  <a:pt x="257969" y="161106"/>
                  <a:pt x="257969" y="188516"/>
                </a:cubicBezTo>
                <a:cubicBezTo>
                  <a:pt x="257969" y="191926"/>
                  <a:pt x="257597" y="195213"/>
                  <a:pt x="256977" y="198438"/>
                </a:cubicBezTo>
                <a:cubicBezTo>
                  <a:pt x="257287" y="198438"/>
                  <a:pt x="257659" y="198438"/>
                  <a:pt x="257969" y="198438"/>
                </a:cubicBezTo>
                <a:cubicBezTo>
                  <a:pt x="290835" y="198438"/>
                  <a:pt x="317500" y="225103"/>
                  <a:pt x="317500" y="257969"/>
                </a:cubicBezTo>
                <a:cubicBezTo>
                  <a:pt x="317500" y="290835"/>
                  <a:pt x="290835" y="317500"/>
                  <a:pt x="257969" y="317500"/>
                </a:cubicBezTo>
                <a:lnTo>
                  <a:pt x="59531" y="31750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35" name="Text 33"/>
          <p:cNvSpPr/>
          <p:nvPr/>
        </p:nvSpPr>
        <p:spPr>
          <a:xfrm>
            <a:off x="8678333" y="4698868"/>
            <a:ext cx="32067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气象预报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78333" y="5079868"/>
            <a:ext cx="31961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温度变化、降雨量预测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128500" y="4085035"/>
            <a:ext cx="3450167" cy="1418167"/>
          </a:xfrm>
          <a:custGeom>
            <a:avLst/>
            <a:gdLst/>
            <a:ahLst/>
            <a:cxnLst/>
            <a:rect l="l" t="t" r="r" b="b"/>
            <a:pathLst>
              <a:path w="3450167" h="1418167">
                <a:moveTo>
                  <a:pt x="84665" y="0"/>
                </a:moveTo>
                <a:lnTo>
                  <a:pt x="3365502" y="0"/>
                </a:lnTo>
                <a:cubicBezTo>
                  <a:pt x="3412261" y="0"/>
                  <a:pt x="3450167" y="37906"/>
                  <a:pt x="3450167" y="84665"/>
                </a:cubicBezTo>
                <a:lnTo>
                  <a:pt x="3450167" y="1333502"/>
                </a:lnTo>
                <a:cubicBezTo>
                  <a:pt x="3450167" y="1380261"/>
                  <a:pt x="3412261" y="1418167"/>
                  <a:pt x="3365502" y="1418167"/>
                </a:cubicBezTo>
                <a:lnTo>
                  <a:pt x="84665" y="1418167"/>
                </a:lnTo>
                <a:cubicBezTo>
                  <a:pt x="37937" y="1418167"/>
                  <a:pt x="0" y="1380230"/>
                  <a:pt x="0" y="1333502"/>
                </a:cubicBezTo>
                <a:lnTo>
                  <a:pt x="0" y="84665"/>
                </a:lnTo>
                <a:cubicBezTo>
                  <a:pt x="0" y="37906"/>
                  <a:pt x="37906" y="0"/>
                  <a:pt x="8466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2300479" y="4254368"/>
            <a:ext cx="396875" cy="317500"/>
          </a:xfrm>
          <a:custGeom>
            <a:avLst/>
            <a:gdLst/>
            <a:ahLst/>
            <a:cxnLst/>
            <a:rect l="l" t="t" r="r" b="b"/>
            <a:pathLst>
              <a:path w="396875" h="317500">
                <a:moveTo>
                  <a:pt x="198438" y="9922"/>
                </a:moveTo>
                <a:cubicBezTo>
                  <a:pt x="234032" y="9922"/>
                  <a:pt x="262930" y="38820"/>
                  <a:pt x="262930" y="74414"/>
                </a:cubicBezTo>
                <a:cubicBezTo>
                  <a:pt x="262930" y="110008"/>
                  <a:pt x="234032" y="138906"/>
                  <a:pt x="198438" y="138906"/>
                </a:cubicBezTo>
                <a:cubicBezTo>
                  <a:pt x="162843" y="138906"/>
                  <a:pt x="133945" y="110008"/>
                  <a:pt x="133945" y="74414"/>
                </a:cubicBezTo>
                <a:cubicBezTo>
                  <a:pt x="133945" y="38820"/>
                  <a:pt x="162843" y="9922"/>
                  <a:pt x="198438" y="9922"/>
                </a:cubicBezTo>
                <a:close/>
                <a:moveTo>
                  <a:pt x="59531" y="54570"/>
                </a:moveTo>
                <a:cubicBezTo>
                  <a:pt x="84173" y="54570"/>
                  <a:pt x="104180" y="74577"/>
                  <a:pt x="104180" y="99219"/>
                </a:cubicBezTo>
                <a:cubicBezTo>
                  <a:pt x="104180" y="123861"/>
                  <a:pt x="84173" y="143867"/>
                  <a:pt x="59531" y="143867"/>
                </a:cubicBezTo>
                <a:cubicBezTo>
                  <a:pt x="34889" y="143867"/>
                  <a:pt x="14883" y="123861"/>
                  <a:pt x="14883" y="99219"/>
                </a:cubicBezTo>
                <a:cubicBezTo>
                  <a:pt x="14883" y="74577"/>
                  <a:pt x="34889" y="54570"/>
                  <a:pt x="59531" y="54570"/>
                </a:cubicBezTo>
                <a:close/>
                <a:moveTo>
                  <a:pt x="0" y="257969"/>
                </a:moveTo>
                <a:cubicBezTo>
                  <a:pt x="0" y="214126"/>
                  <a:pt x="35533" y="178594"/>
                  <a:pt x="79375" y="178594"/>
                </a:cubicBezTo>
                <a:cubicBezTo>
                  <a:pt x="87313" y="178594"/>
                  <a:pt x="95002" y="179772"/>
                  <a:pt x="102257" y="181942"/>
                </a:cubicBezTo>
                <a:cubicBezTo>
                  <a:pt x="81855" y="204763"/>
                  <a:pt x="69453" y="234900"/>
                  <a:pt x="69453" y="267891"/>
                </a:cubicBezTo>
                <a:lnTo>
                  <a:pt x="69453" y="277813"/>
                </a:lnTo>
                <a:cubicBezTo>
                  <a:pt x="69453" y="284882"/>
                  <a:pt x="70941" y="291579"/>
                  <a:pt x="73608" y="297656"/>
                </a:cubicBezTo>
                <a:lnTo>
                  <a:pt x="19844" y="297656"/>
                </a:lnTo>
                <a:cubicBezTo>
                  <a:pt x="8868" y="297656"/>
                  <a:pt x="0" y="288789"/>
                  <a:pt x="0" y="277813"/>
                </a:cubicBezTo>
                <a:lnTo>
                  <a:pt x="0" y="257969"/>
                </a:lnTo>
                <a:close/>
                <a:moveTo>
                  <a:pt x="323267" y="297656"/>
                </a:moveTo>
                <a:cubicBezTo>
                  <a:pt x="325934" y="291579"/>
                  <a:pt x="327422" y="284882"/>
                  <a:pt x="327422" y="277813"/>
                </a:cubicBezTo>
                <a:lnTo>
                  <a:pt x="327422" y="267891"/>
                </a:lnTo>
                <a:cubicBezTo>
                  <a:pt x="327422" y="234900"/>
                  <a:pt x="315020" y="204763"/>
                  <a:pt x="294618" y="181942"/>
                </a:cubicBezTo>
                <a:cubicBezTo>
                  <a:pt x="301873" y="179772"/>
                  <a:pt x="309563" y="178594"/>
                  <a:pt x="317500" y="178594"/>
                </a:cubicBezTo>
                <a:cubicBezTo>
                  <a:pt x="361342" y="178594"/>
                  <a:pt x="396875" y="214126"/>
                  <a:pt x="396875" y="257969"/>
                </a:cubicBezTo>
                <a:lnTo>
                  <a:pt x="396875" y="277813"/>
                </a:lnTo>
                <a:cubicBezTo>
                  <a:pt x="396875" y="288789"/>
                  <a:pt x="388007" y="297656"/>
                  <a:pt x="377031" y="297656"/>
                </a:cubicBezTo>
                <a:lnTo>
                  <a:pt x="323267" y="297656"/>
                </a:lnTo>
                <a:close/>
                <a:moveTo>
                  <a:pt x="292695" y="99219"/>
                </a:moveTo>
                <a:cubicBezTo>
                  <a:pt x="292695" y="74577"/>
                  <a:pt x="312702" y="54570"/>
                  <a:pt x="337344" y="54570"/>
                </a:cubicBezTo>
                <a:cubicBezTo>
                  <a:pt x="361986" y="54570"/>
                  <a:pt x="381992" y="74577"/>
                  <a:pt x="381992" y="99219"/>
                </a:cubicBezTo>
                <a:cubicBezTo>
                  <a:pt x="381992" y="123861"/>
                  <a:pt x="361986" y="143867"/>
                  <a:pt x="337344" y="143867"/>
                </a:cubicBezTo>
                <a:cubicBezTo>
                  <a:pt x="312702" y="143867"/>
                  <a:pt x="292695" y="123861"/>
                  <a:pt x="292695" y="99219"/>
                </a:cubicBezTo>
                <a:close/>
                <a:moveTo>
                  <a:pt x="99219" y="267891"/>
                </a:moveTo>
                <a:cubicBezTo>
                  <a:pt x="99219" y="213072"/>
                  <a:pt x="143619" y="168672"/>
                  <a:pt x="198438" y="168672"/>
                </a:cubicBezTo>
                <a:cubicBezTo>
                  <a:pt x="253256" y="168672"/>
                  <a:pt x="297656" y="213072"/>
                  <a:pt x="297656" y="267891"/>
                </a:cubicBezTo>
                <a:lnTo>
                  <a:pt x="297656" y="277813"/>
                </a:lnTo>
                <a:cubicBezTo>
                  <a:pt x="297656" y="288789"/>
                  <a:pt x="288789" y="297656"/>
                  <a:pt x="277813" y="297656"/>
                </a:cubicBezTo>
                <a:lnTo>
                  <a:pt x="119062" y="297656"/>
                </a:lnTo>
                <a:cubicBezTo>
                  <a:pt x="108086" y="297656"/>
                  <a:pt x="99219" y="288789"/>
                  <a:pt x="99219" y="277813"/>
                </a:cubicBezTo>
                <a:lnTo>
                  <a:pt x="99219" y="267891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39" name="Text 37"/>
          <p:cNvSpPr/>
          <p:nvPr/>
        </p:nvSpPr>
        <p:spPr>
          <a:xfrm>
            <a:off x="12297833" y="4698868"/>
            <a:ext cx="32067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人口预测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297833" y="5079868"/>
            <a:ext cx="31961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人口增长、老龄化趋势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55000" y="5968868"/>
            <a:ext cx="7577667" cy="2921000"/>
          </a:xfrm>
          <a:custGeom>
            <a:avLst/>
            <a:gdLst/>
            <a:ahLst/>
            <a:cxnLst/>
            <a:rect l="l" t="t" r="r" b="b"/>
            <a:pathLst>
              <a:path w="7577667" h="2921000">
                <a:moveTo>
                  <a:pt x="127005" y="0"/>
                </a:moveTo>
                <a:lnTo>
                  <a:pt x="7450662" y="0"/>
                </a:lnTo>
                <a:cubicBezTo>
                  <a:pt x="7520805" y="0"/>
                  <a:pt x="7577667" y="56862"/>
                  <a:pt x="7577667" y="127005"/>
                </a:cubicBezTo>
                <a:lnTo>
                  <a:pt x="7577667" y="2793995"/>
                </a:lnTo>
                <a:cubicBezTo>
                  <a:pt x="7577667" y="2864138"/>
                  <a:pt x="7520805" y="2921000"/>
                  <a:pt x="7450662" y="2921000"/>
                </a:cubicBezTo>
                <a:lnTo>
                  <a:pt x="127005" y="2921000"/>
                </a:lnTo>
                <a:cubicBezTo>
                  <a:pt x="56862" y="2921000"/>
                  <a:pt x="0" y="2864138"/>
                  <a:pt x="0" y="2793995"/>
                </a:cubicBezTo>
                <a:lnTo>
                  <a:pt x="0" y="127005"/>
                </a:lnTo>
                <a:cubicBezTo>
                  <a:pt x="0" y="56909"/>
                  <a:pt x="56909" y="0"/>
                  <a:pt x="12700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493125" y="6222868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96118" y="2150"/>
                </a:moveTo>
                <a:cubicBezTo>
                  <a:pt x="102278" y="-703"/>
                  <a:pt x="109389" y="-703"/>
                  <a:pt x="115549" y="2150"/>
                </a:cubicBezTo>
                <a:lnTo>
                  <a:pt x="205920" y="43904"/>
                </a:lnTo>
                <a:cubicBezTo>
                  <a:pt x="209434" y="45517"/>
                  <a:pt x="211667" y="49031"/>
                  <a:pt x="211667" y="52917"/>
                </a:cubicBezTo>
                <a:cubicBezTo>
                  <a:pt x="211667" y="56803"/>
                  <a:pt x="209434" y="60317"/>
                  <a:pt x="205920" y="61929"/>
                </a:cubicBezTo>
                <a:lnTo>
                  <a:pt x="115549" y="103684"/>
                </a:lnTo>
                <a:cubicBezTo>
                  <a:pt x="109389" y="106536"/>
                  <a:pt x="102278" y="106536"/>
                  <a:pt x="96118" y="103684"/>
                </a:cubicBezTo>
                <a:lnTo>
                  <a:pt x="5746" y="61929"/>
                </a:lnTo>
                <a:cubicBezTo>
                  <a:pt x="2232" y="60275"/>
                  <a:pt x="0" y="56761"/>
                  <a:pt x="0" y="52917"/>
                </a:cubicBezTo>
                <a:cubicBezTo>
                  <a:pt x="0" y="49072"/>
                  <a:pt x="2232" y="45517"/>
                  <a:pt x="5746" y="43904"/>
                </a:cubicBezTo>
                <a:lnTo>
                  <a:pt x="96118" y="2150"/>
                </a:lnTo>
                <a:close/>
                <a:moveTo>
                  <a:pt x="19885" y="90289"/>
                </a:moveTo>
                <a:lnTo>
                  <a:pt x="87809" y="121667"/>
                </a:lnTo>
                <a:cubicBezTo>
                  <a:pt x="99260" y="126959"/>
                  <a:pt x="112448" y="126959"/>
                  <a:pt x="123899" y="121667"/>
                </a:cubicBezTo>
                <a:lnTo>
                  <a:pt x="191823" y="90289"/>
                </a:lnTo>
                <a:lnTo>
                  <a:pt x="205920" y="96821"/>
                </a:lnTo>
                <a:cubicBezTo>
                  <a:pt x="209434" y="98433"/>
                  <a:pt x="211667" y="101947"/>
                  <a:pt x="211667" y="105833"/>
                </a:cubicBezTo>
                <a:cubicBezTo>
                  <a:pt x="211667" y="109719"/>
                  <a:pt x="209434" y="113233"/>
                  <a:pt x="205920" y="114846"/>
                </a:cubicBezTo>
                <a:lnTo>
                  <a:pt x="115549" y="156600"/>
                </a:lnTo>
                <a:cubicBezTo>
                  <a:pt x="109389" y="159453"/>
                  <a:pt x="102278" y="159453"/>
                  <a:pt x="96118" y="156600"/>
                </a:cubicBezTo>
                <a:lnTo>
                  <a:pt x="5746" y="114846"/>
                </a:lnTo>
                <a:cubicBezTo>
                  <a:pt x="2232" y="113192"/>
                  <a:pt x="0" y="109678"/>
                  <a:pt x="0" y="105833"/>
                </a:cubicBezTo>
                <a:cubicBezTo>
                  <a:pt x="0" y="101989"/>
                  <a:pt x="2232" y="98433"/>
                  <a:pt x="5746" y="96821"/>
                </a:cubicBezTo>
                <a:lnTo>
                  <a:pt x="19844" y="90289"/>
                </a:lnTo>
                <a:close/>
                <a:moveTo>
                  <a:pt x="5746" y="149738"/>
                </a:moveTo>
                <a:lnTo>
                  <a:pt x="19844" y="143206"/>
                </a:lnTo>
                <a:lnTo>
                  <a:pt x="87767" y="174584"/>
                </a:lnTo>
                <a:cubicBezTo>
                  <a:pt x="99219" y="179875"/>
                  <a:pt x="112407" y="179875"/>
                  <a:pt x="123858" y="174584"/>
                </a:cubicBezTo>
                <a:lnTo>
                  <a:pt x="191782" y="143206"/>
                </a:lnTo>
                <a:lnTo>
                  <a:pt x="205879" y="149738"/>
                </a:lnTo>
                <a:cubicBezTo>
                  <a:pt x="209393" y="151350"/>
                  <a:pt x="211625" y="154864"/>
                  <a:pt x="211625" y="158750"/>
                </a:cubicBezTo>
                <a:cubicBezTo>
                  <a:pt x="211625" y="162636"/>
                  <a:pt x="209393" y="166150"/>
                  <a:pt x="205879" y="167762"/>
                </a:cubicBezTo>
                <a:lnTo>
                  <a:pt x="115507" y="209517"/>
                </a:lnTo>
                <a:cubicBezTo>
                  <a:pt x="109347" y="212369"/>
                  <a:pt x="102237" y="212369"/>
                  <a:pt x="96077" y="209517"/>
                </a:cubicBezTo>
                <a:lnTo>
                  <a:pt x="5746" y="167762"/>
                </a:lnTo>
                <a:cubicBezTo>
                  <a:pt x="2232" y="166109"/>
                  <a:pt x="0" y="162595"/>
                  <a:pt x="0" y="158750"/>
                </a:cubicBezTo>
                <a:cubicBezTo>
                  <a:pt x="0" y="154905"/>
                  <a:pt x="2232" y="151350"/>
                  <a:pt x="5746" y="149738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3" name="Text 41"/>
          <p:cNvSpPr/>
          <p:nvPr/>
        </p:nvSpPr>
        <p:spPr>
          <a:xfrm>
            <a:off x="8731250" y="6180535"/>
            <a:ext cx="699558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三大方法类别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66667" y="6646202"/>
            <a:ext cx="7154333" cy="592667"/>
          </a:xfrm>
          <a:custGeom>
            <a:avLst/>
            <a:gdLst/>
            <a:ahLst/>
            <a:cxnLst/>
            <a:rect l="l" t="t" r="r" b="b"/>
            <a:pathLst>
              <a:path w="7154333" h="592667">
                <a:moveTo>
                  <a:pt x="84668" y="0"/>
                </a:moveTo>
                <a:lnTo>
                  <a:pt x="7069665" y="0"/>
                </a:lnTo>
                <a:cubicBezTo>
                  <a:pt x="7116426" y="0"/>
                  <a:pt x="7154333" y="37907"/>
                  <a:pt x="7154333" y="84668"/>
                </a:cubicBezTo>
                <a:lnTo>
                  <a:pt x="7154333" y="507998"/>
                </a:lnTo>
                <a:cubicBezTo>
                  <a:pt x="7154333" y="554759"/>
                  <a:pt x="7116426" y="592667"/>
                  <a:pt x="7069665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8593667" y="6773202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6" name="Text 44"/>
          <p:cNvSpPr/>
          <p:nvPr/>
        </p:nvSpPr>
        <p:spPr>
          <a:xfrm>
            <a:off x="8551333" y="6773202"/>
            <a:ext cx="423333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059333" y="6815535"/>
            <a:ext cx="3058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时间序列类 — 捕捉时间维度的波动规律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66667" y="7365868"/>
            <a:ext cx="7154333" cy="592667"/>
          </a:xfrm>
          <a:custGeom>
            <a:avLst/>
            <a:gdLst/>
            <a:ahLst/>
            <a:cxnLst/>
            <a:rect l="l" t="t" r="r" b="b"/>
            <a:pathLst>
              <a:path w="7154333" h="592667">
                <a:moveTo>
                  <a:pt x="84668" y="0"/>
                </a:moveTo>
                <a:lnTo>
                  <a:pt x="7069665" y="0"/>
                </a:lnTo>
                <a:cubicBezTo>
                  <a:pt x="7116426" y="0"/>
                  <a:pt x="7154333" y="37907"/>
                  <a:pt x="7154333" y="84668"/>
                </a:cubicBezTo>
                <a:lnTo>
                  <a:pt x="7154333" y="507998"/>
                </a:lnTo>
                <a:cubicBezTo>
                  <a:pt x="7154333" y="554759"/>
                  <a:pt x="7116426" y="592667"/>
                  <a:pt x="7069665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8593667" y="7492868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50" name="Text 48"/>
          <p:cNvSpPr/>
          <p:nvPr/>
        </p:nvSpPr>
        <p:spPr>
          <a:xfrm>
            <a:off x="8551333" y="7492868"/>
            <a:ext cx="423333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059333" y="7535202"/>
            <a:ext cx="2550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回归分析类 — 构建因果关系映射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66667" y="8085535"/>
            <a:ext cx="7154333" cy="592667"/>
          </a:xfrm>
          <a:custGeom>
            <a:avLst/>
            <a:gdLst/>
            <a:ahLst/>
            <a:cxnLst/>
            <a:rect l="l" t="t" r="r" b="b"/>
            <a:pathLst>
              <a:path w="7154333" h="592667">
                <a:moveTo>
                  <a:pt x="84668" y="0"/>
                </a:moveTo>
                <a:lnTo>
                  <a:pt x="7069665" y="0"/>
                </a:lnTo>
                <a:cubicBezTo>
                  <a:pt x="7116426" y="0"/>
                  <a:pt x="7154333" y="37907"/>
                  <a:pt x="7154333" y="84668"/>
                </a:cubicBezTo>
                <a:lnTo>
                  <a:pt x="7154333" y="507998"/>
                </a:lnTo>
                <a:cubicBezTo>
                  <a:pt x="7154333" y="554759"/>
                  <a:pt x="7116426" y="592667"/>
                  <a:pt x="7069665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8593667" y="8212535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54" name="Text 52"/>
          <p:cNvSpPr/>
          <p:nvPr/>
        </p:nvSpPr>
        <p:spPr>
          <a:xfrm>
            <a:off x="8551333" y="8212535"/>
            <a:ext cx="423333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059333" y="8254868"/>
            <a:ext cx="2550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机器学习类 — 自动学习复杂模式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800" y="499800"/>
            <a:ext cx="15356360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kern="0" spc="79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TIME SERIES METHODS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9800" y="899640"/>
            <a:ext cx="15481310" cy="499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4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预测模型：时间序列分析方法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9800" y="1549380"/>
            <a:ext cx="1199520" cy="49980"/>
          </a:xfrm>
          <a:custGeom>
            <a:avLst/>
            <a:gdLst/>
            <a:ahLst/>
            <a:cxnLst/>
            <a:rect l="l" t="t" r="r" b="b"/>
            <a:pathLst>
              <a:path w="1199520" h="49980">
                <a:moveTo>
                  <a:pt x="0" y="0"/>
                </a:moveTo>
                <a:lnTo>
                  <a:pt x="1199520" y="0"/>
                </a:lnTo>
                <a:lnTo>
                  <a:pt x="1199520" y="49980"/>
                </a:lnTo>
                <a:lnTo>
                  <a:pt x="0" y="49980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99800" y="1799281"/>
            <a:ext cx="2936326" cy="1299480"/>
          </a:xfrm>
          <a:custGeom>
            <a:avLst/>
            <a:gdLst/>
            <a:ahLst/>
            <a:cxnLst/>
            <a:rect l="l" t="t" r="r" b="b"/>
            <a:pathLst>
              <a:path w="2936326" h="1299480">
                <a:moveTo>
                  <a:pt x="99956" y="0"/>
                </a:moveTo>
                <a:lnTo>
                  <a:pt x="2836370" y="0"/>
                </a:lnTo>
                <a:cubicBezTo>
                  <a:pt x="2891574" y="0"/>
                  <a:pt x="2936326" y="44752"/>
                  <a:pt x="2936326" y="99956"/>
                </a:cubicBezTo>
                <a:lnTo>
                  <a:pt x="2936326" y="1199524"/>
                </a:lnTo>
                <a:cubicBezTo>
                  <a:pt x="2936326" y="1254729"/>
                  <a:pt x="2891574" y="1299480"/>
                  <a:pt x="2836370" y="1299480"/>
                </a:cubicBezTo>
                <a:lnTo>
                  <a:pt x="99956" y="1299480"/>
                </a:lnTo>
                <a:cubicBezTo>
                  <a:pt x="44752" y="1299480"/>
                  <a:pt x="0" y="1254729"/>
                  <a:pt x="0" y="1199524"/>
                </a:cubicBezTo>
                <a:lnTo>
                  <a:pt x="0" y="99956"/>
                </a:lnTo>
                <a:cubicBezTo>
                  <a:pt x="0" y="44789"/>
                  <a:pt x="44789" y="0"/>
                  <a:pt x="99956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1797094" y="1949221"/>
            <a:ext cx="337365" cy="299880"/>
          </a:xfrm>
          <a:custGeom>
            <a:avLst/>
            <a:gdLst/>
            <a:ahLst/>
            <a:cxnLst/>
            <a:rect l="l" t="t" r="r" b="b"/>
            <a:pathLst>
              <a:path w="337365" h="299880">
                <a:moveTo>
                  <a:pt x="224910" y="93713"/>
                </a:moveTo>
                <a:cubicBezTo>
                  <a:pt x="214543" y="93713"/>
                  <a:pt x="206168" y="85337"/>
                  <a:pt x="206168" y="74970"/>
                </a:cubicBezTo>
                <a:cubicBezTo>
                  <a:pt x="206168" y="64603"/>
                  <a:pt x="214543" y="56228"/>
                  <a:pt x="224910" y="56228"/>
                </a:cubicBezTo>
                <a:lnTo>
                  <a:pt x="318623" y="56228"/>
                </a:lnTo>
                <a:cubicBezTo>
                  <a:pt x="328990" y="56228"/>
                  <a:pt x="337365" y="64603"/>
                  <a:pt x="337365" y="74970"/>
                </a:cubicBezTo>
                <a:lnTo>
                  <a:pt x="337365" y="168683"/>
                </a:lnTo>
                <a:cubicBezTo>
                  <a:pt x="337365" y="179050"/>
                  <a:pt x="328990" y="187425"/>
                  <a:pt x="318623" y="187425"/>
                </a:cubicBezTo>
                <a:cubicBezTo>
                  <a:pt x="308256" y="187425"/>
                  <a:pt x="299880" y="179050"/>
                  <a:pt x="299880" y="168683"/>
                </a:cubicBezTo>
                <a:lnTo>
                  <a:pt x="299880" y="120245"/>
                </a:lnTo>
                <a:lnTo>
                  <a:pt x="200662" y="219463"/>
                </a:lnTo>
                <a:cubicBezTo>
                  <a:pt x="193341" y="226784"/>
                  <a:pt x="181451" y="226784"/>
                  <a:pt x="174130" y="219463"/>
                </a:cubicBezTo>
                <a:lnTo>
                  <a:pt x="112455" y="157730"/>
                </a:lnTo>
                <a:lnTo>
                  <a:pt x="31979" y="238147"/>
                </a:lnTo>
                <a:cubicBezTo>
                  <a:pt x="24658" y="245468"/>
                  <a:pt x="12768" y="245468"/>
                  <a:pt x="5447" y="238147"/>
                </a:cubicBezTo>
                <a:cubicBezTo>
                  <a:pt x="-1874" y="230826"/>
                  <a:pt x="-1874" y="218936"/>
                  <a:pt x="5447" y="211615"/>
                </a:cubicBezTo>
                <a:lnTo>
                  <a:pt x="99160" y="117902"/>
                </a:lnTo>
                <a:cubicBezTo>
                  <a:pt x="106481" y="110581"/>
                  <a:pt x="118371" y="110581"/>
                  <a:pt x="125692" y="117902"/>
                </a:cubicBezTo>
                <a:lnTo>
                  <a:pt x="187425" y="179635"/>
                </a:lnTo>
                <a:lnTo>
                  <a:pt x="273348" y="93713"/>
                </a:lnTo>
                <a:lnTo>
                  <a:pt x="224910" y="93713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7" name="Text 5"/>
          <p:cNvSpPr/>
          <p:nvPr/>
        </p:nvSpPr>
        <p:spPr>
          <a:xfrm>
            <a:off x="599760" y="2349061"/>
            <a:ext cx="2736406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7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趋势性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6008" y="2698921"/>
            <a:ext cx="2723911" cy="249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长期上升/下降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81849" y="1799281"/>
            <a:ext cx="2936326" cy="1299480"/>
          </a:xfrm>
          <a:custGeom>
            <a:avLst/>
            <a:gdLst/>
            <a:ahLst/>
            <a:cxnLst/>
            <a:rect l="l" t="t" r="r" b="b"/>
            <a:pathLst>
              <a:path w="2936326" h="1299480">
                <a:moveTo>
                  <a:pt x="99956" y="0"/>
                </a:moveTo>
                <a:lnTo>
                  <a:pt x="2836370" y="0"/>
                </a:lnTo>
                <a:cubicBezTo>
                  <a:pt x="2891574" y="0"/>
                  <a:pt x="2936326" y="44752"/>
                  <a:pt x="2936326" y="99956"/>
                </a:cubicBezTo>
                <a:lnTo>
                  <a:pt x="2936326" y="1199524"/>
                </a:lnTo>
                <a:cubicBezTo>
                  <a:pt x="2936326" y="1254729"/>
                  <a:pt x="2891574" y="1299480"/>
                  <a:pt x="2836370" y="1299480"/>
                </a:cubicBezTo>
                <a:lnTo>
                  <a:pt x="99956" y="1299480"/>
                </a:lnTo>
                <a:cubicBezTo>
                  <a:pt x="44752" y="1299480"/>
                  <a:pt x="0" y="1254729"/>
                  <a:pt x="0" y="1199524"/>
                </a:cubicBezTo>
                <a:lnTo>
                  <a:pt x="0" y="99956"/>
                </a:lnTo>
                <a:cubicBezTo>
                  <a:pt x="0" y="44789"/>
                  <a:pt x="44789" y="0"/>
                  <a:pt x="99956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897886" y="1949221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281196" y="112455"/>
                </a:moveTo>
                <a:lnTo>
                  <a:pt x="285823" y="112455"/>
                </a:lnTo>
                <a:cubicBezTo>
                  <a:pt x="293613" y="112455"/>
                  <a:pt x="299880" y="106188"/>
                  <a:pt x="299880" y="98398"/>
                </a:cubicBezTo>
                <a:lnTo>
                  <a:pt x="299880" y="14057"/>
                </a:lnTo>
                <a:cubicBezTo>
                  <a:pt x="299880" y="8376"/>
                  <a:pt x="296483" y="3221"/>
                  <a:pt x="291212" y="1054"/>
                </a:cubicBezTo>
                <a:cubicBezTo>
                  <a:pt x="285940" y="-1113"/>
                  <a:pt x="279908" y="117"/>
                  <a:pt x="275866" y="4100"/>
                </a:cubicBezTo>
                <a:lnTo>
                  <a:pt x="245585" y="34439"/>
                </a:lnTo>
                <a:cubicBezTo>
                  <a:pt x="219639" y="12944"/>
                  <a:pt x="186254" y="0"/>
                  <a:pt x="149940" y="0"/>
                </a:cubicBezTo>
                <a:cubicBezTo>
                  <a:pt x="74384" y="0"/>
                  <a:pt x="11890" y="55876"/>
                  <a:pt x="1523" y="128562"/>
                </a:cubicBezTo>
                <a:cubicBezTo>
                  <a:pt x="59" y="138812"/>
                  <a:pt x="7146" y="148300"/>
                  <a:pt x="17395" y="149764"/>
                </a:cubicBezTo>
                <a:cubicBezTo>
                  <a:pt x="27645" y="151229"/>
                  <a:pt x="37134" y="144083"/>
                  <a:pt x="38598" y="133892"/>
                </a:cubicBezTo>
                <a:cubicBezTo>
                  <a:pt x="46388" y="79363"/>
                  <a:pt x="93303" y="37485"/>
                  <a:pt x="149940" y="37485"/>
                </a:cubicBezTo>
                <a:cubicBezTo>
                  <a:pt x="175945" y="37485"/>
                  <a:pt x="199842" y="46271"/>
                  <a:pt x="218877" y="61089"/>
                </a:cubicBezTo>
                <a:lnTo>
                  <a:pt x="191525" y="88441"/>
                </a:lnTo>
                <a:cubicBezTo>
                  <a:pt x="187484" y="92483"/>
                  <a:pt x="186312" y="98515"/>
                  <a:pt x="188479" y="103787"/>
                </a:cubicBezTo>
                <a:cubicBezTo>
                  <a:pt x="190646" y="109058"/>
                  <a:pt x="195801" y="112455"/>
                  <a:pt x="201482" y="112455"/>
                </a:cubicBezTo>
                <a:lnTo>
                  <a:pt x="281196" y="112455"/>
                </a:lnTo>
                <a:close/>
                <a:moveTo>
                  <a:pt x="298416" y="171318"/>
                </a:moveTo>
                <a:cubicBezTo>
                  <a:pt x="299880" y="161068"/>
                  <a:pt x="292735" y="151580"/>
                  <a:pt x="282543" y="150116"/>
                </a:cubicBezTo>
                <a:cubicBezTo>
                  <a:pt x="272352" y="148651"/>
                  <a:pt x="262805" y="155797"/>
                  <a:pt x="261341" y="165988"/>
                </a:cubicBezTo>
                <a:cubicBezTo>
                  <a:pt x="253551" y="220459"/>
                  <a:pt x="206636" y="262337"/>
                  <a:pt x="149999" y="262337"/>
                </a:cubicBezTo>
                <a:cubicBezTo>
                  <a:pt x="123993" y="262337"/>
                  <a:pt x="100097" y="253551"/>
                  <a:pt x="81061" y="238733"/>
                </a:cubicBezTo>
                <a:lnTo>
                  <a:pt x="108355" y="211439"/>
                </a:lnTo>
                <a:cubicBezTo>
                  <a:pt x="112396" y="207398"/>
                  <a:pt x="113568" y="201365"/>
                  <a:pt x="111401" y="196093"/>
                </a:cubicBezTo>
                <a:cubicBezTo>
                  <a:pt x="109234" y="190822"/>
                  <a:pt x="104079" y="187425"/>
                  <a:pt x="98398" y="187425"/>
                </a:cubicBezTo>
                <a:lnTo>
                  <a:pt x="14057" y="187425"/>
                </a:lnTo>
                <a:cubicBezTo>
                  <a:pt x="6267" y="187425"/>
                  <a:pt x="0" y="193692"/>
                  <a:pt x="0" y="201482"/>
                </a:cubicBezTo>
                <a:lnTo>
                  <a:pt x="0" y="285823"/>
                </a:lnTo>
                <a:cubicBezTo>
                  <a:pt x="0" y="291505"/>
                  <a:pt x="3397" y="296659"/>
                  <a:pt x="8668" y="298826"/>
                </a:cubicBezTo>
                <a:cubicBezTo>
                  <a:pt x="13940" y="300993"/>
                  <a:pt x="19972" y="299763"/>
                  <a:pt x="24014" y="295780"/>
                </a:cubicBezTo>
                <a:lnTo>
                  <a:pt x="54353" y="265441"/>
                </a:lnTo>
                <a:cubicBezTo>
                  <a:pt x="80241" y="286936"/>
                  <a:pt x="113626" y="299880"/>
                  <a:pt x="149940" y="299880"/>
                </a:cubicBezTo>
                <a:cubicBezTo>
                  <a:pt x="225496" y="299880"/>
                  <a:pt x="287990" y="244004"/>
                  <a:pt x="298357" y="171318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11" name="Text 9"/>
          <p:cNvSpPr/>
          <p:nvPr/>
        </p:nvSpPr>
        <p:spPr>
          <a:xfrm>
            <a:off x="3681809" y="2349061"/>
            <a:ext cx="2736406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7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季节性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88057" y="2698921"/>
            <a:ext cx="2723911" cy="249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周期性波动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63898" y="1799281"/>
            <a:ext cx="2936326" cy="1299480"/>
          </a:xfrm>
          <a:custGeom>
            <a:avLst/>
            <a:gdLst/>
            <a:ahLst/>
            <a:cxnLst/>
            <a:rect l="l" t="t" r="r" b="b"/>
            <a:pathLst>
              <a:path w="2936326" h="1299480">
                <a:moveTo>
                  <a:pt x="99956" y="0"/>
                </a:moveTo>
                <a:lnTo>
                  <a:pt x="2836370" y="0"/>
                </a:lnTo>
                <a:cubicBezTo>
                  <a:pt x="2891574" y="0"/>
                  <a:pt x="2936326" y="44752"/>
                  <a:pt x="2936326" y="99956"/>
                </a:cubicBezTo>
                <a:lnTo>
                  <a:pt x="2936326" y="1199524"/>
                </a:lnTo>
                <a:cubicBezTo>
                  <a:pt x="2936326" y="1254729"/>
                  <a:pt x="2891574" y="1299480"/>
                  <a:pt x="2836370" y="1299480"/>
                </a:cubicBezTo>
                <a:lnTo>
                  <a:pt x="99956" y="1299480"/>
                </a:lnTo>
                <a:cubicBezTo>
                  <a:pt x="44752" y="1299480"/>
                  <a:pt x="0" y="1254729"/>
                  <a:pt x="0" y="1199524"/>
                </a:cubicBezTo>
                <a:lnTo>
                  <a:pt x="0" y="99956"/>
                </a:lnTo>
                <a:cubicBezTo>
                  <a:pt x="0" y="44789"/>
                  <a:pt x="44789" y="0"/>
                  <a:pt x="99956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7979935" y="1949221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236507" y="20148"/>
                </a:moveTo>
                <a:cubicBezTo>
                  <a:pt x="243535" y="17220"/>
                  <a:pt x="251560" y="18860"/>
                  <a:pt x="256948" y="24190"/>
                </a:cubicBezTo>
                <a:lnTo>
                  <a:pt x="294433" y="61675"/>
                </a:lnTo>
                <a:cubicBezTo>
                  <a:pt x="297947" y="65189"/>
                  <a:pt x="299939" y="69933"/>
                  <a:pt x="299939" y="74911"/>
                </a:cubicBezTo>
                <a:cubicBezTo>
                  <a:pt x="299939" y="79890"/>
                  <a:pt x="297947" y="84634"/>
                  <a:pt x="294433" y="88148"/>
                </a:cubicBezTo>
                <a:lnTo>
                  <a:pt x="256948" y="125633"/>
                </a:lnTo>
                <a:cubicBezTo>
                  <a:pt x="251560" y="131022"/>
                  <a:pt x="243535" y="132603"/>
                  <a:pt x="236507" y="129675"/>
                </a:cubicBezTo>
                <a:cubicBezTo>
                  <a:pt x="229479" y="126746"/>
                  <a:pt x="224910" y="120011"/>
                  <a:pt x="224910" y="112455"/>
                </a:cubicBezTo>
                <a:lnTo>
                  <a:pt x="224910" y="93713"/>
                </a:lnTo>
                <a:lnTo>
                  <a:pt x="206168" y="93713"/>
                </a:lnTo>
                <a:cubicBezTo>
                  <a:pt x="200252" y="93713"/>
                  <a:pt x="194688" y="96465"/>
                  <a:pt x="191174" y="101210"/>
                </a:cubicBezTo>
                <a:lnTo>
                  <a:pt x="172197" y="126512"/>
                </a:lnTo>
                <a:lnTo>
                  <a:pt x="148769" y="95294"/>
                </a:lnTo>
                <a:lnTo>
                  <a:pt x="161186" y="78719"/>
                </a:lnTo>
                <a:cubicBezTo>
                  <a:pt x="171787" y="64545"/>
                  <a:pt x="188479" y="56228"/>
                  <a:pt x="206168" y="56228"/>
                </a:cubicBezTo>
                <a:lnTo>
                  <a:pt x="224910" y="56228"/>
                </a:lnTo>
                <a:lnTo>
                  <a:pt x="224910" y="37485"/>
                </a:lnTo>
                <a:cubicBezTo>
                  <a:pt x="224910" y="29929"/>
                  <a:pt x="229479" y="23077"/>
                  <a:pt x="236507" y="20148"/>
                </a:cubicBezTo>
                <a:close/>
                <a:moveTo>
                  <a:pt x="90198" y="173368"/>
                </a:moveTo>
                <a:lnTo>
                  <a:pt x="113626" y="204586"/>
                </a:lnTo>
                <a:lnTo>
                  <a:pt x="101210" y="221162"/>
                </a:lnTo>
                <a:cubicBezTo>
                  <a:pt x="90608" y="235336"/>
                  <a:pt x="73916" y="243653"/>
                  <a:pt x="56228" y="243653"/>
                </a:cubicBezTo>
                <a:lnTo>
                  <a:pt x="18743" y="243653"/>
                </a:lnTo>
                <a:cubicBezTo>
                  <a:pt x="8376" y="243653"/>
                  <a:pt x="0" y="235277"/>
                  <a:pt x="0" y="224910"/>
                </a:cubicBezTo>
                <a:cubicBezTo>
                  <a:pt x="0" y="214543"/>
                  <a:pt x="8376" y="206168"/>
                  <a:pt x="18743" y="206168"/>
                </a:cubicBezTo>
                <a:lnTo>
                  <a:pt x="56228" y="206168"/>
                </a:lnTo>
                <a:cubicBezTo>
                  <a:pt x="62143" y="206168"/>
                  <a:pt x="67707" y="203415"/>
                  <a:pt x="71222" y="198671"/>
                </a:cubicBezTo>
                <a:lnTo>
                  <a:pt x="90198" y="173368"/>
                </a:lnTo>
                <a:close/>
                <a:moveTo>
                  <a:pt x="256889" y="275632"/>
                </a:moveTo>
                <a:cubicBezTo>
                  <a:pt x="251501" y="281020"/>
                  <a:pt x="243477" y="282602"/>
                  <a:pt x="236448" y="279673"/>
                </a:cubicBezTo>
                <a:cubicBezTo>
                  <a:pt x="229420" y="276745"/>
                  <a:pt x="224910" y="269951"/>
                  <a:pt x="224910" y="262395"/>
                </a:cubicBezTo>
                <a:lnTo>
                  <a:pt x="224910" y="243653"/>
                </a:lnTo>
                <a:lnTo>
                  <a:pt x="206168" y="243653"/>
                </a:lnTo>
                <a:cubicBezTo>
                  <a:pt x="188479" y="243653"/>
                  <a:pt x="171787" y="235336"/>
                  <a:pt x="161186" y="221162"/>
                </a:cubicBezTo>
                <a:lnTo>
                  <a:pt x="71222" y="101210"/>
                </a:lnTo>
                <a:cubicBezTo>
                  <a:pt x="67707" y="96465"/>
                  <a:pt x="62143" y="93713"/>
                  <a:pt x="56228" y="93713"/>
                </a:cubicBezTo>
                <a:lnTo>
                  <a:pt x="18743" y="93713"/>
                </a:lnTo>
                <a:cubicBezTo>
                  <a:pt x="8376" y="93713"/>
                  <a:pt x="0" y="85337"/>
                  <a:pt x="0" y="74970"/>
                </a:cubicBezTo>
                <a:cubicBezTo>
                  <a:pt x="0" y="64603"/>
                  <a:pt x="8376" y="56228"/>
                  <a:pt x="18743" y="56228"/>
                </a:cubicBezTo>
                <a:lnTo>
                  <a:pt x="56228" y="56228"/>
                </a:lnTo>
                <a:cubicBezTo>
                  <a:pt x="73916" y="56228"/>
                  <a:pt x="90608" y="64545"/>
                  <a:pt x="101210" y="78719"/>
                </a:cubicBezTo>
                <a:lnTo>
                  <a:pt x="191174" y="198671"/>
                </a:lnTo>
                <a:cubicBezTo>
                  <a:pt x="194688" y="203415"/>
                  <a:pt x="200252" y="206168"/>
                  <a:pt x="206168" y="206168"/>
                </a:cubicBezTo>
                <a:lnTo>
                  <a:pt x="224910" y="206168"/>
                </a:lnTo>
                <a:lnTo>
                  <a:pt x="224910" y="187425"/>
                </a:lnTo>
                <a:cubicBezTo>
                  <a:pt x="224910" y="179869"/>
                  <a:pt x="229479" y="173017"/>
                  <a:pt x="236507" y="170088"/>
                </a:cubicBezTo>
                <a:cubicBezTo>
                  <a:pt x="243535" y="167160"/>
                  <a:pt x="251560" y="168800"/>
                  <a:pt x="256948" y="174130"/>
                </a:cubicBezTo>
                <a:lnTo>
                  <a:pt x="294433" y="211615"/>
                </a:lnTo>
                <a:cubicBezTo>
                  <a:pt x="297947" y="215129"/>
                  <a:pt x="299939" y="219873"/>
                  <a:pt x="299939" y="224851"/>
                </a:cubicBezTo>
                <a:cubicBezTo>
                  <a:pt x="299939" y="229830"/>
                  <a:pt x="297947" y="234574"/>
                  <a:pt x="294433" y="238088"/>
                </a:cubicBezTo>
                <a:lnTo>
                  <a:pt x="256948" y="275573"/>
                </a:lnTo>
                <a:close/>
              </a:path>
            </a:pathLst>
          </a:custGeom>
          <a:solidFill>
            <a:srgbClr val="5B677D"/>
          </a:solidFill>
        </p:spPr>
      </p:sp>
      <p:sp>
        <p:nvSpPr>
          <p:cNvPr id="15" name="Text 13"/>
          <p:cNvSpPr/>
          <p:nvPr/>
        </p:nvSpPr>
        <p:spPr>
          <a:xfrm>
            <a:off x="6763858" y="2349061"/>
            <a:ext cx="2736406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7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70106" y="2698921"/>
            <a:ext cx="2723911" cy="249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偶然波动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745947" y="1799281"/>
            <a:ext cx="2936326" cy="1299480"/>
          </a:xfrm>
          <a:custGeom>
            <a:avLst/>
            <a:gdLst/>
            <a:ahLst/>
            <a:cxnLst/>
            <a:rect l="l" t="t" r="r" b="b"/>
            <a:pathLst>
              <a:path w="2936326" h="1299480">
                <a:moveTo>
                  <a:pt x="99956" y="0"/>
                </a:moveTo>
                <a:lnTo>
                  <a:pt x="2836370" y="0"/>
                </a:lnTo>
                <a:cubicBezTo>
                  <a:pt x="2891574" y="0"/>
                  <a:pt x="2936326" y="44752"/>
                  <a:pt x="2936326" y="99956"/>
                </a:cubicBezTo>
                <a:lnTo>
                  <a:pt x="2936326" y="1199524"/>
                </a:lnTo>
                <a:cubicBezTo>
                  <a:pt x="2936326" y="1254729"/>
                  <a:pt x="2891574" y="1299480"/>
                  <a:pt x="2836370" y="1299480"/>
                </a:cubicBezTo>
                <a:lnTo>
                  <a:pt x="99956" y="1299480"/>
                </a:lnTo>
                <a:cubicBezTo>
                  <a:pt x="44752" y="1299480"/>
                  <a:pt x="0" y="1254729"/>
                  <a:pt x="0" y="1199524"/>
                </a:cubicBezTo>
                <a:lnTo>
                  <a:pt x="0" y="99956"/>
                </a:lnTo>
                <a:cubicBezTo>
                  <a:pt x="0" y="44789"/>
                  <a:pt x="44789" y="0"/>
                  <a:pt x="99956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11061983" y="1949221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37485" y="56228"/>
                </a:moveTo>
                <a:cubicBezTo>
                  <a:pt x="37485" y="45861"/>
                  <a:pt x="45861" y="37485"/>
                  <a:pt x="56228" y="37485"/>
                </a:cubicBezTo>
                <a:lnTo>
                  <a:pt x="149940" y="37485"/>
                </a:lnTo>
                <a:cubicBezTo>
                  <a:pt x="160307" y="37485"/>
                  <a:pt x="168683" y="45861"/>
                  <a:pt x="168683" y="56228"/>
                </a:cubicBezTo>
                <a:lnTo>
                  <a:pt x="168683" y="224910"/>
                </a:lnTo>
                <a:lnTo>
                  <a:pt x="224910" y="224910"/>
                </a:lnTo>
                <a:lnTo>
                  <a:pt x="224910" y="149940"/>
                </a:lnTo>
                <a:cubicBezTo>
                  <a:pt x="224910" y="139573"/>
                  <a:pt x="233286" y="131198"/>
                  <a:pt x="243653" y="131198"/>
                </a:cubicBezTo>
                <a:lnTo>
                  <a:pt x="281138" y="131198"/>
                </a:lnTo>
                <a:cubicBezTo>
                  <a:pt x="291505" y="131198"/>
                  <a:pt x="299880" y="139573"/>
                  <a:pt x="299880" y="149940"/>
                </a:cubicBezTo>
                <a:cubicBezTo>
                  <a:pt x="299880" y="160307"/>
                  <a:pt x="291505" y="168683"/>
                  <a:pt x="281138" y="168683"/>
                </a:cubicBezTo>
                <a:lnTo>
                  <a:pt x="262395" y="168683"/>
                </a:lnTo>
                <a:lnTo>
                  <a:pt x="262395" y="243653"/>
                </a:lnTo>
                <a:cubicBezTo>
                  <a:pt x="262395" y="254020"/>
                  <a:pt x="254020" y="262395"/>
                  <a:pt x="243653" y="262395"/>
                </a:cubicBezTo>
                <a:lnTo>
                  <a:pt x="149940" y="262395"/>
                </a:lnTo>
                <a:cubicBezTo>
                  <a:pt x="139573" y="262395"/>
                  <a:pt x="131198" y="254020"/>
                  <a:pt x="131198" y="243653"/>
                </a:cubicBezTo>
                <a:lnTo>
                  <a:pt x="131198" y="74970"/>
                </a:lnTo>
                <a:lnTo>
                  <a:pt x="74970" y="74970"/>
                </a:lnTo>
                <a:lnTo>
                  <a:pt x="74970" y="149940"/>
                </a:lnTo>
                <a:cubicBezTo>
                  <a:pt x="74970" y="160307"/>
                  <a:pt x="66594" y="168683"/>
                  <a:pt x="56228" y="168683"/>
                </a:cubicBezTo>
                <a:lnTo>
                  <a:pt x="18743" y="168683"/>
                </a:lnTo>
                <a:cubicBezTo>
                  <a:pt x="8376" y="168683"/>
                  <a:pt x="0" y="160307"/>
                  <a:pt x="0" y="149940"/>
                </a:cubicBezTo>
                <a:cubicBezTo>
                  <a:pt x="0" y="139573"/>
                  <a:pt x="8376" y="131198"/>
                  <a:pt x="18743" y="131198"/>
                </a:cubicBezTo>
                <a:lnTo>
                  <a:pt x="37485" y="131198"/>
                </a:lnTo>
                <a:lnTo>
                  <a:pt x="37485" y="56228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9" name="Text 17"/>
          <p:cNvSpPr/>
          <p:nvPr/>
        </p:nvSpPr>
        <p:spPr>
          <a:xfrm>
            <a:off x="9845907" y="2349061"/>
            <a:ext cx="2736406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7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周期性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52154" y="2698921"/>
            <a:ext cx="2723911" cy="249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固定周期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827996" y="1799281"/>
            <a:ext cx="2936326" cy="1299480"/>
          </a:xfrm>
          <a:custGeom>
            <a:avLst/>
            <a:gdLst/>
            <a:ahLst/>
            <a:cxnLst/>
            <a:rect l="l" t="t" r="r" b="b"/>
            <a:pathLst>
              <a:path w="2936326" h="1299480">
                <a:moveTo>
                  <a:pt x="99956" y="0"/>
                </a:moveTo>
                <a:lnTo>
                  <a:pt x="2836370" y="0"/>
                </a:lnTo>
                <a:cubicBezTo>
                  <a:pt x="2891574" y="0"/>
                  <a:pt x="2936326" y="44752"/>
                  <a:pt x="2936326" y="99956"/>
                </a:cubicBezTo>
                <a:lnTo>
                  <a:pt x="2936326" y="1199524"/>
                </a:lnTo>
                <a:cubicBezTo>
                  <a:pt x="2936326" y="1254729"/>
                  <a:pt x="2891574" y="1299480"/>
                  <a:pt x="2836370" y="1299480"/>
                </a:cubicBezTo>
                <a:lnTo>
                  <a:pt x="99956" y="1299480"/>
                </a:lnTo>
                <a:cubicBezTo>
                  <a:pt x="44752" y="1299480"/>
                  <a:pt x="0" y="1254729"/>
                  <a:pt x="0" y="1199524"/>
                </a:cubicBezTo>
                <a:lnTo>
                  <a:pt x="0" y="99956"/>
                </a:lnTo>
                <a:cubicBezTo>
                  <a:pt x="0" y="44789"/>
                  <a:pt x="44789" y="0"/>
                  <a:pt x="99956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14144032" y="1949221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149940" y="0"/>
                </a:moveTo>
                <a:cubicBezTo>
                  <a:pt x="158550" y="0"/>
                  <a:pt x="166457" y="4744"/>
                  <a:pt x="170557" y="12300"/>
                </a:cubicBezTo>
                <a:lnTo>
                  <a:pt x="297069" y="246581"/>
                </a:lnTo>
                <a:cubicBezTo>
                  <a:pt x="300993" y="253844"/>
                  <a:pt x="300817" y="262629"/>
                  <a:pt x="296600" y="269716"/>
                </a:cubicBezTo>
                <a:cubicBezTo>
                  <a:pt x="292383" y="276803"/>
                  <a:pt x="284710" y="281138"/>
                  <a:pt x="276452" y="281138"/>
                </a:cubicBezTo>
                <a:lnTo>
                  <a:pt x="23428" y="281138"/>
                </a:lnTo>
                <a:cubicBezTo>
                  <a:pt x="15170" y="281138"/>
                  <a:pt x="7556" y="276803"/>
                  <a:pt x="3280" y="269716"/>
                </a:cubicBezTo>
                <a:cubicBezTo>
                  <a:pt x="-996" y="262629"/>
                  <a:pt x="-1113" y="253844"/>
                  <a:pt x="2811" y="246581"/>
                </a:cubicBezTo>
                <a:lnTo>
                  <a:pt x="129323" y="12300"/>
                </a:lnTo>
                <a:cubicBezTo>
                  <a:pt x="133423" y="4744"/>
                  <a:pt x="141330" y="0"/>
                  <a:pt x="149940" y="0"/>
                </a:cubicBezTo>
                <a:close/>
                <a:moveTo>
                  <a:pt x="149940" y="98398"/>
                </a:moveTo>
                <a:cubicBezTo>
                  <a:pt x="142150" y="98398"/>
                  <a:pt x="135883" y="104665"/>
                  <a:pt x="135883" y="112455"/>
                </a:cubicBezTo>
                <a:lnTo>
                  <a:pt x="135883" y="178054"/>
                </a:lnTo>
                <a:cubicBezTo>
                  <a:pt x="135883" y="185844"/>
                  <a:pt x="142150" y="192111"/>
                  <a:pt x="149940" y="192111"/>
                </a:cubicBezTo>
                <a:cubicBezTo>
                  <a:pt x="157730" y="192111"/>
                  <a:pt x="163997" y="185844"/>
                  <a:pt x="163997" y="178054"/>
                </a:cubicBezTo>
                <a:lnTo>
                  <a:pt x="163997" y="112455"/>
                </a:lnTo>
                <a:cubicBezTo>
                  <a:pt x="163997" y="104665"/>
                  <a:pt x="157730" y="98398"/>
                  <a:pt x="149940" y="98398"/>
                </a:cubicBezTo>
                <a:close/>
                <a:moveTo>
                  <a:pt x="165578" y="224910"/>
                </a:moveTo>
                <a:cubicBezTo>
                  <a:pt x="165934" y="219105"/>
                  <a:pt x="163039" y="213583"/>
                  <a:pt x="158063" y="210573"/>
                </a:cubicBezTo>
                <a:cubicBezTo>
                  <a:pt x="153087" y="207563"/>
                  <a:pt x="146852" y="207563"/>
                  <a:pt x="141876" y="210573"/>
                </a:cubicBezTo>
                <a:cubicBezTo>
                  <a:pt x="136899" y="213583"/>
                  <a:pt x="134005" y="219105"/>
                  <a:pt x="134360" y="224910"/>
                </a:cubicBezTo>
                <a:cubicBezTo>
                  <a:pt x="134005" y="230715"/>
                  <a:pt x="136899" y="236238"/>
                  <a:pt x="141876" y="239247"/>
                </a:cubicBezTo>
                <a:cubicBezTo>
                  <a:pt x="146852" y="242257"/>
                  <a:pt x="153087" y="242257"/>
                  <a:pt x="158063" y="239247"/>
                </a:cubicBezTo>
                <a:cubicBezTo>
                  <a:pt x="163039" y="236238"/>
                  <a:pt x="165934" y="230715"/>
                  <a:pt x="165578" y="22491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23" name="Text 21"/>
          <p:cNvSpPr/>
          <p:nvPr/>
        </p:nvSpPr>
        <p:spPr>
          <a:xfrm>
            <a:off x="12927956" y="2349061"/>
            <a:ext cx="2736406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7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异常值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934204" y="2698921"/>
            <a:ext cx="2723911" cy="249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离群点检测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9800" y="3248701"/>
            <a:ext cx="7509497" cy="5397842"/>
          </a:xfrm>
          <a:custGeom>
            <a:avLst/>
            <a:gdLst/>
            <a:ahLst/>
            <a:cxnLst/>
            <a:rect l="l" t="t" r="r" b="b"/>
            <a:pathLst>
              <a:path w="7509497" h="5397842">
                <a:moveTo>
                  <a:pt x="149952" y="0"/>
                </a:moveTo>
                <a:lnTo>
                  <a:pt x="7359545" y="0"/>
                </a:lnTo>
                <a:cubicBezTo>
                  <a:pt x="7442361" y="0"/>
                  <a:pt x="7509497" y="67136"/>
                  <a:pt x="7509497" y="149952"/>
                </a:cubicBezTo>
                <a:lnTo>
                  <a:pt x="7509497" y="5247890"/>
                </a:lnTo>
                <a:cubicBezTo>
                  <a:pt x="7509497" y="5330706"/>
                  <a:pt x="7442361" y="5397842"/>
                  <a:pt x="7359545" y="5397842"/>
                </a:cubicBezTo>
                <a:lnTo>
                  <a:pt x="149952" y="5397842"/>
                </a:lnTo>
                <a:cubicBezTo>
                  <a:pt x="67136" y="5397842"/>
                  <a:pt x="0" y="5330706"/>
                  <a:pt x="0" y="5247890"/>
                </a:cubicBezTo>
                <a:lnTo>
                  <a:pt x="0" y="149952"/>
                </a:lnTo>
                <a:cubicBezTo>
                  <a:pt x="0" y="67191"/>
                  <a:pt x="67191" y="0"/>
                  <a:pt x="14995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87425" dist="1249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9800" y="3248701"/>
            <a:ext cx="7509497" cy="799680"/>
          </a:xfrm>
          <a:custGeom>
            <a:avLst/>
            <a:gdLst/>
            <a:ahLst/>
            <a:cxnLst/>
            <a:rect l="l" t="t" r="r" b="b"/>
            <a:pathLst>
              <a:path w="7509497" h="799680">
                <a:moveTo>
                  <a:pt x="149940" y="0"/>
                </a:moveTo>
                <a:lnTo>
                  <a:pt x="7359557" y="0"/>
                </a:lnTo>
                <a:cubicBezTo>
                  <a:pt x="7442367" y="0"/>
                  <a:pt x="7509497" y="67130"/>
                  <a:pt x="7509497" y="149940"/>
                </a:cubicBezTo>
                <a:lnTo>
                  <a:pt x="7509497" y="799680"/>
                </a:lnTo>
                <a:lnTo>
                  <a:pt x="0" y="799680"/>
                </a:lnTo>
                <a:lnTo>
                  <a:pt x="0" y="149940"/>
                </a:lnTo>
                <a:cubicBezTo>
                  <a:pt x="0" y="67130"/>
                  <a:pt x="67130" y="0"/>
                  <a:pt x="14994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/>
              </a:gs>
              <a:gs pos="100000">
                <a:srgbClr val="5B677D"/>
              </a:gs>
            </a:gsLst>
            <a:lin ang="0" scaled="1"/>
          </a:gradFill>
        </p:spPr>
      </p:sp>
      <p:sp>
        <p:nvSpPr>
          <p:cNvPr id="27" name="Shape 25"/>
          <p:cNvSpPr/>
          <p:nvPr/>
        </p:nvSpPr>
        <p:spPr>
          <a:xfrm>
            <a:off x="737205" y="3498445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37485" y="37485"/>
                </a:moveTo>
                <a:cubicBezTo>
                  <a:pt x="37485" y="27118"/>
                  <a:pt x="29109" y="18743"/>
                  <a:pt x="18743" y="18743"/>
                </a:cubicBezTo>
                <a:cubicBezTo>
                  <a:pt x="8376" y="18743"/>
                  <a:pt x="0" y="27118"/>
                  <a:pt x="0" y="37485"/>
                </a:cubicBezTo>
                <a:lnTo>
                  <a:pt x="0" y="234281"/>
                </a:lnTo>
                <a:cubicBezTo>
                  <a:pt x="0" y="260169"/>
                  <a:pt x="20968" y="281138"/>
                  <a:pt x="46856" y="281138"/>
                </a:cubicBezTo>
                <a:lnTo>
                  <a:pt x="281138" y="281138"/>
                </a:lnTo>
                <a:cubicBezTo>
                  <a:pt x="291505" y="281138"/>
                  <a:pt x="299880" y="272762"/>
                  <a:pt x="299880" y="262395"/>
                </a:cubicBezTo>
                <a:cubicBezTo>
                  <a:pt x="299880" y="252028"/>
                  <a:pt x="291505" y="243653"/>
                  <a:pt x="281138" y="243653"/>
                </a:cubicBezTo>
                <a:lnTo>
                  <a:pt x="46856" y="243653"/>
                </a:lnTo>
                <a:cubicBezTo>
                  <a:pt x="41702" y="243653"/>
                  <a:pt x="37485" y="239436"/>
                  <a:pt x="37485" y="234281"/>
                </a:cubicBezTo>
                <a:lnTo>
                  <a:pt x="37485" y="37485"/>
                </a:lnTo>
                <a:close/>
                <a:moveTo>
                  <a:pt x="275632" y="88207"/>
                </a:moveTo>
                <a:cubicBezTo>
                  <a:pt x="282953" y="80886"/>
                  <a:pt x="282953" y="68996"/>
                  <a:pt x="275632" y="61675"/>
                </a:cubicBezTo>
                <a:cubicBezTo>
                  <a:pt x="268311" y="54353"/>
                  <a:pt x="256421" y="54353"/>
                  <a:pt x="249100" y="61675"/>
                </a:cubicBezTo>
                <a:lnTo>
                  <a:pt x="187425" y="123408"/>
                </a:lnTo>
                <a:lnTo>
                  <a:pt x="153806" y="89847"/>
                </a:lnTo>
                <a:cubicBezTo>
                  <a:pt x="146484" y="82526"/>
                  <a:pt x="134595" y="82526"/>
                  <a:pt x="127273" y="89847"/>
                </a:cubicBezTo>
                <a:lnTo>
                  <a:pt x="71046" y="146074"/>
                </a:lnTo>
                <a:cubicBezTo>
                  <a:pt x="63725" y="153396"/>
                  <a:pt x="63725" y="165285"/>
                  <a:pt x="71046" y="172607"/>
                </a:cubicBezTo>
                <a:cubicBezTo>
                  <a:pt x="78367" y="179928"/>
                  <a:pt x="90257" y="179928"/>
                  <a:pt x="97578" y="172607"/>
                </a:cubicBezTo>
                <a:lnTo>
                  <a:pt x="140569" y="129616"/>
                </a:lnTo>
                <a:lnTo>
                  <a:pt x="174188" y="163236"/>
                </a:lnTo>
                <a:cubicBezTo>
                  <a:pt x="181509" y="170557"/>
                  <a:pt x="193399" y="170557"/>
                  <a:pt x="200721" y="163236"/>
                </a:cubicBezTo>
                <a:lnTo>
                  <a:pt x="275691" y="8826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1074570" y="3448621"/>
            <a:ext cx="6884747" cy="399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6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核心原理与应用场景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9720" y="4248146"/>
            <a:ext cx="7209617" cy="649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7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时间序列方法适用于</a:t>
            </a:r>
            <a:r>
              <a:rPr lang="en-US" sz="157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数据随时间有序变化的场景</a:t>
            </a:r>
            <a:r>
              <a:rPr lang="en-US" sz="157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（如销量、气温、股价）。核心是捕捉时间维度的波动规律，包括：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9720" y="5147786"/>
            <a:ext cx="399840" cy="399840"/>
          </a:xfrm>
          <a:custGeom>
            <a:avLst/>
            <a:gdLst/>
            <a:ahLst/>
            <a:cxnLst/>
            <a:rect l="l" t="t" r="r" b="b"/>
            <a:pathLst>
              <a:path w="399840" h="399840">
                <a:moveTo>
                  <a:pt x="199920" y="0"/>
                </a:moveTo>
                <a:lnTo>
                  <a:pt x="199920" y="0"/>
                </a:lnTo>
                <a:cubicBezTo>
                  <a:pt x="310259" y="0"/>
                  <a:pt x="399840" y="89581"/>
                  <a:pt x="399840" y="199920"/>
                </a:cubicBezTo>
                <a:lnTo>
                  <a:pt x="399840" y="199920"/>
                </a:lnTo>
                <a:cubicBezTo>
                  <a:pt x="399840" y="310259"/>
                  <a:pt x="310259" y="399840"/>
                  <a:pt x="199920" y="399840"/>
                </a:cubicBezTo>
                <a:lnTo>
                  <a:pt x="199920" y="399840"/>
                </a:lnTo>
                <a:cubicBezTo>
                  <a:pt x="89581" y="399840"/>
                  <a:pt x="0" y="310259"/>
                  <a:pt x="0" y="199920"/>
                </a:cubicBezTo>
                <a:lnTo>
                  <a:pt x="0" y="199920"/>
                </a:lnTo>
                <a:cubicBezTo>
                  <a:pt x="0" y="89581"/>
                  <a:pt x="89581" y="0"/>
                  <a:pt x="199920" y="0"/>
                </a:cubicBezTo>
                <a:close/>
              </a:path>
            </a:pathLst>
          </a:custGeom>
          <a:solidFill>
            <a:srgbClr val="16A085">
              <a:alpha val="2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812175" y="5247746"/>
            <a:ext cx="174930" cy="199920"/>
          </a:xfrm>
          <a:custGeom>
            <a:avLst/>
            <a:gdLst/>
            <a:ahLst/>
            <a:cxnLst/>
            <a:rect l="l" t="t" r="r" b="b"/>
            <a:pathLst>
              <a:path w="174930" h="199920">
                <a:moveTo>
                  <a:pt x="169776" y="27372"/>
                </a:moveTo>
                <a:cubicBezTo>
                  <a:pt x="175360" y="31433"/>
                  <a:pt x="176609" y="39242"/>
                  <a:pt x="172548" y="44826"/>
                </a:cubicBezTo>
                <a:lnTo>
                  <a:pt x="72588" y="182271"/>
                </a:lnTo>
                <a:cubicBezTo>
                  <a:pt x="70441" y="185238"/>
                  <a:pt x="67122" y="187074"/>
                  <a:pt x="63451" y="187386"/>
                </a:cubicBezTo>
                <a:cubicBezTo>
                  <a:pt x="59781" y="187698"/>
                  <a:pt x="56228" y="186332"/>
                  <a:pt x="53650" y="183755"/>
                </a:cubicBezTo>
                <a:lnTo>
                  <a:pt x="3670" y="133775"/>
                </a:lnTo>
                <a:cubicBezTo>
                  <a:pt x="-1210" y="128894"/>
                  <a:pt x="-1210" y="120967"/>
                  <a:pt x="3670" y="116086"/>
                </a:cubicBezTo>
                <a:cubicBezTo>
                  <a:pt x="8551" y="111206"/>
                  <a:pt x="16478" y="111206"/>
                  <a:pt x="21359" y="116086"/>
                </a:cubicBezTo>
                <a:lnTo>
                  <a:pt x="60991" y="155719"/>
                </a:lnTo>
                <a:lnTo>
                  <a:pt x="152361" y="30105"/>
                </a:lnTo>
                <a:cubicBezTo>
                  <a:pt x="156422" y="24521"/>
                  <a:pt x="164231" y="23272"/>
                  <a:pt x="169815" y="27333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2" name="Text 30"/>
          <p:cNvSpPr/>
          <p:nvPr/>
        </p:nvSpPr>
        <p:spPr>
          <a:xfrm>
            <a:off x="1249500" y="5097806"/>
            <a:ext cx="4323271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趋势性（Trend）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49500" y="5447666"/>
            <a:ext cx="4323271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长期上升或下降趋势，如GDP增长、人口老龄化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9720" y="5947466"/>
            <a:ext cx="399840" cy="399840"/>
          </a:xfrm>
          <a:custGeom>
            <a:avLst/>
            <a:gdLst/>
            <a:ahLst/>
            <a:cxnLst/>
            <a:rect l="l" t="t" r="r" b="b"/>
            <a:pathLst>
              <a:path w="399840" h="399840">
                <a:moveTo>
                  <a:pt x="199920" y="0"/>
                </a:moveTo>
                <a:lnTo>
                  <a:pt x="199920" y="0"/>
                </a:lnTo>
                <a:cubicBezTo>
                  <a:pt x="310259" y="0"/>
                  <a:pt x="399840" y="89581"/>
                  <a:pt x="399840" y="199920"/>
                </a:cubicBezTo>
                <a:lnTo>
                  <a:pt x="399840" y="199920"/>
                </a:lnTo>
                <a:cubicBezTo>
                  <a:pt x="399840" y="310259"/>
                  <a:pt x="310259" y="399840"/>
                  <a:pt x="199920" y="399840"/>
                </a:cubicBezTo>
                <a:lnTo>
                  <a:pt x="199920" y="399840"/>
                </a:lnTo>
                <a:cubicBezTo>
                  <a:pt x="89581" y="399840"/>
                  <a:pt x="0" y="310259"/>
                  <a:pt x="0" y="199920"/>
                </a:cubicBezTo>
                <a:lnTo>
                  <a:pt x="0" y="199920"/>
                </a:lnTo>
                <a:cubicBezTo>
                  <a:pt x="0" y="89581"/>
                  <a:pt x="89581" y="0"/>
                  <a:pt x="199920" y="0"/>
                </a:cubicBezTo>
                <a:close/>
              </a:path>
            </a:pathLst>
          </a:custGeom>
          <a:solidFill>
            <a:srgbClr val="16A085">
              <a:alpha val="2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812175" y="6047426"/>
            <a:ext cx="174930" cy="199920"/>
          </a:xfrm>
          <a:custGeom>
            <a:avLst/>
            <a:gdLst/>
            <a:ahLst/>
            <a:cxnLst/>
            <a:rect l="l" t="t" r="r" b="b"/>
            <a:pathLst>
              <a:path w="174930" h="199920">
                <a:moveTo>
                  <a:pt x="169776" y="27372"/>
                </a:moveTo>
                <a:cubicBezTo>
                  <a:pt x="175360" y="31433"/>
                  <a:pt x="176609" y="39242"/>
                  <a:pt x="172548" y="44826"/>
                </a:cubicBezTo>
                <a:lnTo>
                  <a:pt x="72588" y="182271"/>
                </a:lnTo>
                <a:cubicBezTo>
                  <a:pt x="70441" y="185238"/>
                  <a:pt x="67122" y="187074"/>
                  <a:pt x="63451" y="187386"/>
                </a:cubicBezTo>
                <a:cubicBezTo>
                  <a:pt x="59781" y="187698"/>
                  <a:pt x="56228" y="186332"/>
                  <a:pt x="53650" y="183755"/>
                </a:cubicBezTo>
                <a:lnTo>
                  <a:pt x="3670" y="133775"/>
                </a:lnTo>
                <a:cubicBezTo>
                  <a:pt x="-1210" y="128894"/>
                  <a:pt x="-1210" y="120967"/>
                  <a:pt x="3670" y="116086"/>
                </a:cubicBezTo>
                <a:cubicBezTo>
                  <a:pt x="8551" y="111206"/>
                  <a:pt x="16478" y="111206"/>
                  <a:pt x="21359" y="116086"/>
                </a:cubicBezTo>
                <a:lnTo>
                  <a:pt x="60991" y="155719"/>
                </a:lnTo>
                <a:lnTo>
                  <a:pt x="152361" y="30105"/>
                </a:lnTo>
                <a:cubicBezTo>
                  <a:pt x="156422" y="24521"/>
                  <a:pt x="164231" y="23272"/>
                  <a:pt x="169815" y="27333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6" name="Text 34"/>
          <p:cNvSpPr/>
          <p:nvPr/>
        </p:nvSpPr>
        <p:spPr>
          <a:xfrm>
            <a:off x="1249500" y="5897486"/>
            <a:ext cx="4698121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季节性（Seasonality）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49500" y="6247346"/>
            <a:ext cx="4698121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固定周期的波动，如节假日销售高峰、气温季节变化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9720" y="6747146"/>
            <a:ext cx="399840" cy="399840"/>
          </a:xfrm>
          <a:custGeom>
            <a:avLst/>
            <a:gdLst/>
            <a:ahLst/>
            <a:cxnLst/>
            <a:rect l="l" t="t" r="r" b="b"/>
            <a:pathLst>
              <a:path w="399840" h="399840">
                <a:moveTo>
                  <a:pt x="199920" y="0"/>
                </a:moveTo>
                <a:lnTo>
                  <a:pt x="199920" y="0"/>
                </a:lnTo>
                <a:cubicBezTo>
                  <a:pt x="310259" y="0"/>
                  <a:pt x="399840" y="89581"/>
                  <a:pt x="399840" y="199920"/>
                </a:cubicBezTo>
                <a:lnTo>
                  <a:pt x="399840" y="199920"/>
                </a:lnTo>
                <a:cubicBezTo>
                  <a:pt x="399840" y="310259"/>
                  <a:pt x="310259" y="399840"/>
                  <a:pt x="199920" y="399840"/>
                </a:cubicBezTo>
                <a:lnTo>
                  <a:pt x="199920" y="399840"/>
                </a:lnTo>
                <a:cubicBezTo>
                  <a:pt x="89581" y="399840"/>
                  <a:pt x="0" y="310259"/>
                  <a:pt x="0" y="199920"/>
                </a:cubicBezTo>
                <a:lnTo>
                  <a:pt x="0" y="199920"/>
                </a:lnTo>
                <a:cubicBezTo>
                  <a:pt x="0" y="89581"/>
                  <a:pt x="89581" y="0"/>
                  <a:pt x="199920" y="0"/>
                </a:cubicBezTo>
                <a:close/>
              </a:path>
            </a:pathLst>
          </a:custGeom>
          <a:solidFill>
            <a:srgbClr val="16A085">
              <a:alpha val="2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812175" y="6847107"/>
            <a:ext cx="174930" cy="199920"/>
          </a:xfrm>
          <a:custGeom>
            <a:avLst/>
            <a:gdLst/>
            <a:ahLst/>
            <a:cxnLst/>
            <a:rect l="l" t="t" r="r" b="b"/>
            <a:pathLst>
              <a:path w="174930" h="199920">
                <a:moveTo>
                  <a:pt x="169776" y="27372"/>
                </a:moveTo>
                <a:cubicBezTo>
                  <a:pt x="175360" y="31433"/>
                  <a:pt x="176609" y="39242"/>
                  <a:pt x="172548" y="44826"/>
                </a:cubicBezTo>
                <a:lnTo>
                  <a:pt x="72588" y="182271"/>
                </a:lnTo>
                <a:cubicBezTo>
                  <a:pt x="70441" y="185238"/>
                  <a:pt x="67122" y="187074"/>
                  <a:pt x="63451" y="187386"/>
                </a:cubicBezTo>
                <a:cubicBezTo>
                  <a:pt x="59781" y="187698"/>
                  <a:pt x="56228" y="186332"/>
                  <a:pt x="53650" y="183755"/>
                </a:cubicBezTo>
                <a:lnTo>
                  <a:pt x="3670" y="133775"/>
                </a:lnTo>
                <a:cubicBezTo>
                  <a:pt x="-1210" y="128894"/>
                  <a:pt x="-1210" y="120967"/>
                  <a:pt x="3670" y="116086"/>
                </a:cubicBezTo>
                <a:cubicBezTo>
                  <a:pt x="8551" y="111206"/>
                  <a:pt x="16478" y="111206"/>
                  <a:pt x="21359" y="116086"/>
                </a:cubicBezTo>
                <a:lnTo>
                  <a:pt x="60991" y="155719"/>
                </a:lnTo>
                <a:lnTo>
                  <a:pt x="152361" y="30105"/>
                </a:lnTo>
                <a:cubicBezTo>
                  <a:pt x="156422" y="24521"/>
                  <a:pt x="164231" y="23272"/>
                  <a:pt x="169815" y="27333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0" name="Text 38"/>
          <p:cNvSpPr/>
          <p:nvPr/>
        </p:nvSpPr>
        <p:spPr>
          <a:xfrm>
            <a:off x="1249500" y="6697166"/>
            <a:ext cx="4498201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随机性（Randomness）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49500" y="7047027"/>
            <a:ext cx="4498201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不可预测的偶然波动，如突发事件影响、噪声干扰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54981" y="3248701"/>
            <a:ext cx="7509497" cy="5397842"/>
          </a:xfrm>
          <a:custGeom>
            <a:avLst/>
            <a:gdLst/>
            <a:ahLst/>
            <a:cxnLst/>
            <a:rect l="l" t="t" r="r" b="b"/>
            <a:pathLst>
              <a:path w="7509497" h="5397842">
                <a:moveTo>
                  <a:pt x="149952" y="0"/>
                </a:moveTo>
                <a:lnTo>
                  <a:pt x="7359545" y="0"/>
                </a:lnTo>
                <a:cubicBezTo>
                  <a:pt x="7442361" y="0"/>
                  <a:pt x="7509497" y="67136"/>
                  <a:pt x="7509497" y="149952"/>
                </a:cubicBezTo>
                <a:lnTo>
                  <a:pt x="7509497" y="5247890"/>
                </a:lnTo>
                <a:cubicBezTo>
                  <a:pt x="7509497" y="5330706"/>
                  <a:pt x="7442361" y="5397842"/>
                  <a:pt x="7359545" y="5397842"/>
                </a:cubicBezTo>
                <a:lnTo>
                  <a:pt x="149952" y="5397842"/>
                </a:lnTo>
                <a:cubicBezTo>
                  <a:pt x="67136" y="5397842"/>
                  <a:pt x="0" y="5330706"/>
                  <a:pt x="0" y="5247890"/>
                </a:cubicBezTo>
                <a:lnTo>
                  <a:pt x="0" y="149952"/>
                </a:lnTo>
                <a:cubicBezTo>
                  <a:pt x="0" y="67191"/>
                  <a:pt x="67191" y="0"/>
                  <a:pt x="14995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87425" dist="1249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254981" y="3248701"/>
            <a:ext cx="7509497" cy="799680"/>
          </a:xfrm>
          <a:custGeom>
            <a:avLst/>
            <a:gdLst/>
            <a:ahLst/>
            <a:cxnLst/>
            <a:rect l="l" t="t" r="r" b="b"/>
            <a:pathLst>
              <a:path w="7509497" h="799680">
                <a:moveTo>
                  <a:pt x="149940" y="0"/>
                </a:moveTo>
                <a:lnTo>
                  <a:pt x="7359557" y="0"/>
                </a:lnTo>
                <a:cubicBezTo>
                  <a:pt x="7442367" y="0"/>
                  <a:pt x="7509497" y="67130"/>
                  <a:pt x="7509497" y="149940"/>
                </a:cubicBezTo>
                <a:lnTo>
                  <a:pt x="7509497" y="799680"/>
                </a:lnTo>
                <a:lnTo>
                  <a:pt x="0" y="799680"/>
                </a:lnTo>
                <a:lnTo>
                  <a:pt x="0" y="149940"/>
                </a:lnTo>
                <a:cubicBezTo>
                  <a:pt x="0" y="67130"/>
                  <a:pt x="67130" y="0"/>
                  <a:pt x="149940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0" scaled="1"/>
          </a:gradFill>
        </p:spPr>
      </p:sp>
      <p:sp>
        <p:nvSpPr>
          <p:cNvPr id="44" name="Shape 42"/>
          <p:cNvSpPr/>
          <p:nvPr/>
        </p:nvSpPr>
        <p:spPr>
          <a:xfrm>
            <a:off x="8473644" y="3498445"/>
            <a:ext cx="337365" cy="299880"/>
          </a:xfrm>
          <a:custGeom>
            <a:avLst/>
            <a:gdLst/>
            <a:ahLst/>
            <a:cxnLst/>
            <a:rect l="l" t="t" r="r" b="b"/>
            <a:pathLst>
              <a:path w="337365" h="299880">
                <a:moveTo>
                  <a:pt x="131256" y="56872"/>
                </a:moveTo>
                <a:lnTo>
                  <a:pt x="131256" y="85923"/>
                </a:lnTo>
                <a:lnTo>
                  <a:pt x="131549" y="86216"/>
                </a:lnTo>
                <a:cubicBezTo>
                  <a:pt x="135356" y="37954"/>
                  <a:pt x="175711" y="0"/>
                  <a:pt x="224969" y="0"/>
                </a:cubicBezTo>
                <a:cubicBezTo>
                  <a:pt x="236741" y="0"/>
                  <a:pt x="248045" y="2167"/>
                  <a:pt x="258412" y="6150"/>
                </a:cubicBezTo>
                <a:cubicBezTo>
                  <a:pt x="264269" y="8376"/>
                  <a:pt x="265324" y="15814"/>
                  <a:pt x="260931" y="20265"/>
                </a:cubicBezTo>
                <a:lnTo>
                  <a:pt x="208979" y="72217"/>
                </a:lnTo>
                <a:cubicBezTo>
                  <a:pt x="207222" y="73974"/>
                  <a:pt x="206226" y="76376"/>
                  <a:pt x="206226" y="78836"/>
                </a:cubicBezTo>
                <a:lnTo>
                  <a:pt x="206226" y="103084"/>
                </a:lnTo>
                <a:cubicBezTo>
                  <a:pt x="206226" y="108238"/>
                  <a:pt x="210443" y="112455"/>
                  <a:pt x="215597" y="112455"/>
                </a:cubicBezTo>
                <a:lnTo>
                  <a:pt x="239846" y="112455"/>
                </a:lnTo>
                <a:cubicBezTo>
                  <a:pt x="242305" y="112455"/>
                  <a:pt x="244707" y="111459"/>
                  <a:pt x="246464" y="109702"/>
                </a:cubicBezTo>
                <a:lnTo>
                  <a:pt x="298416" y="57750"/>
                </a:lnTo>
                <a:cubicBezTo>
                  <a:pt x="302867" y="53299"/>
                  <a:pt x="310306" y="54412"/>
                  <a:pt x="312531" y="60269"/>
                </a:cubicBezTo>
                <a:cubicBezTo>
                  <a:pt x="316514" y="70636"/>
                  <a:pt x="318681" y="81940"/>
                  <a:pt x="318681" y="93713"/>
                </a:cubicBezTo>
                <a:cubicBezTo>
                  <a:pt x="318681" y="129206"/>
                  <a:pt x="298943" y="160131"/>
                  <a:pt x="269775" y="176004"/>
                </a:cubicBezTo>
                <a:lnTo>
                  <a:pt x="317510" y="223739"/>
                </a:lnTo>
                <a:cubicBezTo>
                  <a:pt x="328462" y="234691"/>
                  <a:pt x="328462" y="252497"/>
                  <a:pt x="317510" y="263508"/>
                </a:cubicBezTo>
                <a:lnTo>
                  <a:pt x="282309" y="298709"/>
                </a:lnTo>
                <a:cubicBezTo>
                  <a:pt x="271356" y="309661"/>
                  <a:pt x="253551" y="309661"/>
                  <a:pt x="242540" y="298709"/>
                </a:cubicBezTo>
                <a:lnTo>
                  <a:pt x="168741" y="224910"/>
                </a:lnTo>
                <a:cubicBezTo>
                  <a:pt x="152693" y="208862"/>
                  <a:pt x="149061" y="185141"/>
                  <a:pt x="157906" y="165578"/>
                </a:cubicBezTo>
                <a:lnTo>
                  <a:pt x="104782" y="112455"/>
                </a:lnTo>
                <a:lnTo>
                  <a:pt x="75731" y="112455"/>
                </a:lnTo>
                <a:cubicBezTo>
                  <a:pt x="69464" y="112455"/>
                  <a:pt x="63607" y="109351"/>
                  <a:pt x="60152" y="104138"/>
                </a:cubicBezTo>
                <a:lnTo>
                  <a:pt x="13705" y="34498"/>
                </a:lnTo>
                <a:cubicBezTo>
                  <a:pt x="11246" y="30808"/>
                  <a:pt x="11714" y="25830"/>
                  <a:pt x="14877" y="22667"/>
                </a:cubicBezTo>
                <a:lnTo>
                  <a:pt x="41468" y="-3924"/>
                </a:lnTo>
                <a:cubicBezTo>
                  <a:pt x="44631" y="-7087"/>
                  <a:pt x="49550" y="-7556"/>
                  <a:pt x="53299" y="-5096"/>
                </a:cubicBezTo>
                <a:lnTo>
                  <a:pt x="122939" y="41292"/>
                </a:lnTo>
                <a:cubicBezTo>
                  <a:pt x="128152" y="44748"/>
                  <a:pt x="131256" y="50605"/>
                  <a:pt x="131256" y="56872"/>
                </a:cubicBezTo>
                <a:close/>
                <a:moveTo>
                  <a:pt x="126278" y="173720"/>
                </a:moveTo>
                <a:cubicBezTo>
                  <a:pt x="122588" y="195391"/>
                  <a:pt x="127683" y="218292"/>
                  <a:pt x="141740" y="236624"/>
                </a:cubicBezTo>
                <a:lnTo>
                  <a:pt x="86098" y="292207"/>
                </a:lnTo>
                <a:cubicBezTo>
                  <a:pt x="69640" y="308666"/>
                  <a:pt x="42932" y="308666"/>
                  <a:pt x="26474" y="292207"/>
                </a:cubicBezTo>
                <a:cubicBezTo>
                  <a:pt x="10016" y="275749"/>
                  <a:pt x="10016" y="249041"/>
                  <a:pt x="26474" y="232583"/>
                </a:cubicBezTo>
                <a:lnTo>
                  <a:pt x="105778" y="153279"/>
                </a:lnTo>
                <a:lnTo>
                  <a:pt x="126278" y="17377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8829751" y="3448621"/>
            <a:ext cx="6884747" cy="399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6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求解方法体系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79891" y="4248146"/>
            <a:ext cx="7084667" cy="974610"/>
          </a:xfrm>
          <a:custGeom>
            <a:avLst/>
            <a:gdLst/>
            <a:ahLst/>
            <a:cxnLst/>
            <a:rect l="l" t="t" r="r" b="b"/>
            <a:pathLst>
              <a:path w="7084667" h="974610">
                <a:moveTo>
                  <a:pt x="49980" y="0"/>
                </a:moveTo>
                <a:lnTo>
                  <a:pt x="6984711" y="0"/>
                </a:lnTo>
                <a:cubicBezTo>
                  <a:pt x="7039915" y="0"/>
                  <a:pt x="7084667" y="44752"/>
                  <a:pt x="7084667" y="99956"/>
                </a:cubicBezTo>
                <a:lnTo>
                  <a:pt x="7084667" y="874654"/>
                </a:lnTo>
                <a:cubicBezTo>
                  <a:pt x="7084667" y="929858"/>
                  <a:pt x="7039915" y="974610"/>
                  <a:pt x="6984711" y="974610"/>
                </a:cubicBezTo>
                <a:lnTo>
                  <a:pt x="49980" y="974610"/>
                </a:lnTo>
                <a:cubicBezTo>
                  <a:pt x="22395" y="974610"/>
                  <a:pt x="0" y="952215"/>
                  <a:pt x="0" y="924630"/>
                </a:cubicBezTo>
                <a:lnTo>
                  <a:pt x="0" y="49980"/>
                </a:lnTo>
                <a:cubicBezTo>
                  <a:pt x="0" y="22395"/>
                  <a:pt x="22395" y="0"/>
                  <a:pt x="4998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8479891" y="4248146"/>
            <a:ext cx="49980" cy="974610"/>
          </a:xfrm>
          <a:custGeom>
            <a:avLst/>
            <a:gdLst/>
            <a:ahLst/>
            <a:cxnLst/>
            <a:rect l="l" t="t" r="r" b="b"/>
            <a:pathLst>
              <a:path w="49980" h="974610">
                <a:moveTo>
                  <a:pt x="49980" y="0"/>
                </a:moveTo>
                <a:lnTo>
                  <a:pt x="49980" y="0"/>
                </a:lnTo>
                <a:lnTo>
                  <a:pt x="49980" y="974610"/>
                </a:lnTo>
                <a:lnTo>
                  <a:pt x="49980" y="974610"/>
                </a:lnTo>
                <a:cubicBezTo>
                  <a:pt x="22395" y="974610"/>
                  <a:pt x="0" y="952215"/>
                  <a:pt x="0" y="924630"/>
                </a:cubicBezTo>
                <a:lnTo>
                  <a:pt x="0" y="49980"/>
                </a:lnTo>
                <a:cubicBezTo>
                  <a:pt x="0" y="22395"/>
                  <a:pt x="22395" y="0"/>
                  <a:pt x="4998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8" name="Text 46"/>
          <p:cNvSpPr/>
          <p:nvPr/>
        </p:nvSpPr>
        <p:spPr>
          <a:xfrm>
            <a:off x="8654821" y="4398086"/>
            <a:ext cx="1461915" cy="349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7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简单移动平均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4760661" y="4398086"/>
            <a:ext cx="649740" cy="349860"/>
          </a:xfrm>
          <a:custGeom>
            <a:avLst/>
            <a:gdLst/>
            <a:ahLst/>
            <a:cxnLst/>
            <a:rect l="l" t="t" r="r" b="b"/>
            <a:pathLst>
              <a:path w="649740" h="349860">
                <a:moveTo>
                  <a:pt x="174930" y="0"/>
                </a:moveTo>
                <a:lnTo>
                  <a:pt x="474810" y="0"/>
                </a:lnTo>
                <a:cubicBezTo>
                  <a:pt x="571357" y="0"/>
                  <a:pt x="649740" y="78384"/>
                  <a:pt x="649740" y="174930"/>
                </a:cubicBezTo>
                <a:lnTo>
                  <a:pt x="649740" y="174930"/>
                </a:lnTo>
                <a:cubicBezTo>
                  <a:pt x="649740" y="271477"/>
                  <a:pt x="571357" y="349860"/>
                  <a:pt x="474810" y="349860"/>
                </a:cubicBezTo>
                <a:lnTo>
                  <a:pt x="174930" y="349860"/>
                </a:lnTo>
                <a:cubicBezTo>
                  <a:pt x="78319" y="349860"/>
                  <a:pt x="0" y="271541"/>
                  <a:pt x="0" y="174930"/>
                </a:cubicBezTo>
                <a:lnTo>
                  <a:pt x="0" y="174930"/>
                </a:lnTo>
                <a:cubicBezTo>
                  <a:pt x="0" y="78319"/>
                  <a:pt x="78319" y="0"/>
                  <a:pt x="17493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0" name="Text 48"/>
          <p:cNvSpPr/>
          <p:nvPr/>
        </p:nvSpPr>
        <p:spPr>
          <a:xfrm>
            <a:off x="14760661" y="4398086"/>
            <a:ext cx="737205" cy="349860"/>
          </a:xfrm>
          <a:prstGeom prst="rect">
            <a:avLst/>
          </a:prstGeom>
          <a:noFill/>
        </p:spPr>
        <p:txBody>
          <a:bodyPr wrap="square" lIns="149940" tIns="49980" rIns="149940" bIns="4998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基础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654821" y="4797926"/>
            <a:ext cx="6859757" cy="274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取最近N期数据的平均值，消除随机波动，适合稳定序列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79891" y="5322716"/>
            <a:ext cx="7084667" cy="974610"/>
          </a:xfrm>
          <a:custGeom>
            <a:avLst/>
            <a:gdLst/>
            <a:ahLst/>
            <a:cxnLst/>
            <a:rect l="l" t="t" r="r" b="b"/>
            <a:pathLst>
              <a:path w="7084667" h="974610">
                <a:moveTo>
                  <a:pt x="49980" y="0"/>
                </a:moveTo>
                <a:lnTo>
                  <a:pt x="6984711" y="0"/>
                </a:lnTo>
                <a:cubicBezTo>
                  <a:pt x="7039915" y="0"/>
                  <a:pt x="7084667" y="44752"/>
                  <a:pt x="7084667" y="99956"/>
                </a:cubicBezTo>
                <a:lnTo>
                  <a:pt x="7084667" y="874654"/>
                </a:lnTo>
                <a:cubicBezTo>
                  <a:pt x="7084667" y="929858"/>
                  <a:pt x="7039915" y="974610"/>
                  <a:pt x="6984711" y="974610"/>
                </a:cubicBezTo>
                <a:lnTo>
                  <a:pt x="49980" y="974610"/>
                </a:lnTo>
                <a:cubicBezTo>
                  <a:pt x="22395" y="974610"/>
                  <a:pt x="0" y="952215"/>
                  <a:pt x="0" y="924630"/>
                </a:cubicBezTo>
                <a:lnTo>
                  <a:pt x="0" y="49980"/>
                </a:lnTo>
                <a:cubicBezTo>
                  <a:pt x="0" y="22395"/>
                  <a:pt x="22395" y="0"/>
                  <a:pt x="4998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8479891" y="5322716"/>
            <a:ext cx="49980" cy="974610"/>
          </a:xfrm>
          <a:custGeom>
            <a:avLst/>
            <a:gdLst/>
            <a:ahLst/>
            <a:cxnLst/>
            <a:rect l="l" t="t" r="r" b="b"/>
            <a:pathLst>
              <a:path w="49980" h="974610">
                <a:moveTo>
                  <a:pt x="49980" y="0"/>
                </a:moveTo>
                <a:lnTo>
                  <a:pt x="49980" y="0"/>
                </a:lnTo>
                <a:lnTo>
                  <a:pt x="49980" y="974610"/>
                </a:lnTo>
                <a:lnTo>
                  <a:pt x="49980" y="974610"/>
                </a:lnTo>
                <a:cubicBezTo>
                  <a:pt x="22395" y="974610"/>
                  <a:pt x="0" y="952215"/>
                  <a:pt x="0" y="924630"/>
                </a:cubicBezTo>
                <a:lnTo>
                  <a:pt x="0" y="49980"/>
                </a:lnTo>
                <a:cubicBezTo>
                  <a:pt x="0" y="22395"/>
                  <a:pt x="22395" y="0"/>
                  <a:pt x="49980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54" name="Text 52"/>
          <p:cNvSpPr/>
          <p:nvPr/>
        </p:nvSpPr>
        <p:spPr>
          <a:xfrm>
            <a:off x="8654821" y="5472656"/>
            <a:ext cx="1461915" cy="349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7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加权移动平均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4760661" y="5472656"/>
            <a:ext cx="649740" cy="349860"/>
          </a:xfrm>
          <a:custGeom>
            <a:avLst/>
            <a:gdLst/>
            <a:ahLst/>
            <a:cxnLst/>
            <a:rect l="l" t="t" r="r" b="b"/>
            <a:pathLst>
              <a:path w="649740" h="349860">
                <a:moveTo>
                  <a:pt x="174930" y="0"/>
                </a:moveTo>
                <a:lnTo>
                  <a:pt x="474810" y="0"/>
                </a:lnTo>
                <a:cubicBezTo>
                  <a:pt x="571357" y="0"/>
                  <a:pt x="649740" y="78384"/>
                  <a:pt x="649740" y="174930"/>
                </a:cubicBezTo>
                <a:lnTo>
                  <a:pt x="649740" y="174930"/>
                </a:lnTo>
                <a:cubicBezTo>
                  <a:pt x="649740" y="271477"/>
                  <a:pt x="571357" y="349860"/>
                  <a:pt x="474810" y="349860"/>
                </a:cubicBezTo>
                <a:lnTo>
                  <a:pt x="174930" y="349860"/>
                </a:lnTo>
                <a:cubicBezTo>
                  <a:pt x="78319" y="349860"/>
                  <a:pt x="0" y="271541"/>
                  <a:pt x="0" y="174930"/>
                </a:cubicBezTo>
                <a:lnTo>
                  <a:pt x="0" y="174930"/>
                </a:lnTo>
                <a:cubicBezTo>
                  <a:pt x="0" y="78319"/>
                  <a:pt x="78319" y="0"/>
                  <a:pt x="174930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56" name="Text 54"/>
          <p:cNvSpPr/>
          <p:nvPr/>
        </p:nvSpPr>
        <p:spPr>
          <a:xfrm>
            <a:off x="14760661" y="5472656"/>
            <a:ext cx="737205" cy="349860"/>
          </a:xfrm>
          <a:prstGeom prst="rect">
            <a:avLst/>
          </a:prstGeom>
          <a:noFill/>
        </p:spPr>
        <p:txBody>
          <a:bodyPr wrap="square" lIns="149940" tIns="49980" rIns="149940" bIns="4998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进阶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654821" y="5872496"/>
            <a:ext cx="6859757" cy="274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赋予近期数据更高权重，反映\"近期数据更重要\"的假设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79891" y="6397286"/>
            <a:ext cx="7084667" cy="974610"/>
          </a:xfrm>
          <a:custGeom>
            <a:avLst/>
            <a:gdLst/>
            <a:ahLst/>
            <a:cxnLst/>
            <a:rect l="l" t="t" r="r" b="b"/>
            <a:pathLst>
              <a:path w="7084667" h="974610">
                <a:moveTo>
                  <a:pt x="49980" y="0"/>
                </a:moveTo>
                <a:lnTo>
                  <a:pt x="6984711" y="0"/>
                </a:lnTo>
                <a:cubicBezTo>
                  <a:pt x="7039915" y="0"/>
                  <a:pt x="7084667" y="44752"/>
                  <a:pt x="7084667" y="99956"/>
                </a:cubicBezTo>
                <a:lnTo>
                  <a:pt x="7084667" y="874654"/>
                </a:lnTo>
                <a:cubicBezTo>
                  <a:pt x="7084667" y="929858"/>
                  <a:pt x="7039915" y="974610"/>
                  <a:pt x="6984711" y="974610"/>
                </a:cubicBezTo>
                <a:lnTo>
                  <a:pt x="49980" y="974610"/>
                </a:lnTo>
                <a:cubicBezTo>
                  <a:pt x="22395" y="974610"/>
                  <a:pt x="0" y="952215"/>
                  <a:pt x="0" y="924630"/>
                </a:cubicBezTo>
                <a:lnTo>
                  <a:pt x="0" y="49980"/>
                </a:lnTo>
                <a:cubicBezTo>
                  <a:pt x="0" y="22395"/>
                  <a:pt x="22395" y="0"/>
                  <a:pt x="49980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8479891" y="6397286"/>
            <a:ext cx="49980" cy="974610"/>
          </a:xfrm>
          <a:custGeom>
            <a:avLst/>
            <a:gdLst/>
            <a:ahLst/>
            <a:cxnLst/>
            <a:rect l="l" t="t" r="r" b="b"/>
            <a:pathLst>
              <a:path w="49980" h="974610">
                <a:moveTo>
                  <a:pt x="49980" y="0"/>
                </a:moveTo>
                <a:lnTo>
                  <a:pt x="49980" y="0"/>
                </a:lnTo>
                <a:lnTo>
                  <a:pt x="49980" y="974610"/>
                </a:lnTo>
                <a:lnTo>
                  <a:pt x="49980" y="974610"/>
                </a:lnTo>
                <a:cubicBezTo>
                  <a:pt x="22395" y="974610"/>
                  <a:pt x="0" y="952215"/>
                  <a:pt x="0" y="924630"/>
                </a:cubicBezTo>
                <a:lnTo>
                  <a:pt x="0" y="49980"/>
                </a:lnTo>
                <a:cubicBezTo>
                  <a:pt x="0" y="22395"/>
                  <a:pt x="22395" y="0"/>
                  <a:pt x="49980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60" name="Text 58"/>
          <p:cNvSpPr/>
          <p:nvPr/>
        </p:nvSpPr>
        <p:spPr>
          <a:xfrm>
            <a:off x="8654821" y="6547226"/>
            <a:ext cx="1237005" cy="349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7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指数平滑法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4760661" y="6547226"/>
            <a:ext cx="649740" cy="349860"/>
          </a:xfrm>
          <a:custGeom>
            <a:avLst/>
            <a:gdLst/>
            <a:ahLst/>
            <a:cxnLst/>
            <a:rect l="l" t="t" r="r" b="b"/>
            <a:pathLst>
              <a:path w="649740" h="349860">
                <a:moveTo>
                  <a:pt x="174930" y="0"/>
                </a:moveTo>
                <a:lnTo>
                  <a:pt x="474810" y="0"/>
                </a:lnTo>
                <a:cubicBezTo>
                  <a:pt x="571357" y="0"/>
                  <a:pt x="649740" y="78384"/>
                  <a:pt x="649740" y="174930"/>
                </a:cubicBezTo>
                <a:lnTo>
                  <a:pt x="649740" y="174930"/>
                </a:lnTo>
                <a:cubicBezTo>
                  <a:pt x="649740" y="271477"/>
                  <a:pt x="571357" y="349860"/>
                  <a:pt x="474810" y="349860"/>
                </a:cubicBezTo>
                <a:lnTo>
                  <a:pt x="174930" y="349860"/>
                </a:lnTo>
                <a:cubicBezTo>
                  <a:pt x="78319" y="349860"/>
                  <a:pt x="0" y="271541"/>
                  <a:pt x="0" y="174930"/>
                </a:cubicBezTo>
                <a:lnTo>
                  <a:pt x="0" y="174930"/>
                </a:lnTo>
                <a:cubicBezTo>
                  <a:pt x="0" y="78319"/>
                  <a:pt x="78319" y="0"/>
                  <a:pt x="174930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62" name="Text 60"/>
          <p:cNvSpPr/>
          <p:nvPr/>
        </p:nvSpPr>
        <p:spPr>
          <a:xfrm>
            <a:off x="14760661" y="6547226"/>
            <a:ext cx="737205" cy="349860"/>
          </a:xfrm>
          <a:prstGeom prst="rect">
            <a:avLst/>
          </a:prstGeom>
          <a:noFill/>
        </p:spPr>
        <p:txBody>
          <a:bodyPr wrap="square" lIns="149940" tIns="49980" rIns="149940" bIns="4998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常用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654821" y="6947067"/>
            <a:ext cx="6859757" cy="274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一次</a:t>
            </a:r>
            <a:r>
              <a:rPr lang="en-US" sz="157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：无趋势；</a:t>
            </a:r>
            <a:r>
              <a:rPr lang="en-US" sz="1575" b="1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二次</a:t>
            </a:r>
            <a:r>
              <a:rPr lang="en-US" sz="157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：线性趋势。自适应调整，计算高效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479891" y="7471857"/>
            <a:ext cx="7084667" cy="974610"/>
          </a:xfrm>
          <a:custGeom>
            <a:avLst/>
            <a:gdLst/>
            <a:ahLst/>
            <a:cxnLst/>
            <a:rect l="l" t="t" r="r" b="b"/>
            <a:pathLst>
              <a:path w="7084667" h="974610">
                <a:moveTo>
                  <a:pt x="49980" y="0"/>
                </a:moveTo>
                <a:lnTo>
                  <a:pt x="6984711" y="0"/>
                </a:lnTo>
                <a:cubicBezTo>
                  <a:pt x="7039915" y="0"/>
                  <a:pt x="7084667" y="44752"/>
                  <a:pt x="7084667" y="99956"/>
                </a:cubicBezTo>
                <a:lnTo>
                  <a:pt x="7084667" y="874654"/>
                </a:lnTo>
                <a:cubicBezTo>
                  <a:pt x="7084667" y="929858"/>
                  <a:pt x="7039915" y="974610"/>
                  <a:pt x="6984711" y="974610"/>
                </a:cubicBezTo>
                <a:lnTo>
                  <a:pt x="49980" y="974610"/>
                </a:lnTo>
                <a:cubicBezTo>
                  <a:pt x="22395" y="974610"/>
                  <a:pt x="0" y="952215"/>
                  <a:pt x="0" y="924630"/>
                </a:cubicBezTo>
                <a:lnTo>
                  <a:pt x="0" y="49980"/>
                </a:lnTo>
                <a:cubicBezTo>
                  <a:pt x="0" y="22395"/>
                  <a:pt x="22395" y="0"/>
                  <a:pt x="4998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>
                  <a:alpha val="20000"/>
                </a:srgbClr>
              </a:gs>
              <a:gs pos="100000">
                <a:srgbClr val="212C42">
                  <a:alpha val="20000"/>
                </a:srgbClr>
              </a:gs>
            </a:gsLst>
            <a:lin ang="0" scaled="1"/>
          </a:gradFill>
        </p:spPr>
      </p:sp>
      <p:sp>
        <p:nvSpPr>
          <p:cNvPr id="65" name="Shape 63"/>
          <p:cNvSpPr/>
          <p:nvPr/>
        </p:nvSpPr>
        <p:spPr>
          <a:xfrm>
            <a:off x="8479891" y="7471857"/>
            <a:ext cx="49980" cy="974610"/>
          </a:xfrm>
          <a:custGeom>
            <a:avLst/>
            <a:gdLst/>
            <a:ahLst/>
            <a:cxnLst/>
            <a:rect l="l" t="t" r="r" b="b"/>
            <a:pathLst>
              <a:path w="49980" h="974610">
                <a:moveTo>
                  <a:pt x="49980" y="0"/>
                </a:moveTo>
                <a:lnTo>
                  <a:pt x="49980" y="0"/>
                </a:lnTo>
                <a:lnTo>
                  <a:pt x="49980" y="974610"/>
                </a:lnTo>
                <a:lnTo>
                  <a:pt x="49980" y="974610"/>
                </a:lnTo>
                <a:cubicBezTo>
                  <a:pt x="22395" y="974610"/>
                  <a:pt x="0" y="952215"/>
                  <a:pt x="0" y="924630"/>
                </a:cubicBezTo>
                <a:lnTo>
                  <a:pt x="0" y="49980"/>
                </a:lnTo>
                <a:cubicBezTo>
                  <a:pt x="0" y="22395"/>
                  <a:pt x="22395" y="0"/>
                  <a:pt x="4998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66" name="Text 64"/>
          <p:cNvSpPr/>
          <p:nvPr/>
        </p:nvSpPr>
        <p:spPr>
          <a:xfrm>
            <a:off x="8654821" y="7621797"/>
            <a:ext cx="1249500" cy="349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7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ARIMA模型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4760661" y="7621797"/>
            <a:ext cx="649740" cy="349860"/>
          </a:xfrm>
          <a:custGeom>
            <a:avLst/>
            <a:gdLst/>
            <a:ahLst/>
            <a:cxnLst/>
            <a:rect l="l" t="t" r="r" b="b"/>
            <a:pathLst>
              <a:path w="649740" h="349860">
                <a:moveTo>
                  <a:pt x="174930" y="0"/>
                </a:moveTo>
                <a:lnTo>
                  <a:pt x="474810" y="0"/>
                </a:lnTo>
                <a:cubicBezTo>
                  <a:pt x="571357" y="0"/>
                  <a:pt x="649740" y="78384"/>
                  <a:pt x="649740" y="174930"/>
                </a:cubicBezTo>
                <a:lnTo>
                  <a:pt x="649740" y="174930"/>
                </a:lnTo>
                <a:cubicBezTo>
                  <a:pt x="649740" y="271477"/>
                  <a:pt x="571357" y="349860"/>
                  <a:pt x="474810" y="349860"/>
                </a:cubicBezTo>
                <a:lnTo>
                  <a:pt x="174930" y="349860"/>
                </a:lnTo>
                <a:cubicBezTo>
                  <a:pt x="78319" y="349860"/>
                  <a:pt x="0" y="271541"/>
                  <a:pt x="0" y="174930"/>
                </a:cubicBezTo>
                <a:lnTo>
                  <a:pt x="0" y="174930"/>
                </a:lnTo>
                <a:cubicBezTo>
                  <a:pt x="0" y="78319"/>
                  <a:pt x="78319" y="0"/>
                  <a:pt x="17493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68" name="Text 66"/>
          <p:cNvSpPr/>
          <p:nvPr/>
        </p:nvSpPr>
        <p:spPr>
          <a:xfrm>
            <a:off x="14760661" y="7621797"/>
            <a:ext cx="737205" cy="349860"/>
          </a:xfrm>
          <a:prstGeom prst="rect">
            <a:avLst/>
          </a:prstGeom>
          <a:noFill/>
        </p:spPr>
        <p:txBody>
          <a:bodyPr wrap="square" lIns="149940" tIns="49980" rIns="149940" bIns="4998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高级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654821" y="8021637"/>
            <a:ext cx="6859757" cy="274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自回归积分移动平均，处理</a:t>
            </a:r>
            <a:r>
              <a:rPr lang="en-US" sz="1575" b="1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非平稳时间序列</a:t>
            </a:r>
            <a:r>
              <a:rPr lang="en-US" sz="157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的强大工具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916" y="432916"/>
            <a:ext cx="15476751" cy="25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kern="0" spc="68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REGRESSION &amp; ML METHODS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32916" y="779249"/>
            <a:ext cx="15649917" cy="5194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9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回归分析与机器学习方法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32916" y="1428623"/>
            <a:ext cx="1038999" cy="43292"/>
          </a:xfrm>
          <a:custGeom>
            <a:avLst/>
            <a:gdLst/>
            <a:ahLst/>
            <a:cxnLst/>
            <a:rect l="l" t="t" r="r" b="b"/>
            <a:pathLst>
              <a:path w="1038999" h="43292">
                <a:moveTo>
                  <a:pt x="0" y="0"/>
                </a:moveTo>
                <a:lnTo>
                  <a:pt x="1038999" y="0"/>
                </a:lnTo>
                <a:lnTo>
                  <a:pt x="1038999" y="43292"/>
                </a:lnTo>
                <a:lnTo>
                  <a:pt x="0" y="43292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32916" y="1688373"/>
            <a:ext cx="7565209" cy="6764314"/>
          </a:xfrm>
          <a:custGeom>
            <a:avLst/>
            <a:gdLst/>
            <a:ahLst/>
            <a:cxnLst/>
            <a:rect l="l" t="t" r="r" b="b"/>
            <a:pathLst>
              <a:path w="7565209" h="6764314">
                <a:moveTo>
                  <a:pt x="129875" y="0"/>
                </a:moveTo>
                <a:lnTo>
                  <a:pt x="7435334" y="0"/>
                </a:lnTo>
                <a:cubicBezTo>
                  <a:pt x="7507062" y="0"/>
                  <a:pt x="7565209" y="58147"/>
                  <a:pt x="7565209" y="129875"/>
                </a:cubicBezTo>
                <a:lnTo>
                  <a:pt x="7565209" y="6634439"/>
                </a:lnTo>
                <a:cubicBezTo>
                  <a:pt x="7565209" y="6706167"/>
                  <a:pt x="7507062" y="6764314"/>
                  <a:pt x="7435334" y="6764314"/>
                </a:cubicBezTo>
                <a:lnTo>
                  <a:pt x="129875" y="6764314"/>
                </a:lnTo>
                <a:cubicBezTo>
                  <a:pt x="58147" y="6764314"/>
                  <a:pt x="0" y="6706167"/>
                  <a:pt x="0" y="6634439"/>
                </a:cubicBezTo>
                <a:lnTo>
                  <a:pt x="0" y="129875"/>
                </a:lnTo>
                <a:cubicBezTo>
                  <a:pt x="0" y="58195"/>
                  <a:pt x="58195" y="0"/>
                  <a:pt x="129875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2700000" scaled="1"/>
          </a:gradFill>
          <a:effectLst>
            <a:outerShdw blurRad="270573" dist="21645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1369" y="1948123"/>
            <a:ext cx="389625" cy="389625"/>
          </a:xfrm>
          <a:custGeom>
            <a:avLst/>
            <a:gdLst/>
            <a:ahLst/>
            <a:cxnLst/>
            <a:rect l="l" t="t" r="r" b="b"/>
            <a:pathLst>
              <a:path w="389625" h="389625">
                <a:moveTo>
                  <a:pt x="0" y="60879"/>
                </a:moveTo>
                <a:cubicBezTo>
                  <a:pt x="0" y="40713"/>
                  <a:pt x="16361" y="24352"/>
                  <a:pt x="36527" y="24352"/>
                </a:cubicBezTo>
                <a:lnTo>
                  <a:pt x="109582" y="24352"/>
                </a:lnTo>
                <a:cubicBezTo>
                  <a:pt x="129748" y="24352"/>
                  <a:pt x="146109" y="40713"/>
                  <a:pt x="146109" y="60879"/>
                </a:cubicBezTo>
                <a:lnTo>
                  <a:pt x="146109" y="73055"/>
                </a:lnTo>
                <a:lnTo>
                  <a:pt x="243515" y="73055"/>
                </a:lnTo>
                <a:lnTo>
                  <a:pt x="243515" y="60879"/>
                </a:lnTo>
                <a:cubicBezTo>
                  <a:pt x="243515" y="40713"/>
                  <a:pt x="259876" y="24352"/>
                  <a:pt x="280043" y="24352"/>
                </a:cubicBezTo>
                <a:lnTo>
                  <a:pt x="353097" y="24352"/>
                </a:lnTo>
                <a:cubicBezTo>
                  <a:pt x="373263" y="24352"/>
                  <a:pt x="389625" y="40713"/>
                  <a:pt x="389625" y="60879"/>
                </a:cubicBezTo>
                <a:lnTo>
                  <a:pt x="389625" y="133933"/>
                </a:lnTo>
                <a:cubicBezTo>
                  <a:pt x="389625" y="154100"/>
                  <a:pt x="373263" y="170461"/>
                  <a:pt x="353097" y="170461"/>
                </a:cubicBezTo>
                <a:lnTo>
                  <a:pt x="280043" y="170461"/>
                </a:lnTo>
                <a:cubicBezTo>
                  <a:pt x="259876" y="170461"/>
                  <a:pt x="243515" y="154100"/>
                  <a:pt x="243515" y="133933"/>
                </a:cubicBezTo>
                <a:lnTo>
                  <a:pt x="243515" y="121758"/>
                </a:lnTo>
                <a:lnTo>
                  <a:pt x="146109" y="121758"/>
                </a:lnTo>
                <a:lnTo>
                  <a:pt x="146109" y="133933"/>
                </a:lnTo>
                <a:cubicBezTo>
                  <a:pt x="146109" y="139489"/>
                  <a:pt x="144816" y="144816"/>
                  <a:pt x="142609" y="149534"/>
                </a:cubicBezTo>
                <a:lnTo>
                  <a:pt x="194812" y="219164"/>
                </a:lnTo>
                <a:lnTo>
                  <a:pt x="255691" y="219164"/>
                </a:lnTo>
                <a:cubicBezTo>
                  <a:pt x="275857" y="219164"/>
                  <a:pt x="292218" y="235525"/>
                  <a:pt x="292218" y="255691"/>
                </a:cubicBezTo>
                <a:lnTo>
                  <a:pt x="292218" y="328746"/>
                </a:lnTo>
                <a:cubicBezTo>
                  <a:pt x="292218" y="348912"/>
                  <a:pt x="275857" y="365273"/>
                  <a:pt x="255691" y="365273"/>
                </a:cubicBezTo>
                <a:lnTo>
                  <a:pt x="182636" y="365273"/>
                </a:lnTo>
                <a:cubicBezTo>
                  <a:pt x="162470" y="365273"/>
                  <a:pt x="146109" y="348912"/>
                  <a:pt x="146109" y="328746"/>
                </a:cubicBezTo>
                <a:lnTo>
                  <a:pt x="146109" y="255691"/>
                </a:lnTo>
                <a:cubicBezTo>
                  <a:pt x="146109" y="250136"/>
                  <a:pt x="147403" y="244809"/>
                  <a:pt x="149610" y="240091"/>
                </a:cubicBezTo>
                <a:lnTo>
                  <a:pt x="97406" y="170461"/>
                </a:lnTo>
                <a:lnTo>
                  <a:pt x="36527" y="170461"/>
                </a:lnTo>
                <a:cubicBezTo>
                  <a:pt x="16361" y="170461"/>
                  <a:pt x="0" y="154100"/>
                  <a:pt x="0" y="133933"/>
                </a:cubicBezTo>
                <a:lnTo>
                  <a:pt x="0" y="60879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7" name="Text 5"/>
          <p:cNvSpPr/>
          <p:nvPr/>
        </p:nvSpPr>
        <p:spPr>
          <a:xfrm>
            <a:off x="1309571" y="1948123"/>
            <a:ext cx="2435153" cy="389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55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回归分析类方法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2666" y="2554205"/>
            <a:ext cx="7143116" cy="6385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3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适用于存在</a:t>
            </a:r>
            <a:r>
              <a:rPr lang="en-US" sz="153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明确因果关系</a:t>
            </a:r>
            <a:r>
              <a:rPr lang="en-US" sz="153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的场景（如广告投入→销量、学历→薪资）。核心是构建预测目标与影响因素的</a:t>
            </a:r>
            <a:r>
              <a:rPr lang="en-US" sz="153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线性或非线性关系</a:t>
            </a:r>
            <a:r>
              <a:rPr lang="en-US" sz="153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6995" y="3408132"/>
            <a:ext cx="7043545" cy="982720"/>
          </a:xfrm>
          <a:custGeom>
            <a:avLst/>
            <a:gdLst/>
            <a:ahLst/>
            <a:cxnLst/>
            <a:rect l="l" t="t" r="r" b="b"/>
            <a:pathLst>
              <a:path w="7043545" h="982720">
                <a:moveTo>
                  <a:pt x="86587" y="0"/>
                </a:moveTo>
                <a:lnTo>
                  <a:pt x="6956958" y="0"/>
                </a:lnTo>
                <a:cubicBezTo>
                  <a:pt x="7004779" y="0"/>
                  <a:pt x="7043545" y="38767"/>
                  <a:pt x="7043545" y="86587"/>
                </a:cubicBezTo>
                <a:lnTo>
                  <a:pt x="7043545" y="896132"/>
                </a:lnTo>
                <a:cubicBezTo>
                  <a:pt x="7043545" y="943953"/>
                  <a:pt x="7004779" y="982720"/>
                  <a:pt x="6956958" y="982720"/>
                </a:cubicBezTo>
                <a:lnTo>
                  <a:pt x="86587" y="982720"/>
                </a:lnTo>
                <a:cubicBezTo>
                  <a:pt x="38767" y="982720"/>
                  <a:pt x="0" y="943953"/>
                  <a:pt x="0" y="896132"/>
                </a:cubicBezTo>
                <a:lnTo>
                  <a:pt x="0" y="86587"/>
                </a:lnTo>
                <a:cubicBezTo>
                  <a:pt x="0" y="38767"/>
                  <a:pt x="38767" y="0"/>
                  <a:pt x="8658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1548" y="3628917"/>
            <a:ext cx="216458" cy="216458"/>
          </a:xfrm>
          <a:custGeom>
            <a:avLst/>
            <a:gdLst/>
            <a:ahLst/>
            <a:cxnLst/>
            <a:rect l="l" t="t" r="r" b="b"/>
            <a:pathLst>
              <a:path w="216458" h="216458">
                <a:moveTo>
                  <a:pt x="27057" y="27057"/>
                </a:moveTo>
                <a:cubicBezTo>
                  <a:pt x="27057" y="19574"/>
                  <a:pt x="21012" y="13529"/>
                  <a:pt x="13529" y="13529"/>
                </a:cubicBezTo>
                <a:cubicBezTo>
                  <a:pt x="6046" y="13529"/>
                  <a:pt x="0" y="19574"/>
                  <a:pt x="0" y="27057"/>
                </a:cubicBezTo>
                <a:lnTo>
                  <a:pt x="0" y="169108"/>
                </a:lnTo>
                <a:cubicBezTo>
                  <a:pt x="0" y="187794"/>
                  <a:pt x="15135" y="202929"/>
                  <a:pt x="33822" y="202929"/>
                </a:cubicBezTo>
                <a:lnTo>
                  <a:pt x="202929" y="202929"/>
                </a:lnTo>
                <a:cubicBezTo>
                  <a:pt x="210412" y="202929"/>
                  <a:pt x="216458" y="196884"/>
                  <a:pt x="216458" y="189401"/>
                </a:cubicBezTo>
                <a:cubicBezTo>
                  <a:pt x="216458" y="181918"/>
                  <a:pt x="210412" y="175872"/>
                  <a:pt x="202929" y="175872"/>
                </a:cubicBezTo>
                <a:lnTo>
                  <a:pt x="33822" y="175872"/>
                </a:lnTo>
                <a:cubicBezTo>
                  <a:pt x="30101" y="175872"/>
                  <a:pt x="27057" y="172828"/>
                  <a:pt x="27057" y="169108"/>
                </a:cubicBezTo>
                <a:lnTo>
                  <a:pt x="27057" y="27057"/>
                </a:lnTo>
                <a:close/>
                <a:moveTo>
                  <a:pt x="198955" y="63669"/>
                </a:moveTo>
                <a:cubicBezTo>
                  <a:pt x="204240" y="58384"/>
                  <a:pt x="204240" y="49802"/>
                  <a:pt x="198955" y="44518"/>
                </a:cubicBezTo>
                <a:cubicBezTo>
                  <a:pt x="193671" y="39233"/>
                  <a:pt x="185089" y="39233"/>
                  <a:pt x="179804" y="44518"/>
                </a:cubicBezTo>
                <a:lnTo>
                  <a:pt x="135286" y="89078"/>
                </a:lnTo>
                <a:lnTo>
                  <a:pt x="111019" y="64853"/>
                </a:lnTo>
                <a:cubicBezTo>
                  <a:pt x="105735" y="59568"/>
                  <a:pt x="97152" y="59568"/>
                  <a:pt x="91868" y="64853"/>
                </a:cubicBezTo>
                <a:lnTo>
                  <a:pt x="51282" y="105439"/>
                </a:lnTo>
                <a:cubicBezTo>
                  <a:pt x="45997" y="110723"/>
                  <a:pt x="45997" y="119306"/>
                  <a:pt x="51282" y="124590"/>
                </a:cubicBezTo>
                <a:cubicBezTo>
                  <a:pt x="56567" y="129875"/>
                  <a:pt x="65149" y="129875"/>
                  <a:pt x="70433" y="124590"/>
                </a:cubicBezTo>
                <a:lnTo>
                  <a:pt x="101465" y="93559"/>
                </a:lnTo>
                <a:lnTo>
                  <a:pt x="125732" y="117826"/>
                </a:lnTo>
                <a:cubicBezTo>
                  <a:pt x="131016" y="123111"/>
                  <a:pt x="139599" y="123111"/>
                  <a:pt x="144883" y="117826"/>
                </a:cubicBezTo>
                <a:lnTo>
                  <a:pt x="198998" y="63711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1" name="Text 9"/>
          <p:cNvSpPr/>
          <p:nvPr/>
        </p:nvSpPr>
        <p:spPr>
          <a:xfrm>
            <a:off x="1231646" y="3585626"/>
            <a:ext cx="1266280" cy="3030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多元线性回归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4491" y="3975250"/>
            <a:ext cx="6775137" cy="238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6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建立多个自变量与因变量的线性关系，要求满足线性假设、独立性、正态性、同方差性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6995" y="4529386"/>
            <a:ext cx="7043545" cy="982720"/>
          </a:xfrm>
          <a:custGeom>
            <a:avLst/>
            <a:gdLst/>
            <a:ahLst/>
            <a:cxnLst/>
            <a:rect l="l" t="t" r="r" b="b"/>
            <a:pathLst>
              <a:path w="7043545" h="982720">
                <a:moveTo>
                  <a:pt x="86587" y="0"/>
                </a:moveTo>
                <a:lnTo>
                  <a:pt x="6956958" y="0"/>
                </a:lnTo>
                <a:cubicBezTo>
                  <a:pt x="7004779" y="0"/>
                  <a:pt x="7043545" y="38767"/>
                  <a:pt x="7043545" y="86587"/>
                </a:cubicBezTo>
                <a:lnTo>
                  <a:pt x="7043545" y="896132"/>
                </a:lnTo>
                <a:cubicBezTo>
                  <a:pt x="7043545" y="943953"/>
                  <a:pt x="7004779" y="982720"/>
                  <a:pt x="6956958" y="982720"/>
                </a:cubicBezTo>
                <a:lnTo>
                  <a:pt x="86587" y="982720"/>
                </a:lnTo>
                <a:cubicBezTo>
                  <a:pt x="38767" y="982720"/>
                  <a:pt x="0" y="943953"/>
                  <a:pt x="0" y="896132"/>
                </a:cubicBezTo>
                <a:lnTo>
                  <a:pt x="0" y="86587"/>
                </a:lnTo>
                <a:cubicBezTo>
                  <a:pt x="0" y="38767"/>
                  <a:pt x="38767" y="0"/>
                  <a:pt x="8658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1548" y="4750171"/>
            <a:ext cx="216458" cy="216458"/>
          </a:xfrm>
          <a:custGeom>
            <a:avLst/>
            <a:gdLst/>
            <a:ahLst/>
            <a:cxnLst/>
            <a:rect l="l" t="t" r="r" b="b"/>
            <a:pathLst>
              <a:path w="216458" h="216458">
                <a:moveTo>
                  <a:pt x="27057" y="40586"/>
                </a:moveTo>
                <a:cubicBezTo>
                  <a:pt x="27057" y="33103"/>
                  <a:pt x="33103" y="27057"/>
                  <a:pt x="40586" y="27057"/>
                </a:cubicBezTo>
                <a:lnTo>
                  <a:pt x="108229" y="27057"/>
                </a:lnTo>
                <a:cubicBezTo>
                  <a:pt x="115712" y="27057"/>
                  <a:pt x="121758" y="33103"/>
                  <a:pt x="121758" y="40586"/>
                </a:cubicBezTo>
                <a:lnTo>
                  <a:pt x="121758" y="162344"/>
                </a:lnTo>
                <a:lnTo>
                  <a:pt x="162344" y="162344"/>
                </a:lnTo>
                <a:lnTo>
                  <a:pt x="162344" y="108229"/>
                </a:lnTo>
                <a:cubicBezTo>
                  <a:pt x="162344" y="100746"/>
                  <a:pt x="168389" y="94700"/>
                  <a:pt x="175872" y="94700"/>
                </a:cubicBezTo>
                <a:lnTo>
                  <a:pt x="202929" y="94700"/>
                </a:lnTo>
                <a:cubicBezTo>
                  <a:pt x="210412" y="94700"/>
                  <a:pt x="216458" y="100746"/>
                  <a:pt x="216458" y="108229"/>
                </a:cubicBezTo>
                <a:cubicBezTo>
                  <a:pt x="216458" y="115712"/>
                  <a:pt x="210412" y="121758"/>
                  <a:pt x="202929" y="121758"/>
                </a:cubicBezTo>
                <a:lnTo>
                  <a:pt x="189401" y="121758"/>
                </a:lnTo>
                <a:lnTo>
                  <a:pt x="189401" y="175872"/>
                </a:lnTo>
                <a:cubicBezTo>
                  <a:pt x="189401" y="183355"/>
                  <a:pt x="183355" y="189401"/>
                  <a:pt x="175872" y="189401"/>
                </a:cubicBezTo>
                <a:lnTo>
                  <a:pt x="108229" y="189401"/>
                </a:lnTo>
                <a:cubicBezTo>
                  <a:pt x="100746" y="189401"/>
                  <a:pt x="94700" y="183355"/>
                  <a:pt x="94700" y="175872"/>
                </a:cubicBezTo>
                <a:lnTo>
                  <a:pt x="94700" y="54115"/>
                </a:lnTo>
                <a:lnTo>
                  <a:pt x="54115" y="54115"/>
                </a:lnTo>
                <a:lnTo>
                  <a:pt x="54115" y="108229"/>
                </a:lnTo>
                <a:cubicBezTo>
                  <a:pt x="54115" y="115712"/>
                  <a:pt x="48069" y="121758"/>
                  <a:pt x="40586" y="121758"/>
                </a:cubicBezTo>
                <a:lnTo>
                  <a:pt x="13529" y="121758"/>
                </a:lnTo>
                <a:cubicBezTo>
                  <a:pt x="6046" y="121758"/>
                  <a:pt x="0" y="115712"/>
                  <a:pt x="0" y="108229"/>
                </a:cubicBezTo>
                <a:cubicBezTo>
                  <a:pt x="0" y="100746"/>
                  <a:pt x="6046" y="94700"/>
                  <a:pt x="13529" y="94700"/>
                </a:cubicBezTo>
                <a:lnTo>
                  <a:pt x="27057" y="94700"/>
                </a:lnTo>
                <a:lnTo>
                  <a:pt x="27057" y="40586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5" name="Text 13"/>
          <p:cNvSpPr/>
          <p:nvPr/>
        </p:nvSpPr>
        <p:spPr>
          <a:xfrm>
            <a:off x="1231646" y="4706879"/>
            <a:ext cx="1071467" cy="3030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非线性回归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4491" y="5096504"/>
            <a:ext cx="6775137" cy="238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6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多项式回归、对数回归、指数回归等，当线性关系不成立时采用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6995" y="5650634"/>
            <a:ext cx="7043545" cy="982720"/>
          </a:xfrm>
          <a:custGeom>
            <a:avLst/>
            <a:gdLst/>
            <a:ahLst/>
            <a:cxnLst/>
            <a:rect l="l" t="t" r="r" b="b"/>
            <a:pathLst>
              <a:path w="7043545" h="982720">
                <a:moveTo>
                  <a:pt x="86587" y="0"/>
                </a:moveTo>
                <a:lnTo>
                  <a:pt x="6956958" y="0"/>
                </a:lnTo>
                <a:cubicBezTo>
                  <a:pt x="7004779" y="0"/>
                  <a:pt x="7043545" y="38767"/>
                  <a:pt x="7043545" y="86587"/>
                </a:cubicBezTo>
                <a:lnTo>
                  <a:pt x="7043545" y="896132"/>
                </a:lnTo>
                <a:cubicBezTo>
                  <a:pt x="7043545" y="943953"/>
                  <a:pt x="7004779" y="982720"/>
                  <a:pt x="6956958" y="982720"/>
                </a:cubicBezTo>
                <a:lnTo>
                  <a:pt x="86587" y="982720"/>
                </a:lnTo>
                <a:cubicBezTo>
                  <a:pt x="38767" y="982720"/>
                  <a:pt x="0" y="943953"/>
                  <a:pt x="0" y="896132"/>
                </a:cubicBezTo>
                <a:lnTo>
                  <a:pt x="0" y="86587"/>
                </a:lnTo>
                <a:cubicBezTo>
                  <a:pt x="0" y="38767"/>
                  <a:pt x="38767" y="0"/>
                  <a:pt x="8658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1548" y="5871425"/>
            <a:ext cx="216458" cy="216458"/>
          </a:xfrm>
          <a:custGeom>
            <a:avLst/>
            <a:gdLst/>
            <a:ahLst/>
            <a:cxnLst/>
            <a:rect l="l" t="t" r="r" b="b"/>
            <a:pathLst>
              <a:path w="216458" h="216458">
                <a:moveTo>
                  <a:pt x="13529" y="27057"/>
                </a:moveTo>
                <a:cubicBezTo>
                  <a:pt x="8075" y="27057"/>
                  <a:pt x="3128" y="30355"/>
                  <a:pt x="1015" y="35428"/>
                </a:cubicBezTo>
                <a:cubicBezTo>
                  <a:pt x="-1099" y="40501"/>
                  <a:pt x="85" y="46293"/>
                  <a:pt x="3974" y="50140"/>
                </a:cubicBezTo>
                <a:lnTo>
                  <a:pt x="81172" y="127380"/>
                </a:lnTo>
                <a:lnTo>
                  <a:pt x="81172" y="175872"/>
                </a:lnTo>
                <a:cubicBezTo>
                  <a:pt x="81172" y="179466"/>
                  <a:pt x="82609" y="182890"/>
                  <a:pt x="85146" y="185427"/>
                </a:cubicBezTo>
                <a:lnTo>
                  <a:pt x="112203" y="212484"/>
                </a:lnTo>
                <a:cubicBezTo>
                  <a:pt x="116093" y="216374"/>
                  <a:pt x="121884" y="217515"/>
                  <a:pt x="126958" y="215401"/>
                </a:cubicBezTo>
                <a:cubicBezTo>
                  <a:pt x="132031" y="213287"/>
                  <a:pt x="135286" y="208383"/>
                  <a:pt x="135286" y="202929"/>
                </a:cubicBezTo>
                <a:lnTo>
                  <a:pt x="135286" y="127380"/>
                </a:lnTo>
                <a:lnTo>
                  <a:pt x="212484" y="50183"/>
                </a:lnTo>
                <a:cubicBezTo>
                  <a:pt x="216374" y="46293"/>
                  <a:pt x="217515" y="40501"/>
                  <a:pt x="215401" y="35428"/>
                </a:cubicBezTo>
                <a:cubicBezTo>
                  <a:pt x="213287" y="30355"/>
                  <a:pt x="208383" y="27057"/>
                  <a:pt x="202929" y="27057"/>
                </a:cubicBezTo>
                <a:lnTo>
                  <a:pt x="13529" y="27057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9" name="Text 17"/>
          <p:cNvSpPr/>
          <p:nvPr/>
        </p:nvSpPr>
        <p:spPr>
          <a:xfrm>
            <a:off x="1231646" y="5828133"/>
            <a:ext cx="876655" cy="3030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逐步回归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4491" y="6217758"/>
            <a:ext cx="6775137" cy="238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6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自动筛选显著影响因素，剔除冗余变量，优化模型结构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58958" y="1710019"/>
            <a:ext cx="7565209" cy="5021827"/>
          </a:xfrm>
          <a:custGeom>
            <a:avLst/>
            <a:gdLst/>
            <a:ahLst/>
            <a:cxnLst/>
            <a:rect l="l" t="t" r="r" b="b"/>
            <a:pathLst>
              <a:path w="7565209" h="5021827">
                <a:moveTo>
                  <a:pt x="43292" y="0"/>
                </a:moveTo>
                <a:lnTo>
                  <a:pt x="7521917" y="0"/>
                </a:lnTo>
                <a:cubicBezTo>
                  <a:pt x="7545827" y="0"/>
                  <a:pt x="7565209" y="19382"/>
                  <a:pt x="7565209" y="43292"/>
                </a:cubicBezTo>
                <a:lnTo>
                  <a:pt x="7565209" y="4891962"/>
                </a:lnTo>
                <a:cubicBezTo>
                  <a:pt x="7565209" y="4963685"/>
                  <a:pt x="7507067" y="5021827"/>
                  <a:pt x="7435345" y="5021827"/>
                </a:cubicBezTo>
                <a:lnTo>
                  <a:pt x="129864" y="5021827"/>
                </a:lnTo>
                <a:cubicBezTo>
                  <a:pt x="58142" y="5021827"/>
                  <a:pt x="0" y="4963685"/>
                  <a:pt x="0" y="4891962"/>
                </a:cubicBezTo>
                <a:lnTo>
                  <a:pt x="0" y="43292"/>
                </a:lnTo>
                <a:cubicBezTo>
                  <a:pt x="0" y="19398"/>
                  <a:pt x="19398" y="0"/>
                  <a:pt x="4329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62344" dist="108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58958" y="1710019"/>
            <a:ext cx="7565209" cy="43292"/>
          </a:xfrm>
          <a:custGeom>
            <a:avLst/>
            <a:gdLst/>
            <a:ahLst/>
            <a:cxnLst/>
            <a:rect l="l" t="t" r="r" b="b"/>
            <a:pathLst>
              <a:path w="7565209" h="43292">
                <a:moveTo>
                  <a:pt x="43292" y="0"/>
                </a:moveTo>
                <a:lnTo>
                  <a:pt x="7521917" y="0"/>
                </a:lnTo>
                <a:cubicBezTo>
                  <a:pt x="7545827" y="0"/>
                  <a:pt x="7565209" y="19382"/>
                  <a:pt x="7565209" y="43292"/>
                </a:cubicBezTo>
                <a:lnTo>
                  <a:pt x="7565209" y="43292"/>
                </a:lnTo>
                <a:lnTo>
                  <a:pt x="0" y="43292"/>
                </a:lnTo>
                <a:lnTo>
                  <a:pt x="0" y="43292"/>
                </a:lnTo>
                <a:cubicBezTo>
                  <a:pt x="0" y="19398"/>
                  <a:pt x="19398" y="0"/>
                  <a:pt x="43292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3" name="Shape 21"/>
          <p:cNvSpPr/>
          <p:nvPr/>
        </p:nvSpPr>
        <p:spPr>
          <a:xfrm>
            <a:off x="8567410" y="1991414"/>
            <a:ext cx="389625" cy="389625"/>
          </a:xfrm>
          <a:custGeom>
            <a:avLst/>
            <a:gdLst/>
            <a:ahLst/>
            <a:cxnLst/>
            <a:rect l="l" t="t" r="r" b="b"/>
            <a:pathLst>
              <a:path w="389625" h="389625">
                <a:moveTo>
                  <a:pt x="91318" y="42615"/>
                </a:moveTo>
                <a:cubicBezTo>
                  <a:pt x="91318" y="19101"/>
                  <a:pt x="110419" y="0"/>
                  <a:pt x="133933" y="0"/>
                </a:cubicBezTo>
                <a:lnTo>
                  <a:pt x="152197" y="0"/>
                </a:lnTo>
                <a:cubicBezTo>
                  <a:pt x="165667" y="0"/>
                  <a:pt x="176549" y="10882"/>
                  <a:pt x="176549" y="24352"/>
                </a:cubicBezTo>
                <a:lnTo>
                  <a:pt x="176549" y="365273"/>
                </a:lnTo>
                <a:cubicBezTo>
                  <a:pt x="176549" y="378742"/>
                  <a:pt x="165667" y="389625"/>
                  <a:pt x="152197" y="389625"/>
                </a:cubicBezTo>
                <a:lnTo>
                  <a:pt x="127846" y="389625"/>
                </a:lnTo>
                <a:cubicBezTo>
                  <a:pt x="105168" y="389625"/>
                  <a:pt x="86067" y="374100"/>
                  <a:pt x="80664" y="353097"/>
                </a:cubicBezTo>
                <a:cubicBezTo>
                  <a:pt x="80132" y="353097"/>
                  <a:pt x="79675" y="353097"/>
                  <a:pt x="79142" y="353097"/>
                </a:cubicBezTo>
                <a:cubicBezTo>
                  <a:pt x="45507" y="353097"/>
                  <a:pt x="18264" y="325854"/>
                  <a:pt x="18264" y="292218"/>
                </a:cubicBezTo>
                <a:cubicBezTo>
                  <a:pt x="18264" y="278521"/>
                  <a:pt x="22830" y="265888"/>
                  <a:pt x="30439" y="255691"/>
                </a:cubicBezTo>
                <a:cubicBezTo>
                  <a:pt x="15676" y="244581"/>
                  <a:pt x="6088" y="226926"/>
                  <a:pt x="6088" y="206988"/>
                </a:cubicBezTo>
                <a:cubicBezTo>
                  <a:pt x="6088" y="183474"/>
                  <a:pt x="19481" y="163003"/>
                  <a:pt x="38962" y="152882"/>
                </a:cubicBezTo>
                <a:cubicBezTo>
                  <a:pt x="33559" y="143750"/>
                  <a:pt x="30439" y="133096"/>
                  <a:pt x="30439" y="121758"/>
                </a:cubicBezTo>
                <a:cubicBezTo>
                  <a:pt x="30439" y="88122"/>
                  <a:pt x="57683" y="60879"/>
                  <a:pt x="91318" y="60879"/>
                </a:cubicBezTo>
                <a:lnTo>
                  <a:pt x="91318" y="42615"/>
                </a:lnTo>
                <a:close/>
                <a:moveTo>
                  <a:pt x="298306" y="42615"/>
                </a:moveTo>
                <a:lnTo>
                  <a:pt x="298306" y="60879"/>
                </a:lnTo>
                <a:cubicBezTo>
                  <a:pt x="331942" y="60879"/>
                  <a:pt x="359185" y="88122"/>
                  <a:pt x="359185" y="121758"/>
                </a:cubicBezTo>
                <a:cubicBezTo>
                  <a:pt x="359185" y="133172"/>
                  <a:pt x="356065" y="143826"/>
                  <a:pt x="350662" y="152882"/>
                </a:cubicBezTo>
                <a:cubicBezTo>
                  <a:pt x="370219" y="163003"/>
                  <a:pt x="383537" y="183397"/>
                  <a:pt x="383537" y="206988"/>
                </a:cubicBezTo>
                <a:cubicBezTo>
                  <a:pt x="383537" y="226926"/>
                  <a:pt x="373948" y="244581"/>
                  <a:pt x="359185" y="255691"/>
                </a:cubicBezTo>
                <a:cubicBezTo>
                  <a:pt x="366795" y="265888"/>
                  <a:pt x="371361" y="278521"/>
                  <a:pt x="371361" y="292218"/>
                </a:cubicBezTo>
                <a:cubicBezTo>
                  <a:pt x="371361" y="325854"/>
                  <a:pt x="344118" y="353097"/>
                  <a:pt x="310482" y="353097"/>
                </a:cubicBezTo>
                <a:cubicBezTo>
                  <a:pt x="309949" y="353097"/>
                  <a:pt x="309493" y="353097"/>
                  <a:pt x="308960" y="353097"/>
                </a:cubicBezTo>
                <a:cubicBezTo>
                  <a:pt x="303557" y="374100"/>
                  <a:pt x="284456" y="389625"/>
                  <a:pt x="261779" y="389625"/>
                </a:cubicBezTo>
                <a:lnTo>
                  <a:pt x="237427" y="389625"/>
                </a:lnTo>
                <a:cubicBezTo>
                  <a:pt x="223958" y="389625"/>
                  <a:pt x="213076" y="378742"/>
                  <a:pt x="213076" y="365273"/>
                </a:cubicBezTo>
                <a:lnTo>
                  <a:pt x="213076" y="24352"/>
                </a:lnTo>
                <a:cubicBezTo>
                  <a:pt x="213076" y="10882"/>
                  <a:pt x="223958" y="0"/>
                  <a:pt x="237427" y="0"/>
                </a:cubicBezTo>
                <a:lnTo>
                  <a:pt x="255691" y="0"/>
                </a:lnTo>
                <a:cubicBezTo>
                  <a:pt x="279206" y="0"/>
                  <a:pt x="298306" y="19101"/>
                  <a:pt x="298306" y="42615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4" name="Text 22"/>
          <p:cNvSpPr/>
          <p:nvPr/>
        </p:nvSpPr>
        <p:spPr>
          <a:xfrm>
            <a:off x="9135613" y="1991414"/>
            <a:ext cx="2435153" cy="389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5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机器学习类方法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18707" y="2554205"/>
            <a:ext cx="7132293" cy="5627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适用于</a:t>
            </a:r>
            <a:r>
              <a:rPr lang="en-US" sz="136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高维度、复杂关系</a:t>
            </a:r>
            <a:r>
              <a:rPr lang="en-US" sz="136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的数据（如用户行为预测）。核心是通过算法</a:t>
            </a:r>
            <a:r>
              <a:rPr lang="en-US" sz="136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自动学习特征与目标的映射关系</a:t>
            </a:r>
            <a:r>
              <a:rPr lang="en-US" sz="136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，无需手动构建函数。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40353" y="3290162"/>
            <a:ext cx="7024064" cy="974061"/>
          </a:xfrm>
          <a:custGeom>
            <a:avLst/>
            <a:gdLst/>
            <a:ahLst/>
            <a:cxnLst/>
            <a:rect l="l" t="t" r="r" b="b"/>
            <a:pathLst>
              <a:path w="7024064" h="974061">
                <a:moveTo>
                  <a:pt x="43292" y="0"/>
                </a:moveTo>
                <a:lnTo>
                  <a:pt x="6937480" y="0"/>
                </a:lnTo>
                <a:cubicBezTo>
                  <a:pt x="6985299" y="0"/>
                  <a:pt x="7024064" y="38765"/>
                  <a:pt x="7024064" y="86584"/>
                </a:cubicBezTo>
                <a:lnTo>
                  <a:pt x="7024064" y="887477"/>
                </a:lnTo>
                <a:cubicBezTo>
                  <a:pt x="7024064" y="935296"/>
                  <a:pt x="6985299" y="974061"/>
                  <a:pt x="6937480" y="974061"/>
                </a:cubicBezTo>
                <a:lnTo>
                  <a:pt x="43292" y="974061"/>
                </a:lnTo>
                <a:cubicBezTo>
                  <a:pt x="19382" y="974061"/>
                  <a:pt x="0" y="954679"/>
                  <a:pt x="0" y="930770"/>
                </a:cubicBezTo>
                <a:lnTo>
                  <a:pt x="0" y="43292"/>
                </a:lnTo>
                <a:cubicBezTo>
                  <a:pt x="0" y="19398"/>
                  <a:pt x="19398" y="0"/>
                  <a:pt x="43292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8540353" y="3290162"/>
            <a:ext cx="43292" cy="974061"/>
          </a:xfrm>
          <a:custGeom>
            <a:avLst/>
            <a:gdLst/>
            <a:ahLst/>
            <a:cxnLst/>
            <a:rect l="l" t="t" r="r" b="b"/>
            <a:pathLst>
              <a:path w="43292" h="974061">
                <a:moveTo>
                  <a:pt x="43292" y="0"/>
                </a:moveTo>
                <a:lnTo>
                  <a:pt x="43292" y="0"/>
                </a:lnTo>
                <a:lnTo>
                  <a:pt x="43292" y="974061"/>
                </a:lnTo>
                <a:lnTo>
                  <a:pt x="43292" y="974061"/>
                </a:lnTo>
                <a:cubicBezTo>
                  <a:pt x="19382" y="974061"/>
                  <a:pt x="0" y="954679"/>
                  <a:pt x="0" y="930770"/>
                </a:cubicBezTo>
                <a:lnTo>
                  <a:pt x="0" y="43292"/>
                </a:lnTo>
                <a:cubicBezTo>
                  <a:pt x="0" y="19398"/>
                  <a:pt x="19398" y="0"/>
                  <a:pt x="43292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8" name="Text 26"/>
          <p:cNvSpPr/>
          <p:nvPr/>
        </p:nvSpPr>
        <p:spPr>
          <a:xfrm>
            <a:off x="8735165" y="3463329"/>
            <a:ext cx="1266280" cy="3030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随机森林回归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4526636" y="3463329"/>
            <a:ext cx="865832" cy="303041"/>
          </a:xfrm>
          <a:custGeom>
            <a:avLst/>
            <a:gdLst/>
            <a:ahLst/>
            <a:cxnLst/>
            <a:rect l="l" t="t" r="r" b="b"/>
            <a:pathLst>
              <a:path w="865832" h="303041">
                <a:moveTo>
                  <a:pt x="151521" y="0"/>
                </a:moveTo>
                <a:lnTo>
                  <a:pt x="714312" y="0"/>
                </a:lnTo>
                <a:cubicBezTo>
                  <a:pt x="797994" y="0"/>
                  <a:pt x="865832" y="67838"/>
                  <a:pt x="865832" y="151521"/>
                </a:cubicBezTo>
                <a:lnTo>
                  <a:pt x="865832" y="151521"/>
                </a:lnTo>
                <a:cubicBezTo>
                  <a:pt x="865832" y="235203"/>
                  <a:pt x="797994" y="303041"/>
                  <a:pt x="714312" y="303041"/>
                </a:cubicBezTo>
                <a:lnTo>
                  <a:pt x="151521" y="303041"/>
                </a:lnTo>
                <a:cubicBezTo>
                  <a:pt x="67838" y="303041"/>
                  <a:pt x="0" y="235203"/>
                  <a:pt x="0" y="151521"/>
                </a:cubicBezTo>
                <a:lnTo>
                  <a:pt x="0" y="151521"/>
                </a:lnTo>
                <a:cubicBezTo>
                  <a:pt x="0" y="67838"/>
                  <a:pt x="67838" y="0"/>
                  <a:pt x="151521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0" name="Text 28"/>
          <p:cNvSpPr/>
          <p:nvPr/>
        </p:nvSpPr>
        <p:spPr>
          <a:xfrm>
            <a:off x="14526636" y="3463329"/>
            <a:ext cx="941593" cy="303041"/>
          </a:xfrm>
          <a:prstGeom prst="rect">
            <a:avLst/>
          </a:prstGeom>
          <a:noFill/>
        </p:spPr>
        <p:txBody>
          <a:bodyPr wrap="square" lIns="129875" tIns="43292" rIns="129875" bIns="43292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集成学习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35165" y="3852953"/>
            <a:ext cx="6742668" cy="238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通过多棵决策树投票，抗过拟合能力强，可处理高维数据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40353" y="4394099"/>
            <a:ext cx="7024064" cy="974061"/>
          </a:xfrm>
          <a:custGeom>
            <a:avLst/>
            <a:gdLst/>
            <a:ahLst/>
            <a:cxnLst/>
            <a:rect l="l" t="t" r="r" b="b"/>
            <a:pathLst>
              <a:path w="7024064" h="974061">
                <a:moveTo>
                  <a:pt x="43292" y="0"/>
                </a:moveTo>
                <a:lnTo>
                  <a:pt x="6937480" y="0"/>
                </a:lnTo>
                <a:cubicBezTo>
                  <a:pt x="6985299" y="0"/>
                  <a:pt x="7024064" y="38765"/>
                  <a:pt x="7024064" y="86584"/>
                </a:cubicBezTo>
                <a:lnTo>
                  <a:pt x="7024064" y="887477"/>
                </a:lnTo>
                <a:cubicBezTo>
                  <a:pt x="7024064" y="935296"/>
                  <a:pt x="6985299" y="974061"/>
                  <a:pt x="6937480" y="974061"/>
                </a:cubicBezTo>
                <a:lnTo>
                  <a:pt x="43292" y="974061"/>
                </a:lnTo>
                <a:cubicBezTo>
                  <a:pt x="19382" y="974061"/>
                  <a:pt x="0" y="954679"/>
                  <a:pt x="0" y="930770"/>
                </a:cubicBezTo>
                <a:lnTo>
                  <a:pt x="0" y="43292"/>
                </a:lnTo>
                <a:cubicBezTo>
                  <a:pt x="0" y="19398"/>
                  <a:pt x="19398" y="0"/>
                  <a:pt x="43292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8540353" y="4394099"/>
            <a:ext cx="43292" cy="974061"/>
          </a:xfrm>
          <a:custGeom>
            <a:avLst/>
            <a:gdLst/>
            <a:ahLst/>
            <a:cxnLst/>
            <a:rect l="l" t="t" r="r" b="b"/>
            <a:pathLst>
              <a:path w="43292" h="974061">
                <a:moveTo>
                  <a:pt x="43292" y="0"/>
                </a:moveTo>
                <a:lnTo>
                  <a:pt x="43292" y="0"/>
                </a:lnTo>
                <a:lnTo>
                  <a:pt x="43292" y="974061"/>
                </a:lnTo>
                <a:lnTo>
                  <a:pt x="43292" y="974061"/>
                </a:lnTo>
                <a:cubicBezTo>
                  <a:pt x="19382" y="974061"/>
                  <a:pt x="0" y="954679"/>
                  <a:pt x="0" y="930770"/>
                </a:cubicBezTo>
                <a:lnTo>
                  <a:pt x="0" y="43292"/>
                </a:lnTo>
                <a:cubicBezTo>
                  <a:pt x="0" y="19398"/>
                  <a:pt x="19398" y="0"/>
                  <a:pt x="43292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34" name="Text 32"/>
          <p:cNvSpPr/>
          <p:nvPr/>
        </p:nvSpPr>
        <p:spPr>
          <a:xfrm>
            <a:off x="8735165" y="4567265"/>
            <a:ext cx="1071467" cy="3030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梯度提升树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4528800" y="4567265"/>
            <a:ext cx="865832" cy="303041"/>
          </a:xfrm>
          <a:custGeom>
            <a:avLst/>
            <a:gdLst/>
            <a:ahLst/>
            <a:cxnLst/>
            <a:rect l="l" t="t" r="r" b="b"/>
            <a:pathLst>
              <a:path w="865832" h="303041">
                <a:moveTo>
                  <a:pt x="151521" y="0"/>
                </a:moveTo>
                <a:lnTo>
                  <a:pt x="714312" y="0"/>
                </a:lnTo>
                <a:cubicBezTo>
                  <a:pt x="797994" y="0"/>
                  <a:pt x="865832" y="67838"/>
                  <a:pt x="865832" y="151521"/>
                </a:cubicBezTo>
                <a:lnTo>
                  <a:pt x="865832" y="151521"/>
                </a:lnTo>
                <a:cubicBezTo>
                  <a:pt x="865832" y="235203"/>
                  <a:pt x="797994" y="303041"/>
                  <a:pt x="714312" y="303041"/>
                </a:cubicBezTo>
                <a:lnTo>
                  <a:pt x="151521" y="303041"/>
                </a:lnTo>
                <a:cubicBezTo>
                  <a:pt x="67838" y="303041"/>
                  <a:pt x="0" y="235203"/>
                  <a:pt x="0" y="151521"/>
                </a:cubicBezTo>
                <a:lnTo>
                  <a:pt x="0" y="151521"/>
                </a:lnTo>
                <a:cubicBezTo>
                  <a:pt x="0" y="67838"/>
                  <a:pt x="67838" y="0"/>
                  <a:pt x="151521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36" name="Text 34"/>
          <p:cNvSpPr/>
          <p:nvPr/>
        </p:nvSpPr>
        <p:spPr>
          <a:xfrm>
            <a:off x="14528800" y="4567265"/>
            <a:ext cx="941593" cy="303041"/>
          </a:xfrm>
          <a:prstGeom prst="rect">
            <a:avLst/>
          </a:prstGeom>
          <a:noFill/>
        </p:spPr>
        <p:txBody>
          <a:bodyPr wrap="square" lIns="129875" tIns="43292" rIns="129875" bIns="43292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35165" y="4956889"/>
            <a:ext cx="6742668" cy="238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迭代优化残差，预测精度高，是竞赛中的常胜将军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40353" y="5498035"/>
            <a:ext cx="7024064" cy="974061"/>
          </a:xfrm>
          <a:custGeom>
            <a:avLst/>
            <a:gdLst/>
            <a:ahLst/>
            <a:cxnLst/>
            <a:rect l="l" t="t" r="r" b="b"/>
            <a:pathLst>
              <a:path w="7024064" h="974061">
                <a:moveTo>
                  <a:pt x="43292" y="0"/>
                </a:moveTo>
                <a:lnTo>
                  <a:pt x="6937480" y="0"/>
                </a:lnTo>
                <a:cubicBezTo>
                  <a:pt x="6985299" y="0"/>
                  <a:pt x="7024064" y="38765"/>
                  <a:pt x="7024064" y="86584"/>
                </a:cubicBezTo>
                <a:lnTo>
                  <a:pt x="7024064" y="887477"/>
                </a:lnTo>
                <a:cubicBezTo>
                  <a:pt x="7024064" y="935296"/>
                  <a:pt x="6985299" y="974061"/>
                  <a:pt x="6937480" y="974061"/>
                </a:cubicBezTo>
                <a:lnTo>
                  <a:pt x="43292" y="974061"/>
                </a:lnTo>
                <a:cubicBezTo>
                  <a:pt x="19382" y="974061"/>
                  <a:pt x="0" y="954679"/>
                  <a:pt x="0" y="930770"/>
                </a:cubicBezTo>
                <a:lnTo>
                  <a:pt x="0" y="43292"/>
                </a:lnTo>
                <a:cubicBezTo>
                  <a:pt x="0" y="19398"/>
                  <a:pt x="19398" y="0"/>
                  <a:pt x="43292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8540353" y="5498035"/>
            <a:ext cx="43292" cy="974061"/>
          </a:xfrm>
          <a:custGeom>
            <a:avLst/>
            <a:gdLst/>
            <a:ahLst/>
            <a:cxnLst/>
            <a:rect l="l" t="t" r="r" b="b"/>
            <a:pathLst>
              <a:path w="43292" h="974061">
                <a:moveTo>
                  <a:pt x="43292" y="0"/>
                </a:moveTo>
                <a:lnTo>
                  <a:pt x="43292" y="0"/>
                </a:lnTo>
                <a:lnTo>
                  <a:pt x="43292" y="974061"/>
                </a:lnTo>
                <a:lnTo>
                  <a:pt x="43292" y="974061"/>
                </a:lnTo>
                <a:cubicBezTo>
                  <a:pt x="19382" y="974061"/>
                  <a:pt x="0" y="954679"/>
                  <a:pt x="0" y="930770"/>
                </a:cubicBezTo>
                <a:lnTo>
                  <a:pt x="0" y="43292"/>
                </a:lnTo>
                <a:cubicBezTo>
                  <a:pt x="0" y="19398"/>
                  <a:pt x="19398" y="0"/>
                  <a:pt x="43292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40" name="Text 38"/>
          <p:cNvSpPr/>
          <p:nvPr/>
        </p:nvSpPr>
        <p:spPr>
          <a:xfrm>
            <a:off x="8735165" y="5671201"/>
            <a:ext cx="876655" cy="3030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神经网络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4526636" y="5671201"/>
            <a:ext cx="865832" cy="303041"/>
          </a:xfrm>
          <a:custGeom>
            <a:avLst/>
            <a:gdLst/>
            <a:ahLst/>
            <a:cxnLst/>
            <a:rect l="l" t="t" r="r" b="b"/>
            <a:pathLst>
              <a:path w="865832" h="303041">
                <a:moveTo>
                  <a:pt x="151521" y="0"/>
                </a:moveTo>
                <a:lnTo>
                  <a:pt x="714312" y="0"/>
                </a:lnTo>
                <a:cubicBezTo>
                  <a:pt x="797994" y="0"/>
                  <a:pt x="865832" y="67838"/>
                  <a:pt x="865832" y="151521"/>
                </a:cubicBezTo>
                <a:lnTo>
                  <a:pt x="865832" y="151521"/>
                </a:lnTo>
                <a:cubicBezTo>
                  <a:pt x="865832" y="235203"/>
                  <a:pt x="797994" y="303041"/>
                  <a:pt x="714312" y="303041"/>
                </a:cubicBezTo>
                <a:lnTo>
                  <a:pt x="151521" y="303041"/>
                </a:lnTo>
                <a:cubicBezTo>
                  <a:pt x="67838" y="303041"/>
                  <a:pt x="0" y="235203"/>
                  <a:pt x="0" y="151521"/>
                </a:cubicBezTo>
                <a:lnTo>
                  <a:pt x="0" y="151521"/>
                </a:lnTo>
                <a:cubicBezTo>
                  <a:pt x="0" y="67838"/>
                  <a:pt x="67838" y="0"/>
                  <a:pt x="151521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42" name="Text 40"/>
          <p:cNvSpPr/>
          <p:nvPr/>
        </p:nvSpPr>
        <p:spPr>
          <a:xfrm>
            <a:off x="14526636" y="5671201"/>
            <a:ext cx="941593" cy="303041"/>
          </a:xfrm>
          <a:prstGeom prst="rect">
            <a:avLst/>
          </a:prstGeom>
          <a:noFill/>
        </p:spPr>
        <p:txBody>
          <a:bodyPr wrap="square" lIns="129875" tIns="43292" rIns="129875" bIns="43292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深度学习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735165" y="6060826"/>
            <a:ext cx="6742668" cy="238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捕捉复杂非线性关系，需要大量数据和计算资源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67616" y="6956962"/>
            <a:ext cx="7550057" cy="1489231"/>
          </a:xfrm>
          <a:custGeom>
            <a:avLst/>
            <a:gdLst/>
            <a:ahLst/>
            <a:cxnLst/>
            <a:rect l="l" t="t" r="r" b="b"/>
            <a:pathLst>
              <a:path w="7550057" h="1489231">
                <a:moveTo>
                  <a:pt x="129876" y="0"/>
                </a:moveTo>
                <a:lnTo>
                  <a:pt x="7420181" y="0"/>
                </a:lnTo>
                <a:cubicBezTo>
                  <a:pt x="7491910" y="0"/>
                  <a:pt x="7550057" y="58147"/>
                  <a:pt x="7550057" y="129876"/>
                </a:cubicBezTo>
                <a:lnTo>
                  <a:pt x="7550057" y="1359356"/>
                </a:lnTo>
                <a:cubicBezTo>
                  <a:pt x="7550057" y="1431084"/>
                  <a:pt x="7491910" y="1489231"/>
                  <a:pt x="7420181" y="1489231"/>
                </a:cubicBezTo>
                <a:lnTo>
                  <a:pt x="129876" y="1489231"/>
                </a:lnTo>
                <a:cubicBezTo>
                  <a:pt x="58147" y="1489231"/>
                  <a:pt x="0" y="1431084"/>
                  <a:pt x="0" y="1359356"/>
                </a:cubicBezTo>
                <a:lnTo>
                  <a:pt x="0" y="129876"/>
                </a:lnTo>
                <a:cubicBezTo>
                  <a:pt x="0" y="58147"/>
                  <a:pt x="58147" y="0"/>
                  <a:pt x="129876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92732" y="7203725"/>
            <a:ext cx="324687" cy="259750"/>
          </a:xfrm>
          <a:custGeom>
            <a:avLst/>
            <a:gdLst/>
            <a:ahLst/>
            <a:cxnLst/>
            <a:rect l="l" t="t" r="r" b="b"/>
            <a:pathLst>
              <a:path w="324687" h="259750">
                <a:moveTo>
                  <a:pt x="194812" y="16234"/>
                </a:moveTo>
                <a:lnTo>
                  <a:pt x="259750" y="16234"/>
                </a:lnTo>
                <a:cubicBezTo>
                  <a:pt x="268729" y="16234"/>
                  <a:pt x="275984" y="23489"/>
                  <a:pt x="275984" y="32469"/>
                </a:cubicBezTo>
                <a:cubicBezTo>
                  <a:pt x="275984" y="41448"/>
                  <a:pt x="268729" y="48703"/>
                  <a:pt x="259750" y="48703"/>
                </a:cubicBezTo>
                <a:lnTo>
                  <a:pt x="202118" y="48703"/>
                </a:lnTo>
                <a:cubicBezTo>
                  <a:pt x="199480" y="61792"/>
                  <a:pt x="190500" y="72598"/>
                  <a:pt x="178578" y="77773"/>
                </a:cubicBezTo>
                <a:lnTo>
                  <a:pt x="178578" y="227281"/>
                </a:lnTo>
                <a:lnTo>
                  <a:pt x="259750" y="227281"/>
                </a:lnTo>
                <a:cubicBezTo>
                  <a:pt x="268729" y="227281"/>
                  <a:pt x="275984" y="234536"/>
                  <a:pt x="275984" y="243515"/>
                </a:cubicBezTo>
                <a:cubicBezTo>
                  <a:pt x="275984" y="252495"/>
                  <a:pt x="268729" y="259750"/>
                  <a:pt x="259750" y="259750"/>
                </a:cubicBezTo>
                <a:lnTo>
                  <a:pt x="64937" y="259750"/>
                </a:lnTo>
                <a:cubicBezTo>
                  <a:pt x="55958" y="259750"/>
                  <a:pt x="48703" y="252495"/>
                  <a:pt x="48703" y="243515"/>
                </a:cubicBezTo>
                <a:cubicBezTo>
                  <a:pt x="48703" y="234536"/>
                  <a:pt x="55958" y="227281"/>
                  <a:pt x="64937" y="227281"/>
                </a:cubicBezTo>
                <a:lnTo>
                  <a:pt x="146109" y="227281"/>
                </a:lnTo>
                <a:lnTo>
                  <a:pt x="146109" y="77773"/>
                </a:lnTo>
                <a:cubicBezTo>
                  <a:pt x="134187" y="72547"/>
                  <a:pt x="125207" y="61741"/>
                  <a:pt x="122569" y="48703"/>
                </a:cubicBezTo>
                <a:lnTo>
                  <a:pt x="64937" y="48703"/>
                </a:lnTo>
                <a:cubicBezTo>
                  <a:pt x="55958" y="48703"/>
                  <a:pt x="48703" y="41448"/>
                  <a:pt x="48703" y="32469"/>
                </a:cubicBezTo>
                <a:cubicBezTo>
                  <a:pt x="48703" y="23489"/>
                  <a:pt x="55958" y="16234"/>
                  <a:pt x="64937" y="16234"/>
                </a:cubicBezTo>
                <a:lnTo>
                  <a:pt x="129875" y="16234"/>
                </a:lnTo>
                <a:cubicBezTo>
                  <a:pt x="137282" y="6392"/>
                  <a:pt x="149052" y="0"/>
                  <a:pt x="162344" y="0"/>
                </a:cubicBezTo>
                <a:cubicBezTo>
                  <a:pt x="175635" y="0"/>
                  <a:pt x="187405" y="6392"/>
                  <a:pt x="194812" y="16234"/>
                </a:cubicBezTo>
                <a:close/>
                <a:moveTo>
                  <a:pt x="223019" y="162344"/>
                </a:moveTo>
                <a:lnTo>
                  <a:pt x="296480" y="162344"/>
                </a:lnTo>
                <a:lnTo>
                  <a:pt x="259750" y="99334"/>
                </a:lnTo>
                <a:lnTo>
                  <a:pt x="223019" y="162344"/>
                </a:lnTo>
                <a:close/>
                <a:moveTo>
                  <a:pt x="259750" y="211047"/>
                </a:moveTo>
                <a:cubicBezTo>
                  <a:pt x="227839" y="211047"/>
                  <a:pt x="201306" y="193798"/>
                  <a:pt x="195827" y="171019"/>
                </a:cubicBezTo>
                <a:cubicBezTo>
                  <a:pt x="194508" y="165438"/>
                  <a:pt x="196334" y="159705"/>
                  <a:pt x="199226" y="154734"/>
                </a:cubicBezTo>
                <a:lnTo>
                  <a:pt x="247523" y="71938"/>
                </a:lnTo>
                <a:cubicBezTo>
                  <a:pt x="250060" y="67575"/>
                  <a:pt x="254727" y="64937"/>
                  <a:pt x="259750" y="64937"/>
                </a:cubicBezTo>
                <a:cubicBezTo>
                  <a:pt x="264772" y="64937"/>
                  <a:pt x="269440" y="67626"/>
                  <a:pt x="271976" y="71938"/>
                </a:cubicBezTo>
                <a:lnTo>
                  <a:pt x="320273" y="154734"/>
                </a:lnTo>
                <a:cubicBezTo>
                  <a:pt x="323165" y="159705"/>
                  <a:pt x="324991" y="165438"/>
                  <a:pt x="323672" y="171019"/>
                </a:cubicBezTo>
                <a:cubicBezTo>
                  <a:pt x="318193" y="193747"/>
                  <a:pt x="291660" y="211047"/>
                  <a:pt x="259750" y="211047"/>
                </a:cubicBezTo>
                <a:close/>
                <a:moveTo>
                  <a:pt x="64329" y="99334"/>
                </a:moveTo>
                <a:lnTo>
                  <a:pt x="27598" y="162344"/>
                </a:lnTo>
                <a:lnTo>
                  <a:pt x="101110" y="162344"/>
                </a:lnTo>
                <a:lnTo>
                  <a:pt x="64329" y="99334"/>
                </a:lnTo>
                <a:close/>
                <a:moveTo>
                  <a:pt x="457" y="171019"/>
                </a:moveTo>
                <a:cubicBezTo>
                  <a:pt x="-862" y="165438"/>
                  <a:pt x="964" y="159705"/>
                  <a:pt x="3856" y="154734"/>
                </a:cubicBezTo>
                <a:lnTo>
                  <a:pt x="52153" y="71938"/>
                </a:lnTo>
                <a:cubicBezTo>
                  <a:pt x="54689" y="67575"/>
                  <a:pt x="59357" y="64937"/>
                  <a:pt x="64379" y="64937"/>
                </a:cubicBezTo>
                <a:cubicBezTo>
                  <a:pt x="69402" y="64937"/>
                  <a:pt x="74069" y="67626"/>
                  <a:pt x="76606" y="71938"/>
                </a:cubicBezTo>
                <a:lnTo>
                  <a:pt x="124903" y="154734"/>
                </a:lnTo>
                <a:cubicBezTo>
                  <a:pt x="127795" y="159705"/>
                  <a:pt x="129621" y="165438"/>
                  <a:pt x="128302" y="171019"/>
                </a:cubicBezTo>
                <a:cubicBezTo>
                  <a:pt x="122823" y="193747"/>
                  <a:pt x="96290" y="211047"/>
                  <a:pt x="64379" y="211047"/>
                </a:cubicBezTo>
                <a:cubicBezTo>
                  <a:pt x="32469" y="211047"/>
                  <a:pt x="5936" y="193798"/>
                  <a:pt x="457" y="171019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6" name="Text 44"/>
          <p:cNvSpPr/>
          <p:nvPr/>
        </p:nvSpPr>
        <p:spPr>
          <a:xfrm>
            <a:off x="8947294" y="7182079"/>
            <a:ext cx="974061" cy="3030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方法对比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92732" y="7614995"/>
            <a:ext cx="3549912" cy="25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回归分析优势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92732" y="7961328"/>
            <a:ext cx="3549912" cy="25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可解释性强、计算简单、理论基础扎实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2128686" y="7614995"/>
            <a:ext cx="3549912" cy="25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机器学习优势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2128686" y="7961328"/>
            <a:ext cx="3549912" cy="25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处理高维数据、捕捉复杂关系、预测精度高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APPLICATION &amp; KEY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预测模型适用场景与建模要点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6764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508000" y="1981200"/>
            <a:ext cx="7467600" cy="6654800"/>
          </a:xfrm>
          <a:custGeom>
            <a:avLst/>
            <a:gdLst/>
            <a:ahLst/>
            <a:cxnLst/>
            <a:rect l="l" t="t" r="r" b="b"/>
            <a:pathLst>
              <a:path w="7467600" h="6654800">
                <a:moveTo>
                  <a:pt x="152395" y="0"/>
                </a:moveTo>
                <a:lnTo>
                  <a:pt x="7315205" y="0"/>
                </a:lnTo>
                <a:cubicBezTo>
                  <a:pt x="7399370" y="0"/>
                  <a:pt x="7467600" y="68230"/>
                  <a:pt x="7467600" y="152395"/>
                </a:cubicBezTo>
                <a:lnTo>
                  <a:pt x="7467600" y="6502405"/>
                </a:lnTo>
                <a:cubicBezTo>
                  <a:pt x="7467600" y="6586570"/>
                  <a:pt x="7399370" y="6654800"/>
                  <a:pt x="7315205" y="6654800"/>
                </a:cubicBezTo>
                <a:lnTo>
                  <a:pt x="152395" y="6654800"/>
                </a:lnTo>
                <a:cubicBezTo>
                  <a:pt x="68230" y="6654800"/>
                  <a:pt x="0" y="6586570"/>
                  <a:pt x="0" y="6502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8000" y="1981200"/>
            <a:ext cx="7467600" cy="914400"/>
          </a:xfrm>
          <a:custGeom>
            <a:avLst/>
            <a:gdLst/>
            <a:ahLst/>
            <a:cxnLst/>
            <a:rect l="l" t="t" r="r" b="b"/>
            <a:pathLst>
              <a:path w="7467600" h="914400">
                <a:moveTo>
                  <a:pt x="152403" y="0"/>
                </a:moveTo>
                <a:lnTo>
                  <a:pt x="7315197" y="0"/>
                </a:lnTo>
                <a:cubicBezTo>
                  <a:pt x="7399367" y="0"/>
                  <a:pt x="7467600" y="68233"/>
                  <a:pt x="7467600" y="152403"/>
                </a:cubicBezTo>
                <a:lnTo>
                  <a:pt x="7467600" y="914400"/>
                </a:lnTo>
                <a:lnTo>
                  <a:pt x="0" y="914400"/>
                </a:ln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/>
              </a:gs>
              <a:gs pos="100000">
                <a:srgbClr val="212C42"/>
              </a:gs>
            </a:gsLst>
            <a:lin ang="0" scaled="1"/>
          </a:gradFill>
        </p:spPr>
      </p:sp>
      <p:sp>
        <p:nvSpPr>
          <p:cNvPr id="7" name="Shape 5"/>
          <p:cNvSpPr/>
          <p:nvPr/>
        </p:nvSpPr>
        <p:spPr>
          <a:xfrm>
            <a:off x="800100" y="228583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638" y="0"/>
                </a:moveTo>
                <a:cubicBezTo>
                  <a:pt x="142101" y="0"/>
                  <a:pt x="133588" y="8513"/>
                  <a:pt x="133588" y="19050"/>
                </a:cubicBezTo>
                <a:lnTo>
                  <a:pt x="133588" y="38100"/>
                </a:lnTo>
                <a:lnTo>
                  <a:pt x="38338" y="38100"/>
                </a:lnTo>
                <a:cubicBezTo>
                  <a:pt x="27801" y="38100"/>
                  <a:pt x="19288" y="46613"/>
                  <a:pt x="19288" y="57150"/>
                </a:cubicBezTo>
                <a:lnTo>
                  <a:pt x="19288" y="95250"/>
                </a:lnTo>
                <a:cubicBezTo>
                  <a:pt x="19288" y="105787"/>
                  <a:pt x="27801" y="114300"/>
                  <a:pt x="38338" y="114300"/>
                </a:cubicBezTo>
                <a:lnTo>
                  <a:pt x="133588" y="114300"/>
                </a:lnTo>
                <a:lnTo>
                  <a:pt x="133588" y="152400"/>
                </a:lnTo>
                <a:lnTo>
                  <a:pt x="42267" y="152400"/>
                </a:lnTo>
                <a:cubicBezTo>
                  <a:pt x="39767" y="152400"/>
                  <a:pt x="37326" y="153412"/>
                  <a:pt x="35540" y="155198"/>
                </a:cubicBezTo>
                <a:lnTo>
                  <a:pt x="6965" y="183773"/>
                </a:lnTo>
                <a:cubicBezTo>
                  <a:pt x="3274" y="187464"/>
                  <a:pt x="3274" y="193536"/>
                  <a:pt x="6965" y="197227"/>
                </a:cubicBezTo>
                <a:lnTo>
                  <a:pt x="35540" y="225802"/>
                </a:lnTo>
                <a:cubicBezTo>
                  <a:pt x="37326" y="227588"/>
                  <a:pt x="39767" y="228600"/>
                  <a:pt x="42267" y="228600"/>
                </a:cubicBezTo>
                <a:lnTo>
                  <a:pt x="133588" y="228600"/>
                </a:lnTo>
                <a:lnTo>
                  <a:pt x="133588" y="285750"/>
                </a:lnTo>
                <a:cubicBezTo>
                  <a:pt x="133588" y="296287"/>
                  <a:pt x="142101" y="304800"/>
                  <a:pt x="152638" y="304800"/>
                </a:cubicBezTo>
                <a:cubicBezTo>
                  <a:pt x="163175" y="304800"/>
                  <a:pt x="171688" y="296287"/>
                  <a:pt x="171688" y="285750"/>
                </a:cubicBezTo>
                <a:lnTo>
                  <a:pt x="171688" y="228600"/>
                </a:lnTo>
                <a:lnTo>
                  <a:pt x="266938" y="228600"/>
                </a:lnTo>
                <a:cubicBezTo>
                  <a:pt x="277475" y="228600"/>
                  <a:pt x="285988" y="220087"/>
                  <a:pt x="285988" y="209550"/>
                </a:cubicBezTo>
                <a:lnTo>
                  <a:pt x="285988" y="171450"/>
                </a:lnTo>
                <a:cubicBezTo>
                  <a:pt x="285988" y="160913"/>
                  <a:pt x="277475" y="152400"/>
                  <a:pt x="266938" y="152400"/>
                </a:cubicBezTo>
                <a:lnTo>
                  <a:pt x="171688" y="152400"/>
                </a:lnTo>
                <a:lnTo>
                  <a:pt x="171688" y="114300"/>
                </a:lnTo>
                <a:lnTo>
                  <a:pt x="263009" y="114300"/>
                </a:lnTo>
                <a:cubicBezTo>
                  <a:pt x="265509" y="114300"/>
                  <a:pt x="267950" y="113288"/>
                  <a:pt x="269736" y="111502"/>
                </a:cubicBezTo>
                <a:lnTo>
                  <a:pt x="298311" y="82927"/>
                </a:lnTo>
                <a:cubicBezTo>
                  <a:pt x="302002" y="79236"/>
                  <a:pt x="302002" y="73164"/>
                  <a:pt x="298311" y="69473"/>
                </a:cubicBezTo>
                <a:lnTo>
                  <a:pt x="269736" y="40898"/>
                </a:lnTo>
                <a:cubicBezTo>
                  <a:pt x="267950" y="39112"/>
                  <a:pt x="265509" y="38100"/>
                  <a:pt x="263009" y="38100"/>
                </a:cubicBezTo>
                <a:lnTo>
                  <a:pt x="171688" y="38100"/>
                </a:lnTo>
                <a:lnTo>
                  <a:pt x="171688" y="19050"/>
                </a:lnTo>
                <a:cubicBezTo>
                  <a:pt x="171688" y="8513"/>
                  <a:pt x="163175" y="0"/>
                  <a:pt x="152638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143000" y="2235200"/>
            <a:ext cx="6731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适用场景决策指南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7400" y="3149439"/>
            <a:ext cx="6934200" cy="1143000"/>
          </a:xfrm>
          <a:custGeom>
            <a:avLst/>
            <a:gdLst/>
            <a:ahLst/>
            <a:cxnLst/>
            <a:rect l="l" t="t" r="r" b="b"/>
            <a:pathLst>
              <a:path w="6934200" h="1143000">
                <a:moveTo>
                  <a:pt x="50800" y="0"/>
                </a:moveTo>
                <a:lnTo>
                  <a:pt x="6832599" y="0"/>
                </a:lnTo>
                <a:cubicBezTo>
                  <a:pt x="6888712" y="0"/>
                  <a:pt x="6934200" y="45488"/>
                  <a:pt x="6934200" y="101601"/>
                </a:cubicBezTo>
                <a:lnTo>
                  <a:pt x="6934200" y="1041399"/>
                </a:lnTo>
                <a:cubicBezTo>
                  <a:pt x="6934200" y="1097512"/>
                  <a:pt x="6888712" y="1143000"/>
                  <a:pt x="6832599" y="1143000"/>
                </a:cubicBezTo>
                <a:lnTo>
                  <a:pt x="50800" y="1143000"/>
                </a:lnTo>
                <a:cubicBezTo>
                  <a:pt x="22763" y="1143000"/>
                  <a:pt x="0" y="1120237"/>
                  <a:pt x="0" y="1092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787400" y="3149439"/>
            <a:ext cx="50800" cy="1143000"/>
          </a:xfrm>
          <a:custGeom>
            <a:avLst/>
            <a:gdLst/>
            <a:ahLst/>
            <a:cxnLst/>
            <a:rect l="l" t="t" r="r" b="b"/>
            <a:pathLst>
              <a:path w="50800" h="1143000">
                <a:moveTo>
                  <a:pt x="50800" y="0"/>
                </a:moveTo>
                <a:lnTo>
                  <a:pt x="50800" y="0"/>
                </a:lnTo>
                <a:lnTo>
                  <a:pt x="50800" y="1143000"/>
                </a:lnTo>
                <a:lnTo>
                  <a:pt x="50800" y="1143000"/>
                </a:lnTo>
                <a:cubicBezTo>
                  <a:pt x="22763" y="1143000"/>
                  <a:pt x="0" y="1120237"/>
                  <a:pt x="0" y="1092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1" name="Shape 9"/>
          <p:cNvSpPr/>
          <p:nvPr/>
        </p:nvSpPr>
        <p:spPr>
          <a:xfrm>
            <a:off x="1063625" y="3403439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2" name="Text 10"/>
          <p:cNvSpPr/>
          <p:nvPr/>
        </p:nvSpPr>
        <p:spPr>
          <a:xfrm>
            <a:off x="1435100" y="3352639"/>
            <a:ext cx="3771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数据量少、趋势简单、需强可解释性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809839"/>
            <a:ext cx="6604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指数平滑法、多元线性回归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7400" y="4444839"/>
            <a:ext cx="6934200" cy="1143000"/>
          </a:xfrm>
          <a:custGeom>
            <a:avLst/>
            <a:gdLst/>
            <a:ahLst/>
            <a:cxnLst/>
            <a:rect l="l" t="t" r="r" b="b"/>
            <a:pathLst>
              <a:path w="6934200" h="1143000">
                <a:moveTo>
                  <a:pt x="50800" y="0"/>
                </a:moveTo>
                <a:lnTo>
                  <a:pt x="6832599" y="0"/>
                </a:lnTo>
                <a:cubicBezTo>
                  <a:pt x="6888712" y="0"/>
                  <a:pt x="6934200" y="45488"/>
                  <a:pt x="6934200" y="101601"/>
                </a:cubicBezTo>
                <a:lnTo>
                  <a:pt x="6934200" y="1041399"/>
                </a:lnTo>
                <a:cubicBezTo>
                  <a:pt x="6934200" y="1097512"/>
                  <a:pt x="6888712" y="1143000"/>
                  <a:pt x="6832599" y="1143000"/>
                </a:cubicBezTo>
                <a:lnTo>
                  <a:pt x="50800" y="1143000"/>
                </a:lnTo>
                <a:cubicBezTo>
                  <a:pt x="22763" y="1143000"/>
                  <a:pt x="0" y="1120237"/>
                  <a:pt x="0" y="1092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87400" y="4444839"/>
            <a:ext cx="50800" cy="1143000"/>
          </a:xfrm>
          <a:custGeom>
            <a:avLst/>
            <a:gdLst/>
            <a:ahLst/>
            <a:cxnLst/>
            <a:rect l="l" t="t" r="r" b="b"/>
            <a:pathLst>
              <a:path w="50800" h="1143000">
                <a:moveTo>
                  <a:pt x="50800" y="0"/>
                </a:moveTo>
                <a:lnTo>
                  <a:pt x="50800" y="0"/>
                </a:lnTo>
                <a:lnTo>
                  <a:pt x="50800" y="1143000"/>
                </a:lnTo>
                <a:lnTo>
                  <a:pt x="50800" y="1143000"/>
                </a:lnTo>
                <a:cubicBezTo>
                  <a:pt x="22763" y="1143000"/>
                  <a:pt x="0" y="1120237"/>
                  <a:pt x="0" y="1092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16" name="Shape 14"/>
          <p:cNvSpPr/>
          <p:nvPr/>
        </p:nvSpPr>
        <p:spPr>
          <a:xfrm>
            <a:off x="1063625" y="4698839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63500" y="0"/>
                </a:moveTo>
                <a:cubicBezTo>
                  <a:pt x="72281" y="0"/>
                  <a:pt x="79375" y="7094"/>
                  <a:pt x="79375" y="15875"/>
                </a:cubicBezTo>
                <a:lnTo>
                  <a:pt x="79375" y="31750"/>
                </a:lnTo>
                <a:lnTo>
                  <a:pt x="142875" y="31750"/>
                </a:lnTo>
                <a:lnTo>
                  <a:pt x="142875" y="15875"/>
                </a:lnTo>
                <a:cubicBezTo>
                  <a:pt x="142875" y="7094"/>
                  <a:pt x="149969" y="0"/>
                  <a:pt x="158750" y="0"/>
                </a:cubicBezTo>
                <a:cubicBezTo>
                  <a:pt x="167531" y="0"/>
                  <a:pt x="174625" y="7094"/>
                  <a:pt x="174625" y="15875"/>
                </a:cubicBezTo>
                <a:lnTo>
                  <a:pt x="174625" y="31750"/>
                </a:lnTo>
                <a:lnTo>
                  <a:pt x="190500" y="31750"/>
                </a:lnTo>
                <a:cubicBezTo>
                  <a:pt x="208012" y="31750"/>
                  <a:pt x="222250" y="45988"/>
                  <a:pt x="222250" y="63500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63500"/>
                </a:lnTo>
                <a:cubicBezTo>
                  <a:pt x="0" y="45988"/>
                  <a:pt x="14238" y="31750"/>
                  <a:pt x="31750" y="31750"/>
                </a:cubicBezTo>
                <a:lnTo>
                  <a:pt x="47625" y="31750"/>
                </a:lnTo>
                <a:lnTo>
                  <a:pt x="47625" y="15875"/>
                </a:lnTo>
                <a:cubicBezTo>
                  <a:pt x="47625" y="7094"/>
                  <a:pt x="54719" y="0"/>
                  <a:pt x="63500" y="0"/>
                </a:cubicBezTo>
                <a:close/>
                <a:moveTo>
                  <a:pt x="31750" y="119063"/>
                </a:moveTo>
                <a:lnTo>
                  <a:pt x="31750" y="134938"/>
                </a:lnTo>
                <a:cubicBezTo>
                  <a:pt x="31750" y="139303"/>
                  <a:pt x="35322" y="142875"/>
                  <a:pt x="39688" y="142875"/>
                </a:cubicBezTo>
                <a:lnTo>
                  <a:pt x="55563" y="142875"/>
                </a:lnTo>
                <a:cubicBezTo>
                  <a:pt x="59928" y="142875"/>
                  <a:pt x="63500" y="139303"/>
                  <a:pt x="63500" y="134938"/>
                </a:cubicBezTo>
                <a:lnTo>
                  <a:pt x="63500" y="119063"/>
                </a:lnTo>
                <a:cubicBezTo>
                  <a:pt x="63500" y="114697"/>
                  <a:pt x="59928" y="111125"/>
                  <a:pt x="55563" y="111125"/>
                </a:cubicBezTo>
                <a:lnTo>
                  <a:pt x="39688" y="111125"/>
                </a:lnTo>
                <a:cubicBezTo>
                  <a:pt x="35322" y="111125"/>
                  <a:pt x="31750" y="114697"/>
                  <a:pt x="31750" y="119063"/>
                </a:cubicBezTo>
                <a:close/>
                <a:moveTo>
                  <a:pt x="95250" y="119063"/>
                </a:moveTo>
                <a:lnTo>
                  <a:pt x="95250" y="134938"/>
                </a:lnTo>
                <a:cubicBezTo>
                  <a:pt x="95250" y="139303"/>
                  <a:pt x="98822" y="142875"/>
                  <a:pt x="103188" y="142875"/>
                </a:cubicBezTo>
                <a:lnTo>
                  <a:pt x="119063" y="142875"/>
                </a:lnTo>
                <a:cubicBezTo>
                  <a:pt x="123428" y="142875"/>
                  <a:pt x="127000" y="139303"/>
                  <a:pt x="127000" y="134938"/>
                </a:cubicBezTo>
                <a:lnTo>
                  <a:pt x="127000" y="119063"/>
                </a:lnTo>
                <a:cubicBezTo>
                  <a:pt x="127000" y="114697"/>
                  <a:pt x="123428" y="111125"/>
                  <a:pt x="119063" y="111125"/>
                </a:cubicBezTo>
                <a:lnTo>
                  <a:pt x="103188" y="111125"/>
                </a:lnTo>
                <a:cubicBezTo>
                  <a:pt x="98822" y="111125"/>
                  <a:pt x="95250" y="114697"/>
                  <a:pt x="95250" y="119063"/>
                </a:cubicBezTo>
                <a:close/>
                <a:moveTo>
                  <a:pt x="166688" y="111125"/>
                </a:moveTo>
                <a:cubicBezTo>
                  <a:pt x="162322" y="111125"/>
                  <a:pt x="158750" y="114697"/>
                  <a:pt x="158750" y="119063"/>
                </a:cubicBezTo>
                <a:lnTo>
                  <a:pt x="158750" y="134938"/>
                </a:lnTo>
                <a:cubicBezTo>
                  <a:pt x="158750" y="139303"/>
                  <a:pt x="162322" y="142875"/>
                  <a:pt x="166688" y="142875"/>
                </a:cubicBezTo>
                <a:lnTo>
                  <a:pt x="182563" y="142875"/>
                </a:lnTo>
                <a:cubicBezTo>
                  <a:pt x="186928" y="142875"/>
                  <a:pt x="190500" y="139303"/>
                  <a:pt x="190500" y="134938"/>
                </a:cubicBezTo>
                <a:lnTo>
                  <a:pt x="190500" y="119063"/>
                </a:lnTo>
                <a:cubicBezTo>
                  <a:pt x="190500" y="114697"/>
                  <a:pt x="186928" y="111125"/>
                  <a:pt x="182563" y="111125"/>
                </a:cubicBezTo>
                <a:lnTo>
                  <a:pt x="166688" y="111125"/>
                </a:lnTo>
                <a:close/>
                <a:moveTo>
                  <a:pt x="31750" y="182563"/>
                </a:move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55563" y="206375"/>
                </a:lnTo>
                <a:cubicBezTo>
                  <a:pt x="59928" y="206375"/>
                  <a:pt x="63500" y="202803"/>
                  <a:pt x="63500" y="198438"/>
                </a:cubicBezTo>
                <a:lnTo>
                  <a:pt x="63500" y="182563"/>
                </a:lnTo>
                <a:cubicBezTo>
                  <a:pt x="63500" y="178197"/>
                  <a:pt x="59928" y="174625"/>
                  <a:pt x="55563" y="174625"/>
                </a:cubicBezTo>
                <a:lnTo>
                  <a:pt x="39688" y="174625"/>
                </a:lnTo>
                <a:cubicBezTo>
                  <a:pt x="35322" y="174625"/>
                  <a:pt x="31750" y="178197"/>
                  <a:pt x="31750" y="182563"/>
                </a:cubicBezTo>
                <a:close/>
                <a:moveTo>
                  <a:pt x="103188" y="174625"/>
                </a:moveTo>
                <a:cubicBezTo>
                  <a:pt x="98822" y="174625"/>
                  <a:pt x="95250" y="178197"/>
                  <a:pt x="95250" y="182563"/>
                </a:cubicBezTo>
                <a:lnTo>
                  <a:pt x="95250" y="198438"/>
                </a:lnTo>
                <a:cubicBezTo>
                  <a:pt x="95250" y="202803"/>
                  <a:pt x="98822" y="206375"/>
                  <a:pt x="103188" y="206375"/>
                </a:cubicBezTo>
                <a:lnTo>
                  <a:pt x="119063" y="206375"/>
                </a:lnTo>
                <a:cubicBezTo>
                  <a:pt x="123428" y="206375"/>
                  <a:pt x="127000" y="202803"/>
                  <a:pt x="127000" y="198438"/>
                </a:cubicBezTo>
                <a:lnTo>
                  <a:pt x="127000" y="182563"/>
                </a:lnTo>
                <a:cubicBezTo>
                  <a:pt x="127000" y="178197"/>
                  <a:pt x="123428" y="174625"/>
                  <a:pt x="119063" y="174625"/>
                </a:cubicBezTo>
                <a:lnTo>
                  <a:pt x="103188" y="174625"/>
                </a:lnTo>
                <a:close/>
                <a:moveTo>
                  <a:pt x="158750" y="182563"/>
                </a:moveTo>
                <a:lnTo>
                  <a:pt x="158750" y="198438"/>
                </a:lnTo>
                <a:cubicBezTo>
                  <a:pt x="158750" y="202803"/>
                  <a:pt x="162322" y="206375"/>
                  <a:pt x="166688" y="206375"/>
                </a:cubicBezTo>
                <a:lnTo>
                  <a:pt x="182563" y="206375"/>
                </a:lnTo>
                <a:cubicBezTo>
                  <a:pt x="186928" y="206375"/>
                  <a:pt x="190500" y="202803"/>
                  <a:pt x="190500" y="198438"/>
                </a:cubicBezTo>
                <a:lnTo>
                  <a:pt x="190500" y="182563"/>
                </a:lnTo>
                <a:cubicBezTo>
                  <a:pt x="190500" y="178197"/>
                  <a:pt x="186928" y="174625"/>
                  <a:pt x="182563" y="174625"/>
                </a:cubicBezTo>
                <a:lnTo>
                  <a:pt x="166688" y="174625"/>
                </a:lnTo>
                <a:cubicBezTo>
                  <a:pt x="162322" y="174625"/>
                  <a:pt x="158750" y="178197"/>
                  <a:pt x="158750" y="182563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17" name="Text 15"/>
          <p:cNvSpPr/>
          <p:nvPr/>
        </p:nvSpPr>
        <p:spPr>
          <a:xfrm>
            <a:off x="1435100" y="4648039"/>
            <a:ext cx="1714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数据含季节波动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5105239"/>
            <a:ext cx="6604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三次指数平滑（Holt-Winters）或SARIMA模型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7400" y="5740239"/>
            <a:ext cx="6934200" cy="1143000"/>
          </a:xfrm>
          <a:custGeom>
            <a:avLst/>
            <a:gdLst/>
            <a:ahLst/>
            <a:cxnLst/>
            <a:rect l="l" t="t" r="r" b="b"/>
            <a:pathLst>
              <a:path w="6934200" h="1143000">
                <a:moveTo>
                  <a:pt x="50800" y="0"/>
                </a:moveTo>
                <a:lnTo>
                  <a:pt x="6832599" y="0"/>
                </a:lnTo>
                <a:cubicBezTo>
                  <a:pt x="6888712" y="0"/>
                  <a:pt x="6934200" y="45488"/>
                  <a:pt x="6934200" y="101601"/>
                </a:cubicBezTo>
                <a:lnTo>
                  <a:pt x="6934200" y="1041399"/>
                </a:lnTo>
                <a:cubicBezTo>
                  <a:pt x="6934200" y="1097512"/>
                  <a:pt x="6888712" y="1143000"/>
                  <a:pt x="6832599" y="1143000"/>
                </a:cubicBezTo>
                <a:lnTo>
                  <a:pt x="50800" y="1143000"/>
                </a:lnTo>
                <a:cubicBezTo>
                  <a:pt x="22763" y="1143000"/>
                  <a:pt x="0" y="1120237"/>
                  <a:pt x="0" y="1092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787400" y="5740239"/>
            <a:ext cx="50800" cy="1143000"/>
          </a:xfrm>
          <a:custGeom>
            <a:avLst/>
            <a:gdLst/>
            <a:ahLst/>
            <a:cxnLst/>
            <a:rect l="l" t="t" r="r" b="b"/>
            <a:pathLst>
              <a:path w="50800" h="1143000">
                <a:moveTo>
                  <a:pt x="50800" y="0"/>
                </a:moveTo>
                <a:lnTo>
                  <a:pt x="50800" y="0"/>
                </a:lnTo>
                <a:lnTo>
                  <a:pt x="50800" y="1143000"/>
                </a:lnTo>
                <a:lnTo>
                  <a:pt x="50800" y="1143000"/>
                </a:lnTo>
                <a:cubicBezTo>
                  <a:pt x="22763" y="1143000"/>
                  <a:pt x="0" y="1120237"/>
                  <a:pt x="0" y="1092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21" name="Shape 19"/>
          <p:cNvSpPr/>
          <p:nvPr/>
        </p:nvSpPr>
        <p:spPr>
          <a:xfrm>
            <a:off x="1031875" y="5994239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08111" y="47625"/>
                </a:moveTo>
                <a:cubicBezTo>
                  <a:pt x="199876" y="47625"/>
                  <a:pt x="191889" y="49857"/>
                  <a:pt x="184894" y="53925"/>
                </a:cubicBezTo>
                <a:cubicBezTo>
                  <a:pt x="177056" y="45988"/>
                  <a:pt x="167928" y="39340"/>
                  <a:pt x="157857" y="34330"/>
                </a:cubicBezTo>
                <a:cubicBezTo>
                  <a:pt x="171847" y="22423"/>
                  <a:pt x="189657" y="15875"/>
                  <a:pt x="208111" y="15875"/>
                </a:cubicBezTo>
                <a:cubicBezTo>
                  <a:pt x="250974" y="15875"/>
                  <a:pt x="285750" y="50602"/>
                  <a:pt x="285750" y="93514"/>
                </a:cubicBezTo>
                <a:cubicBezTo>
                  <a:pt x="285750" y="114102"/>
                  <a:pt x="277564" y="133846"/>
                  <a:pt x="263029" y="148382"/>
                </a:cubicBezTo>
                <a:lnTo>
                  <a:pt x="227757" y="183654"/>
                </a:lnTo>
                <a:cubicBezTo>
                  <a:pt x="213221" y="198189"/>
                  <a:pt x="193477" y="206375"/>
                  <a:pt x="172889" y="206375"/>
                </a:cubicBezTo>
                <a:cubicBezTo>
                  <a:pt x="130026" y="206375"/>
                  <a:pt x="95250" y="171648"/>
                  <a:pt x="95250" y="128736"/>
                </a:cubicBezTo>
                <a:cubicBezTo>
                  <a:pt x="95250" y="127992"/>
                  <a:pt x="95250" y="127248"/>
                  <a:pt x="95300" y="126504"/>
                </a:cubicBezTo>
                <a:cubicBezTo>
                  <a:pt x="95548" y="117723"/>
                  <a:pt x="102840" y="110827"/>
                  <a:pt x="111621" y="111075"/>
                </a:cubicBezTo>
                <a:cubicBezTo>
                  <a:pt x="120402" y="111323"/>
                  <a:pt x="127298" y="118616"/>
                  <a:pt x="127050" y="127397"/>
                </a:cubicBezTo>
                <a:cubicBezTo>
                  <a:pt x="127050" y="127843"/>
                  <a:pt x="127050" y="128290"/>
                  <a:pt x="127050" y="128687"/>
                </a:cubicBezTo>
                <a:cubicBezTo>
                  <a:pt x="127050" y="154037"/>
                  <a:pt x="147588" y="174575"/>
                  <a:pt x="172938" y="174575"/>
                </a:cubicBezTo>
                <a:cubicBezTo>
                  <a:pt x="185093" y="174575"/>
                  <a:pt x="196751" y="169763"/>
                  <a:pt x="205383" y="161131"/>
                </a:cubicBezTo>
                <a:lnTo>
                  <a:pt x="240655" y="125859"/>
                </a:lnTo>
                <a:cubicBezTo>
                  <a:pt x="249237" y="117277"/>
                  <a:pt x="254099" y="105569"/>
                  <a:pt x="254099" y="93414"/>
                </a:cubicBezTo>
                <a:cubicBezTo>
                  <a:pt x="254099" y="68064"/>
                  <a:pt x="233561" y="47526"/>
                  <a:pt x="208211" y="47526"/>
                </a:cubicBezTo>
                <a:close/>
                <a:moveTo>
                  <a:pt x="136525" y="85973"/>
                </a:moveTo>
                <a:cubicBezTo>
                  <a:pt x="135582" y="85576"/>
                  <a:pt x="134640" y="85030"/>
                  <a:pt x="133796" y="84435"/>
                </a:cubicBezTo>
                <a:cubicBezTo>
                  <a:pt x="127546" y="81211"/>
                  <a:pt x="120402" y="79375"/>
                  <a:pt x="112911" y="79375"/>
                </a:cubicBezTo>
                <a:cubicBezTo>
                  <a:pt x="100757" y="79375"/>
                  <a:pt x="89098" y="84187"/>
                  <a:pt x="80466" y="92819"/>
                </a:cubicBezTo>
                <a:lnTo>
                  <a:pt x="45194" y="128091"/>
                </a:lnTo>
                <a:cubicBezTo>
                  <a:pt x="36612" y="136674"/>
                  <a:pt x="31750" y="148382"/>
                  <a:pt x="31750" y="160536"/>
                </a:cubicBezTo>
                <a:cubicBezTo>
                  <a:pt x="31750" y="185886"/>
                  <a:pt x="52288" y="206425"/>
                  <a:pt x="77639" y="206425"/>
                </a:cubicBezTo>
                <a:cubicBezTo>
                  <a:pt x="85824" y="206425"/>
                  <a:pt x="93811" y="204242"/>
                  <a:pt x="100806" y="200174"/>
                </a:cubicBezTo>
                <a:cubicBezTo>
                  <a:pt x="108645" y="208111"/>
                  <a:pt x="117773" y="214759"/>
                  <a:pt x="127893" y="219770"/>
                </a:cubicBezTo>
                <a:cubicBezTo>
                  <a:pt x="113903" y="231626"/>
                  <a:pt x="96143" y="238224"/>
                  <a:pt x="77639" y="238224"/>
                </a:cubicBezTo>
                <a:cubicBezTo>
                  <a:pt x="34776" y="238224"/>
                  <a:pt x="0" y="203498"/>
                  <a:pt x="0" y="160586"/>
                </a:cubicBezTo>
                <a:cubicBezTo>
                  <a:pt x="0" y="139998"/>
                  <a:pt x="8186" y="120253"/>
                  <a:pt x="22721" y="105718"/>
                </a:cubicBezTo>
                <a:lnTo>
                  <a:pt x="57993" y="70445"/>
                </a:lnTo>
                <a:cubicBezTo>
                  <a:pt x="72529" y="55910"/>
                  <a:pt x="92273" y="47724"/>
                  <a:pt x="112861" y="47724"/>
                </a:cubicBezTo>
                <a:cubicBezTo>
                  <a:pt x="155823" y="47724"/>
                  <a:pt x="190500" y="82748"/>
                  <a:pt x="190500" y="125561"/>
                </a:cubicBezTo>
                <a:cubicBezTo>
                  <a:pt x="190500" y="126206"/>
                  <a:pt x="190500" y="126851"/>
                  <a:pt x="190500" y="127496"/>
                </a:cubicBezTo>
                <a:cubicBezTo>
                  <a:pt x="190302" y="136277"/>
                  <a:pt x="183009" y="143173"/>
                  <a:pt x="174228" y="142974"/>
                </a:cubicBezTo>
                <a:cubicBezTo>
                  <a:pt x="165447" y="142776"/>
                  <a:pt x="158552" y="135483"/>
                  <a:pt x="158750" y="126702"/>
                </a:cubicBezTo>
                <a:cubicBezTo>
                  <a:pt x="158750" y="126305"/>
                  <a:pt x="158750" y="125958"/>
                  <a:pt x="158750" y="125561"/>
                </a:cubicBezTo>
                <a:cubicBezTo>
                  <a:pt x="158750" y="108843"/>
                  <a:pt x="149820" y="94159"/>
                  <a:pt x="136525" y="86072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22" name="Text 20"/>
          <p:cNvSpPr/>
          <p:nvPr/>
        </p:nvSpPr>
        <p:spPr>
          <a:xfrm>
            <a:off x="1435100" y="5943439"/>
            <a:ext cx="2171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影响因素明确可量化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6400639"/>
            <a:ext cx="6604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回归分析，线性不成立则换非线性回归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7400" y="7035639"/>
            <a:ext cx="6934200" cy="1143000"/>
          </a:xfrm>
          <a:custGeom>
            <a:avLst/>
            <a:gdLst/>
            <a:ahLst/>
            <a:cxnLst/>
            <a:rect l="l" t="t" r="r" b="b"/>
            <a:pathLst>
              <a:path w="6934200" h="1143000">
                <a:moveTo>
                  <a:pt x="50800" y="0"/>
                </a:moveTo>
                <a:lnTo>
                  <a:pt x="6832599" y="0"/>
                </a:lnTo>
                <a:cubicBezTo>
                  <a:pt x="6888712" y="0"/>
                  <a:pt x="6934200" y="45488"/>
                  <a:pt x="6934200" y="101601"/>
                </a:cubicBezTo>
                <a:lnTo>
                  <a:pt x="6934200" y="1041399"/>
                </a:lnTo>
                <a:cubicBezTo>
                  <a:pt x="6934200" y="1097512"/>
                  <a:pt x="6888712" y="1143000"/>
                  <a:pt x="6832599" y="1143000"/>
                </a:cubicBezTo>
                <a:lnTo>
                  <a:pt x="50800" y="1143000"/>
                </a:lnTo>
                <a:cubicBezTo>
                  <a:pt x="22763" y="1143000"/>
                  <a:pt x="0" y="1120237"/>
                  <a:pt x="0" y="1092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>
                  <a:alpha val="20000"/>
                </a:srgbClr>
              </a:gs>
              <a:gs pos="100000">
                <a:srgbClr val="212C42">
                  <a:alpha val="20000"/>
                </a:srgbClr>
              </a:gs>
            </a:gsLst>
            <a:lin ang="0" scaled="1"/>
          </a:gradFill>
        </p:spPr>
      </p:sp>
      <p:sp>
        <p:nvSpPr>
          <p:cNvPr id="25" name="Shape 23"/>
          <p:cNvSpPr/>
          <p:nvPr/>
        </p:nvSpPr>
        <p:spPr>
          <a:xfrm>
            <a:off x="787400" y="7035639"/>
            <a:ext cx="50800" cy="1143000"/>
          </a:xfrm>
          <a:custGeom>
            <a:avLst/>
            <a:gdLst/>
            <a:ahLst/>
            <a:cxnLst/>
            <a:rect l="l" t="t" r="r" b="b"/>
            <a:pathLst>
              <a:path w="50800" h="1143000">
                <a:moveTo>
                  <a:pt x="50800" y="0"/>
                </a:moveTo>
                <a:lnTo>
                  <a:pt x="50800" y="0"/>
                </a:lnTo>
                <a:lnTo>
                  <a:pt x="50800" y="1143000"/>
                </a:lnTo>
                <a:lnTo>
                  <a:pt x="50800" y="1143000"/>
                </a:lnTo>
                <a:cubicBezTo>
                  <a:pt x="22763" y="1143000"/>
                  <a:pt x="0" y="1120237"/>
                  <a:pt x="0" y="1092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6" name="Shape 24"/>
          <p:cNvSpPr/>
          <p:nvPr/>
        </p:nvSpPr>
        <p:spPr>
          <a:xfrm>
            <a:off x="1063625" y="7289639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7" name="Text 25"/>
          <p:cNvSpPr/>
          <p:nvPr/>
        </p:nvSpPr>
        <p:spPr>
          <a:xfrm>
            <a:off x="1435100" y="7238839"/>
            <a:ext cx="3086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数据量大、维度高、关系复杂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7696039"/>
            <a:ext cx="6604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随机森林、XGBoost、神经网络等机器学习方法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80400" y="1981200"/>
            <a:ext cx="7467600" cy="6654800"/>
          </a:xfrm>
          <a:custGeom>
            <a:avLst/>
            <a:gdLst/>
            <a:ahLst/>
            <a:cxnLst/>
            <a:rect l="l" t="t" r="r" b="b"/>
            <a:pathLst>
              <a:path w="7467600" h="6654800">
                <a:moveTo>
                  <a:pt x="152395" y="0"/>
                </a:moveTo>
                <a:lnTo>
                  <a:pt x="7315205" y="0"/>
                </a:lnTo>
                <a:cubicBezTo>
                  <a:pt x="7399370" y="0"/>
                  <a:pt x="7467600" y="68230"/>
                  <a:pt x="7467600" y="152395"/>
                </a:cubicBezTo>
                <a:lnTo>
                  <a:pt x="7467600" y="6502405"/>
                </a:lnTo>
                <a:cubicBezTo>
                  <a:pt x="7467600" y="6586570"/>
                  <a:pt x="7399370" y="6654800"/>
                  <a:pt x="7315205" y="6654800"/>
                </a:cubicBezTo>
                <a:lnTo>
                  <a:pt x="152395" y="6654800"/>
                </a:lnTo>
                <a:cubicBezTo>
                  <a:pt x="68230" y="6654800"/>
                  <a:pt x="0" y="6586570"/>
                  <a:pt x="0" y="6502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2700000" scaled="1"/>
          </a:gra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72500" y="228583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025" y="209550"/>
                </a:moveTo>
                <a:cubicBezTo>
                  <a:pt x="257889" y="209550"/>
                  <a:pt x="304800" y="162639"/>
                  <a:pt x="304800" y="104775"/>
                </a:cubicBezTo>
                <a:cubicBezTo>
                  <a:pt x="304800" y="46911"/>
                  <a:pt x="257889" y="0"/>
                  <a:pt x="200025" y="0"/>
                </a:cubicBezTo>
                <a:cubicBezTo>
                  <a:pt x="142161" y="0"/>
                  <a:pt x="95250" y="46911"/>
                  <a:pt x="95250" y="104775"/>
                </a:cubicBezTo>
                <a:cubicBezTo>
                  <a:pt x="95250" y="115907"/>
                  <a:pt x="96976" y="126683"/>
                  <a:pt x="100191" y="136743"/>
                </a:cubicBezTo>
                <a:lnTo>
                  <a:pt x="4167" y="232767"/>
                </a:lnTo>
                <a:cubicBezTo>
                  <a:pt x="1488" y="235446"/>
                  <a:pt x="0" y="239078"/>
                  <a:pt x="0" y="242888"/>
                </a:cubicBezTo>
                <a:lnTo>
                  <a:pt x="0" y="290513"/>
                </a:lnTo>
                <a:cubicBezTo>
                  <a:pt x="0" y="298430"/>
                  <a:pt x="6370" y="304800"/>
                  <a:pt x="14288" y="304800"/>
                </a:cubicBezTo>
                <a:lnTo>
                  <a:pt x="61912" y="304800"/>
                </a:lnTo>
                <a:cubicBezTo>
                  <a:pt x="69830" y="304800"/>
                  <a:pt x="76200" y="298430"/>
                  <a:pt x="76200" y="290513"/>
                </a:cubicBezTo>
                <a:lnTo>
                  <a:pt x="76200" y="266700"/>
                </a:lnTo>
                <a:lnTo>
                  <a:pt x="100013" y="266700"/>
                </a:lnTo>
                <a:cubicBezTo>
                  <a:pt x="107930" y="266700"/>
                  <a:pt x="114300" y="260330"/>
                  <a:pt x="114300" y="252413"/>
                </a:cubicBezTo>
                <a:lnTo>
                  <a:pt x="114300" y="228600"/>
                </a:lnTo>
                <a:lnTo>
                  <a:pt x="138113" y="228600"/>
                </a:lnTo>
                <a:cubicBezTo>
                  <a:pt x="141923" y="228600"/>
                  <a:pt x="145554" y="227112"/>
                  <a:pt x="148233" y="224433"/>
                </a:cubicBezTo>
                <a:lnTo>
                  <a:pt x="168057" y="204609"/>
                </a:lnTo>
                <a:cubicBezTo>
                  <a:pt x="178117" y="207824"/>
                  <a:pt x="188893" y="209550"/>
                  <a:pt x="200025" y="209550"/>
                </a:cubicBezTo>
                <a:close/>
                <a:moveTo>
                  <a:pt x="223838" y="57150"/>
                </a:moveTo>
                <a:cubicBezTo>
                  <a:pt x="236980" y="57150"/>
                  <a:pt x="247650" y="67820"/>
                  <a:pt x="247650" y="80962"/>
                </a:cubicBezTo>
                <a:cubicBezTo>
                  <a:pt x="247650" y="94105"/>
                  <a:pt x="236980" y="104775"/>
                  <a:pt x="223838" y="104775"/>
                </a:cubicBezTo>
                <a:cubicBezTo>
                  <a:pt x="210695" y="104775"/>
                  <a:pt x="200025" y="94105"/>
                  <a:pt x="200025" y="80962"/>
                </a:cubicBezTo>
                <a:cubicBezTo>
                  <a:pt x="200025" y="67820"/>
                  <a:pt x="210695" y="57150"/>
                  <a:pt x="223838" y="5715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1" name="Text 29"/>
          <p:cNvSpPr/>
          <p:nvPr/>
        </p:nvSpPr>
        <p:spPr>
          <a:xfrm>
            <a:off x="8915400" y="2235200"/>
            <a:ext cx="6731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建模关键要点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39480" y="2849719"/>
            <a:ext cx="6944360" cy="1153160"/>
          </a:xfrm>
          <a:custGeom>
            <a:avLst/>
            <a:gdLst/>
            <a:ahLst/>
            <a:cxnLst/>
            <a:rect l="l" t="t" r="r" b="b"/>
            <a:pathLst>
              <a:path w="6944360" h="1153160">
                <a:moveTo>
                  <a:pt x="101605" y="0"/>
                </a:moveTo>
                <a:lnTo>
                  <a:pt x="6842755" y="0"/>
                </a:lnTo>
                <a:cubicBezTo>
                  <a:pt x="6898870" y="0"/>
                  <a:pt x="6944360" y="45490"/>
                  <a:pt x="6944360" y="101605"/>
                </a:cubicBezTo>
                <a:lnTo>
                  <a:pt x="6944360" y="1051555"/>
                </a:lnTo>
                <a:cubicBezTo>
                  <a:pt x="6944360" y="1107670"/>
                  <a:pt x="6898870" y="1153160"/>
                  <a:pt x="6842755" y="1153160"/>
                </a:cubicBezTo>
                <a:lnTo>
                  <a:pt x="101605" y="1153160"/>
                </a:lnTo>
                <a:cubicBezTo>
                  <a:pt x="45528" y="1153160"/>
                  <a:pt x="0" y="1107632"/>
                  <a:pt x="0" y="105155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63635" y="3108802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81087" y="27087"/>
                </a:moveTo>
                <a:cubicBezTo>
                  <a:pt x="287288" y="20886"/>
                  <a:pt x="287288" y="10815"/>
                  <a:pt x="281087" y="4614"/>
                </a:cubicBezTo>
                <a:cubicBezTo>
                  <a:pt x="274886" y="-1587"/>
                  <a:pt x="264815" y="-1587"/>
                  <a:pt x="258614" y="4614"/>
                </a:cubicBezTo>
                <a:lnTo>
                  <a:pt x="163364" y="99864"/>
                </a:lnTo>
                <a:lnTo>
                  <a:pt x="146149" y="82649"/>
                </a:lnTo>
                <a:cubicBezTo>
                  <a:pt x="144066" y="80566"/>
                  <a:pt x="141188" y="79375"/>
                  <a:pt x="138212" y="79375"/>
                </a:cubicBezTo>
                <a:cubicBezTo>
                  <a:pt x="132011" y="79375"/>
                  <a:pt x="127000" y="84386"/>
                  <a:pt x="127000" y="90587"/>
                </a:cubicBezTo>
                <a:lnTo>
                  <a:pt x="127000" y="105023"/>
                </a:lnTo>
                <a:lnTo>
                  <a:pt x="180727" y="158750"/>
                </a:lnTo>
                <a:lnTo>
                  <a:pt x="195163" y="158750"/>
                </a:lnTo>
                <a:cubicBezTo>
                  <a:pt x="201364" y="158750"/>
                  <a:pt x="206375" y="153739"/>
                  <a:pt x="206375" y="147538"/>
                </a:cubicBezTo>
                <a:cubicBezTo>
                  <a:pt x="206375" y="144562"/>
                  <a:pt x="205184" y="141684"/>
                  <a:pt x="203101" y="139601"/>
                </a:cubicBezTo>
                <a:lnTo>
                  <a:pt x="185886" y="122386"/>
                </a:lnTo>
                <a:lnTo>
                  <a:pt x="281136" y="27136"/>
                </a:lnTo>
                <a:close/>
                <a:moveTo>
                  <a:pt x="169218" y="175320"/>
                </a:moveTo>
                <a:lnTo>
                  <a:pt x="110430" y="116532"/>
                </a:lnTo>
                <a:cubicBezTo>
                  <a:pt x="89247" y="114697"/>
                  <a:pt x="68163" y="122337"/>
                  <a:pt x="52983" y="137517"/>
                </a:cubicBezTo>
                <a:lnTo>
                  <a:pt x="49014" y="141486"/>
                </a:lnTo>
                <a:cubicBezTo>
                  <a:pt x="37951" y="152549"/>
                  <a:pt x="31750" y="167531"/>
                  <a:pt x="31750" y="183158"/>
                </a:cubicBezTo>
                <a:cubicBezTo>
                  <a:pt x="31750" y="186531"/>
                  <a:pt x="35272" y="188714"/>
                  <a:pt x="38298" y="187226"/>
                </a:cubicBezTo>
                <a:lnTo>
                  <a:pt x="63649" y="174575"/>
                </a:lnTo>
                <a:cubicBezTo>
                  <a:pt x="66129" y="173335"/>
                  <a:pt x="68362" y="176609"/>
                  <a:pt x="66328" y="178495"/>
                </a:cubicBezTo>
                <a:lnTo>
                  <a:pt x="3621" y="234851"/>
                </a:lnTo>
                <a:cubicBezTo>
                  <a:pt x="1339" y="236934"/>
                  <a:pt x="0" y="239911"/>
                  <a:pt x="0" y="243036"/>
                </a:cubicBezTo>
                <a:cubicBezTo>
                  <a:pt x="0" y="249089"/>
                  <a:pt x="4911" y="254000"/>
                  <a:pt x="10964" y="254000"/>
                </a:cubicBezTo>
                <a:lnTo>
                  <a:pt x="96937" y="254000"/>
                </a:lnTo>
                <a:cubicBezTo>
                  <a:pt x="116185" y="254000"/>
                  <a:pt x="134590" y="246360"/>
                  <a:pt x="148233" y="232767"/>
                </a:cubicBezTo>
                <a:cubicBezTo>
                  <a:pt x="163413" y="217587"/>
                  <a:pt x="171004" y="196503"/>
                  <a:pt x="169218" y="17532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4" name="Text 32"/>
          <p:cNvSpPr/>
          <p:nvPr/>
        </p:nvSpPr>
        <p:spPr>
          <a:xfrm>
            <a:off x="9166860" y="3058002"/>
            <a:ext cx="1257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数据预处理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47760" y="3515202"/>
            <a:ext cx="66294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缺失值处理、异常值检测、数据标准化/归一化、特征工程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39480" y="4165440"/>
            <a:ext cx="6944360" cy="1153160"/>
          </a:xfrm>
          <a:custGeom>
            <a:avLst/>
            <a:gdLst/>
            <a:ahLst/>
            <a:cxnLst/>
            <a:rect l="l" t="t" r="r" b="b"/>
            <a:pathLst>
              <a:path w="6944360" h="1153160">
                <a:moveTo>
                  <a:pt x="101605" y="0"/>
                </a:moveTo>
                <a:lnTo>
                  <a:pt x="6842755" y="0"/>
                </a:lnTo>
                <a:cubicBezTo>
                  <a:pt x="6898870" y="0"/>
                  <a:pt x="6944360" y="45490"/>
                  <a:pt x="6944360" y="101605"/>
                </a:cubicBezTo>
                <a:lnTo>
                  <a:pt x="6944360" y="1051555"/>
                </a:lnTo>
                <a:cubicBezTo>
                  <a:pt x="6944360" y="1107670"/>
                  <a:pt x="6898870" y="1153160"/>
                  <a:pt x="6842755" y="1153160"/>
                </a:cubicBezTo>
                <a:lnTo>
                  <a:pt x="101605" y="1153160"/>
                </a:lnTo>
                <a:cubicBezTo>
                  <a:pt x="45528" y="1153160"/>
                  <a:pt x="0" y="1107632"/>
                  <a:pt x="0" y="105155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9510" y="442452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127000"/>
                </a:moveTo>
                <a:lnTo>
                  <a:pt x="75654" y="146596"/>
                </a:lnTo>
                <a:cubicBezTo>
                  <a:pt x="69404" y="144165"/>
                  <a:pt x="62657" y="142875"/>
                  <a:pt x="55563" y="142875"/>
                </a:cubicBezTo>
                <a:cubicBezTo>
                  <a:pt x="24854" y="142875"/>
                  <a:pt x="0" y="167729"/>
                  <a:pt x="0" y="198438"/>
                </a:cubicBezTo>
                <a:cubicBezTo>
                  <a:pt x="0" y="229146"/>
                  <a:pt x="24854" y="254000"/>
                  <a:pt x="55563" y="254000"/>
                </a:cubicBezTo>
                <a:cubicBezTo>
                  <a:pt x="86271" y="254000"/>
                  <a:pt x="111125" y="229146"/>
                  <a:pt x="111125" y="198438"/>
                </a:cubicBezTo>
                <a:cubicBezTo>
                  <a:pt x="111125" y="191343"/>
                  <a:pt x="109786" y="184596"/>
                  <a:pt x="107404" y="178346"/>
                </a:cubicBezTo>
                <a:lnTo>
                  <a:pt x="247650" y="38100"/>
                </a:lnTo>
                <a:cubicBezTo>
                  <a:pt x="251172" y="34578"/>
                  <a:pt x="251172" y="28922"/>
                  <a:pt x="247650" y="25400"/>
                </a:cubicBezTo>
                <a:cubicBezTo>
                  <a:pt x="233611" y="11361"/>
                  <a:pt x="210889" y="11361"/>
                  <a:pt x="196850" y="25400"/>
                </a:cubicBezTo>
                <a:lnTo>
                  <a:pt x="127000" y="95250"/>
                </a:lnTo>
                <a:lnTo>
                  <a:pt x="107404" y="75654"/>
                </a:lnTo>
                <a:cubicBezTo>
                  <a:pt x="109835" y="69404"/>
                  <a:pt x="111125" y="62657"/>
                  <a:pt x="111125" y="55563"/>
                </a:cubicBezTo>
                <a:cubicBezTo>
                  <a:pt x="111125" y="24854"/>
                  <a:pt x="86271" y="0"/>
                  <a:pt x="55563" y="0"/>
                </a:cubicBezTo>
                <a:cubicBezTo>
                  <a:pt x="24854" y="0"/>
                  <a:pt x="0" y="24854"/>
                  <a:pt x="0" y="55563"/>
                </a:cubicBezTo>
                <a:cubicBezTo>
                  <a:pt x="0" y="86271"/>
                  <a:pt x="24854" y="111125"/>
                  <a:pt x="55563" y="111125"/>
                </a:cubicBezTo>
                <a:cubicBezTo>
                  <a:pt x="62657" y="111125"/>
                  <a:pt x="69404" y="109786"/>
                  <a:pt x="75654" y="107404"/>
                </a:cubicBezTo>
                <a:lnTo>
                  <a:pt x="95250" y="127000"/>
                </a:lnTo>
                <a:close/>
                <a:moveTo>
                  <a:pt x="143818" y="175568"/>
                </a:moveTo>
                <a:lnTo>
                  <a:pt x="196850" y="228600"/>
                </a:lnTo>
                <a:cubicBezTo>
                  <a:pt x="210889" y="242639"/>
                  <a:pt x="233611" y="242639"/>
                  <a:pt x="247650" y="228600"/>
                </a:cubicBezTo>
                <a:cubicBezTo>
                  <a:pt x="251172" y="225078"/>
                  <a:pt x="251172" y="219422"/>
                  <a:pt x="247650" y="215900"/>
                </a:cubicBezTo>
                <a:lnTo>
                  <a:pt x="175568" y="143818"/>
                </a:lnTo>
                <a:lnTo>
                  <a:pt x="143818" y="175568"/>
                </a:lnTo>
                <a:close/>
                <a:moveTo>
                  <a:pt x="31750" y="55563"/>
                </a:moveTo>
                <a:cubicBezTo>
                  <a:pt x="31750" y="42420"/>
                  <a:pt x="42420" y="31750"/>
                  <a:pt x="55562" y="31750"/>
                </a:cubicBezTo>
                <a:cubicBezTo>
                  <a:pt x="68705" y="31750"/>
                  <a:pt x="79375" y="42420"/>
                  <a:pt x="79375" y="55562"/>
                </a:cubicBezTo>
                <a:cubicBezTo>
                  <a:pt x="79375" y="68705"/>
                  <a:pt x="68705" y="79375"/>
                  <a:pt x="55563" y="79375"/>
                </a:cubicBezTo>
                <a:cubicBezTo>
                  <a:pt x="42420" y="79375"/>
                  <a:pt x="31750" y="68705"/>
                  <a:pt x="31750" y="55563"/>
                </a:cubicBezTo>
                <a:close/>
                <a:moveTo>
                  <a:pt x="55563" y="174625"/>
                </a:moveTo>
                <a:cubicBezTo>
                  <a:pt x="68705" y="174625"/>
                  <a:pt x="79375" y="185295"/>
                  <a:pt x="79375" y="198438"/>
                </a:cubicBezTo>
                <a:cubicBezTo>
                  <a:pt x="79375" y="211580"/>
                  <a:pt x="68705" y="222250"/>
                  <a:pt x="55563" y="222250"/>
                </a:cubicBezTo>
                <a:cubicBezTo>
                  <a:pt x="42420" y="222250"/>
                  <a:pt x="31750" y="211580"/>
                  <a:pt x="31750" y="198438"/>
                </a:cubicBezTo>
                <a:cubicBezTo>
                  <a:pt x="31750" y="185295"/>
                  <a:pt x="42420" y="174625"/>
                  <a:pt x="55562" y="174625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8" name="Text 36"/>
          <p:cNvSpPr/>
          <p:nvPr/>
        </p:nvSpPr>
        <p:spPr>
          <a:xfrm>
            <a:off x="9166860" y="4373724"/>
            <a:ext cx="2171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训练集与测试集划分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47760" y="4830924"/>
            <a:ext cx="66294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用训练集建模、测试集验证，避免"自己证明自己"的过拟合陷阱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539480" y="5481161"/>
            <a:ext cx="6944360" cy="1584960"/>
          </a:xfrm>
          <a:custGeom>
            <a:avLst/>
            <a:gdLst/>
            <a:ahLst/>
            <a:cxnLst/>
            <a:rect l="l" t="t" r="r" b="b"/>
            <a:pathLst>
              <a:path w="6944360" h="1584960">
                <a:moveTo>
                  <a:pt x="101596" y="0"/>
                </a:moveTo>
                <a:lnTo>
                  <a:pt x="6842764" y="0"/>
                </a:lnTo>
                <a:cubicBezTo>
                  <a:pt x="6898874" y="0"/>
                  <a:pt x="6944360" y="45486"/>
                  <a:pt x="6944360" y="101596"/>
                </a:cubicBezTo>
                <a:lnTo>
                  <a:pt x="6944360" y="1483364"/>
                </a:lnTo>
                <a:cubicBezTo>
                  <a:pt x="6944360" y="1539474"/>
                  <a:pt x="6898874" y="1584960"/>
                  <a:pt x="6842764" y="1584960"/>
                </a:cubicBezTo>
                <a:lnTo>
                  <a:pt x="101596" y="1584960"/>
                </a:lnTo>
                <a:cubicBezTo>
                  <a:pt x="45486" y="1584960"/>
                  <a:pt x="0" y="1539474"/>
                  <a:pt x="0" y="148336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79510" y="574023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63500" y="47625"/>
                </a:moveTo>
                <a:cubicBezTo>
                  <a:pt x="63500" y="38844"/>
                  <a:pt x="70594" y="31750"/>
                  <a:pt x="79375" y="31750"/>
                </a:cubicBezTo>
                <a:lnTo>
                  <a:pt x="174625" y="31750"/>
                </a:lnTo>
                <a:cubicBezTo>
                  <a:pt x="183406" y="31750"/>
                  <a:pt x="190500" y="38844"/>
                  <a:pt x="190500" y="47625"/>
                </a:cubicBezTo>
                <a:cubicBezTo>
                  <a:pt x="190500" y="56406"/>
                  <a:pt x="183406" y="63500"/>
                  <a:pt x="174625" y="63500"/>
                </a:cubicBezTo>
                <a:lnTo>
                  <a:pt x="79375" y="63500"/>
                </a:lnTo>
                <a:cubicBezTo>
                  <a:pt x="70594" y="63500"/>
                  <a:pt x="63500" y="56406"/>
                  <a:pt x="63500" y="47625"/>
                </a:cubicBezTo>
                <a:close/>
                <a:moveTo>
                  <a:pt x="79375" y="87313"/>
                </a:moveTo>
                <a:lnTo>
                  <a:pt x="142875" y="87313"/>
                </a:lnTo>
                <a:cubicBezTo>
                  <a:pt x="151656" y="87313"/>
                  <a:pt x="158750" y="94407"/>
                  <a:pt x="158750" y="103188"/>
                </a:cubicBezTo>
                <a:cubicBezTo>
                  <a:pt x="158750" y="111968"/>
                  <a:pt x="151656" y="119063"/>
                  <a:pt x="142875" y="119063"/>
                </a:cubicBezTo>
                <a:lnTo>
                  <a:pt x="79375" y="119063"/>
                </a:lnTo>
                <a:cubicBezTo>
                  <a:pt x="70594" y="119063"/>
                  <a:pt x="63500" y="111968"/>
                  <a:pt x="63500" y="103188"/>
                </a:cubicBezTo>
                <a:cubicBezTo>
                  <a:pt x="63500" y="94407"/>
                  <a:pt x="70594" y="87313"/>
                  <a:pt x="79375" y="87313"/>
                </a:cubicBezTo>
                <a:close/>
                <a:moveTo>
                  <a:pt x="79375" y="142875"/>
                </a:move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79375" y="174625"/>
                </a:lnTo>
                <a:cubicBezTo>
                  <a:pt x="70594" y="174625"/>
                  <a:pt x="63500" y="167531"/>
                  <a:pt x="63500" y="158750"/>
                </a:cubicBezTo>
                <a:cubicBezTo>
                  <a:pt x="63500" y="149969"/>
                  <a:pt x="70594" y="142875"/>
                  <a:pt x="79375" y="142875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2" name="Text 40"/>
          <p:cNvSpPr/>
          <p:nvPr/>
        </p:nvSpPr>
        <p:spPr>
          <a:xfrm>
            <a:off x="9166860" y="5689439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核心评价指标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747760" y="6146639"/>
            <a:ext cx="2108200" cy="711200"/>
          </a:xfrm>
          <a:custGeom>
            <a:avLst/>
            <a:gdLst/>
            <a:ahLst/>
            <a:cxnLst/>
            <a:rect l="l" t="t" r="r" b="b"/>
            <a:pathLst>
              <a:path w="2108200" h="711200">
                <a:moveTo>
                  <a:pt x="50801" y="0"/>
                </a:moveTo>
                <a:lnTo>
                  <a:pt x="2057399" y="0"/>
                </a:lnTo>
                <a:cubicBezTo>
                  <a:pt x="2085456" y="0"/>
                  <a:pt x="2108200" y="22744"/>
                  <a:pt x="2108200" y="50801"/>
                </a:cubicBezTo>
                <a:lnTo>
                  <a:pt x="2108200" y="660399"/>
                </a:lnTo>
                <a:cubicBezTo>
                  <a:pt x="2108200" y="688456"/>
                  <a:pt x="2085456" y="711200"/>
                  <a:pt x="2057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8804910" y="6248239"/>
            <a:ext cx="1993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MSE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04910" y="6502239"/>
            <a:ext cx="1993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均方误差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959147" y="6146639"/>
            <a:ext cx="2108200" cy="711200"/>
          </a:xfrm>
          <a:custGeom>
            <a:avLst/>
            <a:gdLst/>
            <a:ahLst/>
            <a:cxnLst/>
            <a:rect l="l" t="t" r="r" b="b"/>
            <a:pathLst>
              <a:path w="2108200" h="711200">
                <a:moveTo>
                  <a:pt x="50801" y="0"/>
                </a:moveTo>
                <a:lnTo>
                  <a:pt x="2057399" y="0"/>
                </a:lnTo>
                <a:cubicBezTo>
                  <a:pt x="2085456" y="0"/>
                  <a:pt x="2108200" y="22744"/>
                  <a:pt x="2108200" y="50801"/>
                </a:cubicBezTo>
                <a:lnTo>
                  <a:pt x="2108200" y="660399"/>
                </a:lnTo>
                <a:cubicBezTo>
                  <a:pt x="2108200" y="688456"/>
                  <a:pt x="2085456" y="711200"/>
                  <a:pt x="2057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11016297" y="6248239"/>
            <a:ext cx="1993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016297" y="6502239"/>
            <a:ext cx="1993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平均绝对误差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3170694" y="6146639"/>
            <a:ext cx="2108200" cy="711200"/>
          </a:xfrm>
          <a:custGeom>
            <a:avLst/>
            <a:gdLst/>
            <a:ahLst/>
            <a:cxnLst/>
            <a:rect l="l" t="t" r="r" b="b"/>
            <a:pathLst>
              <a:path w="2108200" h="711200">
                <a:moveTo>
                  <a:pt x="50801" y="0"/>
                </a:moveTo>
                <a:lnTo>
                  <a:pt x="2057399" y="0"/>
                </a:lnTo>
                <a:cubicBezTo>
                  <a:pt x="2085456" y="0"/>
                  <a:pt x="2108200" y="22744"/>
                  <a:pt x="2108200" y="50801"/>
                </a:cubicBezTo>
                <a:lnTo>
                  <a:pt x="2108200" y="660399"/>
                </a:lnTo>
                <a:cubicBezTo>
                  <a:pt x="2108200" y="688456"/>
                  <a:pt x="2085456" y="711200"/>
                  <a:pt x="2057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13227844" y="6248239"/>
            <a:ext cx="1993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R²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3227844" y="6502239"/>
            <a:ext cx="1993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决定系数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539480" y="7228682"/>
            <a:ext cx="6944360" cy="1153160"/>
          </a:xfrm>
          <a:custGeom>
            <a:avLst/>
            <a:gdLst/>
            <a:ahLst/>
            <a:cxnLst/>
            <a:rect l="l" t="t" r="r" b="b"/>
            <a:pathLst>
              <a:path w="6944360" h="1153160">
                <a:moveTo>
                  <a:pt x="101605" y="0"/>
                </a:moveTo>
                <a:lnTo>
                  <a:pt x="6842755" y="0"/>
                </a:lnTo>
                <a:cubicBezTo>
                  <a:pt x="6898870" y="0"/>
                  <a:pt x="6944360" y="45490"/>
                  <a:pt x="6944360" y="101605"/>
                </a:cubicBezTo>
                <a:lnTo>
                  <a:pt x="6944360" y="1051555"/>
                </a:lnTo>
                <a:cubicBezTo>
                  <a:pt x="6944360" y="1107670"/>
                  <a:pt x="6898870" y="1153160"/>
                  <a:pt x="6842755" y="1153160"/>
                </a:cubicBezTo>
                <a:lnTo>
                  <a:pt x="101605" y="1153160"/>
                </a:lnTo>
                <a:cubicBezTo>
                  <a:pt x="45528" y="1153160"/>
                  <a:pt x="0" y="1107632"/>
                  <a:pt x="0" y="105155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79510" y="748776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4" name="Text 52"/>
          <p:cNvSpPr/>
          <p:nvPr/>
        </p:nvSpPr>
        <p:spPr>
          <a:xfrm>
            <a:off x="9166860" y="7436960"/>
            <a:ext cx="2171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交叉验证避免过拟合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747760" y="7894160"/>
            <a:ext cx="66294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机器学习方法需通过K折交叉验证确保模型泛化能力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comsol.com/9e2260c56ac4389019fe176b48b2569016dac55a.png"/>
          <p:cNvPicPr>
            <a:picLocks noChangeAspect="1"/>
          </p:cNvPicPr>
          <p:nvPr/>
        </p:nvPicPr>
        <p:blipFill>
          <a:blip r:embed="rId1">
            <a:alphaModFix amt="20000"/>
          </a:blip>
          <a:srcRect l="3333" r="3333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12C42">
                  <a:alpha val="95000"/>
                </a:srgbClr>
              </a:gs>
              <a:gs pos="50000">
                <a:srgbClr val="212C42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08000" y="1526542"/>
            <a:ext cx="2159000" cy="558800"/>
          </a:xfrm>
          <a:custGeom>
            <a:avLst/>
            <a:gdLst/>
            <a:ahLst/>
            <a:cxnLst/>
            <a:rect l="l" t="t" r="r" b="b"/>
            <a:pathLst>
              <a:path w="2159000" h="558800">
                <a:moveTo>
                  <a:pt x="101601" y="0"/>
                </a:moveTo>
                <a:lnTo>
                  <a:pt x="2057399" y="0"/>
                </a:lnTo>
                <a:cubicBezTo>
                  <a:pt x="2113512" y="0"/>
                  <a:pt x="2159000" y="45488"/>
                  <a:pt x="2159000" y="101601"/>
                </a:cubicBezTo>
                <a:lnTo>
                  <a:pt x="2159000" y="457199"/>
                </a:lnTo>
                <a:cubicBezTo>
                  <a:pt x="2159000" y="513312"/>
                  <a:pt x="2113512" y="558800"/>
                  <a:pt x="2057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Text 2"/>
          <p:cNvSpPr/>
          <p:nvPr/>
        </p:nvSpPr>
        <p:spPr>
          <a:xfrm>
            <a:off x="762000" y="1628142"/>
            <a:ext cx="1778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491742"/>
            <a:ext cx="158496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8F9FA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优化模型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422142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8" name="Text 5"/>
          <p:cNvSpPr/>
          <p:nvPr/>
        </p:nvSpPr>
        <p:spPr>
          <a:xfrm>
            <a:off x="508000" y="5006342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F8F9FA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寻最优——在约束条件下寻找极值方案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3080" y="6129022"/>
            <a:ext cx="4899660" cy="1483360"/>
          </a:xfrm>
          <a:custGeom>
            <a:avLst/>
            <a:gdLst/>
            <a:ahLst/>
            <a:cxnLst/>
            <a:rect l="l" t="t" r="r" b="b"/>
            <a:pathLst>
              <a:path w="4899660" h="1483360">
                <a:moveTo>
                  <a:pt x="101595" y="0"/>
                </a:moveTo>
                <a:lnTo>
                  <a:pt x="4798065" y="0"/>
                </a:lnTo>
                <a:cubicBezTo>
                  <a:pt x="4854174" y="0"/>
                  <a:pt x="4899660" y="45486"/>
                  <a:pt x="4899660" y="101595"/>
                </a:cubicBezTo>
                <a:lnTo>
                  <a:pt x="4899660" y="1381765"/>
                </a:lnTo>
                <a:cubicBezTo>
                  <a:pt x="4899660" y="1437874"/>
                  <a:pt x="4854174" y="1483360"/>
                  <a:pt x="47980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9310" y="6388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1" name="Text 8"/>
          <p:cNvSpPr/>
          <p:nvPr/>
        </p:nvSpPr>
        <p:spPr>
          <a:xfrm>
            <a:off x="772160" y="6997700"/>
            <a:ext cx="450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线性规划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77694" y="6129022"/>
            <a:ext cx="4899660" cy="1483360"/>
          </a:xfrm>
          <a:custGeom>
            <a:avLst/>
            <a:gdLst/>
            <a:ahLst/>
            <a:cxnLst/>
            <a:rect l="l" t="t" r="r" b="b"/>
            <a:pathLst>
              <a:path w="4899660" h="1483360">
                <a:moveTo>
                  <a:pt x="101595" y="0"/>
                </a:moveTo>
                <a:lnTo>
                  <a:pt x="4798065" y="0"/>
                </a:lnTo>
                <a:cubicBezTo>
                  <a:pt x="4854174" y="0"/>
                  <a:pt x="4899660" y="45486"/>
                  <a:pt x="4899660" y="101595"/>
                </a:cubicBezTo>
                <a:lnTo>
                  <a:pt x="4899660" y="1381765"/>
                </a:lnTo>
                <a:cubicBezTo>
                  <a:pt x="4899660" y="1437874"/>
                  <a:pt x="4854174" y="1483360"/>
                  <a:pt x="47980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65349" y="63881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85775" y="28575"/>
                </a:moveTo>
                <a:cubicBezTo>
                  <a:pt x="485775" y="18663"/>
                  <a:pt x="480685" y="9465"/>
                  <a:pt x="472202" y="4286"/>
                </a:cubicBezTo>
                <a:cubicBezTo>
                  <a:pt x="463719" y="-893"/>
                  <a:pt x="453271" y="-1429"/>
                  <a:pt x="444431" y="3036"/>
                </a:cubicBezTo>
                <a:lnTo>
                  <a:pt x="415856" y="17324"/>
                </a:lnTo>
                <a:cubicBezTo>
                  <a:pt x="401747" y="24378"/>
                  <a:pt x="396032" y="41523"/>
                  <a:pt x="403086" y="55632"/>
                </a:cubicBezTo>
                <a:cubicBezTo>
                  <a:pt x="408087" y="65633"/>
                  <a:pt x="418177" y="71438"/>
                  <a:pt x="428625" y="71438"/>
                </a:cubicBezTo>
                <a:lnTo>
                  <a:pt x="428625" y="142875"/>
                </a:lnTo>
                <a:cubicBezTo>
                  <a:pt x="412819" y="142875"/>
                  <a:pt x="400050" y="155644"/>
                  <a:pt x="400050" y="171450"/>
                </a:cubicBezTo>
                <a:cubicBezTo>
                  <a:pt x="400050" y="187256"/>
                  <a:pt x="412819" y="200025"/>
                  <a:pt x="428625" y="200025"/>
                </a:cubicBezTo>
                <a:lnTo>
                  <a:pt x="485775" y="200025"/>
                </a:lnTo>
                <a:cubicBezTo>
                  <a:pt x="501581" y="200025"/>
                  <a:pt x="514350" y="187256"/>
                  <a:pt x="514350" y="171450"/>
                </a:cubicBezTo>
                <a:cubicBezTo>
                  <a:pt x="514350" y="155644"/>
                  <a:pt x="501581" y="142875"/>
                  <a:pt x="485775" y="142875"/>
                </a:cubicBezTo>
                <a:lnTo>
                  <a:pt x="485775" y="28575"/>
                </a:lnTo>
                <a:close/>
                <a:moveTo>
                  <a:pt x="85725" y="57150"/>
                </a:moveTo>
                <a:cubicBezTo>
                  <a:pt x="69919" y="57150"/>
                  <a:pt x="57150" y="69919"/>
                  <a:pt x="57150" y="85725"/>
                </a:cubicBezTo>
                <a:cubicBezTo>
                  <a:pt x="57150" y="101531"/>
                  <a:pt x="69919" y="114300"/>
                  <a:pt x="85725" y="114300"/>
                </a:cubicBezTo>
                <a:lnTo>
                  <a:pt x="99387" y="114300"/>
                </a:lnTo>
                <a:lnTo>
                  <a:pt x="179397" y="228600"/>
                </a:lnTo>
                <a:lnTo>
                  <a:pt x="99387" y="342900"/>
                </a:lnTo>
                <a:lnTo>
                  <a:pt x="85725" y="342900"/>
                </a:lnTo>
                <a:cubicBezTo>
                  <a:pt x="69919" y="342900"/>
                  <a:pt x="57150" y="355669"/>
                  <a:pt x="57150" y="371475"/>
                </a:cubicBezTo>
                <a:cubicBezTo>
                  <a:pt x="57150" y="387281"/>
                  <a:pt x="69919" y="400050"/>
                  <a:pt x="85725" y="400050"/>
                </a:cubicBezTo>
                <a:lnTo>
                  <a:pt x="114300" y="400050"/>
                </a:lnTo>
                <a:cubicBezTo>
                  <a:pt x="123587" y="400050"/>
                  <a:pt x="132338" y="395496"/>
                  <a:pt x="137696" y="387906"/>
                </a:cubicBezTo>
                <a:lnTo>
                  <a:pt x="214313" y="278428"/>
                </a:lnTo>
                <a:lnTo>
                  <a:pt x="290929" y="387906"/>
                </a:lnTo>
                <a:cubicBezTo>
                  <a:pt x="296287" y="395585"/>
                  <a:pt x="305038" y="400050"/>
                  <a:pt x="314325" y="400050"/>
                </a:cubicBezTo>
                <a:lnTo>
                  <a:pt x="342900" y="400050"/>
                </a:lnTo>
                <a:cubicBezTo>
                  <a:pt x="358706" y="400050"/>
                  <a:pt x="371475" y="387281"/>
                  <a:pt x="371475" y="371475"/>
                </a:cubicBezTo>
                <a:cubicBezTo>
                  <a:pt x="371475" y="355669"/>
                  <a:pt x="358706" y="342900"/>
                  <a:pt x="342900" y="342900"/>
                </a:cubicBezTo>
                <a:lnTo>
                  <a:pt x="329238" y="342900"/>
                </a:lnTo>
                <a:lnTo>
                  <a:pt x="249228" y="228600"/>
                </a:lnTo>
                <a:lnTo>
                  <a:pt x="329238" y="114300"/>
                </a:lnTo>
                <a:lnTo>
                  <a:pt x="342900" y="114300"/>
                </a:lnTo>
                <a:cubicBezTo>
                  <a:pt x="358706" y="114300"/>
                  <a:pt x="371475" y="101531"/>
                  <a:pt x="371475" y="85725"/>
                </a:cubicBezTo>
                <a:cubicBezTo>
                  <a:pt x="371475" y="69919"/>
                  <a:pt x="358706" y="57150"/>
                  <a:pt x="342900" y="57150"/>
                </a:cubicBezTo>
                <a:lnTo>
                  <a:pt x="314325" y="57150"/>
                </a:lnTo>
                <a:cubicBezTo>
                  <a:pt x="305038" y="57150"/>
                  <a:pt x="296287" y="61704"/>
                  <a:pt x="290929" y="69294"/>
                </a:cubicBezTo>
                <a:lnTo>
                  <a:pt x="214313" y="178772"/>
                </a:lnTo>
                <a:lnTo>
                  <a:pt x="137696" y="69294"/>
                </a:lnTo>
                <a:cubicBezTo>
                  <a:pt x="132338" y="61704"/>
                  <a:pt x="123587" y="57150"/>
                  <a:pt x="114300" y="57150"/>
                </a:cubicBezTo>
                <a:lnTo>
                  <a:pt x="85725" y="5715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4" name="Text 11"/>
          <p:cNvSpPr/>
          <p:nvPr/>
        </p:nvSpPr>
        <p:spPr>
          <a:xfrm>
            <a:off x="5936774" y="6997700"/>
            <a:ext cx="450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整数规划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842308" y="6129022"/>
            <a:ext cx="4899660" cy="1483360"/>
          </a:xfrm>
          <a:custGeom>
            <a:avLst/>
            <a:gdLst/>
            <a:ahLst/>
            <a:cxnLst/>
            <a:rect l="l" t="t" r="r" b="b"/>
            <a:pathLst>
              <a:path w="4899660" h="1483360">
                <a:moveTo>
                  <a:pt x="101595" y="0"/>
                </a:moveTo>
                <a:lnTo>
                  <a:pt x="4798065" y="0"/>
                </a:lnTo>
                <a:cubicBezTo>
                  <a:pt x="4854174" y="0"/>
                  <a:pt x="4899660" y="45486"/>
                  <a:pt x="4899660" y="101595"/>
                </a:cubicBezTo>
                <a:lnTo>
                  <a:pt x="4899660" y="1381765"/>
                </a:lnTo>
                <a:cubicBezTo>
                  <a:pt x="4899660" y="1437874"/>
                  <a:pt x="4854174" y="1483360"/>
                  <a:pt x="47980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8538" y="6388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85725"/>
                </a:moveTo>
                <a:cubicBezTo>
                  <a:pt x="57150" y="69919"/>
                  <a:pt x="69919" y="57150"/>
                  <a:pt x="85725" y="57150"/>
                </a:cubicBezTo>
                <a:lnTo>
                  <a:pt x="228600" y="57150"/>
                </a:lnTo>
                <a:cubicBezTo>
                  <a:pt x="244406" y="57150"/>
                  <a:pt x="257175" y="69919"/>
                  <a:pt x="257175" y="85725"/>
                </a:cubicBezTo>
                <a:lnTo>
                  <a:pt x="257175" y="342900"/>
                </a:lnTo>
                <a:lnTo>
                  <a:pt x="342900" y="342900"/>
                </a:lnTo>
                <a:lnTo>
                  <a:pt x="342900" y="228600"/>
                </a:lnTo>
                <a:cubicBezTo>
                  <a:pt x="342900" y="212794"/>
                  <a:pt x="355669" y="200025"/>
                  <a:pt x="371475" y="200025"/>
                </a:cubicBezTo>
                <a:lnTo>
                  <a:pt x="428625" y="200025"/>
                </a:lnTo>
                <a:cubicBezTo>
                  <a:pt x="444431" y="200025"/>
                  <a:pt x="457200" y="212794"/>
                  <a:pt x="457200" y="228600"/>
                </a:cubicBezTo>
                <a:cubicBezTo>
                  <a:pt x="457200" y="244406"/>
                  <a:pt x="444431" y="257175"/>
                  <a:pt x="428625" y="257175"/>
                </a:cubicBezTo>
                <a:lnTo>
                  <a:pt x="400050" y="257175"/>
                </a:lnTo>
                <a:lnTo>
                  <a:pt x="400050" y="371475"/>
                </a:lnTo>
                <a:cubicBezTo>
                  <a:pt x="400050" y="387281"/>
                  <a:pt x="387281" y="400050"/>
                  <a:pt x="371475" y="400050"/>
                </a:cubicBezTo>
                <a:lnTo>
                  <a:pt x="228600" y="400050"/>
                </a:lnTo>
                <a:cubicBezTo>
                  <a:pt x="212794" y="400050"/>
                  <a:pt x="200025" y="387281"/>
                  <a:pt x="200025" y="371475"/>
                </a:cubicBezTo>
                <a:lnTo>
                  <a:pt x="200025" y="114300"/>
                </a:lnTo>
                <a:lnTo>
                  <a:pt x="114300" y="114300"/>
                </a:lnTo>
                <a:lnTo>
                  <a:pt x="114300" y="228600"/>
                </a:lnTo>
                <a:cubicBezTo>
                  <a:pt x="114300" y="244406"/>
                  <a:pt x="101531" y="257175"/>
                  <a:pt x="85725" y="257175"/>
                </a:cubicBezTo>
                <a:lnTo>
                  <a:pt x="28575" y="257175"/>
                </a:lnTo>
                <a:cubicBezTo>
                  <a:pt x="12769" y="257175"/>
                  <a:pt x="0" y="244406"/>
                  <a:pt x="0" y="228600"/>
                </a:cubicBezTo>
                <a:cubicBezTo>
                  <a:pt x="0" y="212794"/>
                  <a:pt x="12769" y="200025"/>
                  <a:pt x="28575" y="200025"/>
                </a:cubicBezTo>
                <a:lnTo>
                  <a:pt x="57150" y="200025"/>
                </a:lnTo>
                <a:lnTo>
                  <a:pt x="57150" y="85725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7" name="Text 14"/>
          <p:cNvSpPr/>
          <p:nvPr/>
        </p:nvSpPr>
        <p:spPr>
          <a:xfrm>
            <a:off x="11101388" y="6997700"/>
            <a:ext cx="450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非线性规划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377" y="490377"/>
            <a:ext cx="15373321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5" b="1" kern="0" spc="77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OPTIMIZATION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0377" y="882679"/>
            <a:ext cx="15569472" cy="588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63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优化模型核心概念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0377" y="1618244"/>
            <a:ext cx="1176905" cy="49038"/>
          </a:xfrm>
          <a:custGeom>
            <a:avLst/>
            <a:gdLst/>
            <a:ahLst/>
            <a:cxnLst/>
            <a:rect l="l" t="t" r="r" b="b"/>
            <a:pathLst>
              <a:path w="1176905" h="49038">
                <a:moveTo>
                  <a:pt x="0" y="0"/>
                </a:moveTo>
                <a:lnTo>
                  <a:pt x="1176905" y="0"/>
                </a:lnTo>
                <a:lnTo>
                  <a:pt x="1176905" y="49038"/>
                </a:lnTo>
                <a:lnTo>
                  <a:pt x="0" y="49038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514896" y="1961508"/>
            <a:ext cx="7465991" cy="1814395"/>
          </a:xfrm>
          <a:custGeom>
            <a:avLst/>
            <a:gdLst/>
            <a:ahLst/>
            <a:cxnLst/>
            <a:rect l="l" t="t" r="r" b="b"/>
            <a:pathLst>
              <a:path w="7465991" h="1814395">
                <a:moveTo>
                  <a:pt x="49038" y="0"/>
                </a:moveTo>
                <a:lnTo>
                  <a:pt x="7318880" y="0"/>
                </a:lnTo>
                <a:cubicBezTo>
                  <a:pt x="7400127" y="0"/>
                  <a:pt x="7465991" y="65864"/>
                  <a:pt x="7465991" y="147111"/>
                </a:cubicBezTo>
                <a:lnTo>
                  <a:pt x="7465991" y="1667284"/>
                </a:lnTo>
                <a:cubicBezTo>
                  <a:pt x="7465991" y="1748531"/>
                  <a:pt x="7400127" y="1814395"/>
                  <a:pt x="7318880" y="1814395"/>
                </a:cubicBezTo>
                <a:lnTo>
                  <a:pt x="49038" y="1814395"/>
                </a:lnTo>
                <a:cubicBezTo>
                  <a:pt x="21955" y="1814395"/>
                  <a:pt x="0" y="1792440"/>
                  <a:pt x="0" y="1765357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83891" dist="12259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4896" y="1961508"/>
            <a:ext cx="49038" cy="1814395"/>
          </a:xfrm>
          <a:custGeom>
            <a:avLst/>
            <a:gdLst/>
            <a:ahLst/>
            <a:cxnLst/>
            <a:rect l="l" t="t" r="r" b="b"/>
            <a:pathLst>
              <a:path w="49038" h="1814395">
                <a:moveTo>
                  <a:pt x="49038" y="0"/>
                </a:moveTo>
                <a:lnTo>
                  <a:pt x="49038" y="0"/>
                </a:lnTo>
                <a:lnTo>
                  <a:pt x="49038" y="1814395"/>
                </a:lnTo>
                <a:lnTo>
                  <a:pt x="49038" y="1814395"/>
                </a:lnTo>
                <a:cubicBezTo>
                  <a:pt x="21955" y="1814395"/>
                  <a:pt x="0" y="1792440"/>
                  <a:pt x="0" y="1765357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7" name="Shape 5"/>
          <p:cNvSpPr/>
          <p:nvPr/>
        </p:nvSpPr>
        <p:spPr>
          <a:xfrm>
            <a:off x="882679" y="2267838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321810" y="183891"/>
                </a:moveTo>
                <a:cubicBezTo>
                  <a:pt x="321810" y="107772"/>
                  <a:pt x="260011" y="45973"/>
                  <a:pt x="183891" y="45973"/>
                </a:cubicBezTo>
                <a:cubicBezTo>
                  <a:pt x="107772" y="45973"/>
                  <a:pt x="45973" y="107772"/>
                  <a:pt x="45973" y="183891"/>
                </a:cubicBezTo>
                <a:cubicBezTo>
                  <a:pt x="45973" y="260011"/>
                  <a:pt x="107772" y="321810"/>
                  <a:pt x="183891" y="321810"/>
                </a:cubicBezTo>
                <a:cubicBezTo>
                  <a:pt x="260011" y="321810"/>
                  <a:pt x="321810" y="260011"/>
                  <a:pt x="321810" y="183891"/>
                </a:cubicBezTo>
                <a:close/>
                <a:moveTo>
                  <a:pt x="0" y="183891"/>
                </a:moveTo>
                <a:cubicBezTo>
                  <a:pt x="0" y="82399"/>
                  <a:pt x="82399" y="0"/>
                  <a:pt x="183891" y="0"/>
                </a:cubicBezTo>
                <a:cubicBezTo>
                  <a:pt x="285384" y="0"/>
                  <a:pt x="367783" y="82399"/>
                  <a:pt x="367783" y="183891"/>
                </a:cubicBezTo>
                <a:cubicBezTo>
                  <a:pt x="367783" y="285384"/>
                  <a:pt x="285384" y="367783"/>
                  <a:pt x="183891" y="367783"/>
                </a:cubicBezTo>
                <a:cubicBezTo>
                  <a:pt x="82399" y="367783"/>
                  <a:pt x="0" y="285384"/>
                  <a:pt x="0" y="183891"/>
                </a:cubicBezTo>
                <a:close/>
                <a:moveTo>
                  <a:pt x="183891" y="241357"/>
                </a:moveTo>
                <a:cubicBezTo>
                  <a:pt x="215608" y="241357"/>
                  <a:pt x="241357" y="215608"/>
                  <a:pt x="241357" y="183891"/>
                </a:cubicBezTo>
                <a:cubicBezTo>
                  <a:pt x="241357" y="152175"/>
                  <a:pt x="215608" y="126425"/>
                  <a:pt x="183891" y="126425"/>
                </a:cubicBezTo>
                <a:cubicBezTo>
                  <a:pt x="152175" y="126425"/>
                  <a:pt x="126425" y="152175"/>
                  <a:pt x="126425" y="183891"/>
                </a:cubicBezTo>
                <a:cubicBezTo>
                  <a:pt x="126425" y="215608"/>
                  <a:pt x="152175" y="241357"/>
                  <a:pt x="183891" y="241357"/>
                </a:cubicBezTo>
                <a:close/>
                <a:moveTo>
                  <a:pt x="183891" y="80452"/>
                </a:moveTo>
                <a:cubicBezTo>
                  <a:pt x="240981" y="80452"/>
                  <a:pt x="287330" y="126802"/>
                  <a:pt x="287330" y="183891"/>
                </a:cubicBezTo>
                <a:cubicBezTo>
                  <a:pt x="287330" y="240981"/>
                  <a:pt x="240981" y="287330"/>
                  <a:pt x="183891" y="287330"/>
                </a:cubicBezTo>
                <a:cubicBezTo>
                  <a:pt x="126802" y="287330"/>
                  <a:pt x="80452" y="240981"/>
                  <a:pt x="80452" y="183891"/>
                </a:cubicBezTo>
                <a:cubicBezTo>
                  <a:pt x="80452" y="126802"/>
                  <a:pt x="126802" y="80452"/>
                  <a:pt x="183891" y="80452"/>
                </a:cubicBezTo>
                <a:close/>
                <a:moveTo>
                  <a:pt x="160905" y="183891"/>
                </a:moveTo>
                <a:cubicBezTo>
                  <a:pt x="160905" y="171205"/>
                  <a:pt x="171205" y="160905"/>
                  <a:pt x="183891" y="160905"/>
                </a:cubicBezTo>
                <a:cubicBezTo>
                  <a:pt x="196578" y="160905"/>
                  <a:pt x="206878" y="171205"/>
                  <a:pt x="206878" y="183891"/>
                </a:cubicBezTo>
                <a:cubicBezTo>
                  <a:pt x="206878" y="196578"/>
                  <a:pt x="196578" y="206878"/>
                  <a:pt x="183891" y="206878"/>
                </a:cubicBezTo>
                <a:cubicBezTo>
                  <a:pt x="171205" y="206878"/>
                  <a:pt x="160905" y="196578"/>
                  <a:pt x="160905" y="183891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8" name="Text 6"/>
          <p:cNvSpPr/>
          <p:nvPr/>
        </p:nvSpPr>
        <p:spPr>
          <a:xfrm>
            <a:off x="1440483" y="2255735"/>
            <a:ext cx="1324018" cy="392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核心定义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3641" y="2844031"/>
            <a:ext cx="6951095" cy="637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在给定的</a:t>
            </a:r>
            <a:r>
              <a:rPr lang="en-US" sz="154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资源约束、规则约束</a:t>
            </a:r>
            <a:r>
              <a:rPr lang="en-US" sz="154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下，明确一个或多个目标（如成本最低、收益最高、效率最优），通过数学建模找到使目标达到</a:t>
            </a:r>
            <a:r>
              <a:rPr lang="en-US" sz="154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极值的决策方案</a:t>
            </a:r>
            <a:r>
              <a:rPr lang="en-US" sz="154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0377" y="4020936"/>
            <a:ext cx="7490510" cy="3665569"/>
          </a:xfrm>
          <a:custGeom>
            <a:avLst/>
            <a:gdLst/>
            <a:ahLst/>
            <a:cxnLst/>
            <a:rect l="l" t="t" r="r" b="b"/>
            <a:pathLst>
              <a:path w="7490510" h="3665569">
                <a:moveTo>
                  <a:pt x="147099" y="0"/>
                </a:moveTo>
                <a:lnTo>
                  <a:pt x="7343411" y="0"/>
                </a:lnTo>
                <a:cubicBezTo>
                  <a:pt x="7424651" y="0"/>
                  <a:pt x="7490510" y="65859"/>
                  <a:pt x="7490510" y="147099"/>
                </a:cubicBezTo>
                <a:lnTo>
                  <a:pt x="7490510" y="3518469"/>
                </a:lnTo>
                <a:cubicBezTo>
                  <a:pt x="7490510" y="3599710"/>
                  <a:pt x="7424651" y="3665569"/>
                  <a:pt x="7343411" y="3665569"/>
                </a:cubicBezTo>
                <a:lnTo>
                  <a:pt x="147099" y="3665569"/>
                </a:lnTo>
                <a:cubicBezTo>
                  <a:pt x="65859" y="3665569"/>
                  <a:pt x="0" y="3599710"/>
                  <a:pt x="0" y="3518469"/>
                </a:cubicBezTo>
                <a:lnTo>
                  <a:pt x="0" y="147099"/>
                </a:lnTo>
                <a:cubicBezTo>
                  <a:pt x="0" y="65859"/>
                  <a:pt x="65859" y="0"/>
                  <a:pt x="147099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2700000" scaled="1"/>
          </a:gradFill>
          <a:effectLst>
            <a:outerShdw blurRad="306486" dist="245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4603" y="4364051"/>
            <a:ext cx="367783" cy="294226"/>
          </a:xfrm>
          <a:custGeom>
            <a:avLst/>
            <a:gdLst/>
            <a:ahLst/>
            <a:cxnLst/>
            <a:rect l="l" t="t" r="r" b="b"/>
            <a:pathLst>
              <a:path w="367783" h="294226">
                <a:moveTo>
                  <a:pt x="239001" y="120966"/>
                </a:moveTo>
                <a:cubicBezTo>
                  <a:pt x="246012" y="119070"/>
                  <a:pt x="253368" y="122403"/>
                  <a:pt x="256529" y="128896"/>
                </a:cubicBezTo>
                <a:lnTo>
                  <a:pt x="267217" y="150504"/>
                </a:lnTo>
                <a:cubicBezTo>
                  <a:pt x="273136" y="151308"/>
                  <a:pt x="278940" y="152917"/>
                  <a:pt x="284400" y="155158"/>
                </a:cubicBezTo>
                <a:lnTo>
                  <a:pt x="304513" y="141769"/>
                </a:lnTo>
                <a:cubicBezTo>
                  <a:pt x="310547" y="137746"/>
                  <a:pt x="318534" y="138551"/>
                  <a:pt x="323649" y="143665"/>
                </a:cubicBezTo>
                <a:lnTo>
                  <a:pt x="334682" y="154699"/>
                </a:lnTo>
                <a:cubicBezTo>
                  <a:pt x="339797" y="159813"/>
                  <a:pt x="340601" y="167858"/>
                  <a:pt x="336579" y="173835"/>
                </a:cubicBezTo>
                <a:lnTo>
                  <a:pt x="323189" y="193890"/>
                </a:lnTo>
                <a:cubicBezTo>
                  <a:pt x="324281" y="196591"/>
                  <a:pt x="325258" y="199407"/>
                  <a:pt x="326062" y="202338"/>
                </a:cubicBezTo>
                <a:cubicBezTo>
                  <a:pt x="326867" y="205269"/>
                  <a:pt x="327384" y="208142"/>
                  <a:pt x="327786" y="211073"/>
                </a:cubicBezTo>
                <a:lnTo>
                  <a:pt x="349451" y="221762"/>
                </a:lnTo>
                <a:cubicBezTo>
                  <a:pt x="355945" y="224980"/>
                  <a:pt x="359278" y="232335"/>
                  <a:pt x="357381" y="239289"/>
                </a:cubicBezTo>
                <a:lnTo>
                  <a:pt x="353359" y="254345"/>
                </a:lnTo>
                <a:cubicBezTo>
                  <a:pt x="351462" y="261298"/>
                  <a:pt x="344969" y="266010"/>
                  <a:pt x="337728" y="265551"/>
                </a:cubicBezTo>
                <a:lnTo>
                  <a:pt x="313592" y="263999"/>
                </a:lnTo>
                <a:cubicBezTo>
                  <a:pt x="309972" y="268654"/>
                  <a:pt x="305777" y="272964"/>
                  <a:pt x="301007" y="276642"/>
                </a:cubicBezTo>
                <a:lnTo>
                  <a:pt x="302559" y="300720"/>
                </a:lnTo>
                <a:cubicBezTo>
                  <a:pt x="303019" y="307961"/>
                  <a:pt x="298306" y="314512"/>
                  <a:pt x="291353" y="316351"/>
                </a:cubicBezTo>
                <a:lnTo>
                  <a:pt x="276297" y="320373"/>
                </a:lnTo>
                <a:cubicBezTo>
                  <a:pt x="269286" y="322270"/>
                  <a:pt x="261988" y="318937"/>
                  <a:pt x="258770" y="312443"/>
                </a:cubicBezTo>
                <a:lnTo>
                  <a:pt x="248081" y="290836"/>
                </a:lnTo>
                <a:cubicBezTo>
                  <a:pt x="242162" y="290031"/>
                  <a:pt x="236358" y="288422"/>
                  <a:pt x="230899" y="286181"/>
                </a:cubicBezTo>
                <a:lnTo>
                  <a:pt x="210786" y="299571"/>
                </a:lnTo>
                <a:cubicBezTo>
                  <a:pt x="204752" y="303593"/>
                  <a:pt x="196764" y="302789"/>
                  <a:pt x="191649" y="297674"/>
                </a:cubicBezTo>
                <a:lnTo>
                  <a:pt x="180616" y="286641"/>
                </a:lnTo>
                <a:cubicBezTo>
                  <a:pt x="175501" y="281526"/>
                  <a:pt x="174697" y="273538"/>
                  <a:pt x="178719" y="267505"/>
                </a:cubicBezTo>
                <a:lnTo>
                  <a:pt x="192109" y="247391"/>
                </a:lnTo>
                <a:cubicBezTo>
                  <a:pt x="191017" y="244690"/>
                  <a:pt x="190040" y="241875"/>
                  <a:pt x="189236" y="238944"/>
                </a:cubicBezTo>
                <a:cubicBezTo>
                  <a:pt x="188431" y="236013"/>
                  <a:pt x="187914" y="233082"/>
                  <a:pt x="187512" y="230209"/>
                </a:cubicBezTo>
                <a:lnTo>
                  <a:pt x="165847" y="219520"/>
                </a:lnTo>
                <a:cubicBezTo>
                  <a:pt x="159353" y="216302"/>
                  <a:pt x="156078" y="208947"/>
                  <a:pt x="157917" y="201993"/>
                </a:cubicBezTo>
                <a:lnTo>
                  <a:pt x="161939" y="186937"/>
                </a:lnTo>
                <a:cubicBezTo>
                  <a:pt x="163836" y="179984"/>
                  <a:pt x="170329" y="175271"/>
                  <a:pt x="177570" y="175731"/>
                </a:cubicBezTo>
                <a:lnTo>
                  <a:pt x="201648" y="177283"/>
                </a:lnTo>
                <a:cubicBezTo>
                  <a:pt x="205269" y="172628"/>
                  <a:pt x="209464" y="168318"/>
                  <a:pt x="214233" y="164640"/>
                </a:cubicBezTo>
                <a:lnTo>
                  <a:pt x="212682" y="140619"/>
                </a:lnTo>
                <a:cubicBezTo>
                  <a:pt x="212222" y="133379"/>
                  <a:pt x="216934" y="126828"/>
                  <a:pt x="223888" y="124989"/>
                </a:cubicBezTo>
                <a:lnTo>
                  <a:pt x="238944" y="120966"/>
                </a:lnTo>
                <a:close/>
                <a:moveTo>
                  <a:pt x="257678" y="195385"/>
                </a:moveTo>
                <a:cubicBezTo>
                  <a:pt x="243723" y="195400"/>
                  <a:pt x="232406" y="206743"/>
                  <a:pt x="232421" y="220698"/>
                </a:cubicBezTo>
                <a:cubicBezTo>
                  <a:pt x="232437" y="234654"/>
                  <a:pt x="243780" y="245971"/>
                  <a:pt x="257735" y="245955"/>
                </a:cubicBezTo>
                <a:cubicBezTo>
                  <a:pt x="271691" y="245939"/>
                  <a:pt x="283007" y="234596"/>
                  <a:pt x="282992" y="220641"/>
                </a:cubicBezTo>
                <a:cubicBezTo>
                  <a:pt x="282976" y="206686"/>
                  <a:pt x="271633" y="195369"/>
                  <a:pt x="257678" y="195385"/>
                </a:cubicBezTo>
                <a:close/>
                <a:moveTo>
                  <a:pt x="129241" y="-26147"/>
                </a:moveTo>
                <a:lnTo>
                  <a:pt x="144297" y="-22124"/>
                </a:lnTo>
                <a:cubicBezTo>
                  <a:pt x="151251" y="-20228"/>
                  <a:pt x="155963" y="-13677"/>
                  <a:pt x="155503" y="-6494"/>
                </a:cubicBezTo>
                <a:lnTo>
                  <a:pt x="153952" y="17527"/>
                </a:lnTo>
                <a:cubicBezTo>
                  <a:pt x="158721" y="21205"/>
                  <a:pt x="162916" y="25457"/>
                  <a:pt x="166537" y="30170"/>
                </a:cubicBezTo>
                <a:lnTo>
                  <a:pt x="190672" y="28618"/>
                </a:lnTo>
                <a:cubicBezTo>
                  <a:pt x="197856" y="28158"/>
                  <a:pt x="204407" y="32871"/>
                  <a:pt x="206303" y="39824"/>
                </a:cubicBezTo>
                <a:lnTo>
                  <a:pt x="210326" y="54880"/>
                </a:lnTo>
                <a:cubicBezTo>
                  <a:pt x="212165" y="61833"/>
                  <a:pt x="208889" y="69189"/>
                  <a:pt x="202395" y="72407"/>
                </a:cubicBezTo>
                <a:lnTo>
                  <a:pt x="180731" y="83096"/>
                </a:lnTo>
                <a:cubicBezTo>
                  <a:pt x="180329" y="86027"/>
                  <a:pt x="179754" y="88957"/>
                  <a:pt x="179007" y="91831"/>
                </a:cubicBezTo>
                <a:cubicBezTo>
                  <a:pt x="178260" y="94704"/>
                  <a:pt x="177225" y="97577"/>
                  <a:pt x="176133" y="100278"/>
                </a:cubicBezTo>
                <a:lnTo>
                  <a:pt x="189523" y="120391"/>
                </a:lnTo>
                <a:cubicBezTo>
                  <a:pt x="193546" y="126425"/>
                  <a:pt x="192741" y="134413"/>
                  <a:pt x="187627" y="139528"/>
                </a:cubicBezTo>
                <a:lnTo>
                  <a:pt x="176593" y="150561"/>
                </a:lnTo>
                <a:cubicBezTo>
                  <a:pt x="171479" y="155676"/>
                  <a:pt x="163491" y="156480"/>
                  <a:pt x="157457" y="152457"/>
                </a:cubicBezTo>
                <a:lnTo>
                  <a:pt x="137344" y="139068"/>
                </a:lnTo>
                <a:cubicBezTo>
                  <a:pt x="131885" y="141309"/>
                  <a:pt x="126081" y="142918"/>
                  <a:pt x="120162" y="143723"/>
                </a:cubicBezTo>
                <a:lnTo>
                  <a:pt x="109473" y="165330"/>
                </a:lnTo>
                <a:cubicBezTo>
                  <a:pt x="106255" y="171824"/>
                  <a:pt x="98899" y="175099"/>
                  <a:pt x="91946" y="173260"/>
                </a:cubicBezTo>
                <a:lnTo>
                  <a:pt x="76890" y="169238"/>
                </a:lnTo>
                <a:cubicBezTo>
                  <a:pt x="69879" y="167341"/>
                  <a:pt x="65224" y="160790"/>
                  <a:pt x="65684" y="153607"/>
                </a:cubicBezTo>
                <a:lnTo>
                  <a:pt x="67235" y="129529"/>
                </a:lnTo>
                <a:cubicBezTo>
                  <a:pt x="62466" y="125851"/>
                  <a:pt x="58271" y="121598"/>
                  <a:pt x="54650" y="116886"/>
                </a:cubicBezTo>
                <a:lnTo>
                  <a:pt x="30514" y="118438"/>
                </a:lnTo>
                <a:cubicBezTo>
                  <a:pt x="23331" y="118897"/>
                  <a:pt x="16780" y="114185"/>
                  <a:pt x="14884" y="107232"/>
                </a:cubicBezTo>
                <a:lnTo>
                  <a:pt x="10861" y="92176"/>
                </a:lnTo>
                <a:cubicBezTo>
                  <a:pt x="9022" y="85222"/>
                  <a:pt x="12298" y="77867"/>
                  <a:pt x="18791" y="74648"/>
                </a:cubicBezTo>
                <a:lnTo>
                  <a:pt x="40456" y="63960"/>
                </a:lnTo>
                <a:cubicBezTo>
                  <a:pt x="40858" y="61029"/>
                  <a:pt x="41433" y="58156"/>
                  <a:pt x="42180" y="55225"/>
                </a:cubicBezTo>
                <a:cubicBezTo>
                  <a:pt x="42985" y="52294"/>
                  <a:pt x="43904" y="49478"/>
                  <a:pt x="45053" y="46777"/>
                </a:cubicBezTo>
                <a:lnTo>
                  <a:pt x="31664" y="26722"/>
                </a:lnTo>
                <a:cubicBezTo>
                  <a:pt x="27641" y="20688"/>
                  <a:pt x="28446" y="12700"/>
                  <a:pt x="33560" y="7586"/>
                </a:cubicBezTo>
                <a:lnTo>
                  <a:pt x="44594" y="-3448"/>
                </a:lnTo>
                <a:cubicBezTo>
                  <a:pt x="49708" y="-8562"/>
                  <a:pt x="57696" y="-9367"/>
                  <a:pt x="63730" y="-5344"/>
                </a:cubicBezTo>
                <a:lnTo>
                  <a:pt x="83843" y="8045"/>
                </a:lnTo>
                <a:cubicBezTo>
                  <a:pt x="89302" y="5804"/>
                  <a:pt x="95106" y="4195"/>
                  <a:pt x="101025" y="3390"/>
                </a:cubicBezTo>
                <a:lnTo>
                  <a:pt x="111714" y="-18217"/>
                </a:lnTo>
                <a:cubicBezTo>
                  <a:pt x="114932" y="-24710"/>
                  <a:pt x="122230" y="-27986"/>
                  <a:pt x="129241" y="-26147"/>
                </a:cubicBezTo>
                <a:close/>
                <a:moveTo>
                  <a:pt x="110565" y="48271"/>
                </a:moveTo>
                <a:cubicBezTo>
                  <a:pt x="96609" y="48271"/>
                  <a:pt x="85280" y="59601"/>
                  <a:pt x="85280" y="73557"/>
                </a:cubicBezTo>
                <a:cubicBezTo>
                  <a:pt x="85280" y="87512"/>
                  <a:pt x="96609" y="98842"/>
                  <a:pt x="110565" y="98842"/>
                </a:cubicBezTo>
                <a:cubicBezTo>
                  <a:pt x="124520" y="98842"/>
                  <a:pt x="135850" y="87512"/>
                  <a:pt x="135850" y="73557"/>
                </a:cubicBezTo>
                <a:cubicBezTo>
                  <a:pt x="135850" y="59601"/>
                  <a:pt x="124520" y="48271"/>
                  <a:pt x="110565" y="48271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2" name="Text 10"/>
          <p:cNvSpPr/>
          <p:nvPr/>
        </p:nvSpPr>
        <p:spPr>
          <a:xfrm>
            <a:off x="1152386" y="4315163"/>
            <a:ext cx="6681388" cy="392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5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核心要素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9507" y="4957407"/>
            <a:ext cx="6899605" cy="1113156"/>
          </a:xfrm>
          <a:custGeom>
            <a:avLst/>
            <a:gdLst/>
            <a:ahLst/>
            <a:cxnLst/>
            <a:rect l="l" t="t" r="r" b="b"/>
            <a:pathLst>
              <a:path w="6899605" h="1113156">
                <a:moveTo>
                  <a:pt x="98080" y="0"/>
                </a:moveTo>
                <a:lnTo>
                  <a:pt x="6801525" y="0"/>
                </a:lnTo>
                <a:cubicBezTo>
                  <a:pt x="6855693" y="0"/>
                  <a:pt x="6899605" y="43912"/>
                  <a:pt x="6899605" y="98080"/>
                </a:cubicBezTo>
                <a:lnTo>
                  <a:pt x="6899605" y="1015076"/>
                </a:lnTo>
                <a:cubicBezTo>
                  <a:pt x="6899605" y="1069244"/>
                  <a:pt x="6855693" y="1113156"/>
                  <a:pt x="6801525" y="1113156"/>
                </a:cubicBezTo>
                <a:lnTo>
                  <a:pt x="98080" y="1113156"/>
                </a:lnTo>
                <a:cubicBezTo>
                  <a:pt x="43912" y="1113156"/>
                  <a:pt x="0" y="1069244"/>
                  <a:pt x="0" y="1015076"/>
                </a:cubicBezTo>
                <a:lnTo>
                  <a:pt x="0" y="98080"/>
                </a:lnTo>
                <a:cubicBezTo>
                  <a:pt x="0" y="43948"/>
                  <a:pt x="43948" y="0"/>
                  <a:pt x="980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1210" y="5207497"/>
            <a:ext cx="245189" cy="245189"/>
          </a:xfrm>
          <a:custGeom>
            <a:avLst/>
            <a:gdLst/>
            <a:ahLst/>
            <a:cxnLst/>
            <a:rect l="l" t="t" r="r" b="b"/>
            <a:pathLst>
              <a:path w="245189" h="245189">
                <a:moveTo>
                  <a:pt x="214540" y="122594"/>
                </a:moveTo>
                <a:cubicBezTo>
                  <a:pt x="214540" y="71848"/>
                  <a:pt x="173340" y="30649"/>
                  <a:pt x="122594" y="30649"/>
                </a:cubicBezTo>
                <a:cubicBezTo>
                  <a:pt x="71848" y="30649"/>
                  <a:pt x="30649" y="71848"/>
                  <a:pt x="30649" y="122594"/>
                </a:cubicBezTo>
                <a:cubicBezTo>
                  <a:pt x="30649" y="173340"/>
                  <a:pt x="71848" y="214540"/>
                  <a:pt x="122594" y="214540"/>
                </a:cubicBezTo>
                <a:cubicBezTo>
                  <a:pt x="173340" y="214540"/>
                  <a:pt x="214540" y="173340"/>
                  <a:pt x="214540" y="122594"/>
                </a:cubicBezTo>
                <a:close/>
                <a:moveTo>
                  <a:pt x="0" y="122594"/>
                </a:moveTo>
                <a:cubicBezTo>
                  <a:pt x="0" y="54933"/>
                  <a:pt x="54933" y="0"/>
                  <a:pt x="122594" y="0"/>
                </a:cubicBezTo>
                <a:cubicBezTo>
                  <a:pt x="190256" y="0"/>
                  <a:pt x="245189" y="54933"/>
                  <a:pt x="245189" y="122594"/>
                </a:cubicBezTo>
                <a:cubicBezTo>
                  <a:pt x="245189" y="190256"/>
                  <a:pt x="190256" y="245189"/>
                  <a:pt x="122594" y="245189"/>
                </a:cubicBezTo>
                <a:cubicBezTo>
                  <a:pt x="54933" y="245189"/>
                  <a:pt x="0" y="190256"/>
                  <a:pt x="0" y="122594"/>
                </a:cubicBezTo>
                <a:close/>
                <a:moveTo>
                  <a:pt x="122594" y="160905"/>
                </a:moveTo>
                <a:cubicBezTo>
                  <a:pt x="143739" y="160905"/>
                  <a:pt x="160905" y="143739"/>
                  <a:pt x="160905" y="122594"/>
                </a:cubicBezTo>
                <a:cubicBezTo>
                  <a:pt x="160905" y="101450"/>
                  <a:pt x="143739" y="84284"/>
                  <a:pt x="122594" y="84284"/>
                </a:cubicBezTo>
                <a:cubicBezTo>
                  <a:pt x="101450" y="84284"/>
                  <a:pt x="84284" y="101450"/>
                  <a:pt x="84284" y="122594"/>
                </a:cubicBezTo>
                <a:cubicBezTo>
                  <a:pt x="84284" y="143739"/>
                  <a:pt x="101450" y="160905"/>
                  <a:pt x="122594" y="160905"/>
                </a:cubicBezTo>
                <a:close/>
                <a:moveTo>
                  <a:pt x="122594" y="53635"/>
                </a:moveTo>
                <a:cubicBezTo>
                  <a:pt x="160654" y="53635"/>
                  <a:pt x="191554" y="84535"/>
                  <a:pt x="191554" y="122594"/>
                </a:cubicBezTo>
                <a:cubicBezTo>
                  <a:pt x="191554" y="160654"/>
                  <a:pt x="160654" y="191554"/>
                  <a:pt x="122594" y="191554"/>
                </a:cubicBezTo>
                <a:cubicBezTo>
                  <a:pt x="84535" y="191554"/>
                  <a:pt x="53635" y="160654"/>
                  <a:pt x="53635" y="122594"/>
                </a:cubicBezTo>
                <a:cubicBezTo>
                  <a:pt x="53635" y="84535"/>
                  <a:pt x="84535" y="53635"/>
                  <a:pt x="122594" y="53635"/>
                </a:cubicBezTo>
                <a:close/>
                <a:moveTo>
                  <a:pt x="107270" y="122594"/>
                </a:moveTo>
                <a:cubicBezTo>
                  <a:pt x="107270" y="114137"/>
                  <a:pt x="114137" y="107270"/>
                  <a:pt x="122594" y="107270"/>
                </a:cubicBezTo>
                <a:cubicBezTo>
                  <a:pt x="131052" y="107270"/>
                  <a:pt x="137919" y="114137"/>
                  <a:pt x="137919" y="122594"/>
                </a:cubicBezTo>
                <a:cubicBezTo>
                  <a:pt x="137919" y="131052"/>
                  <a:pt x="131052" y="137919"/>
                  <a:pt x="122594" y="137919"/>
                </a:cubicBezTo>
                <a:cubicBezTo>
                  <a:pt x="114137" y="137919"/>
                  <a:pt x="107270" y="131052"/>
                  <a:pt x="107270" y="122594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5" name="Text 13"/>
          <p:cNvSpPr/>
          <p:nvPr/>
        </p:nvSpPr>
        <p:spPr>
          <a:xfrm>
            <a:off x="1395123" y="5158459"/>
            <a:ext cx="1434353" cy="343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需优化的指标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562" y="5599799"/>
            <a:ext cx="6595572" cy="2697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目标函数（最大化或最小化）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9507" y="6276522"/>
            <a:ext cx="6899605" cy="1113156"/>
          </a:xfrm>
          <a:custGeom>
            <a:avLst/>
            <a:gdLst/>
            <a:ahLst/>
            <a:cxnLst/>
            <a:rect l="l" t="t" r="r" b="b"/>
            <a:pathLst>
              <a:path w="6899605" h="1113156">
                <a:moveTo>
                  <a:pt x="98080" y="0"/>
                </a:moveTo>
                <a:lnTo>
                  <a:pt x="6801525" y="0"/>
                </a:lnTo>
                <a:cubicBezTo>
                  <a:pt x="6855693" y="0"/>
                  <a:pt x="6899605" y="43912"/>
                  <a:pt x="6899605" y="98080"/>
                </a:cubicBezTo>
                <a:lnTo>
                  <a:pt x="6899605" y="1015076"/>
                </a:lnTo>
                <a:cubicBezTo>
                  <a:pt x="6899605" y="1069244"/>
                  <a:pt x="6855693" y="1113156"/>
                  <a:pt x="6801525" y="1113156"/>
                </a:cubicBezTo>
                <a:lnTo>
                  <a:pt x="98080" y="1113156"/>
                </a:lnTo>
                <a:cubicBezTo>
                  <a:pt x="43912" y="1113156"/>
                  <a:pt x="0" y="1069244"/>
                  <a:pt x="0" y="1015076"/>
                </a:cubicBezTo>
                <a:lnTo>
                  <a:pt x="0" y="98080"/>
                </a:lnTo>
                <a:cubicBezTo>
                  <a:pt x="0" y="43948"/>
                  <a:pt x="43948" y="0"/>
                  <a:pt x="980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859" y="6526612"/>
            <a:ext cx="183891" cy="245189"/>
          </a:xfrm>
          <a:custGeom>
            <a:avLst/>
            <a:gdLst/>
            <a:ahLst/>
            <a:cxnLst/>
            <a:rect l="l" t="t" r="r" b="b"/>
            <a:pathLst>
              <a:path w="183891" h="245189">
                <a:moveTo>
                  <a:pt x="61297" y="45973"/>
                </a:moveTo>
                <a:lnTo>
                  <a:pt x="61297" y="76621"/>
                </a:lnTo>
                <a:lnTo>
                  <a:pt x="122594" y="76621"/>
                </a:lnTo>
                <a:lnTo>
                  <a:pt x="122594" y="45973"/>
                </a:lnTo>
                <a:cubicBezTo>
                  <a:pt x="122594" y="29068"/>
                  <a:pt x="108850" y="15324"/>
                  <a:pt x="91946" y="15324"/>
                </a:cubicBezTo>
                <a:cubicBezTo>
                  <a:pt x="75041" y="15324"/>
                  <a:pt x="61297" y="29068"/>
                  <a:pt x="61297" y="45973"/>
                </a:cubicBezTo>
                <a:close/>
                <a:moveTo>
                  <a:pt x="30649" y="76621"/>
                </a:moveTo>
                <a:lnTo>
                  <a:pt x="30649" y="45973"/>
                </a:lnTo>
                <a:cubicBezTo>
                  <a:pt x="30649" y="12116"/>
                  <a:pt x="58089" y="-15324"/>
                  <a:pt x="91946" y="-15324"/>
                </a:cubicBezTo>
                <a:cubicBezTo>
                  <a:pt x="125803" y="-15324"/>
                  <a:pt x="153243" y="12116"/>
                  <a:pt x="153243" y="45973"/>
                </a:cubicBezTo>
                <a:lnTo>
                  <a:pt x="153243" y="76621"/>
                </a:lnTo>
                <a:cubicBezTo>
                  <a:pt x="170147" y="76621"/>
                  <a:pt x="183891" y="90365"/>
                  <a:pt x="183891" y="107270"/>
                </a:cubicBezTo>
                <a:lnTo>
                  <a:pt x="183891" y="214540"/>
                </a:lnTo>
                <a:cubicBezTo>
                  <a:pt x="183891" y="231445"/>
                  <a:pt x="170147" y="245189"/>
                  <a:pt x="153243" y="245189"/>
                </a:cubicBezTo>
                <a:lnTo>
                  <a:pt x="30649" y="245189"/>
                </a:lnTo>
                <a:cubicBezTo>
                  <a:pt x="13744" y="245189"/>
                  <a:pt x="0" y="231445"/>
                  <a:pt x="0" y="214540"/>
                </a:cubicBezTo>
                <a:lnTo>
                  <a:pt x="0" y="107270"/>
                </a:lnTo>
                <a:cubicBezTo>
                  <a:pt x="0" y="90365"/>
                  <a:pt x="13744" y="76621"/>
                  <a:pt x="30649" y="76621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9" name="Text 17"/>
          <p:cNvSpPr/>
          <p:nvPr/>
        </p:nvSpPr>
        <p:spPr>
          <a:xfrm>
            <a:off x="1395123" y="6477575"/>
            <a:ext cx="993014" cy="343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约束条件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562" y="6918914"/>
            <a:ext cx="6595572" cy="2697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资源限制、规则限制、技术约束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76340" y="1961508"/>
            <a:ext cx="7490510" cy="4781176"/>
          </a:xfrm>
          <a:custGeom>
            <a:avLst/>
            <a:gdLst/>
            <a:ahLst/>
            <a:cxnLst/>
            <a:rect l="l" t="t" r="r" b="b"/>
            <a:pathLst>
              <a:path w="7490510" h="4781176">
                <a:moveTo>
                  <a:pt x="147117" y="0"/>
                </a:moveTo>
                <a:lnTo>
                  <a:pt x="7343393" y="0"/>
                </a:lnTo>
                <a:cubicBezTo>
                  <a:pt x="7424643" y="0"/>
                  <a:pt x="7490510" y="65866"/>
                  <a:pt x="7490510" y="147117"/>
                </a:cubicBezTo>
                <a:lnTo>
                  <a:pt x="7490510" y="4634060"/>
                </a:lnTo>
                <a:cubicBezTo>
                  <a:pt x="7490510" y="4715310"/>
                  <a:pt x="7424643" y="4781176"/>
                  <a:pt x="7343393" y="4781176"/>
                </a:cubicBezTo>
                <a:lnTo>
                  <a:pt x="147117" y="4781176"/>
                </a:lnTo>
                <a:cubicBezTo>
                  <a:pt x="65866" y="4781176"/>
                  <a:pt x="0" y="4715310"/>
                  <a:pt x="0" y="4634060"/>
                </a:cubicBezTo>
                <a:lnTo>
                  <a:pt x="0" y="147117"/>
                </a:lnTo>
                <a:cubicBezTo>
                  <a:pt x="0" y="65921"/>
                  <a:pt x="65921" y="0"/>
                  <a:pt x="14711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83891" dist="12259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07344" y="2304617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73557" y="183891"/>
                </a:moveTo>
                <a:lnTo>
                  <a:pt x="14079" y="183891"/>
                </a:lnTo>
                <a:cubicBezTo>
                  <a:pt x="-230" y="183891"/>
                  <a:pt x="-9022" y="168318"/>
                  <a:pt x="-1667" y="156020"/>
                </a:cubicBezTo>
                <a:lnTo>
                  <a:pt x="28733" y="105335"/>
                </a:lnTo>
                <a:cubicBezTo>
                  <a:pt x="33733" y="97003"/>
                  <a:pt x="42697" y="91946"/>
                  <a:pt x="52409" y="91946"/>
                </a:cubicBezTo>
                <a:lnTo>
                  <a:pt x="107002" y="91946"/>
                </a:lnTo>
                <a:cubicBezTo>
                  <a:pt x="150733" y="17872"/>
                  <a:pt x="215957" y="14137"/>
                  <a:pt x="259574" y="20515"/>
                </a:cubicBezTo>
                <a:cubicBezTo>
                  <a:pt x="266930" y="21607"/>
                  <a:pt x="272676" y="27354"/>
                  <a:pt x="273711" y="34652"/>
                </a:cubicBezTo>
                <a:cubicBezTo>
                  <a:pt x="280090" y="78269"/>
                  <a:pt x="276354" y="143493"/>
                  <a:pt x="202281" y="187224"/>
                </a:cubicBezTo>
                <a:lnTo>
                  <a:pt x="202281" y="241817"/>
                </a:lnTo>
                <a:cubicBezTo>
                  <a:pt x="202281" y="251529"/>
                  <a:pt x="197224" y="260494"/>
                  <a:pt x="188891" y="265493"/>
                </a:cubicBezTo>
                <a:lnTo>
                  <a:pt x="138206" y="295893"/>
                </a:lnTo>
                <a:cubicBezTo>
                  <a:pt x="125966" y="303248"/>
                  <a:pt x="110335" y="294399"/>
                  <a:pt x="110335" y="280147"/>
                </a:cubicBezTo>
                <a:lnTo>
                  <a:pt x="110335" y="220670"/>
                </a:lnTo>
                <a:cubicBezTo>
                  <a:pt x="110335" y="200384"/>
                  <a:pt x="93842" y="183891"/>
                  <a:pt x="73557" y="183891"/>
                </a:cubicBezTo>
                <a:lnTo>
                  <a:pt x="73499" y="183891"/>
                </a:lnTo>
                <a:close/>
                <a:moveTo>
                  <a:pt x="229864" y="91946"/>
                </a:moveTo>
                <a:cubicBezTo>
                  <a:pt x="229864" y="76722"/>
                  <a:pt x="217504" y="64362"/>
                  <a:pt x="202281" y="64362"/>
                </a:cubicBezTo>
                <a:cubicBezTo>
                  <a:pt x="187057" y="64362"/>
                  <a:pt x="174697" y="76722"/>
                  <a:pt x="174697" y="91946"/>
                </a:cubicBezTo>
                <a:cubicBezTo>
                  <a:pt x="174697" y="107170"/>
                  <a:pt x="187057" y="119529"/>
                  <a:pt x="202281" y="119529"/>
                </a:cubicBezTo>
                <a:cubicBezTo>
                  <a:pt x="217504" y="119529"/>
                  <a:pt x="229864" y="107170"/>
                  <a:pt x="229864" y="91946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3" name="Text 21"/>
          <p:cNvSpPr/>
          <p:nvPr/>
        </p:nvSpPr>
        <p:spPr>
          <a:xfrm>
            <a:off x="8938349" y="2255735"/>
            <a:ext cx="6681388" cy="392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广泛应用场景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80373" y="2902877"/>
            <a:ext cx="3329660" cy="1662378"/>
          </a:xfrm>
          <a:custGeom>
            <a:avLst/>
            <a:gdLst/>
            <a:ahLst/>
            <a:cxnLst/>
            <a:rect l="l" t="t" r="r" b="b"/>
            <a:pathLst>
              <a:path w="3329660" h="1662378">
                <a:moveTo>
                  <a:pt x="98080" y="0"/>
                </a:moveTo>
                <a:lnTo>
                  <a:pt x="3231580" y="0"/>
                </a:lnTo>
                <a:cubicBezTo>
                  <a:pt x="3285748" y="0"/>
                  <a:pt x="3329660" y="43912"/>
                  <a:pt x="3329660" y="98080"/>
                </a:cubicBezTo>
                <a:lnTo>
                  <a:pt x="3329660" y="1564298"/>
                </a:lnTo>
                <a:cubicBezTo>
                  <a:pt x="3329660" y="1618466"/>
                  <a:pt x="3285748" y="1662378"/>
                  <a:pt x="3231580" y="1662378"/>
                </a:cubicBezTo>
                <a:lnTo>
                  <a:pt x="98080" y="1662378"/>
                </a:lnTo>
                <a:cubicBezTo>
                  <a:pt x="43912" y="1662378"/>
                  <a:pt x="0" y="1618466"/>
                  <a:pt x="0" y="1564298"/>
                </a:cubicBezTo>
                <a:lnTo>
                  <a:pt x="0" y="98080"/>
                </a:lnTo>
                <a:cubicBezTo>
                  <a:pt x="0" y="43912"/>
                  <a:pt x="43912" y="0"/>
                  <a:pt x="9808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6522" y="3108836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60905" y="0"/>
                </a:moveTo>
                <a:lnTo>
                  <a:pt x="160905" y="45973"/>
                </a:lnTo>
                <a:cubicBezTo>
                  <a:pt x="160905" y="52294"/>
                  <a:pt x="166077" y="57466"/>
                  <a:pt x="172398" y="57466"/>
                </a:cubicBezTo>
                <a:lnTo>
                  <a:pt x="195385" y="57466"/>
                </a:lnTo>
                <a:cubicBezTo>
                  <a:pt x="201706" y="57466"/>
                  <a:pt x="206878" y="52294"/>
                  <a:pt x="206878" y="45973"/>
                </a:cubicBezTo>
                <a:lnTo>
                  <a:pt x="206878" y="0"/>
                </a:lnTo>
                <a:lnTo>
                  <a:pt x="229864" y="0"/>
                </a:lnTo>
                <a:cubicBezTo>
                  <a:pt x="255221" y="0"/>
                  <a:pt x="275837" y="20616"/>
                  <a:pt x="275837" y="45973"/>
                </a:cubicBezTo>
                <a:lnTo>
                  <a:pt x="275837" y="137919"/>
                </a:lnTo>
                <a:cubicBezTo>
                  <a:pt x="275837" y="141869"/>
                  <a:pt x="275334" y="145748"/>
                  <a:pt x="274400" y="149412"/>
                </a:cubicBezTo>
                <a:lnTo>
                  <a:pt x="93382" y="149412"/>
                </a:lnTo>
                <a:cubicBezTo>
                  <a:pt x="92449" y="145748"/>
                  <a:pt x="91946" y="141869"/>
                  <a:pt x="91946" y="137919"/>
                </a:cubicBezTo>
                <a:lnTo>
                  <a:pt x="91946" y="45973"/>
                </a:lnTo>
                <a:cubicBezTo>
                  <a:pt x="91946" y="20616"/>
                  <a:pt x="112562" y="0"/>
                  <a:pt x="137919" y="0"/>
                </a:cubicBezTo>
                <a:lnTo>
                  <a:pt x="160905" y="0"/>
                </a:lnTo>
                <a:close/>
                <a:moveTo>
                  <a:pt x="229864" y="367783"/>
                </a:moveTo>
                <a:cubicBezTo>
                  <a:pt x="221819" y="367783"/>
                  <a:pt x="214205" y="365700"/>
                  <a:pt x="207596" y="362036"/>
                </a:cubicBezTo>
                <a:cubicBezTo>
                  <a:pt x="214420" y="350184"/>
                  <a:pt x="218371" y="336464"/>
                  <a:pt x="218371" y="321810"/>
                </a:cubicBezTo>
                <a:lnTo>
                  <a:pt x="218371" y="229864"/>
                </a:lnTo>
                <a:cubicBezTo>
                  <a:pt x="218371" y="215210"/>
                  <a:pt x="214420" y="201490"/>
                  <a:pt x="207596" y="189638"/>
                </a:cubicBezTo>
                <a:cubicBezTo>
                  <a:pt x="214205" y="185975"/>
                  <a:pt x="221747" y="183891"/>
                  <a:pt x="229864" y="183891"/>
                </a:cubicBezTo>
                <a:lnTo>
                  <a:pt x="252851" y="183891"/>
                </a:lnTo>
                <a:lnTo>
                  <a:pt x="252851" y="229864"/>
                </a:lnTo>
                <a:cubicBezTo>
                  <a:pt x="252851" y="236186"/>
                  <a:pt x="258023" y="241357"/>
                  <a:pt x="264344" y="241357"/>
                </a:cubicBezTo>
                <a:lnTo>
                  <a:pt x="287330" y="241357"/>
                </a:lnTo>
                <a:cubicBezTo>
                  <a:pt x="293652" y="241357"/>
                  <a:pt x="298824" y="236186"/>
                  <a:pt x="298824" y="229864"/>
                </a:cubicBezTo>
                <a:lnTo>
                  <a:pt x="298824" y="183891"/>
                </a:lnTo>
                <a:lnTo>
                  <a:pt x="321810" y="183891"/>
                </a:lnTo>
                <a:cubicBezTo>
                  <a:pt x="347167" y="183891"/>
                  <a:pt x="367783" y="204507"/>
                  <a:pt x="367783" y="229864"/>
                </a:cubicBezTo>
                <a:lnTo>
                  <a:pt x="367783" y="321810"/>
                </a:lnTo>
                <a:cubicBezTo>
                  <a:pt x="367783" y="347167"/>
                  <a:pt x="347167" y="367783"/>
                  <a:pt x="321810" y="367783"/>
                </a:cubicBezTo>
                <a:lnTo>
                  <a:pt x="229864" y="367783"/>
                </a:lnTo>
                <a:close/>
                <a:moveTo>
                  <a:pt x="0" y="229864"/>
                </a:moveTo>
                <a:cubicBezTo>
                  <a:pt x="0" y="204507"/>
                  <a:pt x="20616" y="183891"/>
                  <a:pt x="45973" y="183891"/>
                </a:cubicBezTo>
                <a:lnTo>
                  <a:pt x="68959" y="183891"/>
                </a:lnTo>
                <a:lnTo>
                  <a:pt x="68959" y="229864"/>
                </a:lnTo>
                <a:cubicBezTo>
                  <a:pt x="68959" y="236186"/>
                  <a:pt x="74131" y="241357"/>
                  <a:pt x="80452" y="241357"/>
                </a:cubicBezTo>
                <a:lnTo>
                  <a:pt x="103439" y="241357"/>
                </a:lnTo>
                <a:cubicBezTo>
                  <a:pt x="109760" y="241357"/>
                  <a:pt x="114932" y="236186"/>
                  <a:pt x="114932" y="229864"/>
                </a:cubicBezTo>
                <a:lnTo>
                  <a:pt x="114932" y="183891"/>
                </a:lnTo>
                <a:lnTo>
                  <a:pt x="137919" y="183891"/>
                </a:lnTo>
                <a:cubicBezTo>
                  <a:pt x="163275" y="183891"/>
                  <a:pt x="183891" y="204507"/>
                  <a:pt x="183891" y="229864"/>
                </a:cubicBezTo>
                <a:lnTo>
                  <a:pt x="183891" y="321810"/>
                </a:lnTo>
                <a:cubicBezTo>
                  <a:pt x="183891" y="347167"/>
                  <a:pt x="163275" y="367783"/>
                  <a:pt x="137919" y="367783"/>
                </a:cubicBezTo>
                <a:lnTo>
                  <a:pt x="45973" y="367783"/>
                </a:lnTo>
                <a:cubicBezTo>
                  <a:pt x="20616" y="367783"/>
                  <a:pt x="0" y="347167"/>
                  <a:pt x="0" y="321810"/>
                </a:cubicBezTo>
                <a:lnTo>
                  <a:pt x="0" y="229864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26" name="Text 24"/>
          <p:cNvSpPr/>
          <p:nvPr/>
        </p:nvSpPr>
        <p:spPr>
          <a:xfrm>
            <a:off x="8731164" y="3623732"/>
            <a:ext cx="3028078" cy="343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4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资源分配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37294" y="4065072"/>
            <a:ext cx="3015819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4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人力、资金、设备的最优配置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130090" y="2902877"/>
            <a:ext cx="3329660" cy="1662378"/>
          </a:xfrm>
          <a:custGeom>
            <a:avLst/>
            <a:gdLst/>
            <a:ahLst/>
            <a:cxnLst/>
            <a:rect l="l" t="t" r="r" b="b"/>
            <a:pathLst>
              <a:path w="3329660" h="1662378">
                <a:moveTo>
                  <a:pt x="98080" y="0"/>
                </a:moveTo>
                <a:lnTo>
                  <a:pt x="3231580" y="0"/>
                </a:lnTo>
                <a:cubicBezTo>
                  <a:pt x="3285748" y="0"/>
                  <a:pt x="3329660" y="43912"/>
                  <a:pt x="3329660" y="98080"/>
                </a:cubicBezTo>
                <a:lnTo>
                  <a:pt x="3329660" y="1564298"/>
                </a:lnTo>
                <a:cubicBezTo>
                  <a:pt x="3329660" y="1618466"/>
                  <a:pt x="3285748" y="1662378"/>
                  <a:pt x="3231580" y="1662378"/>
                </a:cubicBezTo>
                <a:lnTo>
                  <a:pt x="98080" y="1662378"/>
                </a:lnTo>
                <a:cubicBezTo>
                  <a:pt x="43912" y="1662378"/>
                  <a:pt x="0" y="1618466"/>
                  <a:pt x="0" y="1564298"/>
                </a:cubicBezTo>
                <a:lnTo>
                  <a:pt x="0" y="98080"/>
                </a:lnTo>
                <a:cubicBezTo>
                  <a:pt x="0" y="43912"/>
                  <a:pt x="43912" y="0"/>
                  <a:pt x="9808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  <a:ln w="20320">
            <a:solidFill>
              <a:srgbClr val="212C42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639226" y="3108836"/>
            <a:ext cx="321810" cy="367783"/>
          </a:xfrm>
          <a:custGeom>
            <a:avLst/>
            <a:gdLst/>
            <a:ahLst/>
            <a:cxnLst/>
            <a:rect l="l" t="t" r="r" b="b"/>
            <a:pathLst>
              <a:path w="321810" h="367783">
                <a:moveTo>
                  <a:pt x="91946" y="0"/>
                </a:moveTo>
                <a:cubicBezTo>
                  <a:pt x="104660" y="0"/>
                  <a:pt x="114932" y="10272"/>
                  <a:pt x="114932" y="22986"/>
                </a:cubicBezTo>
                <a:lnTo>
                  <a:pt x="114932" y="45973"/>
                </a:lnTo>
                <a:lnTo>
                  <a:pt x="206878" y="45973"/>
                </a:lnTo>
                <a:lnTo>
                  <a:pt x="206878" y="22986"/>
                </a:lnTo>
                <a:cubicBezTo>
                  <a:pt x="206878" y="10272"/>
                  <a:pt x="217150" y="0"/>
                  <a:pt x="229864" y="0"/>
                </a:cubicBezTo>
                <a:cubicBezTo>
                  <a:pt x="242579" y="0"/>
                  <a:pt x="252851" y="10272"/>
                  <a:pt x="252851" y="22986"/>
                </a:cubicBezTo>
                <a:lnTo>
                  <a:pt x="252851" y="45973"/>
                </a:lnTo>
                <a:lnTo>
                  <a:pt x="275837" y="45973"/>
                </a:lnTo>
                <a:cubicBezTo>
                  <a:pt x="301194" y="45973"/>
                  <a:pt x="321810" y="66589"/>
                  <a:pt x="321810" y="91946"/>
                </a:cubicBezTo>
                <a:lnTo>
                  <a:pt x="321810" y="298824"/>
                </a:lnTo>
                <a:cubicBezTo>
                  <a:pt x="321810" y="324180"/>
                  <a:pt x="301194" y="344796"/>
                  <a:pt x="275837" y="344796"/>
                </a:cubicBezTo>
                <a:lnTo>
                  <a:pt x="45973" y="344796"/>
                </a:lnTo>
                <a:cubicBezTo>
                  <a:pt x="20616" y="344796"/>
                  <a:pt x="0" y="324180"/>
                  <a:pt x="0" y="298824"/>
                </a:cubicBezTo>
                <a:lnTo>
                  <a:pt x="0" y="91946"/>
                </a:lnTo>
                <a:cubicBezTo>
                  <a:pt x="0" y="66589"/>
                  <a:pt x="20616" y="45973"/>
                  <a:pt x="45973" y="45973"/>
                </a:cubicBezTo>
                <a:lnTo>
                  <a:pt x="68959" y="45973"/>
                </a:lnTo>
                <a:lnTo>
                  <a:pt x="68959" y="22986"/>
                </a:lnTo>
                <a:cubicBezTo>
                  <a:pt x="68959" y="10272"/>
                  <a:pt x="79231" y="0"/>
                  <a:pt x="91946" y="0"/>
                </a:cubicBezTo>
                <a:close/>
                <a:moveTo>
                  <a:pt x="221532" y="164281"/>
                </a:moveTo>
                <a:cubicBezTo>
                  <a:pt x="226560" y="156236"/>
                  <a:pt x="224118" y="145605"/>
                  <a:pt x="216072" y="140505"/>
                </a:cubicBezTo>
                <a:cubicBezTo>
                  <a:pt x="208027" y="135404"/>
                  <a:pt x="197396" y="137919"/>
                  <a:pt x="192296" y="145964"/>
                </a:cubicBezTo>
                <a:lnTo>
                  <a:pt x="148191" y="216575"/>
                </a:lnTo>
                <a:lnTo>
                  <a:pt x="128796" y="190715"/>
                </a:lnTo>
                <a:cubicBezTo>
                  <a:pt x="123049" y="183101"/>
                  <a:pt x="112274" y="181521"/>
                  <a:pt x="104660" y="187268"/>
                </a:cubicBezTo>
                <a:cubicBezTo>
                  <a:pt x="97046" y="193014"/>
                  <a:pt x="95465" y="203789"/>
                  <a:pt x="101212" y="211403"/>
                </a:cubicBezTo>
                <a:lnTo>
                  <a:pt x="135692" y="257376"/>
                </a:lnTo>
                <a:cubicBezTo>
                  <a:pt x="139068" y="261902"/>
                  <a:pt x="144527" y="264488"/>
                  <a:pt x="150202" y="264272"/>
                </a:cubicBezTo>
                <a:cubicBezTo>
                  <a:pt x="155877" y="264057"/>
                  <a:pt x="161049" y="261040"/>
                  <a:pt x="164066" y="256155"/>
                </a:cubicBezTo>
                <a:lnTo>
                  <a:pt x="221532" y="164209"/>
                </a:lnTo>
                <a:close/>
              </a:path>
            </a:pathLst>
          </a:custGeom>
          <a:solidFill>
            <a:srgbClr val="212C42"/>
          </a:solidFill>
        </p:spPr>
      </p:sp>
      <p:sp>
        <p:nvSpPr>
          <p:cNvPr id="30" name="Text 28"/>
          <p:cNvSpPr/>
          <p:nvPr/>
        </p:nvSpPr>
        <p:spPr>
          <a:xfrm>
            <a:off x="12280881" y="3623732"/>
            <a:ext cx="3028078" cy="343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4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计划调度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287011" y="4065072"/>
            <a:ext cx="3015819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4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生产排程、物流配送优化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80373" y="4781023"/>
            <a:ext cx="3329660" cy="1662378"/>
          </a:xfrm>
          <a:custGeom>
            <a:avLst/>
            <a:gdLst/>
            <a:ahLst/>
            <a:cxnLst/>
            <a:rect l="l" t="t" r="r" b="b"/>
            <a:pathLst>
              <a:path w="3329660" h="1662378">
                <a:moveTo>
                  <a:pt x="98080" y="0"/>
                </a:moveTo>
                <a:lnTo>
                  <a:pt x="3231580" y="0"/>
                </a:lnTo>
                <a:cubicBezTo>
                  <a:pt x="3285748" y="0"/>
                  <a:pt x="3329660" y="43912"/>
                  <a:pt x="3329660" y="98080"/>
                </a:cubicBezTo>
                <a:lnTo>
                  <a:pt x="3329660" y="1564298"/>
                </a:lnTo>
                <a:cubicBezTo>
                  <a:pt x="3329660" y="1618466"/>
                  <a:pt x="3285748" y="1662378"/>
                  <a:pt x="3231580" y="1662378"/>
                </a:cubicBezTo>
                <a:lnTo>
                  <a:pt x="98080" y="1662378"/>
                </a:lnTo>
                <a:cubicBezTo>
                  <a:pt x="43912" y="1662378"/>
                  <a:pt x="0" y="1618466"/>
                  <a:pt x="0" y="1564298"/>
                </a:cubicBezTo>
                <a:lnTo>
                  <a:pt x="0" y="98080"/>
                </a:lnTo>
                <a:cubicBezTo>
                  <a:pt x="0" y="43912"/>
                  <a:pt x="43912" y="0"/>
                  <a:pt x="98080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  <a:ln w="20320">
            <a:solidFill>
              <a:srgbClr val="5B677D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66522" y="4986983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71330" y="183963"/>
                </a:moveTo>
                <a:lnTo>
                  <a:pt x="121182" y="97836"/>
                </a:lnTo>
                <a:cubicBezTo>
                  <a:pt x="117159" y="89072"/>
                  <a:pt x="114860" y="79303"/>
                  <a:pt x="114860" y="68959"/>
                </a:cubicBezTo>
                <a:cubicBezTo>
                  <a:pt x="114860" y="30888"/>
                  <a:pt x="145748" y="0"/>
                  <a:pt x="183820" y="0"/>
                </a:cubicBezTo>
                <a:cubicBezTo>
                  <a:pt x="221891" y="0"/>
                  <a:pt x="252779" y="30888"/>
                  <a:pt x="252779" y="68959"/>
                </a:cubicBezTo>
                <a:cubicBezTo>
                  <a:pt x="252779" y="79231"/>
                  <a:pt x="250552" y="89001"/>
                  <a:pt x="246458" y="97836"/>
                </a:cubicBezTo>
                <a:lnTo>
                  <a:pt x="278351" y="152932"/>
                </a:lnTo>
                <a:cubicBezTo>
                  <a:pt x="261758" y="171608"/>
                  <a:pt x="239777" y="185328"/>
                  <a:pt x="214851" y="191577"/>
                </a:cubicBezTo>
                <a:lnTo>
                  <a:pt x="183891" y="137847"/>
                </a:lnTo>
                <a:lnTo>
                  <a:pt x="134973" y="222322"/>
                </a:lnTo>
                <a:cubicBezTo>
                  <a:pt x="150417" y="227206"/>
                  <a:pt x="166795" y="229864"/>
                  <a:pt x="183891" y="229864"/>
                </a:cubicBezTo>
                <a:cubicBezTo>
                  <a:pt x="234677" y="229864"/>
                  <a:pt x="280003" y="206375"/>
                  <a:pt x="309527" y="169525"/>
                </a:cubicBezTo>
                <a:cubicBezTo>
                  <a:pt x="317500" y="159612"/>
                  <a:pt x="331938" y="158032"/>
                  <a:pt x="341851" y="165933"/>
                </a:cubicBezTo>
                <a:cubicBezTo>
                  <a:pt x="351764" y="173835"/>
                  <a:pt x="353344" y="188345"/>
                  <a:pt x="345443" y="198258"/>
                </a:cubicBezTo>
                <a:cubicBezTo>
                  <a:pt x="307587" y="245524"/>
                  <a:pt x="249259" y="275837"/>
                  <a:pt x="183963" y="275837"/>
                </a:cubicBezTo>
                <a:cubicBezTo>
                  <a:pt x="158535" y="275837"/>
                  <a:pt x="134111" y="271240"/>
                  <a:pt x="111628" y="262835"/>
                </a:cubicBezTo>
                <a:lnTo>
                  <a:pt x="70899" y="333088"/>
                </a:lnTo>
                <a:cubicBezTo>
                  <a:pt x="67523" y="338906"/>
                  <a:pt x="62494" y="343647"/>
                  <a:pt x="56460" y="346664"/>
                </a:cubicBezTo>
                <a:lnTo>
                  <a:pt x="16665" y="366562"/>
                </a:lnTo>
                <a:cubicBezTo>
                  <a:pt x="13074" y="368357"/>
                  <a:pt x="8835" y="368142"/>
                  <a:pt x="5459" y="366059"/>
                </a:cubicBezTo>
                <a:cubicBezTo>
                  <a:pt x="2083" y="363976"/>
                  <a:pt x="0" y="360240"/>
                  <a:pt x="0" y="356290"/>
                </a:cubicBezTo>
                <a:lnTo>
                  <a:pt x="0" y="316494"/>
                </a:lnTo>
                <a:cubicBezTo>
                  <a:pt x="0" y="310460"/>
                  <a:pt x="1580" y="304498"/>
                  <a:pt x="4669" y="299183"/>
                </a:cubicBezTo>
                <a:lnTo>
                  <a:pt x="47769" y="224692"/>
                </a:lnTo>
                <a:cubicBezTo>
                  <a:pt x="38574" y="216647"/>
                  <a:pt x="30098" y="207812"/>
                  <a:pt x="22412" y="198258"/>
                </a:cubicBezTo>
                <a:cubicBezTo>
                  <a:pt x="14438" y="188345"/>
                  <a:pt x="16090" y="173907"/>
                  <a:pt x="26003" y="165933"/>
                </a:cubicBezTo>
                <a:cubicBezTo>
                  <a:pt x="35916" y="157960"/>
                  <a:pt x="50355" y="159612"/>
                  <a:pt x="58328" y="169525"/>
                </a:cubicBezTo>
                <a:cubicBezTo>
                  <a:pt x="62423" y="174625"/>
                  <a:pt x="66804" y="179438"/>
                  <a:pt x="71402" y="183963"/>
                </a:cubicBezTo>
                <a:close/>
                <a:moveTo>
                  <a:pt x="273754" y="293005"/>
                </a:moveTo>
                <a:cubicBezTo>
                  <a:pt x="297100" y="283667"/>
                  <a:pt x="318577" y="270737"/>
                  <a:pt x="337613" y="255006"/>
                </a:cubicBezTo>
                <a:lnTo>
                  <a:pt x="363186" y="299183"/>
                </a:lnTo>
                <a:cubicBezTo>
                  <a:pt x="366202" y="304426"/>
                  <a:pt x="367855" y="310389"/>
                  <a:pt x="367855" y="316494"/>
                </a:cubicBezTo>
                <a:lnTo>
                  <a:pt x="367855" y="356290"/>
                </a:lnTo>
                <a:cubicBezTo>
                  <a:pt x="367855" y="360240"/>
                  <a:pt x="365771" y="363976"/>
                  <a:pt x="362395" y="366059"/>
                </a:cubicBezTo>
                <a:cubicBezTo>
                  <a:pt x="359019" y="368142"/>
                  <a:pt x="354781" y="368357"/>
                  <a:pt x="351189" y="366562"/>
                </a:cubicBezTo>
                <a:lnTo>
                  <a:pt x="311394" y="346664"/>
                </a:lnTo>
                <a:cubicBezTo>
                  <a:pt x="305360" y="343647"/>
                  <a:pt x="300332" y="338906"/>
                  <a:pt x="296956" y="333088"/>
                </a:cubicBezTo>
                <a:lnTo>
                  <a:pt x="273754" y="293005"/>
                </a:lnTo>
                <a:close/>
                <a:moveTo>
                  <a:pt x="183891" y="91946"/>
                </a:moveTo>
                <a:cubicBezTo>
                  <a:pt x="196578" y="91946"/>
                  <a:pt x="206878" y="81646"/>
                  <a:pt x="206878" y="68959"/>
                </a:cubicBezTo>
                <a:cubicBezTo>
                  <a:pt x="206878" y="56273"/>
                  <a:pt x="196578" y="45973"/>
                  <a:pt x="183891" y="45973"/>
                </a:cubicBezTo>
                <a:cubicBezTo>
                  <a:pt x="171205" y="45973"/>
                  <a:pt x="160905" y="56273"/>
                  <a:pt x="160905" y="68959"/>
                </a:cubicBezTo>
                <a:cubicBezTo>
                  <a:pt x="160905" y="81646"/>
                  <a:pt x="171205" y="91946"/>
                  <a:pt x="183891" y="91946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34" name="Text 32"/>
          <p:cNvSpPr/>
          <p:nvPr/>
        </p:nvSpPr>
        <p:spPr>
          <a:xfrm>
            <a:off x="8731164" y="5501879"/>
            <a:ext cx="3028078" cy="343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4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方案设计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37294" y="5943218"/>
            <a:ext cx="3015819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4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投资组合、工程方案优选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130090" y="4781023"/>
            <a:ext cx="3329660" cy="1662378"/>
          </a:xfrm>
          <a:custGeom>
            <a:avLst/>
            <a:gdLst/>
            <a:ahLst/>
            <a:cxnLst/>
            <a:rect l="l" t="t" r="r" b="b"/>
            <a:pathLst>
              <a:path w="3329660" h="1662378">
                <a:moveTo>
                  <a:pt x="98080" y="0"/>
                </a:moveTo>
                <a:lnTo>
                  <a:pt x="3231580" y="0"/>
                </a:lnTo>
                <a:cubicBezTo>
                  <a:pt x="3285748" y="0"/>
                  <a:pt x="3329660" y="43912"/>
                  <a:pt x="3329660" y="98080"/>
                </a:cubicBezTo>
                <a:lnTo>
                  <a:pt x="3329660" y="1564298"/>
                </a:lnTo>
                <a:cubicBezTo>
                  <a:pt x="3329660" y="1618466"/>
                  <a:pt x="3285748" y="1662378"/>
                  <a:pt x="3231580" y="1662378"/>
                </a:cubicBezTo>
                <a:lnTo>
                  <a:pt x="98080" y="1662378"/>
                </a:lnTo>
                <a:cubicBezTo>
                  <a:pt x="43912" y="1662378"/>
                  <a:pt x="0" y="1618466"/>
                  <a:pt x="0" y="1564298"/>
                </a:cubicBezTo>
                <a:lnTo>
                  <a:pt x="0" y="98080"/>
                </a:lnTo>
                <a:cubicBezTo>
                  <a:pt x="0" y="43912"/>
                  <a:pt x="43912" y="0"/>
                  <a:pt x="9808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616240" y="4986983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37919" y="183891"/>
                </a:moveTo>
                <a:lnTo>
                  <a:pt x="109545" y="212265"/>
                </a:lnTo>
                <a:cubicBezTo>
                  <a:pt x="100494" y="208745"/>
                  <a:pt x="90725" y="206878"/>
                  <a:pt x="80452" y="206878"/>
                </a:cubicBezTo>
                <a:cubicBezTo>
                  <a:pt x="35988" y="206878"/>
                  <a:pt x="0" y="242866"/>
                  <a:pt x="0" y="287330"/>
                </a:cubicBezTo>
                <a:cubicBezTo>
                  <a:pt x="0" y="331795"/>
                  <a:pt x="35988" y="367783"/>
                  <a:pt x="80452" y="367783"/>
                </a:cubicBezTo>
                <a:cubicBezTo>
                  <a:pt x="124917" y="367783"/>
                  <a:pt x="160905" y="331795"/>
                  <a:pt x="160905" y="287330"/>
                </a:cubicBezTo>
                <a:cubicBezTo>
                  <a:pt x="160905" y="277058"/>
                  <a:pt x="158965" y="267289"/>
                  <a:pt x="155518" y="258238"/>
                </a:cubicBezTo>
                <a:lnTo>
                  <a:pt x="358588" y="55167"/>
                </a:lnTo>
                <a:cubicBezTo>
                  <a:pt x="363688" y="50067"/>
                  <a:pt x="363688" y="41878"/>
                  <a:pt x="358588" y="36778"/>
                </a:cubicBezTo>
                <a:cubicBezTo>
                  <a:pt x="338260" y="16450"/>
                  <a:pt x="305360" y="16450"/>
                  <a:pt x="285032" y="36778"/>
                </a:cubicBezTo>
                <a:lnTo>
                  <a:pt x="183891" y="137919"/>
                </a:lnTo>
                <a:lnTo>
                  <a:pt x="155518" y="109545"/>
                </a:lnTo>
                <a:cubicBezTo>
                  <a:pt x="159037" y="100494"/>
                  <a:pt x="160905" y="90725"/>
                  <a:pt x="160905" y="80452"/>
                </a:cubicBezTo>
                <a:cubicBezTo>
                  <a:pt x="160905" y="35988"/>
                  <a:pt x="124917" y="0"/>
                  <a:pt x="80452" y="0"/>
                </a:cubicBezTo>
                <a:cubicBezTo>
                  <a:pt x="35988" y="0"/>
                  <a:pt x="0" y="35988"/>
                  <a:pt x="0" y="80452"/>
                </a:cubicBezTo>
                <a:cubicBezTo>
                  <a:pt x="0" y="124917"/>
                  <a:pt x="35988" y="160905"/>
                  <a:pt x="80452" y="160905"/>
                </a:cubicBezTo>
                <a:cubicBezTo>
                  <a:pt x="90725" y="160905"/>
                  <a:pt x="100494" y="158965"/>
                  <a:pt x="109545" y="155518"/>
                </a:cubicBezTo>
                <a:lnTo>
                  <a:pt x="137919" y="183891"/>
                </a:lnTo>
                <a:close/>
                <a:moveTo>
                  <a:pt x="208243" y="254215"/>
                </a:moveTo>
                <a:lnTo>
                  <a:pt x="285032" y="331005"/>
                </a:lnTo>
                <a:cubicBezTo>
                  <a:pt x="305360" y="351333"/>
                  <a:pt x="338260" y="351333"/>
                  <a:pt x="358588" y="331005"/>
                </a:cubicBezTo>
                <a:cubicBezTo>
                  <a:pt x="363688" y="325904"/>
                  <a:pt x="363688" y="317715"/>
                  <a:pt x="358588" y="312615"/>
                </a:cubicBezTo>
                <a:lnTo>
                  <a:pt x="254215" y="208243"/>
                </a:lnTo>
                <a:lnTo>
                  <a:pt x="208243" y="254215"/>
                </a:lnTo>
                <a:close/>
                <a:moveTo>
                  <a:pt x="45973" y="80452"/>
                </a:moveTo>
                <a:cubicBezTo>
                  <a:pt x="45973" y="61423"/>
                  <a:pt x="61423" y="45973"/>
                  <a:pt x="80452" y="45973"/>
                </a:cubicBezTo>
                <a:cubicBezTo>
                  <a:pt x="99482" y="45973"/>
                  <a:pt x="114932" y="61423"/>
                  <a:pt x="114932" y="80452"/>
                </a:cubicBezTo>
                <a:cubicBezTo>
                  <a:pt x="114932" y="99482"/>
                  <a:pt x="99482" y="114932"/>
                  <a:pt x="80452" y="114932"/>
                </a:cubicBezTo>
                <a:cubicBezTo>
                  <a:pt x="61423" y="114932"/>
                  <a:pt x="45973" y="99482"/>
                  <a:pt x="45973" y="80452"/>
                </a:cubicBezTo>
                <a:close/>
                <a:moveTo>
                  <a:pt x="80452" y="252851"/>
                </a:moveTo>
                <a:cubicBezTo>
                  <a:pt x="99482" y="252851"/>
                  <a:pt x="114932" y="268300"/>
                  <a:pt x="114932" y="287330"/>
                </a:cubicBezTo>
                <a:cubicBezTo>
                  <a:pt x="114932" y="306360"/>
                  <a:pt x="99482" y="321810"/>
                  <a:pt x="80452" y="321810"/>
                </a:cubicBezTo>
                <a:cubicBezTo>
                  <a:pt x="61423" y="321810"/>
                  <a:pt x="45973" y="306360"/>
                  <a:pt x="45973" y="287330"/>
                </a:cubicBezTo>
                <a:cubicBezTo>
                  <a:pt x="45973" y="268300"/>
                  <a:pt x="61423" y="252851"/>
                  <a:pt x="80452" y="252851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8" name="Text 36"/>
          <p:cNvSpPr/>
          <p:nvPr/>
        </p:nvSpPr>
        <p:spPr>
          <a:xfrm>
            <a:off x="12280881" y="5501879"/>
            <a:ext cx="3028078" cy="343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4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成本优化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287011" y="5943218"/>
            <a:ext cx="3015819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4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原材料采购、生产成本最小化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86147" y="7002434"/>
            <a:ext cx="7473347" cy="1637859"/>
          </a:xfrm>
          <a:custGeom>
            <a:avLst/>
            <a:gdLst/>
            <a:ahLst/>
            <a:cxnLst/>
            <a:rect l="l" t="t" r="r" b="b"/>
            <a:pathLst>
              <a:path w="7473347" h="1637859">
                <a:moveTo>
                  <a:pt x="147113" y="0"/>
                </a:moveTo>
                <a:lnTo>
                  <a:pt x="7326234" y="0"/>
                </a:lnTo>
                <a:cubicBezTo>
                  <a:pt x="7407482" y="0"/>
                  <a:pt x="7473347" y="65865"/>
                  <a:pt x="7473347" y="147113"/>
                </a:cubicBezTo>
                <a:lnTo>
                  <a:pt x="7473347" y="1490747"/>
                </a:lnTo>
                <a:cubicBezTo>
                  <a:pt x="7473347" y="1571995"/>
                  <a:pt x="7407482" y="1637859"/>
                  <a:pt x="7326234" y="1637859"/>
                </a:cubicBezTo>
                <a:lnTo>
                  <a:pt x="147113" y="1637859"/>
                </a:lnTo>
                <a:cubicBezTo>
                  <a:pt x="65919" y="1637859"/>
                  <a:pt x="0" y="1571941"/>
                  <a:pt x="0" y="1490747"/>
                </a:cubicBezTo>
                <a:lnTo>
                  <a:pt x="0" y="147113"/>
                </a:lnTo>
                <a:cubicBezTo>
                  <a:pt x="0" y="65919"/>
                  <a:pt x="65919" y="0"/>
                  <a:pt x="147113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14699" y="7281944"/>
            <a:ext cx="220670" cy="294226"/>
          </a:xfrm>
          <a:custGeom>
            <a:avLst/>
            <a:gdLst/>
            <a:ahLst/>
            <a:cxnLst/>
            <a:rect l="l" t="t" r="r" b="b"/>
            <a:pathLst>
              <a:path w="220670" h="294226">
                <a:moveTo>
                  <a:pt x="168318" y="220670"/>
                </a:moveTo>
                <a:cubicBezTo>
                  <a:pt x="172513" y="207855"/>
                  <a:pt x="180903" y="196247"/>
                  <a:pt x="190385" y="186248"/>
                </a:cubicBezTo>
                <a:cubicBezTo>
                  <a:pt x="209176" y="166479"/>
                  <a:pt x="220670" y="139757"/>
                  <a:pt x="220670" y="110335"/>
                </a:cubicBezTo>
                <a:cubicBezTo>
                  <a:pt x="220670" y="49421"/>
                  <a:pt x="171249" y="0"/>
                  <a:pt x="110335" y="0"/>
                </a:cubicBezTo>
                <a:cubicBezTo>
                  <a:pt x="49421" y="0"/>
                  <a:pt x="0" y="49421"/>
                  <a:pt x="0" y="110335"/>
                </a:cubicBezTo>
                <a:cubicBezTo>
                  <a:pt x="0" y="139757"/>
                  <a:pt x="11493" y="166479"/>
                  <a:pt x="30285" y="186248"/>
                </a:cubicBezTo>
                <a:cubicBezTo>
                  <a:pt x="39767" y="196247"/>
                  <a:pt x="48214" y="207855"/>
                  <a:pt x="52352" y="220670"/>
                </a:cubicBezTo>
                <a:lnTo>
                  <a:pt x="168261" y="220670"/>
                </a:lnTo>
                <a:close/>
                <a:moveTo>
                  <a:pt x="165502" y="248253"/>
                </a:moveTo>
                <a:lnTo>
                  <a:pt x="55167" y="248253"/>
                </a:lnTo>
                <a:lnTo>
                  <a:pt x="55167" y="257448"/>
                </a:lnTo>
                <a:cubicBezTo>
                  <a:pt x="55167" y="282848"/>
                  <a:pt x="75740" y="303421"/>
                  <a:pt x="101140" y="303421"/>
                </a:cubicBezTo>
                <a:lnTo>
                  <a:pt x="119529" y="303421"/>
                </a:lnTo>
                <a:cubicBezTo>
                  <a:pt x="144929" y="303421"/>
                  <a:pt x="165502" y="282848"/>
                  <a:pt x="165502" y="257448"/>
                </a:cubicBezTo>
                <a:lnTo>
                  <a:pt x="165502" y="248253"/>
                </a:lnTo>
                <a:close/>
                <a:moveTo>
                  <a:pt x="105738" y="64362"/>
                </a:moveTo>
                <a:cubicBezTo>
                  <a:pt x="82866" y="64362"/>
                  <a:pt x="64362" y="82866"/>
                  <a:pt x="64362" y="105738"/>
                </a:cubicBezTo>
                <a:cubicBezTo>
                  <a:pt x="64362" y="113381"/>
                  <a:pt x="58213" y="119529"/>
                  <a:pt x="50570" y="119529"/>
                </a:cubicBezTo>
                <a:cubicBezTo>
                  <a:pt x="42927" y="119529"/>
                  <a:pt x="36778" y="113381"/>
                  <a:pt x="36778" y="105738"/>
                </a:cubicBezTo>
                <a:cubicBezTo>
                  <a:pt x="36778" y="67638"/>
                  <a:pt x="67638" y="36778"/>
                  <a:pt x="105738" y="36778"/>
                </a:cubicBezTo>
                <a:cubicBezTo>
                  <a:pt x="113381" y="36778"/>
                  <a:pt x="119529" y="42927"/>
                  <a:pt x="119529" y="50570"/>
                </a:cubicBezTo>
                <a:cubicBezTo>
                  <a:pt x="119529" y="58213"/>
                  <a:pt x="113381" y="64362"/>
                  <a:pt x="105738" y="64362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2" name="Text 40"/>
          <p:cNvSpPr/>
          <p:nvPr/>
        </p:nvSpPr>
        <p:spPr>
          <a:xfrm>
            <a:off x="9056039" y="7257425"/>
            <a:ext cx="1103348" cy="343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41143" y="7747802"/>
            <a:ext cx="7061430" cy="637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优化模型的本质是</a:t>
            </a:r>
            <a:r>
              <a:rPr lang="en-US" sz="154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在约束边界内寻找最优解</a:t>
            </a:r>
            <a:r>
              <a:rPr lang="en-US" sz="154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的艺术。其难度在于</a:t>
            </a:r>
            <a:r>
              <a:rPr lang="en-US" sz="154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准确刻画约束条件</a:t>
            </a:r>
            <a:r>
              <a:rPr lang="en-US" sz="154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，以及</a:t>
            </a:r>
            <a:r>
              <a:rPr lang="en-US" sz="154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合理量化目标函数</a:t>
            </a:r>
            <a:r>
              <a:rPr lang="en-US" sz="154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9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LINEAR &amp; INTEGER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62000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优化模型：线性规划与整数规划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397000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23333" y="1651000"/>
            <a:ext cx="7577667" cy="5693833"/>
          </a:xfrm>
          <a:custGeom>
            <a:avLst/>
            <a:gdLst/>
            <a:ahLst/>
            <a:cxnLst/>
            <a:rect l="l" t="t" r="r" b="b"/>
            <a:pathLst>
              <a:path w="7577667" h="5693833">
                <a:moveTo>
                  <a:pt x="126972" y="0"/>
                </a:moveTo>
                <a:lnTo>
                  <a:pt x="7450694" y="0"/>
                </a:lnTo>
                <a:cubicBezTo>
                  <a:pt x="7520819" y="0"/>
                  <a:pt x="7577667" y="56848"/>
                  <a:pt x="7577667" y="126972"/>
                </a:cubicBezTo>
                <a:lnTo>
                  <a:pt x="7577667" y="5566861"/>
                </a:lnTo>
                <a:cubicBezTo>
                  <a:pt x="7577667" y="5636986"/>
                  <a:pt x="7520819" y="5693833"/>
                  <a:pt x="7450694" y="5693833"/>
                </a:cubicBezTo>
                <a:lnTo>
                  <a:pt x="126972" y="5693833"/>
                </a:lnTo>
                <a:cubicBezTo>
                  <a:pt x="56848" y="5693833"/>
                  <a:pt x="0" y="5636986"/>
                  <a:pt x="0" y="5566861"/>
                </a:cubicBezTo>
                <a:lnTo>
                  <a:pt x="0" y="126972"/>
                </a:lnTo>
                <a:cubicBezTo>
                  <a:pt x="0" y="56848"/>
                  <a:pt x="56848" y="0"/>
                  <a:pt x="12697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4583" dist="2116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3333" y="1651000"/>
            <a:ext cx="7577667" cy="762000"/>
          </a:xfrm>
          <a:custGeom>
            <a:avLst/>
            <a:gdLst/>
            <a:ahLst/>
            <a:cxnLst/>
            <a:rect l="l" t="t" r="r" b="b"/>
            <a:pathLst>
              <a:path w="7577667" h="762000">
                <a:moveTo>
                  <a:pt x="127003" y="0"/>
                </a:moveTo>
                <a:lnTo>
                  <a:pt x="7450664" y="0"/>
                </a:lnTo>
                <a:cubicBezTo>
                  <a:pt x="7520806" y="0"/>
                  <a:pt x="7577667" y="56861"/>
                  <a:pt x="7577667" y="127003"/>
                </a:cubicBezTo>
                <a:lnTo>
                  <a:pt x="7577667" y="762000"/>
                </a:lnTo>
                <a:lnTo>
                  <a:pt x="0" y="762000"/>
                </a:ln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/>
              </a:gs>
              <a:gs pos="100000">
                <a:srgbClr val="5B677D"/>
              </a:gs>
            </a:gsLst>
            <a:lin ang="0" scaled="1"/>
          </a:gradFill>
        </p:spPr>
      </p:sp>
      <p:sp>
        <p:nvSpPr>
          <p:cNvPr id="7" name="Shape 5"/>
          <p:cNvSpPr/>
          <p:nvPr/>
        </p:nvSpPr>
        <p:spPr>
          <a:xfrm>
            <a:off x="666750" y="190486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952500" y="1862667"/>
            <a:ext cx="6963833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线性规划（Linear Programming）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458" y="267744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0" name="Text 8"/>
          <p:cNvSpPr/>
          <p:nvPr/>
        </p:nvSpPr>
        <p:spPr>
          <a:xfrm>
            <a:off x="878417" y="2624532"/>
            <a:ext cx="7006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000" y="3005532"/>
            <a:ext cx="7239000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目标函数和约束条件均为线性关系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。适用于资源分配、生产计划等场景。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7646" y="350294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3" name="Text 11"/>
          <p:cNvSpPr/>
          <p:nvPr/>
        </p:nvSpPr>
        <p:spPr>
          <a:xfrm>
            <a:off x="878417" y="3450032"/>
            <a:ext cx="7006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求解原理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000" y="3831032"/>
            <a:ext cx="7239000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单纯形法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寻找即满足约束的解空间的顶点，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最优解必在顶点处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6167" y="4275532"/>
            <a:ext cx="7133167" cy="1524000"/>
          </a:xfrm>
          <a:custGeom>
            <a:avLst/>
            <a:gdLst/>
            <a:ahLst/>
            <a:cxnLst/>
            <a:rect l="l" t="t" r="r" b="b"/>
            <a:pathLst>
              <a:path w="7133167" h="1524000">
                <a:moveTo>
                  <a:pt x="42333" y="0"/>
                </a:moveTo>
                <a:lnTo>
                  <a:pt x="7048493" y="0"/>
                </a:lnTo>
                <a:cubicBezTo>
                  <a:pt x="7095257" y="0"/>
                  <a:pt x="7133167" y="37910"/>
                  <a:pt x="7133167" y="84673"/>
                </a:cubicBezTo>
                <a:lnTo>
                  <a:pt x="7133167" y="1439327"/>
                </a:lnTo>
                <a:cubicBezTo>
                  <a:pt x="7133167" y="1486090"/>
                  <a:pt x="7095257" y="1524000"/>
                  <a:pt x="7048493" y="1524000"/>
                </a:cubicBezTo>
                <a:lnTo>
                  <a:pt x="42333" y="1524000"/>
                </a:lnTo>
                <a:cubicBezTo>
                  <a:pt x="18953" y="1524000"/>
                  <a:pt x="0" y="1505047"/>
                  <a:pt x="0" y="1481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656167" y="4275532"/>
            <a:ext cx="42333" cy="1524000"/>
          </a:xfrm>
          <a:custGeom>
            <a:avLst/>
            <a:gdLst/>
            <a:ahLst/>
            <a:cxnLst/>
            <a:rect l="l" t="t" r="r" b="b"/>
            <a:pathLst>
              <a:path w="42333" h="1524000">
                <a:moveTo>
                  <a:pt x="42333" y="0"/>
                </a:moveTo>
                <a:lnTo>
                  <a:pt x="42333" y="0"/>
                </a:lnTo>
                <a:lnTo>
                  <a:pt x="42333" y="1524000"/>
                </a:lnTo>
                <a:lnTo>
                  <a:pt x="42333" y="1524000"/>
                </a:lnTo>
                <a:cubicBezTo>
                  <a:pt x="18953" y="1524000"/>
                  <a:pt x="0" y="1505047"/>
                  <a:pt x="0" y="1481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7" name="Text 15"/>
          <p:cNvSpPr/>
          <p:nvPr/>
        </p:nvSpPr>
        <p:spPr>
          <a:xfrm>
            <a:off x="846667" y="4444866"/>
            <a:ext cx="685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典型应用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667" y="4783532"/>
            <a:ext cx="685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生产计划：最大化利润或最小化成本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6667" y="5079866"/>
            <a:ext cx="685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运输问题：最小化物流成本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6667" y="5376199"/>
            <a:ext cx="685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投资组合：在风险约束下最大化收益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55000" y="1651000"/>
            <a:ext cx="7577667" cy="5693833"/>
          </a:xfrm>
          <a:custGeom>
            <a:avLst/>
            <a:gdLst/>
            <a:ahLst/>
            <a:cxnLst/>
            <a:rect l="l" t="t" r="r" b="b"/>
            <a:pathLst>
              <a:path w="7577667" h="5693833">
                <a:moveTo>
                  <a:pt x="126972" y="0"/>
                </a:moveTo>
                <a:lnTo>
                  <a:pt x="7450694" y="0"/>
                </a:lnTo>
                <a:cubicBezTo>
                  <a:pt x="7520819" y="0"/>
                  <a:pt x="7577667" y="56848"/>
                  <a:pt x="7577667" y="126972"/>
                </a:cubicBezTo>
                <a:lnTo>
                  <a:pt x="7577667" y="5566861"/>
                </a:lnTo>
                <a:cubicBezTo>
                  <a:pt x="7577667" y="5636986"/>
                  <a:pt x="7520819" y="5693833"/>
                  <a:pt x="7450694" y="5693833"/>
                </a:cubicBezTo>
                <a:lnTo>
                  <a:pt x="126972" y="5693833"/>
                </a:lnTo>
                <a:cubicBezTo>
                  <a:pt x="56848" y="5693833"/>
                  <a:pt x="0" y="5636986"/>
                  <a:pt x="0" y="5566861"/>
                </a:cubicBezTo>
                <a:lnTo>
                  <a:pt x="0" y="126972"/>
                </a:lnTo>
                <a:cubicBezTo>
                  <a:pt x="0" y="56848"/>
                  <a:pt x="56848" y="0"/>
                  <a:pt x="12697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4583" dist="2116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55000" y="1651000"/>
            <a:ext cx="7577667" cy="762000"/>
          </a:xfrm>
          <a:custGeom>
            <a:avLst/>
            <a:gdLst/>
            <a:ahLst/>
            <a:cxnLst/>
            <a:rect l="l" t="t" r="r" b="b"/>
            <a:pathLst>
              <a:path w="7577667" h="762000">
                <a:moveTo>
                  <a:pt x="127003" y="0"/>
                </a:moveTo>
                <a:lnTo>
                  <a:pt x="7450664" y="0"/>
                </a:lnTo>
                <a:cubicBezTo>
                  <a:pt x="7520806" y="0"/>
                  <a:pt x="7577667" y="56861"/>
                  <a:pt x="7577667" y="127003"/>
                </a:cubicBezTo>
                <a:lnTo>
                  <a:pt x="7577667" y="762000"/>
                </a:lnTo>
                <a:lnTo>
                  <a:pt x="0" y="762000"/>
                </a:ln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0" scaled="1"/>
          </a:gradFill>
        </p:spPr>
      </p:sp>
      <p:sp>
        <p:nvSpPr>
          <p:cNvPr id="23" name="Shape 21"/>
          <p:cNvSpPr/>
          <p:nvPr/>
        </p:nvSpPr>
        <p:spPr>
          <a:xfrm>
            <a:off x="8482542" y="1904866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69875" y="15875"/>
                </a:moveTo>
                <a:cubicBezTo>
                  <a:pt x="269875" y="10368"/>
                  <a:pt x="267047" y="5259"/>
                  <a:pt x="262334" y="2381"/>
                </a:cubicBezTo>
                <a:cubicBezTo>
                  <a:pt x="257621" y="-496"/>
                  <a:pt x="251817" y="-794"/>
                  <a:pt x="246906" y="1687"/>
                </a:cubicBezTo>
                <a:lnTo>
                  <a:pt x="231031" y="9624"/>
                </a:lnTo>
                <a:cubicBezTo>
                  <a:pt x="223193" y="13543"/>
                  <a:pt x="220018" y="23068"/>
                  <a:pt x="223937" y="30907"/>
                </a:cubicBezTo>
                <a:cubicBezTo>
                  <a:pt x="226715" y="36463"/>
                  <a:pt x="232321" y="39688"/>
                  <a:pt x="238125" y="39688"/>
                </a:cubicBezTo>
                <a:lnTo>
                  <a:pt x="238125" y="79375"/>
                </a:lnTo>
                <a:cubicBezTo>
                  <a:pt x="229344" y="79375"/>
                  <a:pt x="222250" y="86469"/>
                  <a:pt x="222250" y="95250"/>
                </a:cubicBezTo>
                <a:cubicBezTo>
                  <a:pt x="222250" y="104031"/>
                  <a:pt x="229344" y="111125"/>
                  <a:pt x="238125" y="111125"/>
                </a:cubicBezTo>
                <a:lnTo>
                  <a:pt x="269875" y="111125"/>
                </a:lnTo>
                <a:cubicBezTo>
                  <a:pt x="278656" y="111125"/>
                  <a:pt x="285750" y="104031"/>
                  <a:pt x="285750" y="95250"/>
                </a:cubicBezTo>
                <a:cubicBezTo>
                  <a:pt x="285750" y="86469"/>
                  <a:pt x="278656" y="79375"/>
                  <a:pt x="269875" y="79375"/>
                </a:cubicBezTo>
                <a:lnTo>
                  <a:pt x="269875" y="15875"/>
                </a:lnTo>
                <a:close/>
                <a:moveTo>
                  <a:pt x="47625" y="31750"/>
                </a:moveTo>
                <a:cubicBezTo>
                  <a:pt x="38844" y="31750"/>
                  <a:pt x="31750" y="38844"/>
                  <a:pt x="31750" y="47625"/>
                </a:cubicBezTo>
                <a:cubicBezTo>
                  <a:pt x="31750" y="56406"/>
                  <a:pt x="38844" y="63500"/>
                  <a:pt x="47625" y="63500"/>
                </a:cubicBezTo>
                <a:lnTo>
                  <a:pt x="55215" y="63500"/>
                </a:lnTo>
                <a:lnTo>
                  <a:pt x="99665" y="127000"/>
                </a:lnTo>
                <a:lnTo>
                  <a:pt x="55215" y="190500"/>
                </a:lnTo>
                <a:lnTo>
                  <a:pt x="47625" y="190500"/>
                </a:lnTo>
                <a:cubicBezTo>
                  <a:pt x="38844" y="190500"/>
                  <a:pt x="31750" y="197594"/>
                  <a:pt x="31750" y="206375"/>
                </a:cubicBezTo>
                <a:cubicBezTo>
                  <a:pt x="31750" y="215156"/>
                  <a:pt x="38844" y="222250"/>
                  <a:pt x="47625" y="222250"/>
                </a:cubicBezTo>
                <a:lnTo>
                  <a:pt x="63500" y="222250"/>
                </a:lnTo>
                <a:cubicBezTo>
                  <a:pt x="68659" y="222250"/>
                  <a:pt x="73521" y="219720"/>
                  <a:pt x="76498" y="215503"/>
                </a:cubicBezTo>
                <a:lnTo>
                  <a:pt x="119063" y="154682"/>
                </a:lnTo>
                <a:lnTo>
                  <a:pt x="161627" y="215503"/>
                </a:lnTo>
                <a:cubicBezTo>
                  <a:pt x="164604" y="219770"/>
                  <a:pt x="169466" y="222250"/>
                  <a:pt x="174625" y="222250"/>
                </a:cubicBezTo>
                <a:lnTo>
                  <a:pt x="190500" y="222250"/>
                </a:lnTo>
                <a:cubicBezTo>
                  <a:pt x="199281" y="222250"/>
                  <a:pt x="206375" y="215156"/>
                  <a:pt x="206375" y="206375"/>
                </a:cubicBezTo>
                <a:cubicBezTo>
                  <a:pt x="206375" y="197594"/>
                  <a:pt x="199281" y="190500"/>
                  <a:pt x="190500" y="190500"/>
                </a:cubicBezTo>
                <a:lnTo>
                  <a:pt x="182910" y="190500"/>
                </a:lnTo>
                <a:lnTo>
                  <a:pt x="138460" y="127000"/>
                </a:lnTo>
                <a:lnTo>
                  <a:pt x="182910" y="63500"/>
                </a:lnTo>
                <a:lnTo>
                  <a:pt x="190500" y="63500"/>
                </a:lnTo>
                <a:cubicBezTo>
                  <a:pt x="199281" y="63500"/>
                  <a:pt x="206375" y="56406"/>
                  <a:pt x="206375" y="47625"/>
                </a:cubicBezTo>
                <a:cubicBezTo>
                  <a:pt x="206375" y="38844"/>
                  <a:pt x="199281" y="31750"/>
                  <a:pt x="190500" y="31750"/>
                </a:cubicBezTo>
                <a:lnTo>
                  <a:pt x="174625" y="31750"/>
                </a:lnTo>
                <a:cubicBezTo>
                  <a:pt x="169466" y="31750"/>
                  <a:pt x="164604" y="34280"/>
                  <a:pt x="161627" y="38497"/>
                </a:cubicBezTo>
                <a:lnTo>
                  <a:pt x="119063" y="99318"/>
                </a:lnTo>
                <a:lnTo>
                  <a:pt x="76498" y="38497"/>
                </a:lnTo>
                <a:cubicBezTo>
                  <a:pt x="73521" y="34280"/>
                  <a:pt x="68659" y="31750"/>
                  <a:pt x="63500" y="31750"/>
                </a:cubicBezTo>
                <a:lnTo>
                  <a:pt x="47625" y="3175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8784167" y="1862667"/>
            <a:ext cx="6963833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整数规划（Integer Programming）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93125" y="267744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26" name="Text 24"/>
          <p:cNvSpPr/>
          <p:nvPr/>
        </p:nvSpPr>
        <p:spPr>
          <a:xfrm>
            <a:off x="8710083" y="2624532"/>
            <a:ext cx="7006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66667" y="3005532"/>
            <a:ext cx="7239000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线性规划基础上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，要求部分或全部决策变量为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整数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。含0-1规划（二选一决策）。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81219" y="350294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212C42"/>
          </a:solidFill>
        </p:spPr>
      </p:sp>
      <p:sp>
        <p:nvSpPr>
          <p:cNvPr id="29" name="Text 27"/>
          <p:cNvSpPr/>
          <p:nvPr/>
        </p:nvSpPr>
        <p:spPr>
          <a:xfrm>
            <a:off x="8710083" y="3450032"/>
            <a:ext cx="7006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常用求解方法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66667" y="3831032"/>
            <a:ext cx="7154333" cy="762000"/>
          </a:xfrm>
          <a:custGeom>
            <a:avLst/>
            <a:gdLst/>
            <a:ahLst/>
            <a:cxnLst/>
            <a:rect l="l" t="t" r="r" b="b"/>
            <a:pathLst>
              <a:path w="7154333" h="762000">
                <a:moveTo>
                  <a:pt x="84666" y="0"/>
                </a:moveTo>
                <a:lnTo>
                  <a:pt x="7069668" y="0"/>
                </a:lnTo>
                <a:cubicBezTo>
                  <a:pt x="7116427" y="0"/>
                  <a:pt x="7154333" y="37906"/>
                  <a:pt x="7154333" y="84666"/>
                </a:cubicBezTo>
                <a:lnTo>
                  <a:pt x="7154333" y="677334"/>
                </a:lnTo>
                <a:cubicBezTo>
                  <a:pt x="7154333" y="724094"/>
                  <a:pt x="7116427" y="762000"/>
                  <a:pt x="706966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8593667" y="3958032"/>
            <a:ext cx="6985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分支定界法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93667" y="4254366"/>
            <a:ext cx="69744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系统搜索整数解，通过上下界剪枝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66667" y="4677699"/>
            <a:ext cx="7154333" cy="762000"/>
          </a:xfrm>
          <a:custGeom>
            <a:avLst/>
            <a:gdLst/>
            <a:ahLst/>
            <a:cxnLst/>
            <a:rect l="l" t="t" r="r" b="b"/>
            <a:pathLst>
              <a:path w="7154333" h="762000">
                <a:moveTo>
                  <a:pt x="84666" y="0"/>
                </a:moveTo>
                <a:lnTo>
                  <a:pt x="7069668" y="0"/>
                </a:lnTo>
                <a:cubicBezTo>
                  <a:pt x="7116427" y="0"/>
                  <a:pt x="7154333" y="37906"/>
                  <a:pt x="7154333" y="84666"/>
                </a:cubicBezTo>
                <a:lnTo>
                  <a:pt x="7154333" y="677334"/>
                </a:lnTo>
                <a:cubicBezTo>
                  <a:pt x="7154333" y="724094"/>
                  <a:pt x="7116427" y="762000"/>
                  <a:pt x="706966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8593667" y="4804699"/>
            <a:ext cx="6985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割平面法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93667" y="5101032"/>
            <a:ext cx="69744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添加约束切割非整数解空间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87833" y="5609032"/>
            <a:ext cx="7133167" cy="1524000"/>
          </a:xfrm>
          <a:custGeom>
            <a:avLst/>
            <a:gdLst/>
            <a:ahLst/>
            <a:cxnLst/>
            <a:rect l="l" t="t" r="r" b="b"/>
            <a:pathLst>
              <a:path w="7133167" h="1524000">
                <a:moveTo>
                  <a:pt x="42333" y="0"/>
                </a:moveTo>
                <a:lnTo>
                  <a:pt x="7048493" y="0"/>
                </a:lnTo>
                <a:cubicBezTo>
                  <a:pt x="7095257" y="0"/>
                  <a:pt x="7133167" y="37910"/>
                  <a:pt x="7133167" y="84673"/>
                </a:cubicBezTo>
                <a:lnTo>
                  <a:pt x="7133167" y="1439327"/>
                </a:lnTo>
                <a:cubicBezTo>
                  <a:pt x="7133167" y="1486090"/>
                  <a:pt x="7095257" y="1524000"/>
                  <a:pt x="7048493" y="1524000"/>
                </a:cubicBezTo>
                <a:lnTo>
                  <a:pt x="42333" y="1524000"/>
                </a:lnTo>
                <a:cubicBezTo>
                  <a:pt x="18953" y="1524000"/>
                  <a:pt x="0" y="1505047"/>
                  <a:pt x="0" y="1481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8487833" y="5609032"/>
            <a:ext cx="42333" cy="1524000"/>
          </a:xfrm>
          <a:custGeom>
            <a:avLst/>
            <a:gdLst/>
            <a:ahLst/>
            <a:cxnLst/>
            <a:rect l="l" t="t" r="r" b="b"/>
            <a:pathLst>
              <a:path w="42333" h="1524000">
                <a:moveTo>
                  <a:pt x="42333" y="0"/>
                </a:moveTo>
                <a:lnTo>
                  <a:pt x="42333" y="0"/>
                </a:lnTo>
                <a:lnTo>
                  <a:pt x="42333" y="1524000"/>
                </a:lnTo>
                <a:lnTo>
                  <a:pt x="42333" y="1524000"/>
                </a:lnTo>
                <a:cubicBezTo>
                  <a:pt x="18953" y="1524000"/>
                  <a:pt x="0" y="1505047"/>
                  <a:pt x="0" y="1481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38" name="Text 36"/>
          <p:cNvSpPr/>
          <p:nvPr/>
        </p:nvSpPr>
        <p:spPr>
          <a:xfrm>
            <a:off x="8678333" y="5778366"/>
            <a:ext cx="685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典型应用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78333" y="6117032"/>
            <a:ext cx="685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项目选择：0-1决策是否投资某个项目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78333" y="6413366"/>
            <a:ext cx="685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人员排班：整数人数安排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78333" y="6709699"/>
            <a:ext cx="685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设施选址：确定工厂或仓库位置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1800" y="7564837"/>
            <a:ext cx="15394517" cy="1032933"/>
          </a:xfrm>
          <a:custGeom>
            <a:avLst/>
            <a:gdLst/>
            <a:ahLst/>
            <a:cxnLst/>
            <a:rect l="l" t="t" r="r" b="b"/>
            <a:pathLst>
              <a:path w="15394517" h="1032933">
                <a:moveTo>
                  <a:pt x="126999" y="0"/>
                </a:moveTo>
                <a:lnTo>
                  <a:pt x="15267518" y="0"/>
                </a:lnTo>
                <a:cubicBezTo>
                  <a:pt x="15337657" y="0"/>
                  <a:pt x="15394517" y="56859"/>
                  <a:pt x="15394517" y="126999"/>
                </a:cubicBezTo>
                <a:lnTo>
                  <a:pt x="15394517" y="905934"/>
                </a:lnTo>
                <a:cubicBezTo>
                  <a:pt x="15394517" y="976074"/>
                  <a:pt x="15337657" y="1032933"/>
                  <a:pt x="15267518" y="1032933"/>
                </a:cubicBezTo>
                <a:lnTo>
                  <a:pt x="126999" y="1032933"/>
                </a:lnTo>
                <a:cubicBezTo>
                  <a:pt x="56859" y="1032933"/>
                  <a:pt x="0" y="976074"/>
                  <a:pt x="0" y="905934"/>
                </a:cubicBezTo>
                <a:lnTo>
                  <a:pt x="0" y="126999"/>
                </a:lnTo>
                <a:cubicBezTo>
                  <a:pt x="0" y="56906"/>
                  <a:pt x="56906" y="0"/>
                  <a:pt x="126999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3683" y="7954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4" name="Text 42"/>
          <p:cNvSpPr/>
          <p:nvPr/>
        </p:nvSpPr>
        <p:spPr>
          <a:xfrm>
            <a:off x="1096433" y="7784967"/>
            <a:ext cx="7387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关键区别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96433" y="8123633"/>
            <a:ext cx="7366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线性规划假设变量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连续可调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，整数规划要求变量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离散取值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。整数规划更贴近现实但求解难度更大。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698" y="423333"/>
            <a:ext cx="1549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NONLINEAR &amp; MULTI-OBJECTIVE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68698" y="762635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优化模型：非线性规划与多目标优化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397000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23545" y="1651000"/>
            <a:ext cx="7577455" cy="7261860"/>
          </a:xfrm>
          <a:custGeom>
            <a:avLst/>
            <a:gdLst/>
            <a:ahLst/>
            <a:cxnLst/>
            <a:rect l="l" t="t" r="r" b="b"/>
            <a:pathLst>
              <a:path w="7577667" h="8170333">
                <a:moveTo>
                  <a:pt x="127002" y="0"/>
                </a:moveTo>
                <a:lnTo>
                  <a:pt x="7450665" y="0"/>
                </a:lnTo>
                <a:cubicBezTo>
                  <a:pt x="7520806" y="0"/>
                  <a:pt x="7577667" y="56861"/>
                  <a:pt x="7577667" y="127002"/>
                </a:cubicBezTo>
                <a:lnTo>
                  <a:pt x="7577667" y="8043332"/>
                </a:lnTo>
                <a:cubicBezTo>
                  <a:pt x="7577667" y="8113473"/>
                  <a:pt x="7520806" y="8170333"/>
                  <a:pt x="7450665" y="8170333"/>
                </a:cubicBezTo>
                <a:lnTo>
                  <a:pt x="127002" y="8170333"/>
                </a:lnTo>
                <a:cubicBezTo>
                  <a:pt x="56861" y="8170333"/>
                  <a:pt x="0" y="8113473"/>
                  <a:pt x="0" y="8043332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4583" dist="2116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3333" y="1651000"/>
            <a:ext cx="7577667" cy="762000"/>
          </a:xfrm>
          <a:custGeom>
            <a:avLst/>
            <a:gdLst/>
            <a:ahLst/>
            <a:cxnLst/>
            <a:rect l="l" t="t" r="r" b="b"/>
            <a:pathLst>
              <a:path w="7577667" h="762000">
                <a:moveTo>
                  <a:pt x="127003" y="0"/>
                </a:moveTo>
                <a:lnTo>
                  <a:pt x="7450664" y="0"/>
                </a:lnTo>
                <a:cubicBezTo>
                  <a:pt x="7520806" y="0"/>
                  <a:pt x="7577667" y="56861"/>
                  <a:pt x="7577667" y="127003"/>
                </a:cubicBezTo>
                <a:lnTo>
                  <a:pt x="7577667" y="762000"/>
                </a:lnTo>
                <a:lnTo>
                  <a:pt x="0" y="762000"/>
                </a:ln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gradFill flip="none" rotWithShape="1">
            <a:gsLst>
              <a:gs pos="0">
                <a:srgbClr val="5B677D"/>
              </a:gs>
              <a:gs pos="100000">
                <a:srgbClr val="212C42"/>
              </a:gs>
            </a:gsLst>
            <a:lin ang="0" scaled="1"/>
          </a:gradFill>
        </p:spPr>
      </p:sp>
      <p:sp>
        <p:nvSpPr>
          <p:cNvPr id="7" name="Shape 5"/>
          <p:cNvSpPr/>
          <p:nvPr/>
        </p:nvSpPr>
        <p:spPr>
          <a:xfrm>
            <a:off x="666750" y="190486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47625"/>
                </a:moveTo>
                <a:cubicBezTo>
                  <a:pt x="31750" y="38844"/>
                  <a:pt x="38844" y="31750"/>
                  <a:pt x="47625" y="31750"/>
                </a:cubicBezTo>
                <a:lnTo>
                  <a:pt x="127000" y="31750"/>
                </a:lnTo>
                <a:cubicBezTo>
                  <a:pt x="135781" y="31750"/>
                  <a:pt x="142875" y="38844"/>
                  <a:pt x="142875" y="47625"/>
                </a:cubicBezTo>
                <a:lnTo>
                  <a:pt x="142875" y="190500"/>
                </a:lnTo>
                <a:lnTo>
                  <a:pt x="190500" y="190500"/>
                </a:lnTo>
                <a:lnTo>
                  <a:pt x="190500" y="127000"/>
                </a:lnTo>
                <a:cubicBezTo>
                  <a:pt x="190500" y="118219"/>
                  <a:pt x="197594" y="111125"/>
                  <a:pt x="206375" y="111125"/>
                </a:cubicBezTo>
                <a:lnTo>
                  <a:pt x="238125" y="111125"/>
                </a:lnTo>
                <a:cubicBezTo>
                  <a:pt x="246906" y="111125"/>
                  <a:pt x="254000" y="118219"/>
                  <a:pt x="254000" y="127000"/>
                </a:cubicBezTo>
                <a:cubicBezTo>
                  <a:pt x="254000" y="135781"/>
                  <a:pt x="246906" y="142875"/>
                  <a:pt x="238125" y="142875"/>
                </a:cubicBezTo>
                <a:lnTo>
                  <a:pt x="222250" y="142875"/>
                </a:lnTo>
                <a:lnTo>
                  <a:pt x="222250" y="206375"/>
                </a:lnTo>
                <a:cubicBezTo>
                  <a:pt x="222250" y="215156"/>
                  <a:pt x="215156" y="222250"/>
                  <a:pt x="206375" y="222250"/>
                </a:cubicBezTo>
                <a:lnTo>
                  <a:pt x="127000" y="222250"/>
                </a:lnTo>
                <a:cubicBezTo>
                  <a:pt x="118219" y="222250"/>
                  <a:pt x="111125" y="215156"/>
                  <a:pt x="111125" y="206375"/>
                </a:cubicBezTo>
                <a:lnTo>
                  <a:pt x="111125" y="63500"/>
                </a:lnTo>
                <a:lnTo>
                  <a:pt x="63500" y="63500"/>
                </a:lnTo>
                <a:lnTo>
                  <a:pt x="63500" y="127000"/>
                </a:lnTo>
                <a:cubicBezTo>
                  <a:pt x="63500" y="135781"/>
                  <a:pt x="56406" y="142875"/>
                  <a:pt x="47625" y="142875"/>
                </a:cubicBezTo>
                <a:lnTo>
                  <a:pt x="15875" y="142875"/>
                </a:lnTo>
                <a:cubicBezTo>
                  <a:pt x="7094" y="142875"/>
                  <a:pt x="0" y="135781"/>
                  <a:pt x="0" y="127000"/>
                </a:cubicBezTo>
                <a:cubicBezTo>
                  <a:pt x="0" y="118219"/>
                  <a:pt x="7094" y="111125"/>
                  <a:pt x="15875" y="111125"/>
                </a:cubicBezTo>
                <a:lnTo>
                  <a:pt x="31750" y="111125"/>
                </a:lnTo>
                <a:lnTo>
                  <a:pt x="31750" y="4762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952500" y="1862667"/>
            <a:ext cx="6963833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非线性规划（Nonlinear Programming）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458" y="267744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10" name="Text 8"/>
          <p:cNvSpPr/>
          <p:nvPr/>
        </p:nvSpPr>
        <p:spPr>
          <a:xfrm>
            <a:off x="878417" y="2624532"/>
            <a:ext cx="7006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000" y="3005532"/>
            <a:ext cx="7239000" cy="550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目标函数或约束条件含非线性关系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（如"成本与产量成二次函数关系"）。适用于复杂工程设计、定价优化等场景。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1458" y="377811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20836"/>
                </a:moveTo>
                <a:lnTo>
                  <a:pt x="65484" y="35719"/>
                </a:lnTo>
                <a:lnTo>
                  <a:pt x="125016" y="35719"/>
                </a:lnTo>
                <a:lnTo>
                  <a:pt x="125016" y="20836"/>
                </a:lnTo>
                <a:cubicBezTo>
                  <a:pt x="125016" y="19199"/>
                  <a:pt x="123676" y="17859"/>
                  <a:pt x="122039" y="17859"/>
                </a:cubicBezTo>
                <a:lnTo>
                  <a:pt x="68461" y="17859"/>
                </a:lnTo>
                <a:cubicBezTo>
                  <a:pt x="66824" y="17859"/>
                  <a:pt x="65484" y="19199"/>
                  <a:pt x="65484" y="20836"/>
                </a:cubicBezTo>
                <a:close/>
                <a:moveTo>
                  <a:pt x="47625" y="35719"/>
                </a:moveTo>
                <a:lnTo>
                  <a:pt x="47625" y="20836"/>
                </a:lnTo>
                <a:cubicBezTo>
                  <a:pt x="47625" y="9339"/>
                  <a:pt x="56964" y="0"/>
                  <a:pt x="68461" y="0"/>
                </a:cubicBezTo>
                <a:lnTo>
                  <a:pt x="122039" y="0"/>
                </a:lnTo>
                <a:cubicBezTo>
                  <a:pt x="133536" y="0"/>
                  <a:pt x="142875" y="9339"/>
                  <a:pt x="142875" y="20836"/>
                </a:cubicBezTo>
                <a:lnTo>
                  <a:pt x="142875" y="35719"/>
                </a:lnTo>
                <a:lnTo>
                  <a:pt x="153330" y="35719"/>
                </a:lnTo>
                <a:cubicBezTo>
                  <a:pt x="158055" y="35719"/>
                  <a:pt x="162595" y="37616"/>
                  <a:pt x="165943" y="40965"/>
                </a:cubicBezTo>
                <a:lnTo>
                  <a:pt x="185254" y="60275"/>
                </a:lnTo>
                <a:cubicBezTo>
                  <a:pt x="188602" y="63624"/>
                  <a:pt x="190500" y="68163"/>
                  <a:pt x="190500" y="72889"/>
                </a:cubicBezTo>
                <a:lnTo>
                  <a:pt x="190500" y="101203"/>
                </a:lnTo>
                <a:lnTo>
                  <a:pt x="139898" y="101203"/>
                </a:lnTo>
                <a:lnTo>
                  <a:pt x="139898" y="95250"/>
                </a:lnTo>
                <a:cubicBezTo>
                  <a:pt x="139898" y="90301"/>
                  <a:pt x="135917" y="86320"/>
                  <a:pt x="130969" y="86320"/>
                </a:cubicBezTo>
                <a:cubicBezTo>
                  <a:pt x="126020" y="86320"/>
                  <a:pt x="122039" y="90301"/>
                  <a:pt x="122039" y="95250"/>
                </a:cubicBezTo>
                <a:lnTo>
                  <a:pt x="122039" y="101203"/>
                </a:lnTo>
                <a:lnTo>
                  <a:pt x="68461" y="101203"/>
                </a:lnTo>
                <a:lnTo>
                  <a:pt x="68461" y="95250"/>
                </a:lnTo>
                <a:cubicBezTo>
                  <a:pt x="68461" y="90301"/>
                  <a:pt x="64480" y="86320"/>
                  <a:pt x="59531" y="86320"/>
                </a:cubicBezTo>
                <a:cubicBezTo>
                  <a:pt x="54583" y="86320"/>
                  <a:pt x="50602" y="90301"/>
                  <a:pt x="50602" y="95250"/>
                </a:cubicBezTo>
                <a:lnTo>
                  <a:pt x="50602" y="101203"/>
                </a:lnTo>
                <a:lnTo>
                  <a:pt x="0" y="101203"/>
                </a:lnTo>
                <a:lnTo>
                  <a:pt x="0" y="72889"/>
                </a:lnTo>
                <a:cubicBezTo>
                  <a:pt x="0" y="68163"/>
                  <a:pt x="1898" y="63624"/>
                  <a:pt x="5246" y="60275"/>
                </a:cubicBezTo>
                <a:lnTo>
                  <a:pt x="24557" y="40965"/>
                </a:lnTo>
                <a:cubicBezTo>
                  <a:pt x="27905" y="37616"/>
                  <a:pt x="32445" y="35719"/>
                  <a:pt x="37170" y="35719"/>
                </a:cubicBezTo>
                <a:lnTo>
                  <a:pt x="47625" y="35719"/>
                </a:lnTo>
                <a:close/>
                <a:moveTo>
                  <a:pt x="0" y="154781"/>
                </a:moveTo>
                <a:lnTo>
                  <a:pt x="0" y="119063"/>
                </a:lnTo>
                <a:lnTo>
                  <a:pt x="50602" y="119063"/>
                </a:lnTo>
                <a:lnTo>
                  <a:pt x="50602" y="125016"/>
                </a:lnTo>
                <a:cubicBezTo>
                  <a:pt x="50602" y="129964"/>
                  <a:pt x="54583" y="133945"/>
                  <a:pt x="59531" y="133945"/>
                </a:cubicBezTo>
                <a:cubicBezTo>
                  <a:pt x="64480" y="133945"/>
                  <a:pt x="68461" y="129964"/>
                  <a:pt x="68461" y="125016"/>
                </a:cubicBezTo>
                <a:lnTo>
                  <a:pt x="68461" y="119063"/>
                </a:lnTo>
                <a:lnTo>
                  <a:pt x="122039" y="119063"/>
                </a:lnTo>
                <a:lnTo>
                  <a:pt x="122039" y="125016"/>
                </a:lnTo>
                <a:cubicBezTo>
                  <a:pt x="122039" y="129964"/>
                  <a:pt x="126020" y="133945"/>
                  <a:pt x="130969" y="133945"/>
                </a:cubicBezTo>
                <a:cubicBezTo>
                  <a:pt x="135917" y="133945"/>
                  <a:pt x="139898" y="129964"/>
                  <a:pt x="139898" y="125016"/>
                </a:cubicBezTo>
                <a:lnTo>
                  <a:pt x="139898" y="119063"/>
                </a:lnTo>
                <a:lnTo>
                  <a:pt x="190500" y="119063"/>
                </a:lnTo>
                <a:lnTo>
                  <a:pt x="190500" y="154781"/>
                </a:lnTo>
                <a:cubicBezTo>
                  <a:pt x="190500" y="167915"/>
                  <a:pt x="179822" y="178594"/>
                  <a:pt x="166688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13" name="Text 11"/>
          <p:cNvSpPr/>
          <p:nvPr/>
        </p:nvSpPr>
        <p:spPr>
          <a:xfrm>
            <a:off x="878417" y="3725199"/>
            <a:ext cx="7006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常用求解方法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6167" y="4148532"/>
            <a:ext cx="7133167" cy="762000"/>
          </a:xfrm>
          <a:custGeom>
            <a:avLst/>
            <a:gdLst/>
            <a:ahLst/>
            <a:cxnLst/>
            <a:rect l="l" t="t" r="r" b="b"/>
            <a:pathLst>
              <a:path w="7133167" h="762000">
                <a:moveTo>
                  <a:pt x="42333" y="0"/>
                </a:moveTo>
                <a:lnTo>
                  <a:pt x="7048501" y="0"/>
                </a:lnTo>
                <a:cubicBezTo>
                  <a:pt x="7095260" y="0"/>
                  <a:pt x="7133167" y="37906"/>
                  <a:pt x="7133167" y="84666"/>
                </a:cubicBezTo>
                <a:lnTo>
                  <a:pt x="7133167" y="677334"/>
                </a:lnTo>
                <a:cubicBezTo>
                  <a:pt x="7133167" y="724094"/>
                  <a:pt x="7095260" y="762000"/>
                  <a:pt x="7048501" y="762000"/>
                </a:cubicBez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56167" y="4148532"/>
            <a:ext cx="42333" cy="762000"/>
          </a:xfrm>
          <a:custGeom>
            <a:avLst/>
            <a:gdLst/>
            <a:ahLst/>
            <a:cxnLst/>
            <a:rect l="l" t="t" r="r" b="b"/>
            <a:pathLst>
              <a:path w="42333" h="762000">
                <a:moveTo>
                  <a:pt x="42333" y="0"/>
                </a:moveTo>
                <a:lnTo>
                  <a:pt x="42333" y="0"/>
                </a:lnTo>
                <a:lnTo>
                  <a:pt x="42333" y="762000"/>
                </a:ln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16" name="Text 14"/>
          <p:cNvSpPr/>
          <p:nvPr/>
        </p:nvSpPr>
        <p:spPr>
          <a:xfrm>
            <a:off x="804333" y="4275532"/>
            <a:ext cx="931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梯度下降法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85000" y="4275532"/>
            <a:ext cx="677333" cy="254000"/>
          </a:xfrm>
          <a:custGeom>
            <a:avLst/>
            <a:gdLst/>
            <a:ahLst/>
            <a:cxnLst/>
            <a:rect l="l" t="t" r="r" b="b"/>
            <a:pathLst>
              <a:path w="677333" h="254000">
                <a:moveTo>
                  <a:pt x="42334" y="0"/>
                </a:moveTo>
                <a:lnTo>
                  <a:pt x="634999" y="0"/>
                </a:lnTo>
                <a:cubicBezTo>
                  <a:pt x="658380" y="0"/>
                  <a:pt x="677333" y="18954"/>
                  <a:pt x="677333" y="42334"/>
                </a:cubicBezTo>
                <a:lnTo>
                  <a:pt x="677333" y="211666"/>
                </a:lnTo>
                <a:cubicBezTo>
                  <a:pt x="677333" y="235046"/>
                  <a:pt x="658380" y="254000"/>
                  <a:pt x="634999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18" name="Text 16"/>
          <p:cNvSpPr/>
          <p:nvPr/>
        </p:nvSpPr>
        <p:spPr>
          <a:xfrm>
            <a:off x="6985000" y="4275532"/>
            <a:ext cx="740833" cy="254000"/>
          </a:xfrm>
          <a:prstGeom prst="rect">
            <a:avLst/>
          </a:prstGeom>
          <a:noFill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光滑函数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333" y="4571866"/>
            <a:ext cx="6932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适用于可导的非线性函数，沿负梯度方向迭代搜索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6167" y="4995199"/>
            <a:ext cx="7133167" cy="762000"/>
          </a:xfrm>
          <a:custGeom>
            <a:avLst/>
            <a:gdLst/>
            <a:ahLst/>
            <a:cxnLst/>
            <a:rect l="l" t="t" r="r" b="b"/>
            <a:pathLst>
              <a:path w="7133167" h="762000">
                <a:moveTo>
                  <a:pt x="42333" y="0"/>
                </a:moveTo>
                <a:lnTo>
                  <a:pt x="7048501" y="0"/>
                </a:lnTo>
                <a:cubicBezTo>
                  <a:pt x="7095260" y="0"/>
                  <a:pt x="7133167" y="37906"/>
                  <a:pt x="7133167" y="84666"/>
                </a:cubicBezTo>
                <a:lnTo>
                  <a:pt x="7133167" y="677334"/>
                </a:lnTo>
                <a:cubicBezTo>
                  <a:pt x="7133167" y="724094"/>
                  <a:pt x="7095260" y="762000"/>
                  <a:pt x="7048501" y="762000"/>
                </a:cubicBez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656167" y="4995199"/>
            <a:ext cx="42333" cy="762000"/>
          </a:xfrm>
          <a:custGeom>
            <a:avLst/>
            <a:gdLst/>
            <a:ahLst/>
            <a:cxnLst/>
            <a:rect l="l" t="t" r="r" b="b"/>
            <a:pathLst>
              <a:path w="42333" h="762000">
                <a:moveTo>
                  <a:pt x="42333" y="0"/>
                </a:moveTo>
                <a:lnTo>
                  <a:pt x="42333" y="0"/>
                </a:lnTo>
                <a:lnTo>
                  <a:pt x="42333" y="762000"/>
                </a:ln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2" name="Text 20"/>
          <p:cNvSpPr/>
          <p:nvPr/>
        </p:nvSpPr>
        <p:spPr>
          <a:xfrm>
            <a:off x="804333" y="5122199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遗传算法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85000" y="5122199"/>
            <a:ext cx="677333" cy="254000"/>
          </a:xfrm>
          <a:custGeom>
            <a:avLst/>
            <a:gdLst/>
            <a:ahLst/>
            <a:cxnLst/>
            <a:rect l="l" t="t" r="r" b="b"/>
            <a:pathLst>
              <a:path w="677333" h="254000">
                <a:moveTo>
                  <a:pt x="42334" y="0"/>
                </a:moveTo>
                <a:lnTo>
                  <a:pt x="634999" y="0"/>
                </a:lnTo>
                <a:cubicBezTo>
                  <a:pt x="658380" y="0"/>
                  <a:pt x="677333" y="18954"/>
                  <a:pt x="677333" y="42334"/>
                </a:cubicBezTo>
                <a:lnTo>
                  <a:pt x="677333" y="211666"/>
                </a:lnTo>
                <a:cubicBezTo>
                  <a:pt x="677333" y="235046"/>
                  <a:pt x="658380" y="254000"/>
                  <a:pt x="634999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4" name="Text 22"/>
          <p:cNvSpPr/>
          <p:nvPr/>
        </p:nvSpPr>
        <p:spPr>
          <a:xfrm>
            <a:off x="6985000" y="5122199"/>
            <a:ext cx="740833" cy="254000"/>
          </a:xfrm>
          <a:prstGeom prst="rect">
            <a:avLst/>
          </a:prstGeom>
          <a:noFill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智能优化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333" y="5418532"/>
            <a:ext cx="6932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模拟自然选择，全局搜索能力强，避免局部最优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6167" y="5841866"/>
            <a:ext cx="7133167" cy="762000"/>
          </a:xfrm>
          <a:custGeom>
            <a:avLst/>
            <a:gdLst/>
            <a:ahLst/>
            <a:cxnLst/>
            <a:rect l="l" t="t" r="r" b="b"/>
            <a:pathLst>
              <a:path w="7133167" h="762000">
                <a:moveTo>
                  <a:pt x="42333" y="0"/>
                </a:moveTo>
                <a:lnTo>
                  <a:pt x="7048501" y="0"/>
                </a:lnTo>
                <a:cubicBezTo>
                  <a:pt x="7095260" y="0"/>
                  <a:pt x="7133167" y="37906"/>
                  <a:pt x="7133167" y="84666"/>
                </a:cubicBezTo>
                <a:lnTo>
                  <a:pt x="7133167" y="677334"/>
                </a:lnTo>
                <a:cubicBezTo>
                  <a:pt x="7133167" y="724094"/>
                  <a:pt x="7095260" y="762000"/>
                  <a:pt x="7048501" y="762000"/>
                </a:cubicBez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656167" y="5841866"/>
            <a:ext cx="42333" cy="762000"/>
          </a:xfrm>
          <a:custGeom>
            <a:avLst/>
            <a:gdLst/>
            <a:ahLst/>
            <a:cxnLst/>
            <a:rect l="l" t="t" r="r" b="b"/>
            <a:pathLst>
              <a:path w="42333" h="762000">
                <a:moveTo>
                  <a:pt x="42333" y="0"/>
                </a:moveTo>
                <a:lnTo>
                  <a:pt x="42333" y="0"/>
                </a:lnTo>
                <a:lnTo>
                  <a:pt x="42333" y="762000"/>
                </a:ln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28" name="Text 26"/>
          <p:cNvSpPr/>
          <p:nvPr/>
        </p:nvSpPr>
        <p:spPr>
          <a:xfrm>
            <a:off x="804333" y="5968866"/>
            <a:ext cx="931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粒子群优化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85000" y="5968866"/>
            <a:ext cx="677333" cy="254000"/>
          </a:xfrm>
          <a:custGeom>
            <a:avLst/>
            <a:gdLst/>
            <a:ahLst/>
            <a:cxnLst/>
            <a:rect l="l" t="t" r="r" b="b"/>
            <a:pathLst>
              <a:path w="677333" h="254000">
                <a:moveTo>
                  <a:pt x="42334" y="0"/>
                </a:moveTo>
                <a:lnTo>
                  <a:pt x="634999" y="0"/>
                </a:lnTo>
                <a:cubicBezTo>
                  <a:pt x="658380" y="0"/>
                  <a:pt x="677333" y="18954"/>
                  <a:pt x="677333" y="42334"/>
                </a:cubicBezTo>
                <a:lnTo>
                  <a:pt x="677333" y="211666"/>
                </a:lnTo>
                <a:cubicBezTo>
                  <a:pt x="677333" y="235046"/>
                  <a:pt x="658380" y="254000"/>
                  <a:pt x="634999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30" name="Text 28"/>
          <p:cNvSpPr/>
          <p:nvPr/>
        </p:nvSpPr>
        <p:spPr>
          <a:xfrm>
            <a:off x="6985000" y="5968866"/>
            <a:ext cx="740833" cy="254000"/>
          </a:xfrm>
          <a:prstGeom prst="rect">
            <a:avLst/>
          </a:prstGeom>
          <a:noFill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群体智能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4333" y="6265199"/>
            <a:ext cx="6932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模拟鸟群觅食，简单易实现，适合无导数场景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6167" y="6773199"/>
            <a:ext cx="7133167" cy="1397000"/>
          </a:xfrm>
          <a:custGeom>
            <a:avLst/>
            <a:gdLst/>
            <a:ahLst/>
            <a:cxnLst/>
            <a:rect l="l" t="t" r="r" b="b"/>
            <a:pathLst>
              <a:path w="7133167" h="1397000">
                <a:moveTo>
                  <a:pt x="42333" y="0"/>
                </a:moveTo>
                <a:lnTo>
                  <a:pt x="7048494" y="0"/>
                </a:lnTo>
                <a:cubicBezTo>
                  <a:pt x="7095258" y="0"/>
                  <a:pt x="7133167" y="37909"/>
                  <a:pt x="7133167" y="84672"/>
                </a:cubicBezTo>
                <a:lnTo>
                  <a:pt x="7133167" y="1312328"/>
                </a:lnTo>
                <a:cubicBezTo>
                  <a:pt x="7133167" y="1359091"/>
                  <a:pt x="7095258" y="1397000"/>
                  <a:pt x="7048494" y="1397000"/>
                </a:cubicBezTo>
                <a:lnTo>
                  <a:pt x="42333" y="1397000"/>
                </a:lnTo>
                <a:cubicBezTo>
                  <a:pt x="18953" y="1397000"/>
                  <a:pt x="0" y="1378047"/>
                  <a:pt x="0" y="135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656167" y="6773199"/>
            <a:ext cx="42333" cy="1397000"/>
          </a:xfrm>
          <a:custGeom>
            <a:avLst/>
            <a:gdLst/>
            <a:ahLst/>
            <a:cxnLst/>
            <a:rect l="l" t="t" r="r" b="b"/>
            <a:pathLst>
              <a:path w="42333" h="1397000">
                <a:moveTo>
                  <a:pt x="42333" y="0"/>
                </a:moveTo>
                <a:lnTo>
                  <a:pt x="42333" y="0"/>
                </a:lnTo>
                <a:lnTo>
                  <a:pt x="42333" y="1397000"/>
                </a:lnTo>
                <a:lnTo>
                  <a:pt x="42333" y="1397000"/>
                </a:lnTo>
                <a:cubicBezTo>
                  <a:pt x="18953" y="1397000"/>
                  <a:pt x="0" y="1378047"/>
                  <a:pt x="0" y="135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34" name="Text 32"/>
          <p:cNvSpPr/>
          <p:nvPr/>
        </p:nvSpPr>
        <p:spPr>
          <a:xfrm>
            <a:off x="846667" y="6942532"/>
            <a:ext cx="685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典型应用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6667" y="7281199"/>
            <a:ext cx="68474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工程设计中成本与性能的平衡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6667" y="7535199"/>
            <a:ext cx="68474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非线性定价策略优化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6667" y="7789199"/>
            <a:ext cx="68474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机器学习模型参数调优</a:t>
            </a:r>
            <a:endParaRPr lang="en-US" sz="1600" dirty="0"/>
          </a:p>
        </p:txBody>
      </p:sp>
      <p:grpSp>
        <p:nvGrpSpPr>
          <p:cNvPr id="66" name="组合 65"/>
          <p:cNvGrpSpPr/>
          <p:nvPr/>
        </p:nvGrpSpPr>
        <p:grpSpPr>
          <a:xfrm>
            <a:off x="8509000" y="720090"/>
            <a:ext cx="7576820" cy="8169910"/>
            <a:chOff x="13000" y="2600"/>
            <a:chExt cx="11932" cy="12866"/>
          </a:xfrm>
        </p:grpSpPr>
        <p:sp>
          <p:nvSpPr>
            <p:cNvPr id="38" name="Shape 36"/>
            <p:cNvSpPr/>
            <p:nvPr/>
          </p:nvSpPr>
          <p:spPr>
            <a:xfrm>
              <a:off x="13000" y="2600"/>
              <a:ext cx="11933" cy="12867"/>
            </a:xfrm>
            <a:custGeom>
              <a:avLst/>
              <a:gdLst/>
              <a:ahLst/>
              <a:cxnLst/>
              <a:rect l="l" t="t" r="r" b="b"/>
              <a:pathLst>
                <a:path w="7577667" h="8170333">
                  <a:moveTo>
                    <a:pt x="127002" y="0"/>
                  </a:moveTo>
                  <a:lnTo>
                    <a:pt x="7450665" y="0"/>
                  </a:lnTo>
                  <a:cubicBezTo>
                    <a:pt x="7520806" y="0"/>
                    <a:pt x="7577667" y="56861"/>
                    <a:pt x="7577667" y="127002"/>
                  </a:cubicBezTo>
                  <a:lnTo>
                    <a:pt x="7577667" y="8043332"/>
                  </a:lnTo>
                  <a:cubicBezTo>
                    <a:pt x="7577667" y="8113473"/>
                    <a:pt x="7520806" y="8170333"/>
                    <a:pt x="7450665" y="8170333"/>
                  </a:cubicBezTo>
                  <a:lnTo>
                    <a:pt x="127002" y="8170333"/>
                  </a:lnTo>
                  <a:cubicBezTo>
                    <a:pt x="56861" y="8170333"/>
                    <a:pt x="0" y="8113473"/>
                    <a:pt x="0" y="8043332"/>
                  </a:cubicBezTo>
                  <a:lnTo>
                    <a:pt x="0" y="127002"/>
                  </a:lnTo>
                  <a:cubicBezTo>
                    <a:pt x="0" y="56908"/>
                    <a:pt x="56908" y="0"/>
                    <a:pt x="127002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264583" dist="211667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9" name="Shape 37"/>
            <p:cNvSpPr/>
            <p:nvPr/>
          </p:nvSpPr>
          <p:spPr>
            <a:xfrm>
              <a:off x="13000" y="2600"/>
              <a:ext cx="11933" cy="1200"/>
            </a:xfrm>
            <a:custGeom>
              <a:avLst/>
              <a:gdLst/>
              <a:ahLst/>
              <a:cxnLst/>
              <a:rect l="l" t="t" r="r" b="b"/>
              <a:pathLst>
                <a:path w="7577667" h="762000">
                  <a:moveTo>
                    <a:pt x="127003" y="0"/>
                  </a:moveTo>
                  <a:lnTo>
                    <a:pt x="7450664" y="0"/>
                  </a:lnTo>
                  <a:cubicBezTo>
                    <a:pt x="7520806" y="0"/>
                    <a:pt x="7577667" y="56861"/>
                    <a:pt x="7577667" y="127003"/>
                  </a:cubicBezTo>
                  <a:lnTo>
                    <a:pt x="7577667" y="762000"/>
                  </a:lnTo>
                  <a:lnTo>
                    <a:pt x="0" y="762000"/>
                  </a:lnTo>
                  <a:lnTo>
                    <a:pt x="0" y="127003"/>
                  </a:lnTo>
                  <a:cubicBezTo>
                    <a:pt x="0" y="56908"/>
                    <a:pt x="56908" y="0"/>
                    <a:pt x="12700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6A085"/>
                </a:gs>
                <a:gs pos="100000">
                  <a:srgbClr val="5B677D"/>
                </a:gs>
              </a:gsLst>
              <a:lin ang="0" scaled="1"/>
            </a:gradFill>
          </p:spPr>
        </p:sp>
        <p:sp>
          <p:nvSpPr>
            <p:cNvPr id="40" name="Shape 38"/>
            <p:cNvSpPr/>
            <p:nvPr/>
          </p:nvSpPr>
          <p:spPr>
            <a:xfrm>
              <a:off x="13333" y="3000"/>
              <a:ext cx="500" cy="400"/>
            </a:xfrm>
            <a:custGeom>
              <a:avLst/>
              <a:gdLst/>
              <a:ahLst/>
              <a:cxnLst/>
              <a:rect l="l" t="t" r="r" b="b"/>
              <a:pathLst>
                <a:path w="317500" h="254000">
                  <a:moveTo>
                    <a:pt x="58638" y="30956"/>
                  </a:moveTo>
                  <a:cubicBezTo>
                    <a:pt x="50354" y="28178"/>
                    <a:pt x="45839" y="19149"/>
                    <a:pt x="48617" y="10864"/>
                  </a:cubicBezTo>
                  <a:cubicBezTo>
                    <a:pt x="51395" y="2580"/>
                    <a:pt x="60375" y="-1935"/>
                    <a:pt x="68709" y="794"/>
                  </a:cubicBezTo>
                  <a:lnTo>
                    <a:pt x="124768" y="19496"/>
                  </a:lnTo>
                  <a:cubicBezTo>
                    <a:pt x="131663" y="7838"/>
                    <a:pt x="144413" y="0"/>
                    <a:pt x="158948" y="0"/>
                  </a:cubicBezTo>
                  <a:cubicBezTo>
                    <a:pt x="180876" y="0"/>
                    <a:pt x="198636" y="17760"/>
                    <a:pt x="198636" y="39688"/>
                  </a:cubicBezTo>
                  <a:cubicBezTo>
                    <a:pt x="198636" y="41176"/>
                    <a:pt x="198537" y="42614"/>
                    <a:pt x="198388" y="44053"/>
                  </a:cubicBezTo>
                  <a:lnTo>
                    <a:pt x="259209" y="64343"/>
                  </a:lnTo>
                  <a:cubicBezTo>
                    <a:pt x="267543" y="67121"/>
                    <a:pt x="272008" y="76101"/>
                    <a:pt x="269230" y="84435"/>
                  </a:cubicBezTo>
                  <a:cubicBezTo>
                    <a:pt x="266452" y="92770"/>
                    <a:pt x="257473" y="97234"/>
                    <a:pt x="249138" y="94456"/>
                  </a:cubicBezTo>
                  <a:lnTo>
                    <a:pt x="181918" y="72033"/>
                  </a:lnTo>
                  <a:cubicBezTo>
                    <a:pt x="179685" y="73620"/>
                    <a:pt x="177304" y="74960"/>
                    <a:pt x="174774" y="76101"/>
                  </a:cubicBezTo>
                  <a:lnTo>
                    <a:pt x="174774" y="238175"/>
                  </a:lnTo>
                  <a:cubicBezTo>
                    <a:pt x="174774" y="246955"/>
                    <a:pt x="167680" y="254050"/>
                    <a:pt x="158899" y="254050"/>
                  </a:cubicBezTo>
                  <a:lnTo>
                    <a:pt x="63649" y="254050"/>
                  </a:lnTo>
                  <a:cubicBezTo>
                    <a:pt x="54868" y="254050"/>
                    <a:pt x="47774" y="246955"/>
                    <a:pt x="47774" y="238175"/>
                  </a:cubicBezTo>
                  <a:cubicBezTo>
                    <a:pt x="47774" y="229394"/>
                    <a:pt x="54868" y="222300"/>
                    <a:pt x="63649" y="222300"/>
                  </a:cubicBezTo>
                  <a:lnTo>
                    <a:pt x="143024" y="222300"/>
                  </a:lnTo>
                  <a:lnTo>
                    <a:pt x="143024" y="76101"/>
                  </a:lnTo>
                  <a:cubicBezTo>
                    <a:pt x="132606" y="71537"/>
                    <a:pt x="124569" y="62706"/>
                    <a:pt x="121096" y="51792"/>
                  </a:cubicBezTo>
                  <a:lnTo>
                    <a:pt x="58638" y="30956"/>
                  </a:lnTo>
                  <a:close/>
                  <a:moveTo>
                    <a:pt x="99616" y="142875"/>
                  </a:moveTo>
                  <a:lnTo>
                    <a:pt x="63649" y="81260"/>
                  </a:lnTo>
                  <a:lnTo>
                    <a:pt x="27732" y="142875"/>
                  </a:lnTo>
                  <a:lnTo>
                    <a:pt x="99616" y="142875"/>
                  </a:lnTo>
                  <a:close/>
                  <a:moveTo>
                    <a:pt x="63698" y="190500"/>
                  </a:moveTo>
                  <a:cubicBezTo>
                    <a:pt x="32494" y="190500"/>
                    <a:pt x="6548" y="173633"/>
                    <a:pt x="1191" y="151358"/>
                  </a:cubicBezTo>
                  <a:cubicBezTo>
                    <a:pt x="-99" y="145901"/>
                    <a:pt x="1687" y="140295"/>
                    <a:pt x="4514" y="135434"/>
                  </a:cubicBezTo>
                  <a:lnTo>
                    <a:pt x="51743" y="54471"/>
                  </a:lnTo>
                  <a:cubicBezTo>
                    <a:pt x="54223" y="50205"/>
                    <a:pt x="58787" y="47625"/>
                    <a:pt x="63698" y="47625"/>
                  </a:cubicBezTo>
                  <a:cubicBezTo>
                    <a:pt x="68610" y="47625"/>
                    <a:pt x="73174" y="50254"/>
                    <a:pt x="75654" y="54471"/>
                  </a:cubicBezTo>
                  <a:lnTo>
                    <a:pt x="122882" y="135434"/>
                  </a:lnTo>
                  <a:cubicBezTo>
                    <a:pt x="125710" y="140295"/>
                    <a:pt x="127496" y="145901"/>
                    <a:pt x="126206" y="151358"/>
                  </a:cubicBezTo>
                  <a:cubicBezTo>
                    <a:pt x="120848" y="173583"/>
                    <a:pt x="94903" y="190500"/>
                    <a:pt x="63698" y="190500"/>
                  </a:cubicBezTo>
                  <a:close/>
                  <a:moveTo>
                    <a:pt x="253603" y="144760"/>
                  </a:moveTo>
                  <a:lnTo>
                    <a:pt x="217686" y="206375"/>
                  </a:lnTo>
                  <a:lnTo>
                    <a:pt x="289570" y="206375"/>
                  </a:lnTo>
                  <a:lnTo>
                    <a:pt x="253653" y="144760"/>
                  </a:lnTo>
                  <a:close/>
                  <a:moveTo>
                    <a:pt x="316111" y="214858"/>
                  </a:moveTo>
                  <a:cubicBezTo>
                    <a:pt x="310753" y="237133"/>
                    <a:pt x="284807" y="254000"/>
                    <a:pt x="253603" y="254000"/>
                  </a:cubicBezTo>
                  <a:cubicBezTo>
                    <a:pt x="222399" y="254000"/>
                    <a:pt x="196453" y="237133"/>
                    <a:pt x="191095" y="214858"/>
                  </a:cubicBezTo>
                  <a:cubicBezTo>
                    <a:pt x="189805" y="209401"/>
                    <a:pt x="191591" y="203795"/>
                    <a:pt x="194419" y="198934"/>
                  </a:cubicBezTo>
                  <a:lnTo>
                    <a:pt x="241647" y="117971"/>
                  </a:lnTo>
                  <a:cubicBezTo>
                    <a:pt x="244128" y="113705"/>
                    <a:pt x="248692" y="111125"/>
                    <a:pt x="253603" y="111125"/>
                  </a:cubicBezTo>
                  <a:cubicBezTo>
                    <a:pt x="258514" y="111125"/>
                    <a:pt x="263079" y="113754"/>
                    <a:pt x="265559" y="117971"/>
                  </a:cubicBezTo>
                  <a:lnTo>
                    <a:pt x="312787" y="198934"/>
                  </a:lnTo>
                  <a:cubicBezTo>
                    <a:pt x="315615" y="203795"/>
                    <a:pt x="317401" y="209401"/>
                    <a:pt x="316111" y="2148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1" name="Text 39"/>
            <p:cNvSpPr/>
            <p:nvPr/>
          </p:nvSpPr>
          <p:spPr>
            <a:xfrm>
              <a:off x="13833" y="2933"/>
              <a:ext cx="10967" cy="5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阿里妈妈数黑体" pitchFamily="34" charset="-122"/>
                  <a:ea typeface="阿里妈妈数黑体" pitchFamily="34" charset="-122"/>
                  <a:cs typeface="阿里妈妈数黑体" pitchFamily="34" charset="-120"/>
                </a:rPr>
                <a:t>多目标优化（Multi-objective Optimization）</a:t>
              </a:r>
              <a:endParaRPr lang="en-US" sz="16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13375" y="4216"/>
              <a:ext cx="300" cy="3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83344" y="59531"/>
                  </a:moveTo>
                  <a:cubicBezTo>
                    <a:pt x="83344" y="52960"/>
                    <a:pt x="88679" y="47625"/>
                    <a:pt x="95250" y="47625"/>
                  </a:cubicBezTo>
                  <a:cubicBezTo>
                    <a:pt x="101821" y="47625"/>
                    <a:pt x="107156" y="52960"/>
                    <a:pt x="107156" y="59531"/>
                  </a:cubicBezTo>
                  <a:cubicBezTo>
                    <a:pt x="107156" y="66102"/>
                    <a:pt x="101821" y="71438"/>
                    <a:pt x="95250" y="71438"/>
                  </a:cubicBezTo>
                  <a:cubicBezTo>
                    <a:pt x="88679" y="71438"/>
                    <a:pt x="83344" y="66102"/>
                    <a:pt x="83344" y="59531"/>
                  </a:cubicBezTo>
                  <a:close/>
                  <a:moveTo>
                    <a:pt x="80367" y="83344"/>
                  </a:moveTo>
                  <a:lnTo>
                    <a:pt x="98227" y="83344"/>
                  </a:lnTo>
                  <a:cubicBezTo>
                    <a:pt x="103175" y="83344"/>
                    <a:pt x="107156" y="87325"/>
                    <a:pt x="107156" y="92273"/>
                  </a:cubicBezTo>
                  <a:lnTo>
                    <a:pt x="107156" y="125016"/>
                  </a:lnTo>
                  <a:lnTo>
                    <a:pt x="110133" y="125016"/>
                  </a:lnTo>
                  <a:cubicBezTo>
                    <a:pt x="115081" y="125016"/>
                    <a:pt x="119063" y="128997"/>
                    <a:pt x="119063" y="133945"/>
                  </a:cubicBezTo>
                  <a:cubicBezTo>
                    <a:pt x="119063" y="138894"/>
                    <a:pt x="115081" y="142875"/>
                    <a:pt x="110133" y="142875"/>
                  </a:cubicBezTo>
                  <a:lnTo>
                    <a:pt x="80367" y="142875"/>
                  </a:lnTo>
                  <a:cubicBezTo>
                    <a:pt x="75419" y="142875"/>
                    <a:pt x="71438" y="138894"/>
                    <a:pt x="71438" y="133945"/>
                  </a:cubicBezTo>
                  <a:cubicBezTo>
                    <a:pt x="71438" y="128997"/>
                    <a:pt x="75419" y="125016"/>
                    <a:pt x="80367" y="125016"/>
                  </a:cubicBezTo>
                  <a:lnTo>
                    <a:pt x="89297" y="125016"/>
                  </a:lnTo>
                  <a:lnTo>
                    <a:pt x="89297" y="101203"/>
                  </a:lnTo>
                  <a:lnTo>
                    <a:pt x="80367" y="101203"/>
                  </a:lnTo>
                  <a:cubicBezTo>
                    <a:pt x="75419" y="101203"/>
                    <a:pt x="71438" y="97222"/>
                    <a:pt x="71438" y="92273"/>
                  </a:cubicBezTo>
                  <a:cubicBezTo>
                    <a:pt x="71438" y="87325"/>
                    <a:pt x="75419" y="83344"/>
                    <a:pt x="80367" y="83344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  <p:sp>
          <p:nvSpPr>
            <p:cNvPr id="43" name="Text 41"/>
            <p:cNvSpPr/>
            <p:nvPr/>
          </p:nvSpPr>
          <p:spPr>
            <a:xfrm>
              <a:off x="13717" y="4133"/>
              <a:ext cx="11033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212C42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核心特征</a:t>
              </a:r>
              <a:endParaRPr lang="en-US" sz="16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13333" y="4733"/>
              <a:ext cx="11400" cy="8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35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存在</a:t>
              </a:r>
              <a:r>
                <a:rPr lang="en-US" sz="1335" b="1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多个冲突目标</a:t>
              </a:r>
              <a:r>
                <a:rPr lang="en-US" sz="1335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（如"成本最低"与"效率最高"、"质量最优"与"时间最短"）。无法同时达到所有目标的最优。</a:t>
              </a:r>
              <a:endParaRPr lang="en-US" sz="16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13413" y="5950"/>
              <a:ext cx="225" cy="3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108979" y="142875"/>
                  </a:moveTo>
                  <a:cubicBezTo>
                    <a:pt x="111696" y="134578"/>
                    <a:pt x="117128" y="127062"/>
                    <a:pt x="123267" y="120588"/>
                  </a:cubicBezTo>
                  <a:cubicBezTo>
                    <a:pt x="135434" y="107789"/>
                    <a:pt x="142875" y="90488"/>
                    <a:pt x="142875" y="71438"/>
                  </a:cubicBezTo>
                  <a:cubicBezTo>
                    <a:pt x="142875" y="31998"/>
                    <a:pt x="110877" y="0"/>
                    <a:pt x="71437" y="0"/>
                  </a:cubicBezTo>
                  <a:cubicBezTo>
                    <a:pt x="31998" y="0"/>
                    <a:pt x="0" y="31998"/>
                    <a:pt x="0" y="71438"/>
                  </a:cubicBezTo>
                  <a:cubicBezTo>
                    <a:pt x="0" y="90488"/>
                    <a:pt x="7441" y="107789"/>
                    <a:pt x="19608" y="120588"/>
                  </a:cubicBezTo>
                  <a:cubicBezTo>
                    <a:pt x="25747" y="127062"/>
                    <a:pt x="31217" y="134578"/>
                    <a:pt x="33896" y="142875"/>
                  </a:cubicBezTo>
                  <a:lnTo>
                    <a:pt x="108942" y="142875"/>
                  </a:lnTo>
                  <a:close/>
                  <a:moveTo>
                    <a:pt x="107156" y="160734"/>
                  </a:moveTo>
                  <a:lnTo>
                    <a:pt x="35719" y="160734"/>
                  </a:lnTo>
                  <a:lnTo>
                    <a:pt x="35719" y="166688"/>
                  </a:lnTo>
                  <a:cubicBezTo>
                    <a:pt x="35719" y="183133"/>
                    <a:pt x="49039" y="196453"/>
                    <a:pt x="65484" y="196453"/>
                  </a:cubicBezTo>
                  <a:lnTo>
                    <a:pt x="77391" y="196453"/>
                  </a:lnTo>
                  <a:cubicBezTo>
                    <a:pt x="93836" y="196453"/>
                    <a:pt x="107156" y="183133"/>
                    <a:pt x="107156" y="166688"/>
                  </a:cubicBezTo>
                  <a:lnTo>
                    <a:pt x="107156" y="160734"/>
                  </a:lnTo>
                  <a:close/>
                  <a:moveTo>
                    <a:pt x="68461" y="41672"/>
                  </a:moveTo>
                  <a:cubicBezTo>
                    <a:pt x="53653" y="41672"/>
                    <a:pt x="41672" y="53653"/>
                    <a:pt x="41672" y="68461"/>
                  </a:cubicBezTo>
                  <a:cubicBezTo>
                    <a:pt x="41672" y="73409"/>
                    <a:pt x="37691" y="77391"/>
                    <a:pt x="32742" y="77391"/>
                  </a:cubicBezTo>
                  <a:cubicBezTo>
                    <a:pt x="27794" y="77391"/>
                    <a:pt x="23812" y="73409"/>
                    <a:pt x="23812" y="68461"/>
                  </a:cubicBezTo>
                  <a:cubicBezTo>
                    <a:pt x="23812" y="43793"/>
                    <a:pt x="43793" y="23812"/>
                    <a:pt x="68461" y="23812"/>
                  </a:cubicBezTo>
                  <a:cubicBezTo>
                    <a:pt x="73409" y="23812"/>
                    <a:pt x="77391" y="27794"/>
                    <a:pt x="77391" y="32742"/>
                  </a:cubicBezTo>
                  <a:cubicBezTo>
                    <a:pt x="77391" y="37691"/>
                    <a:pt x="73409" y="41672"/>
                    <a:pt x="68461" y="41672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  <p:sp>
          <p:nvSpPr>
            <p:cNvPr id="46" name="Text 44"/>
            <p:cNvSpPr/>
            <p:nvPr/>
          </p:nvSpPr>
          <p:spPr>
            <a:xfrm>
              <a:off x="13717" y="5866"/>
              <a:ext cx="11033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212C42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核心思想</a:t>
              </a:r>
              <a:endParaRPr lang="en-US" sz="16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13333" y="6466"/>
              <a:ext cx="11267" cy="1400"/>
            </a:xfrm>
            <a:custGeom>
              <a:avLst/>
              <a:gdLst/>
              <a:ahLst/>
              <a:cxnLst/>
              <a:rect l="l" t="t" r="r" b="b"/>
              <a:pathLst>
                <a:path w="7154333" h="889000">
                  <a:moveTo>
                    <a:pt x="84668" y="0"/>
                  </a:moveTo>
                  <a:lnTo>
                    <a:pt x="7069665" y="0"/>
                  </a:lnTo>
                  <a:cubicBezTo>
                    <a:pt x="7116426" y="0"/>
                    <a:pt x="7154333" y="37907"/>
                    <a:pt x="7154333" y="84668"/>
                  </a:cubicBezTo>
                  <a:lnTo>
                    <a:pt x="7154333" y="804332"/>
                  </a:lnTo>
                  <a:cubicBezTo>
                    <a:pt x="7154333" y="851093"/>
                    <a:pt x="7116426" y="889000"/>
                    <a:pt x="7069665" y="889000"/>
                  </a:cubicBezTo>
                  <a:lnTo>
                    <a:pt x="84668" y="889000"/>
                  </a:lnTo>
                  <a:cubicBezTo>
                    <a:pt x="37907" y="889000"/>
                    <a:pt x="0" y="851093"/>
                    <a:pt x="0" y="804332"/>
                  </a:cubicBezTo>
                  <a:lnTo>
                    <a:pt x="0" y="84668"/>
                  </a:lnTo>
                  <a:cubicBezTo>
                    <a:pt x="0" y="37939"/>
                    <a:pt x="37939" y="0"/>
                    <a:pt x="84668" y="0"/>
                  </a:cubicBezTo>
                  <a:close/>
                </a:path>
              </a:pathLst>
            </a:custGeom>
            <a:solidFill>
              <a:srgbClr val="16A085">
                <a:alpha val="10196"/>
              </a:srgbClr>
            </a:solidFill>
          </p:spPr>
        </p:sp>
        <p:sp>
          <p:nvSpPr>
            <p:cNvPr id="48" name="Text 46"/>
            <p:cNvSpPr/>
            <p:nvPr/>
          </p:nvSpPr>
          <p:spPr>
            <a:xfrm>
              <a:off x="13600" y="6733"/>
              <a:ext cx="10867" cy="8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35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将多目标转化为单目标（</a:t>
              </a:r>
              <a:r>
                <a:rPr lang="en-US" sz="1335" b="1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加权求和</a:t>
              </a:r>
              <a:r>
                <a:rPr lang="en-US" sz="1335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）或寻找</a:t>
              </a:r>
              <a:r>
                <a:rPr lang="en-US" sz="1335" b="1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帕累托最优解</a:t>
              </a:r>
              <a:r>
                <a:rPr lang="en-US" sz="1335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（无法在不损害其他目标的情况下改进任一目标）。</a:t>
              </a:r>
              <a:endParaRPr lang="en-US" sz="16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13375" y="8216"/>
              <a:ext cx="300" cy="3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71438" y="23812"/>
                  </a:moveTo>
                  <a:cubicBezTo>
                    <a:pt x="71438" y="17227"/>
                    <a:pt x="76758" y="11906"/>
                    <a:pt x="83344" y="11906"/>
                  </a:cubicBezTo>
                  <a:lnTo>
                    <a:pt x="107156" y="11906"/>
                  </a:lnTo>
                  <a:cubicBezTo>
                    <a:pt x="113742" y="11906"/>
                    <a:pt x="119063" y="17227"/>
                    <a:pt x="119063" y="23812"/>
                  </a:cubicBezTo>
                  <a:lnTo>
                    <a:pt x="119063" y="47625"/>
                  </a:lnTo>
                  <a:cubicBezTo>
                    <a:pt x="119063" y="54211"/>
                    <a:pt x="113742" y="59531"/>
                    <a:pt x="107156" y="59531"/>
                  </a:cubicBezTo>
                  <a:lnTo>
                    <a:pt x="104180" y="59531"/>
                  </a:lnTo>
                  <a:lnTo>
                    <a:pt x="104180" y="83344"/>
                  </a:lnTo>
                  <a:lnTo>
                    <a:pt x="148828" y="83344"/>
                  </a:lnTo>
                  <a:cubicBezTo>
                    <a:pt x="163637" y="83344"/>
                    <a:pt x="175617" y="95324"/>
                    <a:pt x="175617" y="110133"/>
                  </a:cubicBezTo>
                  <a:lnTo>
                    <a:pt x="175617" y="130969"/>
                  </a:lnTo>
                  <a:lnTo>
                    <a:pt x="178594" y="130969"/>
                  </a:lnTo>
                  <a:cubicBezTo>
                    <a:pt x="185179" y="130969"/>
                    <a:pt x="190500" y="136289"/>
                    <a:pt x="190500" y="142875"/>
                  </a:cubicBezTo>
                  <a:lnTo>
                    <a:pt x="190500" y="166688"/>
                  </a:lnTo>
                  <a:cubicBezTo>
                    <a:pt x="190500" y="173273"/>
                    <a:pt x="185179" y="178594"/>
                    <a:pt x="178594" y="178594"/>
                  </a:cubicBezTo>
                  <a:lnTo>
                    <a:pt x="154781" y="178594"/>
                  </a:lnTo>
                  <a:cubicBezTo>
                    <a:pt x="148196" y="178594"/>
                    <a:pt x="142875" y="173273"/>
                    <a:pt x="142875" y="166688"/>
                  </a:cubicBezTo>
                  <a:lnTo>
                    <a:pt x="142875" y="142875"/>
                  </a:lnTo>
                  <a:cubicBezTo>
                    <a:pt x="142875" y="136289"/>
                    <a:pt x="148196" y="130969"/>
                    <a:pt x="154781" y="130969"/>
                  </a:cubicBezTo>
                  <a:lnTo>
                    <a:pt x="157758" y="130969"/>
                  </a:lnTo>
                  <a:lnTo>
                    <a:pt x="157758" y="110133"/>
                  </a:lnTo>
                  <a:cubicBezTo>
                    <a:pt x="157758" y="105184"/>
                    <a:pt x="153777" y="101203"/>
                    <a:pt x="148828" y="101203"/>
                  </a:cubicBezTo>
                  <a:lnTo>
                    <a:pt x="104180" y="101203"/>
                  </a:lnTo>
                  <a:lnTo>
                    <a:pt x="104180" y="130969"/>
                  </a:lnTo>
                  <a:lnTo>
                    <a:pt x="107156" y="130969"/>
                  </a:lnTo>
                  <a:cubicBezTo>
                    <a:pt x="113742" y="130969"/>
                    <a:pt x="119063" y="136289"/>
                    <a:pt x="119063" y="142875"/>
                  </a:cubicBezTo>
                  <a:lnTo>
                    <a:pt x="119063" y="166688"/>
                  </a:lnTo>
                  <a:cubicBezTo>
                    <a:pt x="119063" y="173273"/>
                    <a:pt x="113742" y="178594"/>
                    <a:pt x="107156" y="178594"/>
                  </a:cubicBezTo>
                  <a:lnTo>
                    <a:pt x="83344" y="178594"/>
                  </a:lnTo>
                  <a:cubicBezTo>
                    <a:pt x="76758" y="178594"/>
                    <a:pt x="71438" y="173273"/>
                    <a:pt x="71438" y="166688"/>
                  </a:cubicBezTo>
                  <a:lnTo>
                    <a:pt x="71438" y="142875"/>
                  </a:lnTo>
                  <a:cubicBezTo>
                    <a:pt x="71438" y="136289"/>
                    <a:pt x="76758" y="130969"/>
                    <a:pt x="83344" y="130969"/>
                  </a:cubicBezTo>
                  <a:lnTo>
                    <a:pt x="86320" y="130969"/>
                  </a:lnTo>
                  <a:lnTo>
                    <a:pt x="86320" y="101203"/>
                  </a:lnTo>
                  <a:lnTo>
                    <a:pt x="41672" y="101203"/>
                  </a:lnTo>
                  <a:cubicBezTo>
                    <a:pt x="36723" y="101203"/>
                    <a:pt x="32742" y="105184"/>
                    <a:pt x="32742" y="110133"/>
                  </a:cubicBezTo>
                  <a:lnTo>
                    <a:pt x="32742" y="130969"/>
                  </a:lnTo>
                  <a:lnTo>
                    <a:pt x="35719" y="130969"/>
                  </a:lnTo>
                  <a:cubicBezTo>
                    <a:pt x="42304" y="130969"/>
                    <a:pt x="47625" y="136289"/>
                    <a:pt x="47625" y="142875"/>
                  </a:cubicBezTo>
                  <a:lnTo>
                    <a:pt x="47625" y="166688"/>
                  </a:lnTo>
                  <a:cubicBezTo>
                    <a:pt x="47625" y="173273"/>
                    <a:pt x="42304" y="178594"/>
                    <a:pt x="35719" y="178594"/>
                  </a:cubicBezTo>
                  <a:lnTo>
                    <a:pt x="11906" y="178594"/>
                  </a:lnTo>
                  <a:cubicBezTo>
                    <a:pt x="5321" y="178594"/>
                    <a:pt x="0" y="173273"/>
                    <a:pt x="0" y="166688"/>
                  </a:cubicBezTo>
                  <a:lnTo>
                    <a:pt x="0" y="142875"/>
                  </a:lnTo>
                  <a:cubicBezTo>
                    <a:pt x="0" y="136289"/>
                    <a:pt x="5321" y="130969"/>
                    <a:pt x="11906" y="130969"/>
                  </a:cubicBezTo>
                  <a:lnTo>
                    <a:pt x="14883" y="130969"/>
                  </a:lnTo>
                  <a:lnTo>
                    <a:pt x="14883" y="110133"/>
                  </a:lnTo>
                  <a:cubicBezTo>
                    <a:pt x="14883" y="95324"/>
                    <a:pt x="26863" y="83344"/>
                    <a:pt x="41672" y="83344"/>
                  </a:cubicBezTo>
                  <a:lnTo>
                    <a:pt x="86320" y="83344"/>
                  </a:lnTo>
                  <a:lnTo>
                    <a:pt x="86320" y="59531"/>
                  </a:lnTo>
                  <a:lnTo>
                    <a:pt x="83344" y="59531"/>
                  </a:lnTo>
                  <a:cubicBezTo>
                    <a:pt x="76758" y="59531"/>
                    <a:pt x="71438" y="54211"/>
                    <a:pt x="71438" y="47625"/>
                  </a:cubicBezTo>
                  <a:lnTo>
                    <a:pt x="71438" y="23812"/>
                  </a:lnTo>
                  <a:close/>
                </a:path>
              </a:pathLst>
            </a:custGeom>
            <a:solidFill>
              <a:srgbClr val="16A085"/>
            </a:solidFill>
          </p:spPr>
        </p:sp>
        <p:sp>
          <p:nvSpPr>
            <p:cNvPr id="50" name="Text 48"/>
            <p:cNvSpPr/>
            <p:nvPr/>
          </p:nvSpPr>
          <p:spPr>
            <a:xfrm>
              <a:off x="13717" y="8133"/>
              <a:ext cx="11033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212C42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求解策略</a:t>
              </a:r>
              <a:endParaRPr lang="en-US" sz="16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13333" y="8800"/>
              <a:ext cx="11267" cy="1200"/>
            </a:xfrm>
            <a:custGeom>
              <a:avLst/>
              <a:gdLst/>
              <a:ahLst/>
              <a:cxnLst/>
              <a:rect l="l" t="t" r="r" b="b"/>
              <a:pathLst>
                <a:path w="7154333" h="762000">
                  <a:moveTo>
                    <a:pt x="84666" y="0"/>
                  </a:moveTo>
                  <a:lnTo>
                    <a:pt x="7069668" y="0"/>
                  </a:lnTo>
                  <a:cubicBezTo>
                    <a:pt x="7116427" y="0"/>
                    <a:pt x="7154333" y="37906"/>
                    <a:pt x="7154333" y="84666"/>
                  </a:cubicBezTo>
                  <a:lnTo>
                    <a:pt x="7154333" y="677334"/>
                  </a:lnTo>
                  <a:cubicBezTo>
                    <a:pt x="7154333" y="724094"/>
                    <a:pt x="7116427" y="762000"/>
                    <a:pt x="7069668" y="762000"/>
                  </a:cubicBezTo>
                  <a:lnTo>
                    <a:pt x="84666" y="762000"/>
                  </a:lnTo>
                  <a:cubicBezTo>
                    <a:pt x="37906" y="762000"/>
                    <a:pt x="0" y="724094"/>
                    <a:pt x="0" y="677334"/>
                  </a:cubicBezTo>
                  <a:lnTo>
                    <a:pt x="0" y="84666"/>
                  </a:lnTo>
                  <a:cubicBezTo>
                    <a:pt x="0" y="37937"/>
                    <a:pt x="37937" y="0"/>
                    <a:pt x="84666" y="0"/>
                  </a:cubicBezTo>
                  <a:close/>
                </a:path>
              </a:pathLst>
            </a:custGeom>
            <a:solidFill>
              <a:srgbClr val="16A085">
                <a:alpha val="10196"/>
              </a:srgbClr>
            </a:solidFill>
          </p:spPr>
        </p:sp>
        <p:sp>
          <p:nvSpPr>
            <p:cNvPr id="52" name="Text 50"/>
            <p:cNvSpPr/>
            <p:nvPr/>
          </p:nvSpPr>
          <p:spPr>
            <a:xfrm>
              <a:off x="13533" y="9000"/>
              <a:ext cx="1100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212C42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加权求和法</a:t>
              </a:r>
              <a:endParaRPr lang="en-US" sz="16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13533" y="9466"/>
              <a:ext cx="10983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5" dirty="0">
                  <a:solidFill>
                    <a:srgbClr val="5B677D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将多个目标加权整合为单一目标函数</a:t>
              </a:r>
              <a:endParaRPr lang="en-US" sz="16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13333" y="10133"/>
              <a:ext cx="11267" cy="1200"/>
            </a:xfrm>
            <a:custGeom>
              <a:avLst/>
              <a:gdLst/>
              <a:ahLst/>
              <a:cxnLst/>
              <a:rect l="l" t="t" r="r" b="b"/>
              <a:pathLst>
                <a:path w="7154333" h="762000">
                  <a:moveTo>
                    <a:pt x="84666" y="0"/>
                  </a:moveTo>
                  <a:lnTo>
                    <a:pt x="7069668" y="0"/>
                  </a:lnTo>
                  <a:cubicBezTo>
                    <a:pt x="7116427" y="0"/>
                    <a:pt x="7154333" y="37906"/>
                    <a:pt x="7154333" y="84666"/>
                  </a:cubicBezTo>
                  <a:lnTo>
                    <a:pt x="7154333" y="677334"/>
                  </a:lnTo>
                  <a:cubicBezTo>
                    <a:pt x="7154333" y="724094"/>
                    <a:pt x="7116427" y="762000"/>
                    <a:pt x="7069668" y="762000"/>
                  </a:cubicBezTo>
                  <a:lnTo>
                    <a:pt x="84666" y="762000"/>
                  </a:lnTo>
                  <a:cubicBezTo>
                    <a:pt x="37906" y="762000"/>
                    <a:pt x="0" y="724094"/>
                    <a:pt x="0" y="677334"/>
                  </a:cubicBezTo>
                  <a:lnTo>
                    <a:pt x="0" y="84666"/>
                  </a:lnTo>
                  <a:cubicBezTo>
                    <a:pt x="0" y="37937"/>
                    <a:pt x="37937" y="0"/>
                    <a:pt x="84666" y="0"/>
                  </a:cubicBezTo>
                  <a:close/>
                </a:path>
              </a:pathLst>
            </a:custGeom>
            <a:solidFill>
              <a:srgbClr val="212C42">
                <a:alpha val="10196"/>
              </a:srgbClr>
            </a:solidFill>
          </p:spPr>
        </p:sp>
        <p:sp>
          <p:nvSpPr>
            <p:cNvPr id="55" name="Text 53"/>
            <p:cNvSpPr/>
            <p:nvPr/>
          </p:nvSpPr>
          <p:spPr>
            <a:xfrm>
              <a:off x="13533" y="10333"/>
              <a:ext cx="1100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212C42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约束法</a:t>
              </a:r>
              <a:endParaRPr lang="en-US" sz="16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3533" y="10800"/>
              <a:ext cx="10983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5" dirty="0">
                  <a:solidFill>
                    <a:srgbClr val="5B677D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优化一个目标，将其他目标转为约束</a:t>
              </a:r>
              <a:endParaRPr lang="en-US" sz="16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13333" y="11466"/>
              <a:ext cx="11267" cy="1200"/>
            </a:xfrm>
            <a:custGeom>
              <a:avLst/>
              <a:gdLst/>
              <a:ahLst/>
              <a:cxnLst/>
              <a:rect l="l" t="t" r="r" b="b"/>
              <a:pathLst>
                <a:path w="7154333" h="762000">
                  <a:moveTo>
                    <a:pt x="84666" y="0"/>
                  </a:moveTo>
                  <a:lnTo>
                    <a:pt x="7069668" y="0"/>
                  </a:lnTo>
                  <a:cubicBezTo>
                    <a:pt x="7116427" y="0"/>
                    <a:pt x="7154333" y="37906"/>
                    <a:pt x="7154333" y="84666"/>
                  </a:cubicBezTo>
                  <a:lnTo>
                    <a:pt x="7154333" y="677334"/>
                  </a:lnTo>
                  <a:cubicBezTo>
                    <a:pt x="7154333" y="724094"/>
                    <a:pt x="7116427" y="762000"/>
                    <a:pt x="7069668" y="762000"/>
                  </a:cubicBezTo>
                  <a:lnTo>
                    <a:pt x="84666" y="762000"/>
                  </a:lnTo>
                  <a:cubicBezTo>
                    <a:pt x="37906" y="762000"/>
                    <a:pt x="0" y="724094"/>
                    <a:pt x="0" y="677334"/>
                  </a:cubicBezTo>
                  <a:lnTo>
                    <a:pt x="0" y="84666"/>
                  </a:lnTo>
                  <a:cubicBezTo>
                    <a:pt x="0" y="37937"/>
                    <a:pt x="37937" y="0"/>
                    <a:pt x="84666" y="0"/>
                  </a:cubicBezTo>
                  <a:close/>
                </a:path>
              </a:pathLst>
            </a:custGeom>
            <a:solidFill>
              <a:srgbClr val="5B677D">
                <a:alpha val="10196"/>
              </a:srgbClr>
            </a:solidFill>
          </p:spPr>
        </p:sp>
        <p:sp>
          <p:nvSpPr>
            <p:cNvPr id="58" name="Text 56"/>
            <p:cNvSpPr/>
            <p:nvPr/>
          </p:nvSpPr>
          <p:spPr>
            <a:xfrm>
              <a:off x="13533" y="11666"/>
              <a:ext cx="1100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212C42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帕累托最优</a:t>
              </a:r>
              <a:endParaRPr lang="en-US" sz="16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13533" y="12133"/>
              <a:ext cx="10983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5" dirty="0">
                  <a:solidFill>
                    <a:srgbClr val="5B677D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寻找非劣解集，供决策者选择</a:t>
              </a:r>
              <a:endParaRPr lang="en-US" sz="16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13367" y="12933"/>
              <a:ext cx="11233" cy="2200"/>
            </a:xfrm>
            <a:custGeom>
              <a:avLst/>
              <a:gdLst/>
              <a:ahLst/>
              <a:cxnLst/>
              <a:rect l="l" t="t" r="r" b="b"/>
              <a:pathLst>
                <a:path w="7133167" h="1397000">
                  <a:moveTo>
                    <a:pt x="42333" y="0"/>
                  </a:moveTo>
                  <a:lnTo>
                    <a:pt x="7048494" y="0"/>
                  </a:lnTo>
                  <a:cubicBezTo>
                    <a:pt x="7095258" y="0"/>
                    <a:pt x="7133167" y="37909"/>
                    <a:pt x="7133167" y="84672"/>
                  </a:cubicBezTo>
                  <a:lnTo>
                    <a:pt x="7133167" y="1312328"/>
                  </a:lnTo>
                  <a:cubicBezTo>
                    <a:pt x="7133167" y="1359091"/>
                    <a:pt x="7095258" y="1397000"/>
                    <a:pt x="7048494" y="1397000"/>
                  </a:cubicBezTo>
                  <a:lnTo>
                    <a:pt x="42333" y="1397000"/>
                  </a:lnTo>
                  <a:cubicBezTo>
                    <a:pt x="18953" y="1397000"/>
                    <a:pt x="0" y="1378047"/>
                    <a:pt x="0" y="1354667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16A085">
                <a:alpha val="10196"/>
              </a:srgbClr>
            </a:solidFill>
          </p:spPr>
        </p:sp>
        <p:sp>
          <p:nvSpPr>
            <p:cNvPr id="61" name="Shape 59"/>
            <p:cNvSpPr/>
            <p:nvPr/>
          </p:nvSpPr>
          <p:spPr>
            <a:xfrm>
              <a:off x="13367" y="12933"/>
              <a:ext cx="67" cy="2200"/>
            </a:xfrm>
            <a:custGeom>
              <a:avLst/>
              <a:gdLst/>
              <a:ahLst/>
              <a:cxnLst/>
              <a:rect l="l" t="t" r="r" b="b"/>
              <a:pathLst>
                <a:path w="42333" h="1397000">
                  <a:moveTo>
                    <a:pt x="42333" y="0"/>
                  </a:moveTo>
                  <a:lnTo>
                    <a:pt x="42333" y="0"/>
                  </a:lnTo>
                  <a:lnTo>
                    <a:pt x="42333" y="1397000"/>
                  </a:lnTo>
                  <a:lnTo>
                    <a:pt x="42333" y="1397000"/>
                  </a:lnTo>
                  <a:cubicBezTo>
                    <a:pt x="18953" y="1397000"/>
                    <a:pt x="0" y="1378047"/>
                    <a:pt x="0" y="1354667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  <p:sp>
          <p:nvSpPr>
            <p:cNvPr id="62" name="Text 60"/>
            <p:cNvSpPr/>
            <p:nvPr/>
          </p:nvSpPr>
          <p:spPr>
            <a:xfrm>
              <a:off x="13667" y="13200"/>
              <a:ext cx="1080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212C42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典型应用</a:t>
              </a:r>
              <a:endParaRPr lang="en-US" sz="16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13667" y="13733"/>
              <a:ext cx="10783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5" dirty="0">
                  <a:solidFill>
                    <a:srgbClr val="5B677D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• 投资组合：收益最大化 vs 风险最小化</a:t>
              </a:r>
              <a:endParaRPr lang="en-US" sz="160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13667" y="14133"/>
              <a:ext cx="10783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5" dirty="0">
                  <a:solidFill>
                    <a:srgbClr val="5B677D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• 工程设计：成本 vs 性能 vs 可靠性</a:t>
              </a:r>
              <a:endParaRPr lang="en-US" sz="16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13667" y="14533"/>
              <a:ext cx="10783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5" dirty="0">
                  <a:solidFill>
                    <a:srgbClr val="5B677D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• 供应链管理：成本 vs 服务水平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APPLICATION &amp; KEY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优化模型适用场景与建模要点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508000" y="1879600"/>
            <a:ext cx="7493000" cy="5435600"/>
          </a:xfrm>
          <a:custGeom>
            <a:avLst/>
            <a:gdLst/>
            <a:ahLst/>
            <a:cxnLst/>
            <a:rect l="l" t="t" r="r" b="b"/>
            <a:pathLst>
              <a:path w="7493000" h="5435600">
                <a:moveTo>
                  <a:pt x="152414" y="0"/>
                </a:moveTo>
                <a:lnTo>
                  <a:pt x="7340586" y="0"/>
                </a:lnTo>
                <a:cubicBezTo>
                  <a:pt x="7424762" y="0"/>
                  <a:pt x="7493000" y="68238"/>
                  <a:pt x="7493000" y="152414"/>
                </a:cubicBezTo>
                <a:lnTo>
                  <a:pt x="7493000" y="5283186"/>
                </a:lnTo>
                <a:cubicBezTo>
                  <a:pt x="7493000" y="5367362"/>
                  <a:pt x="7424762" y="5435600"/>
                  <a:pt x="7340586" y="5435600"/>
                </a:cubicBezTo>
                <a:lnTo>
                  <a:pt x="152414" y="5435600"/>
                </a:lnTo>
                <a:cubicBezTo>
                  <a:pt x="68238" y="5435600"/>
                  <a:pt x="0" y="5367362"/>
                  <a:pt x="0" y="5283186"/>
                </a:cubicBezTo>
                <a:lnTo>
                  <a:pt x="0" y="152414"/>
                </a:lnTo>
                <a:cubicBezTo>
                  <a:pt x="0" y="68295"/>
                  <a:pt x="68295" y="0"/>
                  <a:pt x="15241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8000" y="1879600"/>
            <a:ext cx="7493000" cy="812800"/>
          </a:xfrm>
          <a:custGeom>
            <a:avLst/>
            <a:gdLst/>
            <a:ahLst/>
            <a:cxnLst/>
            <a:rect l="l" t="t" r="r" b="b"/>
            <a:pathLst>
              <a:path w="7493000" h="812800">
                <a:moveTo>
                  <a:pt x="152400" y="0"/>
                </a:moveTo>
                <a:lnTo>
                  <a:pt x="7340600" y="0"/>
                </a:lnTo>
                <a:cubicBezTo>
                  <a:pt x="7424712" y="0"/>
                  <a:pt x="7493000" y="68288"/>
                  <a:pt x="7493000" y="152400"/>
                </a:cubicBezTo>
                <a:lnTo>
                  <a:pt x="7493000" y="812800"/>
                </a:lnTo>
                <a:lnTo>
                  <a:pt x="0" y="812800"/>
                </a:ln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/>
              </a:gs>
              <a:gs pos="100000">
                <a:srgbClr val="212C42"/>
              </a:gs>
            </a:gsLst>
            <a:lin ang="0" scaled="1"/>
          </a:gradFill>
        </p:spPr>
      </p:sp>
      <p:sp>
        <p:nvSpPr>
          <p:cNvPr id="7" name="Shape 5"/>
          <p:cNvSpPr/>
          <p:nvPr/>
        </p:nvSpPr>
        <p:spPr>
          <a:xfrm>
            <a:off x="749300" y="213345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638" y="0"/>
                </a:moveTo>
                <a:cubicBezTo>
                  <a:pt x="142101" y="0"/>
                  <a:pt x="133588" y="8513"/>
                  <a:pt x="133588" y="19050"/>
                </a:cubicBezTo>
                <a:lnTo>
                  <a:pt x="133588" y="38100"/>
                </a:lnTo>
                <a:lnTo>
                  <a:pt x="38338" y="38100"/>
                </a:lnTo>
                <a:cubicBezTo>
                  <a:pt x="27801" y="38100"/>
                  <a:pt x="19288" y="46613"/>
                  <a:pt x="19288" y="57150"/>
                </a:cubicBezTo>
                <a:lnTo>
                  <a:pt x="19288" y="95250"/>
                </a:lnTo>
                <a:cubicBezTo>
                  <a:pt x="19288" y="105787"/>
                  <a:pt x="27801" y="114300"/>
                  <a:pt x="38338" y="114300"/>
                </a:cubicBezTo>
                <a:lnTo>
                  <a:pt x="133588" y="114300"/>
                </a:lnTo>
                <a:lnTo>
                  <a:pt x="133588" y="152400"/>
                </a:lnTo>
                <a:lnTo>
                  <a:pt x="42267" y="152400"/>
                </a:lnTo>
                <a:cubicBezTo>
                  <a:pt x="39767" y="152400"/>
                  <a:pt x="37326" y="153412"/>
                  <a:pt x="35540" y="155198"/>
                </a:cubicBezTo>
                <a:lnTo>
                  <a:pt x="6965" y="183773"/>
                </a:lnTo>
                <a:cubicBezTo>
                  <a:pt x="3274" y="187464"/>
                  <a:pt x="3274" y="193536"/>
                  <a:pt x="6965" y="197227"/>
                </a:cubicBezTo>
                <a:lnTo>
                  <a:pt x="35540" y="225802"/>
                </a:lnTo>
                <a:cubicBezTo>
                  <a:pt x="37326" y="227588"/>
                  <a:pt x="39767" y="228600"/>
                  <a:pt x="42267" y="228600"/>
                </a:cubicBezTo>
                <a:lnTo>
                  <a:pt x="133588" y="228600"/>
                </a:lnTo>
                <a:lnTo>
                  <a:pt x="133588" y="285750"/>
                </a:lnTo>
                <a:cubicBezTo>
                  <a:pt x="133588" y="296287"/>
                  <a:pt x="142101" y="304800"/>
                  <a:pt x="152638" y="304800"/>
                </a:cubicBezTo>
                <a:cubicBezTo>
                  <a:pt x="163175" y="304800"/>
                  <a:pt x="171688" y="296287"/>
                  <a:pt x="171688" y="285750"/>
                </a:cubicBezTo>
                <a:lnTo>
                  <a:pt x="171688" y="228600"/>
                </a:lnTo>
                <a:lnTo>
                  <a:pt x="266938" y="228600"/>
                </a:lnTo>
                <a:cubicBezTo>
                  <a:pt x="277475" y="228600"/>
                  <a:pt x="285988" y="220087"/>
                  <a:pt x="285988" y="209550"/>
                </a:cubicBezTo>
                <a:lnTo>
                  <a:pt x="285988" y="171450"/>
                </a:lnTo>
                <a:cubicBezTo>
                  <a:pt x="285988" y="160913"/>
                  <a:pt x="277475" y="152400"/>
                  <a:pt x="266938" y="152400"/>
                </a:cubicBezTo>
                <a:lnTo>
                  <a:pt x="171688" y="152400"/>
                </a:lnTo>
                <a:lnTo>
                  <a:pt x="171688" y="114300"/>
                </a:lnTo>
                <a:lnTo>
                  <a:pt x="263009" y="114300"/>
                </a:lnTo>
                <a:cubicBezTo>
                  <a:pt x="265509" y="114300"/>
                  <a:pt x="267950" y="113288"/>
                  <a:pt x="269736" y="111502"/>
                </a:cubicBezTo>
                <a:lnTo>
                  <a:pt x="298311" y="82927"/>
                </a:lnTo>
                <a:cubicBezTo>
                  <a:pt x="302002" y="79236"/>
                  <a:pt x="302002" y="73164"/>
                  <a:pt x="298311" y="69473"/>
                </a:cubicBezTo>
                <a:lnTo>
                  <a:pt x="269736" y="40898"/>
                </a:lnTo>
                <a:cubicBezTo>
                  <a:pt x="267950" y="39112"/>
                  <a:pt x="265509" y="38100"/>
                  <a:pt x="263009" y="38100"/>
                </a:cubicBezTo>
                <a:lnTo>
                  <a:pt x="171688" y="38100"/>
                </a:lnTo>
                <a:lnTo>
                  <a:pt x="171688" y="19050"/>
                </a:lnTo>
                <a:cubicBezTo>
                  <a:pt x="171688" y="8513"/>
                  <a:pt x="163175" y="0"/>
                  <a:pt x="152638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092200" y="2082800"/>
            <a:ext cx="685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适用场景决策指南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6600" y="2895451"/>
            <a:ext cx="7061200" cy="939800"/>
          </a:xfrm>
          <a:custGeom>
            <a:avLst/>
            <a:gdLst/>
            <a:ahLst/>
            <a:cxnLst/>
            <a:rect l="l" t="t" r="r" b="b"/>
            <a:pathLst>
              <a:path w="7061200" h="939800">
                <a:moveTo>
                  <a:pt x="50800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838198"/>
                </a:lnTo>
                <a:cubicBezTo>
                  <a:pt x="7061200" y="894311"/>
                  <a:pt x="7015711" y="939800"/>
                  <a:pt x="6959598" y="939800"/>
                </a:cubicBezTo>
                <a:lnTo>
                  <a:pt x="50800" y="939800"/>
                </a:lnTo>
                <a:cubicBezTo>
                  <a:pt x="22744" y="939800"/>
                  <a:pt x="0" y="917056"/>
                  <a:pt x="0" y="889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736600" y="2895451"/>
            <a:ext cx="50800" cy="939800"/>
          </a:xfrm>
          <a:custGeom>
            <a:avLst/>
            <a:gdLst/>
            <a:ahLst/>
            <a:cxnLst/>
            <a:rect l="l" t="t" r="r" b="b"/>
            <a:pathLst>
              <a:path w="50800" h="939800">
                <a:moveTo>
                  <a:pt x="50800" y="0"/>
                </a:moveTo>
                <a:lnTo>
                  <a:pt x="50800" y="0"/>
                </a:lnTo>
                <a:lnTo>
                  <a:pt x="50800" y="939800"/>
                </a:lnTo>
                <a:lnTo>
                  <a:pt x="50800" y="939800"/>
                </a:lnTo>
                <a:cubicBezTo>
                  <a:pt x="22763" y="939800"/>
                  <a:pt x="0" y="917037"/>
                  <a:pt x="0" y="889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1" name="Shape 9"/>
          <p:cNvSpPr/>
          <p:nvPr/>
        </p:nvSpPr>
        <p:spPr>
          <a:xfrm>
            <a:off x="946150" y="30859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2" name="Text 10"/>
          <p:cNvSpPr/>
          <p:nvPr/>
        </p:nvSpPr>
        <p:spPr>
          <a:xfrm>
            <a:off x="1301750" y="3047851"/>
            <a:ext cx="2743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目标和约束均线性、变量连续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403451"/>
            <a:ext cx="68326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线性规划（单纯形法、内点法）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600" y="3936851"/>
            <a:ext cx="7061200" cy="939800"/>
          </a:xfrm>
          <a:custGeom>
            <a:avLst/>
            <a:gdLst/>
            <a:ahLst/>
            <a:cxnLst/>
            <a:rect l="l" t="t" r="r" b="b"/>
            <a:pathLst>
              <a:path w="7061200" h="939800">
                <a:moveTo>
                  <a:pt x="50800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838198"/>
                </a:lnTo>
                <a:cubicBezTo>
                  <a:pt x="7061200" y="894311"/>
                  <a:pt x="7015711" y="939800"/>
                  <a:pt x="6959598" y="939800"/>
                </a:cubicBezTo>
                <a:lnTo>
                  <a:pt x="50800" y="939800"/>
                </a:lnTo>
                <a:cubicBezTo>
                  <a:pt x="22744" y="939800"/>
                  <a:pt x="0" y="917056"/>
                  <a:pt x="0" y="889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36600" y="3936851"/>
            <a:ext cx="50800" cy="939800"/>
          </a:xfrm>
          <a:custGeom>
            <a:avLst/>
            <a:gdLst/>
            <a:ahLst/>
            <a:cxnLst/>
            <a:rect l="l" t="t" r="r" b="b"/>
            <a:pathLst>
              <a:path w="50800" h="939800">
                <a:moveTo>
                  <a:pt x="50800" y="0"/>
                </a:moveTo>
                <a:lnTo>
                  <a:pt x="50800" y="0"/>
                </a:lnTo>
                <a:lnTo>
                  <a:pt x="50800" y="939800"/>
                </a:lnTo>
                <a:lnTo>
                  <a:pt x="50800" y="939800"/>
                </a:lnTo>
                <a:cubicBezTo>
                  <a:pt x="22763" y="939800"/>
                  <a:pt x="0" y="917037"/>
                  <a:pt x="0" y="889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16" name="Shape 14"/>
          <p:cNvSpPr/>
          <p:nvPr/>
        </p:nvSpPr>
        <p:spPr>
          <a:xfrm>
            <a:off x="931863" y="412735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42888" y="14288"/>
                </a:moveTo>
                <a:cubicBezTo>
                  <a:pt x="242888" y="9332"/>
                  <a:pt x="240343" y="4733"/>
                  <a:pt x="236101" y="2143"/>
                </a:cubicBezTo>
                <a:cubicBezTo>
                  <a:pt x="231859" y="-446"/>
                  <a:pt x="226635" y="-714"/>
                  <a:pt x="222215" y="1518"/>
                </a:cubicBezTo>
                <a:lnTo>
                  <a:pt x="207928" y="8662"/>
                </a:lnTo>
                <a:cubicBezTo>
                  <a:pt x="200873" y="12189"/>
                  <a:pt x="198016" y="20762"/>
                  <a:pt x="201543" y="27816"/>
                </a:cubicBezTo>
                <a:cubicBezTo>
                  <a:pt x="204043" y="32817"/>
                  <a:pt x="209089" y="35719"/>
                  <a:pt x="214313" y="35719"/>
                </a:cubicBezTo>
                <a:lnTo>
                  <a:pt x="214313" y="71438"/>
                </a:lnTo>
                <a:cubicBezTo>
                  <a:pt x="206410" y="71438"/>
                  <a:pt x="200025" y="77822"/>
                  <a:pt x="200025" y="85725"/>
                </a:cubicBezTo>
                <a:cubicBezTo>
                  <a:pt x="200025" y="93628"/>
                  <a:pt x="206410" y="100013"/>
                  <a:pt x="214313" y="100013"/>
                </a:cubicBezTo>
                <a:lnTo>
                  <a:pt x="242888" y="100013"/>
                </a:lnTo>
                <a:cubicBezTo>
                  <a:pt x="250790" y="100013"/>
                  <a:pt x="257175" y="93628"/>
                  <a:pt x="257175" y="85725"/>
                </a:cubicBezTo>
                <a:cubicBezTo>
                  <a:pt x="257175" y="77822"/>
                  <a:pt x="250790" y="71438"/>
                  <a:pt x="242888" y="71438"/>
                </a:cubicBezTo>
                <a:lnTo>
                  <a:pt x="242888" y="14288"/>
                </a:lnTo>
                <a:close/>
                <a:moveTo>
                  <a:pt x="42863" y="28575"/>
                </a:moveTo>
                <a:cubicBezTo>
                  <a:pt x="34960" y="28575"/>
                  <a:pt x="28575" y="34960"/>
                  <a:pt x="28575" y="42863"/>
                </a:cubicBezTo>
                <a:cubicBezTo>
                  <a:pt x="28575" y="50765"/>
                  <a:pt x="34960" y="57150"/>
                  <a:pt x="42863" y="57150"/>
                </a:cubicBezTo>
                <a:lnTo>
                  <a:pt x="49694" y="57150"/>
                </a:lnTo>
                <a:lnTo>
                  <a:pt x="89699" y="114300"/>
                </a:lnTo>
                <a:lnTo>
                  <a:pt x="49694" y="171450"/>
                </a:lnTo>
                <a:lnTo>
                  <a:pt x="42862" y="171450"/>
                </a:ln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2" y="200025"/>
                </a:cubicBezTo>
                <a:lnTo>
                  <a:pt x="57150" y="200025"/>
                </a:lnTo>
                <a:cubicBezTo>
                  <a:pt x="61793" y="200025"/>
                  <a:pt x="66169" y="197748"/>
                  <a:pt x="68848" y="193953"/>
                </a:cubicBezTo>
                <a:lnTo>
                  <a:pt x="107156" y="139214"/>
                </a:lnTo>
                <a:lnTo>
                  <a:pt x="145465" y="193953"/>
                </a:lnTo>
                <a:cubicBezTo>
                  <a:pt x="148144" y="197793"/>
                  <a:pt x="152519" y="200025"/>
                  <a:pt x="157163" y="200025"/>
                </a:cubicBezTo>
                <a:lnTo>
                  <a:pt x="171450" y="200025"/>
                </a:lnTo>
                <a:cubicBezTo>
                  <a:pt x="179353" y="200025"/>
                  <a:pt x="185738" y="193640"/>
                  <a:pt x="185738" y="185738"/>
                </a:cubicBezTo>
                <a:cubicBezTo>
                  <a:pt x="185738" y="177835"/>
                  <a:pt x="179353" y="171450"/>
                  <a:pt x="171450" y="171450"/>
                </a:cubicBezTo>
                <a:lnTo>
                  <a:pt x="164619" y="171450"/>
                </a:lnTo>
                <a:lnTo>
                  <a:pt x="124614" y="114300"/>
                </a:lnTo>
                <a:lnTo>
                  <a:pt x="164619" y="57150"/>
                </a:lnTo>
                <a:lnTo>
                  <a:pt x="171450" y="57150"/>
                </a:lnTo>
                <a:cubicBezTo>
                  <a:pt x="179353" y="57150"/>
                  <a:pt x="185738" y="50765"/>
                  <a:pt x="185738" y="42863"/>
                </a:cubicBezTo>
                <a:cubicBezTo>
                  <a:pt x="185738" y="34960"/>
                  <a:pt x="179353" y="28575"/>
                  <a:pt x="171450" y="28575"/>
                </a:cubicBezTo>
                <a:lnTo>
                  <a:pt x="157163" y="28575"/>
                </a:lnTo>
                <a:cubicBezTo>
                  <a:pt x="152519" y="28575"/>
                  <a:pt x="148144" y="30852"/>
                  <a:pt x="145465" y="34647"/>
                </a:cubicBezTo>
                <a:lnTo>
                  <a:pt x="107156" y="89386"/>
                </a:lnTo>
                <a:lnTo>
                  <a:pt x="68848" y="34647"/>
                </a:lnTo>
                <a:cubicBezTo>
                  <a:pt x="66169" y="30852"/>
                  <a:pt x="61793" y="28575"/>
                  <a:pt x="57150" y="28575"/>
                </a:cubicBezTo>
                <a:lnTo>
                  <a:pt x="42863" y="28575"/>
                </a:lnTo>
                <a:close/>
              </a:path>
            </a:pathLst>
          </a:custGeom>
          <a:solidFill>
            <a:srgbClr val="212C42"/>
          </a:solidFill>
        </p:spPr>
      </p:sp>
      <p:sp>
        <p:nvSpPr>
          <p:cNvPr id="17" name="Text 15"/>
          <p:cNvSpPr/>
          <p:nvPr/>
        </p:nvSpPr>
        <p:spPr>
          <a:xfrm>
            <a:off x="1301750" y="4089251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决策变量为整数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444851"/>
            <a:ext cx="68326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整数规划（0-1规划对应二选一决策）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6600" y="4978251"/>
            <a:ext cx="7061200" cy="939800"/>
          </a:xfrm>
          <a:custGeom>
            <a:avLst/>
            <a:gdLst/>
            <a:ahLst/>
            <a:cxnLst/>
            <a:rect l="l" t="t" r="r" b="b"/>
            <a:pathLst>
              <a:path w="7061200" h="939800">
                <a:moveTo>
                  <a:pt x="50800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838198"/>
                </a:lnTo>
                <a:cubicBezTo>
                  <a:pt x="7061200" y="894311"/>
                  <a:pt x="7015711" y="939800"/>
                  <a:pt x="6959598" y="939800"/>
                </a:cubicBezTo>
                <a:lnTo>
                  <a:pt x="50800" y="939800"/>
                </a:lnTo>
                <a:cubicBezTo>
                  <a:pt x="22744" y="939800"/>
                  <a:pt x="0" y="917056"/>
                  <a:pt x="0" y="889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736600" y="4978251"/>
            <a:ext cx="50800" cy="939800"/>
          </a:xfrm>
          <a:custGeom>
            <a:avLst/>
            <a:gdLst/>
            <a:ahLst/>
            <a:cxnLst/>
            <a:rect l="l" t="t" r="r" b="b"/>
            <a:pathLst>
              <a:path w="50800" h="939800">
                <a:moveTo>
                  <a:pt x="50800" y="0"/>
                </a:moveTo>
                <a:lnTo>
                  <a:pt x="50800" y="0"/>
                </a:lnTo>
                <a:lnTo>
                  <a:pt x="50800" y="939800"/>
                </a:lnTo>
                <a:lnTo>
                  <a:pt x="50800" y="939800"/>
                </a:lnTo>
                <a:cubicBezTo>
                  <a:pt x="22763" y="939800"/>
                  <a:pt x="0" y="917037"/>
                  <a:pt x="0" y="889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21" name="Shape 19"/>
          <p:cNvSpPr/>
          <p:nvPr/>
        </p:nvSpPr>
        <p:spPr>
          <a:xfrm>
            <a:off x="946150" y="51687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42863"/>
                </a:moveTo>
                <a:cubicBezTo>
                  <a:pt x="28575" y="34960"/>
                  <a:pt x="34960" y="28575"/>
                  <a:pt x="42863" y="28575"/>
                </a:cubicBezTo>
                <a:lnTo>
                  <a:pt x="114300" y="28575"/>
                </a:lnTo>
                <a:cubicBezTo>
                  <a:pt x="122203" y="28575"/>
                  <a:pt x="128588" y="34960"/>
                  <a:pt x="128588" y="42863"/>
                </a:cubicBezTo>
                <a:lnTo>
                  <a:pt x="128588" y="171450"/>
                </a:lnTo>
                <a:lnTo>
                  <a:pt x="171450" y="171450"/>
                </a:lnTo>
                <a:lnTo>
                  <a:pt x="171450" y="114300"/>
                </a:lnTo>
                <a:cubicBezTo>
                  <a:pt x="171450" y="106397"/>
                  <a:pt x="177835" y="100013"/>
                  <a:pt x="185738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200025" y="128588"/>
                </a:lnTo>
                <a:lnTo>
                  <a:pt x="200025" y="185738"/>
                </a:lnTo>
                <a:cubicBezTo>
                  <a:pt x="200025" y="193640"/>
                  <a:pt x="193640" y="200025"/>
                  <a:pt x="185738" y="200025"/>
                </a:cubicBezTo>
                <a:lnTo>
                  <a:pt x="114300" y="200025"/>
                </a:lnTo>
                <a:cubicBezTo>
                  <a:pt x="106397" y="200025"/>
                  <a:pt x="100013" y="193640"/>
                  <a:pt x="100013" y="185738"/>
                </a:cubicBezTo>
                <a:lnTo>
                  <a:pt x="100013" y="57150"/>
                </a:lnTo>
                <a:lnTo>
                  <a:pt x="57150" y="57150"/>
                </a:lnTo>
                <a:lnTo>
                  <a:pt x="57150" y="114300"/>
                </a:lnTo>
                <a:cubicBezTo>
                  <a:pt x="57150" y="122203"/>
                  <a:pt x="50765" y="128588"/>
                  <a:pt x="42863" y="128588"/>
                </a:cubicBezTo>
                <a:lnTo>
                  <a:pt x="14288" y="128588"/>
                </a:lnTo>
                <a:cubicBezTo>
                  <a:pt x="6385" y="128588"/>
                  <a:pt x="0" y="122203"/>
                  <a:pt x="0" y="114300"/>
                </a:cubicBezTo>
                <a:cubicBezTo>
                  <a:pt x="0" y="106397"/>
                  <a:pt x="6385" y="100013"/>
                  <a:pt x="14288" y="100013"/>
                </a:cubicBezTo>
                <a:lnTo>
                  <a:pt x="28575" y="100013"/>
                </a:lnTo>
                <a:lnTo>
                  <a:pt x="28575" y="42863"/>
                </a:lnTo>
                <a:close/>
              </a:path>
            </a:pathLst>
          </a:custGeom>
          <a:solidFill>
            <a:srgbClr val="5B677D"/>
          </a:solidFill>
        </p:spPr>
      </p:sp>
      <p:sp>
        <p:nvSpPr>
          <p:cNvPr id="22" name="Text 20"/>
          <p:cNvSpPr/>
          <p:nvPr/>
        </p:nvSpPr>
        <p:spPr>
          <a:xfrm>
            <a:off x="1301750" y="5130651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存在非线性关系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5486251"/>
            <a:ext cx="68326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非线性规划（简单非线性用梯度下降，复杂用智能优化算法）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6600" y="6019651"/>
            <a:ext cx="7061200" cy="939800"/>
          </a:xfrm>
          <a:custGeom>
            <a:avLst/>
            <a:gdLst/>
            <a:ahLst/>
            <a:cxnLst/>
            <a:rect l="l" t="t" r="r" b="b"/>
            <a:pathLst>
              <a:path w="7061200" h="939800">
                <a:moveTo>
                  <a:pt x="50800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838198"/>
                </a:lnTo>
                <a:cubicBezTo>
                  <a:pt x="7061200" y="894311"/>
                  <a:pt x="7015711" y="939800"/>
                  <a:pt x="6959598" y="939800"/>
                </a:cubicBezTo>
                <a:lnTo>
                  <a:pt x="50800" y="939800"/>
                </a:lnTo>
                <a:cubicBezTo>
                  <a:pt x="22744" y="939800"/>
                  <a:pt x="0" y="917056"/>
                  <a:pt x="0" y="889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>
                  <a:alpha val="20000"/>
                </a:srgbClr>
              </a:gs>
              <a:gs pos="100000">
                <a:srgbClr val="212C42">
                  <a:alpha val="20000"/>
                </a:srgbClr>
              </a:gs>
            </a:gsLst>
            <a:lin ang="0" scaled="1"/>
          </a:gradFill>
        </p:spPr>
      </p:sp>
      <p:sp>
        <p:nvSpPr>
          <p:cNvPr id="25" name="Shape 23"/>
          <p:cNvSpPr/>
          <p:nvPr/>
        </p:nvSpPr>
        <p:spPr>
          <a:xfrm>
            <a:off x="736600" y="6019651"/>
            <a:ext cx="50800" cy="939800"/>
          </a:xfrm>
          <a:custGeom>
            <a:avLst/>
            <a:gdLst/>
            <a:ahLst/>
            <a:cxnLst/>
            <a:rect l="l" t="t" r="r" b="b"/>
            <a:pathLst>
              <a:path w="50800" h="939800">
                <a:moveTo>
                  <a:pt x="50800" y="0"/>
                </a:moveTo>
                <a:lnTo>
                  <a:pt x="50800" y="0"/>
                </a:lnTo>
                <a:lnTo>
                  <a:pt x="50800" y="939800"/>
                </a:lnTo>
                <a:lnTo>
                  <a:pt x="50800" y="939800"/>
                </a:lnTo>
                <a:cubicBezTo>
                  <a:pt x="22763" y="939800"/>
                  <a:pt x="0" y="917037"/>
                  <a:pt x="0" y="889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6" name="Shape 24"/>
          <p:cNvSpPr/>
          <p:nvPr/>
        </p:nvSpPr>
        <p:spPr>
          <a:xfrm>
            <a:off x="917575" y="621015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52774" y="27861"/>
                </a:moveTo>
                <a:cubicBezTo>
                  <a:pt x="45318" y="25360"/>
                  <a:pt x="41255" y="17234"/>
                  <a:pt x="43755" y="9778"/>
                </a:cubicBezTo>
                <a:cubicBezTo>
                  <a:pt x="46256" y="2322"/>
                  <a:pt x="54337" y="-1741"/>
                  <a:pt x="61838" y="714"/>
                </a:cubicBezTo>
                <a:lnTo>
                  <a:pt x="112291" y="17547"/>
                </a:lnTo>
                <a:cubicBezTo>
                  <a:pt x="118497" y="7054"/>
                  <a:pt x="129972" y="0"/>
                  <a:pt x="143054" y="0"/>
                </a:cubicBezTo>
                <a:cubicBezTo>
                  <a:pt x="162788" y="0"/>
                  <a:pt x="178772" y="15984"/>
                  <a:pt x="178772" y="35719"/>
                </a:cubicBezTo>
                <a:cubicBezTo>
                  <a:pt x="178772" y="37058"/>
                  <a:pt x="178683" y="38353"/>
                  <a:pt x="178549" y="39648"/>
                </a:cubicBezTo>
                <a:lnTo>
                  <a:pt x="233288" y="57909"/>
                </a:lnTo>
                <a:cubicBezTo>
                  <a:pt x="240789" y="60409"/>
                  <a:pt x="244807" y="68491"/>
                  <a:pt x="242307" y="75992"/>
                </a:cubicBezTo>
                <a:cubicBezTo>
                  <a:pt x="239807" y="83493"/>
                  <a:pt x="231725" y="87511"/>
                  <a:pt x="224224" y="85011"/>
                </a:cubicBezTo>
                <a:lnTo>
                  <a:pt x="163726" y="64830"/>
                </a:lnTo>
                <a:cubicBezTo>
                  <a:pt x="161717" y="66258"/>
                  <a:pt x="159574" y="67464"/>
                  <a:pt x="157296" y="68491"/>
                </a:cubicBezTo>
                <a:lnTo>
                  <a:pt x="157296" y="214357"/>
                </a:lnTo>
                <a:cubicBezTo>
                  <a:pt x="157296" y="222260"/>
                  <a:pt x="150912" y="228645"/>
                  <a:pt x="143009" y="228645"/>
                </a:cubicBezTo>
                <a:lnTo>
                  <a:pt x="57284" y="228645"/>
                </a:lnTo>
                <a:cubicBezTo>
                  <a:pt x="49381" y="228645"/>
                  <a:pt x="42996" y="222260"/>
                  <a:pt x="42996" y="214357"/>
                </a:cubicBezTo>
                <a:cubicBezTo>
                  <a:pt x="42996" y="206454"/>
                  <a:pt x="49381" y="200070"/>
                  <a:pt x="57284" y="200070"/>
                </a:cubicBezTo>
                <a:lnTo>
                  <a:pt x="128721" y="200070"/>
                </a:lnTo>
                <a:lnTo>
                  <a:pt x="128721" y="68491"/>
                </a:lnTo>
                <a:cubicBezTo>
                  <a:pt x="119345" y="64383"/>
                  <a:pt x="112112" y="56436"/>
                  <a:pt x="108987" y="46613"/>
                </a:cubicBezTo>
                <a:lnTo>
                  <a:pt x="52774" y="27861"/>
                </a:lnTo>
                <a:close/>
                <a:moveTo>
                  <a:pt x="89654" y="128588"/>
                </a:moveTo>
                <a:lnTo>
                  <a:pt x="57284" y="73134"/>
                </a:lnTo>
                <a:lnTo>
                  <a:pt x="24958" y="128588"/>
                </a:lnTo>
                <a:lnTo>
                  <a:pt x="89654" y="128588"/>
                </a:lnTo>
                <a:close/>
                <a:moveTo>
                  <a:pt x="57329" y="171450"/>
                </a:moveTo>
                <a:cubicBezTo>
                  <a:pt x="29245" y="171450"/>
                  <a:pt x="5894" y="156270"/>
                  <a:pt x="1072" y="136222"/>
                </a:cubicBezTo>
                <a:cubicBezTo>
                  <a:pt x="-89" y="131311"/>
                  <a:pt x="1518" y="126266"/>
                  <a:pt x="4063" y="121890"/>
                </a:cubicBezTo>
                <a:lnTo>
                  <a:pt x="46568" y="49024"/>
                </a:lnTo>
                <a:cubicBezTo>
                  <a:pt x="48801" y="45184"/>
                  <a:pt x="52908" y="42863"/>
                  <a:pt x="57329" y="42863"/>
                </a:cubicBezTo>
                <a:cubicBezTo>
                  <a:pt x="61749" y="42863"/>
                  <a:pt x="65856" y="45229"/>
                  <a:pt x="68089" y="49024"/>
                </a:cubicBezTo>
                <a:lnTo>
                  <a:pt x="110594" y="121890"/>
                </a:lnTo>
                <a:cubicBezTo>
                  <a:pt x="113139" y="126266"/>
                  <a:pt x="114746" y="131311"/>
                  <a:pt x="113586" y="136222"/>
                </a:cubicBezTo>
                <a:cubicBezTo>
                  <a:pt x="108764" y="156225"/>
                  <a:pt x="85412" y="171450"/>
                  <a:pt x="57329" y="171450"/>
                </a:cubicBezTo>
                <a:close/>
                <a:moveTo>
                  <a:pt x="228243" y="130284"/>
                </a:moveTo>
                <a:lnTo>
                  <a:pt x="195917" y="185738"/>
                </a:lnTo>
                <a:lnTo>
                  <a:pt x="260613" y="185738"/>
                </a:lnTo>
                <a:lnTo>
                  <a:pt x="228287" y="130284"/>
                </a:lnTo>
                <a:close/>
                <a:moveTo>
                  <a:pt x="284500" y="193372"/>
                </a:moveTo>
                <a:cubicBezTo>
                  <a:pt x="279678" y="213420"/>
                  <a:pt x="256327" y="228600"/>
                  <a:pt x="228243" y="228600"/>
                </a:cubicBezTo>
                <a:cubicBezTo>
                  <a:pt x="200159" y="228600"/>
                  <a:pt x="176808" y="213420"/>
                  <a:pt x="171986" y="193372"/>
                </a:cubicBezTo>
                <a:cubicBezTo>
                  <a:pt x="170825" y="188461"/>
                  <a:pt x="172432" y="183416"/>
                  <a:pt x="174977" y="179040"/>
                </a:cubicBezTo>
                <a:lnTo>
                  <a:pt x="217483" y="106174"/>
                </a:lnTo>
                <a:cubicBezTo>
                  <a:pt x="219715" y="102334"/>
                  <a:pt x="223823" y="100013"/>
                  <a:pt x="228243" y="100013"/>
                </a:cubicBezTo>
                <a:cubicBezTo>
                  <a:pt x="232663" y="100013"/>
                  <a:pt x="236771" y="102379"/>
                  <a:pt x="239003" y="106174"/>
                </a:cubicBezTo>
                <a:lnTo>
                  <a:pt x="281508" y="179040"/>
                </a:lnTo>
                <a:cubicBezTo>
                  <a:pt x="284053" y="183416"/>
                  <a:pt x="285661" y="188461"/>
                  <a:pt x="284500" y="193372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7" name="Text 25"/>
          <p:cNvSpPr/>
          <p:nvPr/>
        </p:nvSpPr>
        <p:spPr>
          <a:xfrm>
            <a:off x="1301750" y="6172051"/>
            <a:ext cx="1117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多目标冲突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6527651"/>
            <a:ext cx="68326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多目标优化方法（加权求和、帕累托最优）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55000" y="1879600"/>
            <a:ext cx="7493000" cy="5435600"/>
          </a:xfrm>
          <a:custGeom>
            <a:avLst/>
            <a:gdLst/>
            <a:ahLst/>
            <a:cxnLst/>
            <a:rect l="l" t="t" r="r" b="b"/>
            <a:pathLst>
              <a:path w="7493000" h="5435600">
                <a:moveTo>
                  <a:pt x="152414" y="0"/>
                </a:moveTo>
                <a:lnTo>
                  <a:pt x="7340586" y="0"/>
                </a:lnTo>
                <a:cubicBezTo>
                  <a:pt x="7424762" y="0"/>
                  <a:pt x="7493000" y="68238"/>
                  <a:pt x="7493000" y="152414"/>
                </a:cubicBezTo>
                <a:lnTo>
                  <a:pt x="7493000" y="5283186"/>
                </a:lnTo>
                <a:cubicBezTo>
                  <a:pt x="7493000" y="5367362"/>
                  <a:pt x="7424762" y="5435600"/>
                  <a:pt x="7340586" y="5435600"/>
                </a:cubicBezTo>
                <a:lnTo>
                  <a:pt x="152414" y="5435600"/>
                </a:lnTo>
                <a:cubicBezTo>
                  <a:pt x="68238" y="5435600"/>
                  <a:pt x="0" y="5367362"/>
                  <a:pt x="0" y="5283186"/>
                </a:cubicBezTo>
                <a:lnTo>
                  <a:pt x="0" y="152414"/>
                </a:lnTo>
                <a:cubicBezTo>
                  <a:pt x="0" y="68295"/>
                  <a:pt x="68295" y="0"/>
                  <a:pt x="152414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2700000" scaled="1"/>
          </a:gra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96300" y="213345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025" y="209550"/>
                </a:moveTo>
                <a:cubicBezTo>
                  <a:pt x="257889" y="209550"/>
                  <a:pt x="304800" y="162639"/>
                  <a:pt x="304800" y="104775"/>
                </a:cubicBezTo>
                <a:cubicBezTo>
                  <a:pt x="304800" y="46911"/>
                  <a:pt x="257889" y="0"/>
                  <a:pt x="200025" y="0"/>
                </a:cubicBezTo>
                <a:cubicBezTo>
                  <a:pt x="142161" y="0"/>
                  <a:pt x="95250" y="46911"/>
                  <a:pt x="95250" y="104775"/>
                </a:cubicBezTo>
                <a:cubicBezTo>
                  <a:pt x="95250" y="115907"/>
                  <a:pt x="96976" y="126683"/>
                  <a:pt x="100191" y="136743"/>
                </a:cubicBezTo>
                <a:lnTo>
                  <a:pt x="4167" y="232767"/>
                </a:lnTo>
                <a:cubicBezTo>
                  <a:pt x="1488" y="235446"/>
                  <a:pt x="0" y="239078"/>
                  <a:pt x="0" y="242888"/>
                </a:cubicBezTo>
                <a:lnTo>
                  <a:pt x="0" y="290513"/>
                </a:lnTo>
                <a:cubicBezTo>
                  <a:pt x="0" y="298430"/>
                  <a:pt x="6370" y="304800"/>
                  <a:pt x="14288" y="304800"/>
                </a:cubicBezTo>
                <a:lnTo>
                  <a:pt x="61912" y="304800"/>
                </a:lnTo>
                <a:cubicBezTo>
                  <a:pt x="69830" y="304800"/>
                  <a:pt x="76200" y="298430"/>
                  <a:pt x="76200" y="290513"/>
                </a:cubicBezTo>
                <a:lnTo>
                  <a:pt x="76200" y="266700"/>
                </a:lnTo>
                <a:lnTo>
                  <a:pt x="100013" y="266700"/>
                </a:lnTo>
                <a:cubicBezTo>
                  <a:pt x="107930" y="266700"/>
                  <a:pt x="114300" y="260330"/>
                  <a:pt x="114300" y="252413"/>
                </a:cubicBezTo>
                <a:lnTo>
                  <a:pt x="114300" y="228600"/>
                </a:lnTo>
                <a:lnTo>
                  <a:pt x="138113" y="228600"/>
                </a:lnTo>
                <a:cubicBezTo>
                  <a:pt x="141923" y="228600"/>
                  <a:pt x="145554" y="227112"/>
                  <a:pt x="148233" y="224433"/>
                </a:cubicBezTo>
                <a:lnTo>
                  <a:pt x="168057" y="204609"/>
                </a:lnTo>
                <a:cubicBezTo>
                  <a:pt x="178117" y="207824"/>
                  <a:pt x="188893" y="209550"/>
                  <a:pt x="200025" y="209550"/>
                </a:cubicBezTo>
                <a:close/>
                <a:moveTo>
                  <a:pt x="223838" y="57150"/>
                </a:moveTo>
                <a:cubicBezTo>
                  <a:pt x="236980" y="57150"/>
                  <a:pt x="247650" y="67820"/>
                  <a:pt x="247650" y="80962"/>
                </a:cubicBezTo>
                <a:cubicBezTo>
                  <a:pt x="247650" y="94105"/>
                  <a:pt x="236980" y="104775"/>
                  <a:pt x="223838" y="104775"/>
                </a:cubicBezTo>
                <a:cubicBezTo>
                  <a:pt x="210695" y="104775"/>
                  <a:pt x="200025" y="94105"/>
                  <a:pt x="200025" y="80962"/>
                </a:cubicBezTo>
                <a:cubicBezTo>
                  <a:pt x="200025" y="67820"/>
                  <a:pt x="210695" y="57150"/>
                  <a:pt x="223838" y="5715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1" name="Text 29"/>
          <p:cNvSpPr/>
          <p:nvPr/>
        </p:nvSpPr>
        <p:spPr>
          <a:xfrm>
            <a:off x="8839200" y="2082800"/>
            <a:ext cx="685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建模关键要点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63280" y="2646531"/>
            <a:ext cx="7071360" cy="911860"/>
          </a:xfrm>
          <a:custGeom>
            <a:avLst/>
            <a:gdLst/>
            <a:ahLst/>
            <a:cxnLst/>
            <a:rect l="l" t="t" r="r" b="b"/>
            <a:pathLst>
              <a:path w="7071360" h="911860">
                <a:moveTo>
                  <a:pt x="101599" y="0"/>
                </a:moveTo>
                <a:lnTo>
                  <a:pt x="6969761" y="0"/>
                </a:lnTo>
                <a:cubicBezTo>
                  <a:pt x="7025872" y="0"/>
                  <a:pt x="7071360" y="45488"/>
                  <a:pt x="7071360" y="101599"/>
                </a:cubicBezTo>
                <a:lnTo>
                  <a:pt x="7071360" y="810261"/>
                </a:lnTo>
                <a:cubicBezTo>
                  <a:pt x="7071360" y="866372"/>
                  <a:pt x="7025872" y="911860"/>
                  <a:pt x="6969761" y="911860"/>
                </a:cubicBezTo>
                <a:lnTo>
                  <a:pt x="101599" y="911860"/>
                </a:lnTo>
                <a:cubicBezTo>
                  <a:pt x="45488" y="911860"/>
                  <a:pt x="0" y="866372"/>
                  <a:pt x="0" y="81026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52510" y="284210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4" name="Text 32"/>
          <p:cNvSpPr/>
          <p:nvPr/>
        </p:nvSpPr>
        <p:spPr>
          <a:xfrm>
            <a:off x="9008110" y="2804009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明确三大要素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20760" y="3159609"/>
            <a:ext cx="6845300" cy="241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决策变量、目标函数、约束条件，确保数学表达准确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63280" y="3673321"/>
            <a:ext cx="7071360" cy="911860"/>
          </a:xfrm>
          <a:custGeom>
            <a:avLst/>
            <a:gdLst/>
            <a:ahLst/>
            <a:cxnLst/>
            <a:rect l="l" t="t" r="r" b="b"/>
            <a:pathLst>
              <a:path w="7071360" h="911860">
                <a:moveTo>
                  <a:pt x="101599" y="0"/>
                </a:moveTo>
                <a:lnTo>
                  <a:pt x="6969761" y="0"/>
                </a:lnTo>
                <a:cubicBezTo>
                  <a:pt x="7025872" y="0"/>
                  <a:pt x="7071360" y="45488"/>
                  <a:pt x="7071360" y="101599"/>
                </a:cubicBezTo>
                <a:lnTo>
                  <a:pt x="7071360" y="810261"/>
                </a:lnTo>
                <a:cubicBezTo>
                  <a:pt x="7071360" y="866372"/>
                  <a:pt x="7025872" y="911860"/>
                  <a:pt x="6969761" y="911860"/>
                </a:cubicBezTo>
                <a:lnTo>
                  <a:pt x="101599" y="911860"/>
                </a:lnTo>
                <a:cubicBezTo>
                  <a:pt x="45488" y="911860"/>
                  <a:pt x="0" y="866372"/>
                  <a:pt x="0" y="81026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52510" y="386889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38" name="Text 36"/>
          <p:cNvSpPr/>
          <p:nvPr/>
        </p:nvSpPr>
        <p:spPr>
          <a:xfrm>
            <a:off x="9008110" y="3830799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约束条件需全面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20760" y="4186399"/>
            <a:ext cx="6845300" cy="241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避免遗漏关键限制，否则求解结果可能不可行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63280" y="4700111"/>
            <a:ext cx="7071360" cy="911860"/>
          </a:xfrm>
          <a:custGeom>
            <a:avLst/>
            <a:gdLst/>
            <a:ahLst/>
            <a:cxnLst/>
            <a:rect l="l" t="t" r="r" b="b"/>
            <a:pathLst>
              <a:path w="7071360" h="911860">
                <a:moveTo>
                  <a:pt x="101599" y="0"/>
                </a:moveTo>
                <a:lnTo>
                  <a:pt x="6969761" y="0"/>
                </a:lnTo>
                <a:cubicBezTo>
                  <a:pt x="7025872" y="0"/>
                  <a:pt x="7071360" y="45488"/>
                  <a:pt x="7071360" y="101599"/>
                </a:cubicBezTo>
                <a:lnTo>
                  <a:pt x="7071360" y="810261"/>
                </a:lnTo>
                <a:cubicBezTo>
                  <a:pt x="7071360" y="866372"/>
                  <a:pt x="7025872" y="911860"/>
                  <a:pt x="6969761" y="911860"/>
                </a:cubicBezTo>
                <a:lnTo>
                  <a:pt x="101599" y="911860"/>
                </a:lnTo>
                <a:cubicBezTo>
                  <a:pt x="45488" y="911860"/>
                  <a:pt x="0" y="866372"/>
                  <a:pt x="0" y="81026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52510" y="48957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2" name="Text 40"/>
          <p:cNvSpPr/>
          <p:nvPr/>
        </p:nvSpPr>
        <p:spPr>
          <a:xfrm>
            <a:off x="9008110" y="4857601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分层建模策略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20760" y="5213201"/>
            <a:ext cx="6845300" cy="241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复杂问题可简化假设，逐步优化模型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63280" y="5726914"/>
            <a:ext cx="7071360" cy="1381760"/>
          </a:xfrm>
          <a:custGeom>
            <a:avLst/>
            <a:gdLst/>
            <a:ahLst/>
            <a:cxnLst/>
            <a:rect l="l" t="t" r="r" b="b"/>
            <a:pathLst>
              <a:path w="7071360" h="1381760">
                <a:moveTo>
                  <a:pt x="101601" y="0"/>
                </a:moveTo>
                <a:lnTo>
                  <a:pt x="6969759" y="0"/>
                </a:lnTo>
                <a:cubicBezTo>
                  <a:pt x="7025872" y="0"/>
                  <a:pt x="7071360" y="45488"/>
                  <a:pt x="7071360" y="101601"/>
                </a:cubicBezTo>
                <a:lnTo>
                  <a:pt x="7071360" y="1280159"/>
                </a:lnTo>
                <a:cubicBezTo>
                  <a:pt x="7071360" y="1336272"/>
                  <a:pt x="7025872" y="1381760"/>
                  <a:pt x="6969759" y="1381760"/>
                </a:cubicBezTo>
                <a:lnTo>
                  <a:pt x="101601" y="1381760"/>
                </a:lnTo>
                <a:cubicBezTo>
                  <a:pt x="45488" y="1381760"/>
                  <a:pt x="0" y="1336272"/>
                  <a:pt x="0" y="128015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38222" y="592249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7439" y="44023"/>
                </a:moveTo>
                <a:cubicBezTo>
                  <a:pt x="230832" y="40630"/>
                  <a:pt x="236503" y="41478"/>
                  <a:pt x="238199" y="45943"/>
                </a:cubicBezTo>
                <a:cubicBezTo>
                  <a:pt x="241236" y="53846"/>
                  <a:pt x="242888" y="62463"/>
                  <a:pt x="242888" y="71438"/>
                </a:cubicBezTo>
                <a:cubicBezTo>
                  <a:pt x="242888" y="110907"/>
                  <a:pt x="210919" y="142875"/>
                  <a:pt x="171450" y="142875"/>
                </a:cubicBezTo>
                <a:cubicBezTo>
                  <a:pt x="163637" y="142875"/>
                  <a:pt x="156091" y="141625"/>
                  <a:pt x="149036" y="139303"/>
                </a:cubicBezTo>
                <a:lnTo>
                  <a:pt x="65589" y="222751"/>
                </a:lnTo>
                <a:cubicBezTo>
                  <a:pt x="53042" y="235297"/>
                  <a:pt x="32683" y="235297"/>
                  <a:pt x="20136" y="222751"/>
                </a:cubicBezTo>
                <a:cubicBezTo>
                  <a:pt x="7590" y="210205"/>
                  <a:pt x="7590" y="189845"/>
                  <a:pt x="20136" y="177299"/>
                </a:cubicBezTo>
                <a:lnTo>
                  <a:pt x="103584" y="93851"/>
                </a:lnTo>
                <a:cubicBezTo>
                  <a:pt x="101263" y="86797"/>
                  <a:pt x="100013" y="79296"/>
                  <a:pt x="100013" y="71438"/>
                </a:cubicBezTo>
                <a:cubicBezTo>
                  <a:pt x="100013" y="31968"/>
                  <a:pt x="131981" y="0"/>
                  <a:pt x="171450" y="0"/>
                </a:cubicBezTo>
                <a:cubicBezTo>
                  <a:pt x="180424" y="0"/>
                  <a:pt x="189041" y="1652"/>
                  <a:pt x="196944" y="4688"/>
                </a:cubicBezTo>
                <a:cubicBezTo>
                  <a:pt x="201409" y="6385"/>
                  <a:pt x="202213" y="12055"/>
                  <a:pt x="198864" y="15448"/>
                </a:cubicBezTo>
                <a:lnTo>
                  <a:pt x="159261" y="55052"/>
                </a:lnTo>
                <a:cubicBezTo>
                  <a:pt x="157922" y="56391"/>
                  <a:pt x="157163" y="58222"/>
                  <a:pt x="157163" y="60097"/>
                </a:cubicBezTo>
                <a:lnTo>
                  <a:pt x="157163" y="78581"/>
                </a:lnTo>
                <a:cubicBezTo>
                  <a:pt x="157163" y="82510"/>
                  <a:pt x="160377" y="85725"/>
                  <a:pt x="164306" y="85725"/>
                </a:cubicBezTo>
                <a:lnTo>
                  <a:pt x="182791" y="85725"/>
                </a:lnTo>
                <a:cubicBezTo>
                  <a:pt x="184666" y="85725"/>
                  <a:pt x="186497" y="84966"/>
                  <a:pt x="187836" y="83627"/>
                </a:cubicBezTo>
                <a:lnTo>
                  <a:pt x="227439" y="44023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46" name="Text 44"/>
          <p:cNvSpPr/>
          <p:nvPr/>
        </p:nvSpPr>
        <p:spPr>
          <a:xfrm>
            <a:off x="9008110" y="5884391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常用求解工具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620760" y="6239991"/>
            <a:ext cx="3327400" cy="304800"/>
          </a:xfrm>
          <a:custGeom>
            <a:avLst/>
            <a:gdLst/>
            <a:ahLst/>
            <a:cxnLst/>
            <a:rect l="l" t="t" r="r" b="b"/>
            <a:pathLst>
              <a:path w="3327400" h="304800">
                <a:moveTo>
                  <a:pt x="50801" y="0"/>
                </a:moveTo>
                <a:lnTo>
                  <a:pt x="3276599" y="0"/>
                </a:lnTo>
                <a:cubicBezTo>
                  <a:pt x="3304656" y="0"/>
                  <a:pt x="3327400" y="22744"/>
                  <a:pt x="3327400" y="50801"/>
                </a:cubicBezTo>
                <a:lnTo>
                  <a:pt x="3327400" y="253999"/>
                </a:lnTo>
                <a:cubicBezTo>
                  <a:pt x="3327400" y="282056"/>
                  <a:pt x="3304656" y="304800"/>
                  <a:pt x="32765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8633460" y="6290791"/>
            <a:ext cx="3302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Lingo/Lindo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2052300" y="6239991"/>
            <a:ext cx="3327400" cy="304800"/>
          </a:xfrm>
          <a:custGeom>
            <a:avLst/>
            <a:gdLst/>
            <a:ahLst/>
            <a:cxnLst/>
            <a:rect l="l" t="t" r="r" b="b"/>
            <a:pathLst>
              <a:path w="3327400" h="304800">
                <a:moveTo>
                  <a:pt x="50801" y="0"/>
                </a:moveTo>
                <a:lnTo>
                  <a:pt x="3276599" y="0"/>
                </a:lnTo>
                <a:cubicBezTo>
                  <a:pt x="3304656" y="0"/>
                  <a:pt x="3327400" y="22744"/>
                  <a:pt x="3327400" y="50801"/>
                </a:cubicBezTo>
                <a:lnTo>
                  <a:pt x="3327400" y="253999"/>
                </a:lnTo>
                <a:cubicBezTo>
                  <a:pt x="3327400" y="282056"/>
                  <a:pt x="3304656" y="304800"/>
                  <a:pt x="32765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12065000" y="6290791"/>
            <a:ext cx="3302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Matlab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620760" y="6646230"/>
            <a:ext cx="3327400" cy="304800"/>
          </a:xfrm>
          <a:custGeom>
            <a:avLst/>
            <a:gdLst/>
            <a:ahLst/>
            <a:cxnLst/>
            <a:rect l="l" t="t" r="r" b="b"/>
            <a:pathLst>
              <a:path w="3327400" h="304800">
                <a:moveTo>
                  <a:pt x="50801" y="0"/>
                </a:moveTo>
                <a:lnTo>
                  <a:pt x="3276599" y="0"/>
                </a:lnTo>
                <a:cubicBezTo>
                  <a:pt x="3304656" y="0"/>
                  <a:pt x="3327400" y="22744"/>
                  <a:pt x="3327400" y="50801"/>
                </a:cubicBezTo>
                <a:lnTo>
                  <a:pt x="3327400" y="253999"/>
                </a:lnTo>
                <a:cubicBezTo>
                  <a:pt x="3327400" y="282056"/>
                  <a:pt x="3304656" y="304800"/>
                  <a:pt x="32765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8633460" y="6697030"/>
            <a:ext cx="3302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Gurobi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2052300" y="6646230"/>
            <a:ext cx="3327400" cy="304800"/>
          </a:xfrm>
          <a:custGeom>
            <a:avLst/>
            <a:gdLst/>
            <a:ahLst/>
            <a:cxnLst/>
            <a:rect l="l" t="t" r="r" b="b"/>
            <a:pathLst>
              <a:path w="3327400" h="304800">
                <a:moveTo>
                  <a:pt x="50801" y="0"/>
                </a:moveTo>
                <a:lnTo>
                  <a:pt x="3276599" y="0"/>
                </a:lnTo>
                <a:cubicBezTo>
                  <a:pt x="3304656" y="0"/>
                  <a:pt x="3327400" y="22744"/>
                  <a:pt x="3327400" y="50801"/>
                </a:cubicBezTo>
                <a:lnTo>
                  <a:pt x="3327400" y="253999"/>
                </a:lnTo>
                <a:cubicBezTo>
                  <a:pt x="3327400" y="282056"/>
                  <a:pt x="3304656" y="304800"/>
                  <a:pt x="32765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12065000" y="6697030"/>
            <a:ext cx="3302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CPLEX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ath.umd.edu/7aa2ee6169314a8f36e71a764c3adfb0baca05fb.jpg"/>
          <p:cNvPicPr>
            <a:picLocks noChangeAspect="1"/>
          </p:cNvPicPr>
          <p:nvPr/>
        </p:nvPicPr>
        <p:blipFill>
          <a:blip r:embed="rId1">
            <a:alphaModFix amt="20000"/>
          </a:blip>
          <a:srcRect t="12500" b="12500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12C42">
                  <a:alpha val="95000"/>
                </a:srgbClr>
              </a:gs>
              <a:gs pos="50000">
                <a:srgbClr val="212C42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08000" y="1526542"/>
            <a:ext cx="2159000" cy="558800"/>
          </a:xfrm>
          <a:custGeom>
            <a:avLst/>
            <a:gdLst/>
            <a:ahLst/>
            <a:cxnLst/>
            <a:rect l="l" t="t" r="r" b="b"/>
            <a:pathLst>
              <a:path w="2159000" h="558800">
                <a:moveTo>
                  <a:pt x="101601" y="0"/>
                </a:moveTo>
                <a:lnTo>
                  <a:pt x="2057399" y="0"/>
                </a:lnTo>
                <a:cubicBezTo>
                  <a:pt x="2113512" y="0"/>
                  <a:pt x="2159000" y="45488"/>
                  <a:pt x="2159000" y="101601"/>
                </a:cubicBezTo>
                <a:lnTo>
                  <a:pt x="2159000" y="457199"/>
                </a:lnTo>
                <a:cubicBezTo>
                  <a:pt x="2159000" y="513312"/>
                  <a:pt x="2113512" y="558800"/>
                  <a:pt x="2057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Text 2"/>
          <p:cNvSpPr/>
          <p:nvPr/>
        </p:nvSpPr>
        <p:spPr>
          <a:xfrm>
            <a:off x="762000" y="1628142"/>
            <a:ext cx="1778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491742"/>
            <a:ext cx="158496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8F9FA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评价模型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422142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8" name="Text 5"/>
          <p:cNvSpPr/>
          <p:nvPr/>
        </p:nvSpPr>
        <p:spPr>
          <a:xfrm>
            <a:off x="508000" y="5006342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F8F9FA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定优劣——构建科学指标体系进行量化打分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3080" y="6129022"/>
            <a:ext cx="3642360" cy="1483360"/>
          </a:xfrm>
          <a:custGeom>
            <a:avLst/>
            <a:gdLst/>
            <a:ahLst/>
            <a:cxnLst/>
            <a:rect l="l" t="t" r="r" b="b"/>
            <a:pathLst>
              <a:path w="3642360" h="1483360">
                <a:moveTo>
                  <a:pt x="101595" y="0"/>
                </a:moveTo>
                <a:lnTo>
                  <a:pt x="3540765" y="0"/>
                </a:lnTo>
                <a:cubicBezTo>
                  <a:pt x="3596874" y="0"/>
                  <a:pt x="3642360" y="45486"/>
                  <a:pt x="3642360" y="101595"/>
                </a:cubicBezTo>
                <a:lnTo>
                  <a:pt x="3642360" y="1381765"/>
                </a:lnTo>
                <a:cubicBezTo>
                  <a:pt x="3642360" y="1437874"/>
                  <a:pt x="3596874" y="1483360"/>
                  <a:pt x="35407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9310" y="6388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57150"/>
                </a:moveTo>
                <a:cubicBezTo>
                  <a:pt x="171450" y="41344"/>
                  <a:pt x="184219" y="28575"/>
                  <a:pt x="200025" y="28575"/>
                </a:cubicBezTo>
                <a:lnTo>
                  <a:pt x="257175" y="28575"/>
                </a:lnTo>
                <a:cubicBezTo>
                  <a:pt x="272981" y="28575"/>
                  <a:pt x="285750" y="41344"/>
                  <a:pt x="285750" y="57150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250031" y="142875"/>
                </a:lnTo>
                <a:lnTo>
                  <a:pt x="250031" y="200025"/>
                </a:lnTo>
                <a:lnTo>
                  <a:pt x="357188" y="200025"/>
                </a:lnTo>
                <a:cubicBezTo>
                  <a:pt x="392728" y="200025"/>
                  <a:pt x="421481" y="228779"/>
                  <a:pt x="421481" y="264319"/>
                </a:cubicBezTo>
                <a:lnTo>
                  <a:pt x="421481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371475" y="428625"/>
                </a:lnTo>
                <a:cubicBezTo>
                  <a:pt x="355669" y="428625"/>
                  <a:pt x="342900" y="415856"/>
                  <a:pt x="342900" y="400050"/>
                </a:cubicBezTo>
                <a:lnTo>
                  <a:pt x="342900" y="342900"/>
                </a:lnTo>
                <a:cubicBezTo>
                  <a:pt x="342900" y="327094"/>
                  <a:pt x="355669" y="314325"/>
                  <a:pt x="371475" y="314325"/>
                </a:cubicBezTo>
                <a:lnTo>
                  <a:pt x="378619" y="314325"/>
                </a:lnTo>
                <a:lnTo>
                  <a:pt x="378619" y="264319"/>
                </a:lnTo>
                <a:cubicBezTo>
                  <a:pt x="378619" y="252442"/>
                  <a:pt x="369064" y="242888"/>
                  <a:pt x="357188" y="242888"/>
                </a:cubicBezTo>
                <a:lnTo>
                  <a:pt x="250031" y="242888"/>
                </a:lnTo>
                <a:lnTo>
                  <a:pt x="250031" y="314325"/>
                </a:lnTo>
                <a:lnTo>
                  <a:pt x="257175" y="314325"/>
                </a:lnTo>
                <a:cubicBezTo>
                  <a:pt x="272981" y="314325"/>
                  <a:pt x="285750" y="327094"/>
                  <a:pt x="285750" y="342900"/>
                </a:cubicBezTo>
                <a:lnTo>
                  <a:pt x="285750" y="400050"/>
                </a:lnTo>
                <a:cubicBezTo>
                  <a:pt x="285750" y="415856"/>
                  <a:pt x="272981" y="428625"/>
                  <a:pt x="257175" y="428625"/>
                </a:cubicBezTo>
                <a:lnTo>
                  <a:pt x="200025" y="428625"/>
                </a:lnTo>
                <a:cubicBezTo>
                  <a:pt x="184219" y="428625"/>
                  <a:pt x="171450" y="415856"/>
                  <a:pt x="171450" y="400050"/>
                </a:cubicBezTo>
                <a:lnTo>
                  <a:pt x="171450" y="342900"/>
                </a:lnTo>
                <a:cubicBezTo>
                  <a:pt x="171450" y="327094"/>
                  <a:pt x="184219" y="314325"/>
                  <a:pt x="200025" y="314325"/>
                </a:cubicBezTo>
                <a:lnTo>
                  <a:pt x="207169" y="314325"/>
                </a:lnTo>
                <a:lnTo>
                  <a:pt x="207169" y="242888"/>
                </a:lnTo>
                <a:lnTo>
                  <a:pt x="100013" y="242888"/>
                </a:lnTo>
                <a:cubicBezTo>
                  <a:pt x="88136" y="242888"/>
                  <a:pt x="78581" y="252442"/>
                  <a:pt x="78581" y="264319"/>
                </a:cubicBezTo>
                <a:lnTo>
                  <a:pt x="78581" y="314325"/>
                </a:lnTo>
                <a:lnTo>
                  <a:pt x="85725" y="314325"/>
                </a:lnTo>
                <a:cubicBezTo>
                  <a:pt x="101531" y="314325"/>
                  <a:pt x="114300" y="327094"/>
                  <a:pt x="114300" y="342900"/>
                </a:cubicBezTo>
                <a:lnTo>
                  <a:pt x="114300" y="400050"/>
                </a:lnTo>
                <a:cubicBezTo>
                  <a:pt x="114300" y="415856"/>
                  <a:pt x="101531" y="428625"/>
                  <a:pt x="8572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42900"/>
                </a:lnTo>
                <a:cubicBezTo>
                  <a:pt x="0" y="327094"/>
                  <a:pt x="12769" y="314325"/>
                  <a:pt x="28575" y="314325"/>
                </a:cubicBezTo>
                <a:lnTo>
                  <a:pt x="35719" y="314325"/>
                </a:lnTo>
                <a:lnTo>
                  <a:pt x="35719" y="264319"/>
                </a:lnTo>
                <a:cubicBezTo>
                  <a:pt x="35719" y="228779"/>
                  <a:pt x="64472" y="200025"/>
                  <a:pt x="100013" y="200025"/>
                </a:cubicBezTo>
                <a:lnTo>
                  <a:pt x="207169" y="200025"/>
                </a:lnTo>
                <a:lnTo>
                  <a:pt x="207169" y="142875"/>
                </a:lnTo>
                <a:lnTo>
                  <a:pt x="200025" y="142875"/>
                </a:lnTo>
                <a:cubicBezTo>
                  <a:pt x="184219" y="142875"/>
                  <a:pt x="171450" y="130106"/>
                  <a:pt x="171450" y="114300"/>
                </a:cubicBezTo>
                <a:lnTo>
                  <a:pt x="171450" y="5715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1" name="Text 8"/>
          <p:cNvSpPr/>
          <p:nvPr/>
        </p:nvSpPr>
        <p:spPr>
          <a:xfrm>
            <a:off x="772160" y="6997700"/>
            <a:ext cx="323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层次分析法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73880" y="6129022"/>
            <a:ext cx="3642360" cy="1483360"/>
          </a:xfrm>
          <a:custGeom>
            <a:avLst/>
            <a:gdLst/>
            <a:ahLst/>
            <a:cxnLst/>
            <a:rect l="l" t="t" r="r" b="b"/>
            <a:pathLst>
              <a:path w="3642360" h="1483360">
                <a:moveTo>
                  <a:pt x="101595" y="0"/>
                </a:moveTo>
                <a:lnTo>
                  <a:pt x="3540765" y="0"/>
                </a:lnTo>
                <a:cubicBezTo>
                  <a:pt x="3596874" y="0"/>
                  <a:pt x="3642360" y="45486"/>
                  <a:pt x="3642360" y="101595"/>
                </a:cubicBezTo>
                <a:lnTo>
                  <a:pt x="3642360" y="1381765"/>
                </a:lnTo>
                <a:cubicBezTo>
                  <a:pt x="3642360" y="1437874"/>
                  <a:pt x="3596874" y="1483360"/>
                  <a:pt x="35407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18685" y="63881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4" name="Text 11"/>
          <p:cNvSpPr/>
          <p:nvPr/>
        </p:nvSpPr>
        <p:spPr>
          <a:xfrm>
            <a:off x="4632960" y="6997700"/>
            <a:ext cx="323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熵权法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34680" y="6129022"/>
            <a:ext cx="3642360" cy="1483360"/>
          </a:xfrm>
          <a:custGeom>
            <a:avLst/>
            <a:gdLst/>
            <a:ahLst/>
            <a:cxnLst/>
            <a:rect l="l" t="t" r="r" b="b"/>
            <a:pathLst>
              <a:path w="3642360" h="1483360">
                <a:moveTo>
                  <a:pt x="101595" y="0"/>
                </a:moveTo>
                <a:lnTo>
                  <a:pt x="3540765" y="0"/>
                </a:lnTo>
                <a:cubicBezTo>
                  <a:pt x="3596874" y="0"/>
                  <a:pt x="3642360" y="45486"/>
                  <a:pt x="3642360" y="101595"/>
                </a:cubicBezTo>
                <a:lnTo>
                  <a:pt x="3642360" y="1381765"/>
                </a:lnTo>
                <a:cubicBezTo>
                  <a:pt x="3642360" y="1437874"/>
                  <a:pt x="3596874" y="1483360"/>
                  <a:pt x="35407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22335" y="63881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134481" y="36969"/>
                </a:moveTo>
                <a:cubicBezTo>
                  <a:pt x="123319" y="25807"/>
                  <a:pt x="105192" y="25807"/>
                  <a:pt x="94030" y="36969"/>
                </a:cubicBezTo>
                <a:lnTo>
                  <a:pt x="8305" y="122694"/>
                </a:lnTo>
                <a:cubicBezTo>
                  <a:pt x="-2858" y="133856"/>
                  <a:pt x="-2858" y="151983"/>
                  <a:pt x="8305" y="163145"/>
                </a:cubicBezTo>
                <a:cubicBezTo>
                  <a:pt x="19467" y="174308"/>
                  <a:pt x="37594" y="174308"/>
                  <a:pt x="48756" y="163145"/>
                </a:cubicBezTo>
                <a:lnTo>
                  <a:pt x="85725" y="126176"/>
                </a:lnTo>
                <a:lnTo>
                  <a:pt x="85725" y="400050"/>
                </a:lnTo>
                <a:cubicBezTo>
                  <a:pt x="85725" y="415856"/>
                  <a:pt x="98494" y="428625"/>
                  <a:pt x="114300" y="428625"/>
                </a:cubicBezTo>
                <a:cubicBezTo>
                  <a:pt x="130106" y="428625"/>
                  <a:pt x="142875" y="415856"/>
                  <a:pt x="142875" y="400050"/>
                </a:cubicBezTo>
                <a:lnTo>
                  <a:pt x="142875" y="126176"/>
                </a:lnTo>
                <a:lnTo>
                  <a:pt x="179844" y="163145"/>
                </a:lnTo>
                <a:cubicBezTo>
                  <a:pt x="191006" y="174308"/>
                  <a:pt x="209133" y="174308"/>
                  <a:pt x="220295" y="163145"/>
                </a:cubicBezTo>
                <a:cubicBezTo>
                  <a:pt x="231458" y="151983"/>
                  <a:pt x="231458" y="133856"/>
                  <a:pt x="220295" y="122694"/>
                </a:cubicBezTo>
                <a:lnTo>
                  <a:pt x="134570" y="36969"/>
                </a:lnTo>
                <a:close/>
                <a:moveTo>
                  <a:pt x="285750" y="428625"/>
                </a:moveTo>
                <a:lnTo>
                  <a:pt x="314325" y="428625"/>
                </a:lnTo>
                <a:cubicBezTo>
                  <a:pt x="330131" y="428625"/>
                  <a:pt x="342900" y="415856"/>
                  <a:pt x="342900" y="400050"/>
                </a:cubicBezTo>
                <a:cubicBezTo>
                  <a:pt x="342900" y="384244"/>
                  <a:pt x="330131" y="371475"/>
                  <a:pt x="314325" y="371475"/>
                </a:cubicBezTo>
                <a:lnTo>
                  <a:pt x="285750" y="371475"/>
                </a:lnTo>
                <a:cubicBezTo>
                  <a:pt x="269944" y="371475"/>
                  <a:pt x="257175" y="384244"/>
                  <a:pt x="257175" y="400050"/>
                </a:cubicBezTo>
                <a:cubicBezTo>
                  <a:pt x="257175" y="415856"/>
                  <a:pt x="269944" y="428625"/>
                  <a:pt x="285750" y="428625"/>
                </a:cubicBezTo>
                <a:close/>
                <a:moveTo>
                  <a:pt x="285750" y="314325"/>
                </a:moveTo>
                <a:lnTo>
                  <a:pt x="371475" y="314325"/>
                </a:lnTo>
                <a:cubicBezTo>
                  <a:pt x="387281" y="314325"/>
                  <a:pt x="400050" y="301556"/>
                  <a:pt x="400050" y="285750"/>
                </a:cubicBezTo>
                <a:cubicBezTo>
                  <a:pt x="400050" y="269944"/>
                  <a:pt x="387281" y="257175"/>
                  <a:pt x="371475" y="257175"/>
                </a:cubicBezTo>
                <a:lnTo>
                  <a:pt x="285750" y="257175"/>
                </a:lnTo>
                <a:cubicBezTo>
                  <a:pt x="269944" y="257175"/>
                  <a:pt x="257175" y="269944"/>
                  <a:pt x="257175" y="285750"/>
                </a:cubicBezTo>
                <a:cubicBezTo>
                  <a:pt x="257175" y="301556"/>
                  <a:pt x="269944" y="314325"/>
                  <a:pt x="285750" y="314325"/>
                </a:cubicBezTo>
                <a:close/>
                <a:moveTo>
                  <a:pt x="285750" y="200025"/>
                </a:moveTo>
                <a:lnTo>
                  <a:pt x="428625" y="200025"/>
                </a:lnTo>
                <a:cubicBezTo>
                  <a:pt x="444431" y="200025"/>
                  <a:pt x="457200" y="187256"/>
                  <a:pt x="457200" y="171450"/>
                </a:cubicBezTo>
                <a:cubicBezTo>
                  <a:pt x="457200" y="155644"/>
                  <a:pt x="444431" y="142875"/>
                  <a:pt x="428625" y="142875"/>
                </a:cubicBezTo>
                <a:lnTo>
                  <a:pt x="285750" y="142875"/>
                </a:lnTo>
                <a:cubicBezTo>
                  <a:pt x="269944" y="142875"/>
                  <a:pt x="257175" y="155644"/>
                  <a:pt x="257175" y="171450"/>
                </a:cubicBezTo>
                <a:cubicBezTo>
                  <a:pt x="257175" y="187256"/>
                  <a:pt x="269944" y="200025"/>
                  <a:pt x="285750" y="200025"/>
                </a:cubicBezTo>
                <a:close/>
                <a:moveTo>
                  <a:pt x="285750" y="85725"/>
                </a:moveTo>
                <a:lnTo>
                  <a:pt x="485775" y="85725"/>
                </a:lnTo>
                <a:cubicBezTo>
                  <a:pt x="501581" y="85725"/>
                  <a:pt x="514350" y="72956"/>
                  <a:pt x="514350" y="57150"/>
                </a:cubicBezTo>
                <a:cubicBezTo>
                  <a:pt x="514350" y="41344"/>
                  <a:pt x="501581" y="28575"/>
                  <a:pt x="485775" y="28575"/>
                </a:cubicBezTo>
                <a:lnTo>
                  <a:pt x="285750" y="28575"/>
                </a:lnTo>
                <a:cubicBezTo>
                  <a:pt x="269944" y="28575"/>
                  <a:pt x="257175" y="41344"/>
                  <a:pt x="257175" y="57150"/>
                </a:cubicBezTo>
                <a:cubicBezTo>
                  <a:pt x="257175" y="72956"/>
                  <a:pt x="269944" y="85725"/>
                  <a:pt x="285750" y="85725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7" name="Text 14"/>
          <p:cNvSpPr/>
          <p:nvPr/>
        </p:nvSpPr>
        <p:spPr>
          <a:xfrm>
            <a:off x="8493760" y="6997700"/>
            <a:ext cx="323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TOPSIS法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2095480" y="6129022"/>
            <a:ext cx="3642360" cy="1483360"/>
          </a:xfrm>
          <a:custGeom>
            <a:avLst/>
            <a:gdLst/>
            <a:ahLst/>
            <a:cxnLst/>
            <a:rect l="l" t="t" r="r" b="b"/>
            <a:pathLst>
              <a:path w="3642360" h="1483360">
                <a:moveTo>
                  <a:pt x="101595" y="0"/>
                </a:moveTo>
                <a:lnTo>
                  <a:pt x="3540765" y="0"/>
                </a:lnTo>
                <a:cubicBezTo>
                  <a:pt x="3596874" y="0"/>
                  <a:pt x="3642360" y="45486"/>
                  <a:pt x="3642360" y="101595"/>
                </a:cubicBezTo>
                <a:lnTo>
                  <a:pt x="3642360" y="1381765"/>
                </a:lnTo>
                <a:cubicBezTo>
                  <a:pt x="3642360" y="1437874"/>
                  <a:pt x="3596874" y="1483360"/>
                  <a:pt x="35407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383135" y="63881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0" y="300038"/>
                </a:moveTo>
                <a:cubicBezTo>
                  <a:pt x="0" y="371029"/>
                  <a:pt x="57596" y="428625"/>
                  <a:pt x="128588" y="428625"/>
                </a:cubicBezTo>
                <a:lnTo>
                  <a:pt x="400050" y="428625"/>
                </a:lnTo>
                <a:cubicBezTo>
                  <a:pt x="463183" y="428625"/>
                  <a:pt x="514350" y="377458"/>
                  <a:pt x="514350" y="314325"/>
                </a:cubicBezTo>
                <a:cubicBezTo>
                  <a:pt x="514350" y="268248"/>
                  <a:pt x="487114" y="228511"/>
                  <a:pt x="447824" y="210473"/>
                </a:cubicBezTo>
                <a:cubicBezTo>
                  <a:pt x="453807" y="198775"/>
                  <a:pt x="457200" y="185470"/>
                  <a:pt x="457200" y="171450"/>
                </a:cubicBezTo>
                <a:cubicBezTo>
                  <a:pt x="457200" y="124123"/>
                  <a:pt x="418802" y="85725"/>
                  <a:pt x="371475" y="85725"/>
                </a:cubicBezTo>
                <a:cubicBezTo>
                  <a:pt x="355669" y="85725"/>
                  <a:pt x="340935" y="90011"/>
                  <a:pt x="328255" y="97423"/>
                </a:cubicBezTo>
                <a:cubicBezTo>
                  <a:pt x="306735" y="56525"/>
                  <a:pt x="263783" y="28575"/>
                  <a:pt x="214313" y="28575"/>
                </a:cubicBezTo>
                <a:cubicBezTo>
                  <a:pt x="143321" y="28575"/>
                  <a:pt x="85725" y="86171"/>
                  <a:pt x="85725" y="157163"/>
                </a:cubicBezTo>
                <a:cubicBezTo>
                  <a:pt x="85725" y="164306"/>
                  <a:pt x="86350" y="171361"/>
                  <a:pt x="87422" y="178147"/>
                </a:cubicBezTo>
                <a:cubicBezTo>
                  <a:pt x="36612" y="195292"/>
                  <a:pt x="0" y="243423"/>
                  <a:pt x="0" y="300038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0" name="Text 17"/>
          <p:cNvSpPr/>
          <p:nvPr/>
        </p:nvSpPr>
        <p:spPr>
          <a:xfrm>
            <a:off x="12354560" y="6997700"/>
            <a:ext cx="323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模糊综合评价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6629" y="456629"/>
            <a:ext cx="15434067" cy="2739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b="1" kern="0" spc="72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EVALUATION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6629" y="821933"/>
            <a:ext cx="15616719" cy="547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1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评价模型核心概念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6629" y="1506876"/>
            <a:ext cx="1095910" cy="45663"/>
          </a:xfrm>
          <a:custGeom>
            <a:avLst/>
            <a:gdLst/>
            <a:ahLst/>
            <a:cxnLst/>
            <a:rect l="l" t="t" r="r" b="b"/>
            <a:pathLst>
              <a:path w="1095910" h="45663">
                <a:moveTo>
                  <a:pt x="0" y="0"/>
                </a:moveTo>
                <a:lnTo>
                  <a:pt x="1095910" y="0"/>
                </a:lnTo>
                <a:lnTo>
                  <a:pt x="1095910" y="45663"/>
                </a:lnTo>
                <a:lnTo>
                  <a:pt x="0" y="45663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79461" y="1826517"/>
            <a:ext cx="7511551" cy="1689528"/>
          </a:xfrm>
          <a:custGeom>
            <a:avLst/>
            <a:gdLst/>
            <a:ahLst/>
            <a:cxnLst/>
            <a:rect l="l" t="t" r="r" b="b"/>
            <a:pathLst>
              <a:path w="7511551" h="1689528">
                <a:moveTo>
                  <a:pt x="45663" y="0"/>
                </a:moveTo>
                <a:lnTo>
                  <a:pt x="7374564" y="0"/>
                </a:lnTo>
                <a:cubicBezTo>
                  <a:pt x="7450219" y="0"/>
                  <a:pt x="7511551" y="61331"/>
                  <a:pt x="7511551" y="136987"/>
                </a:cubicBezTo>
                <a:lnTo>
                  <a:pt x="7511551" y="1552541"/>
                </a:lnTo>
                <a:cubicBezTo>
                  <a:pt x="7511551" y="1628197"/>
                  <a:pt x="7450219" y="1689528"/>
                  <a:pt x="7374564" y="1689528"/>
                </a:cubicBezTo>
                <a:lnTo>
                  <a:pt x="45663" y="1689528"/>
                </a:lnTo>
                <a:cubicBezTo>
                  <a:pt x="20444" y="1689528"/>
                  <a:pt x="0" y="1669084"/>
                  <a:pt x="0" y="1643865"/>
                </a:cubicBezTo>
                <a:lnTo>
                  <a:pt x="0" y="45663"/>
                </a:lnTo>
                <a:cubicBezTo>
                  <a:pt x="0" y="20444"/>
                  <a:pt x="20444" y="0"/>
                  <a:pt x="4566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1236" dist="11415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9461" y="1826517"/>
            <a:ext cx="45663" cy="1689528"/>
          </a:xfrm>
          <a:custGeom>
            <a:avLst/>
            <a:gdLst/>
            <a:ahLst/>
            <a:cxnLst/>
            <a:rect l="l" t="t" r="r" b="b"/>
            <a:pathLst>
              <a:path w="45663" h="1689528">
                <a:moveTo>
                  <a:pt x="45663" y="0"/>
                </a:moveTo>
                <a:lnTo>
                  <a:pt x="45663" y="0"/>
                </a:lnTo>
                <a:lnTo>
                  <a:pt x="45663" y="1689528"/>
                </a:lnTo>
                <a:lnTo>
                  <a:pt x="45663" y="1689528"/>
                </a:lnTo>
                <a:cubicBezTo>
                  <a:pt x="20444" y="1689528"/>
                  <a:pt x="0" y="1669084"/>
                  <a:pt x="0" y="1643865"/>
                </a:cubicBezTo>
                <a:lnTo>
                  <a:pt x="0" y="45663"/>
                </a:lnTo>
                <a:cubicBezTo>
                  <a:pt x="0" y="20444"/>
                  <a:pt x="20444" y="0"/>
                  <a:pt x="4566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7" name="Shape 5"/>
          <p:cNvSpPr/>
          <p:nvPr/>
        </p:nvSpPr>
        <p:spPr>
          <a:xfrm>
            <a:off x="821933" y="2111776"/>
            <a:ext cx="342472" cy="342472"/>
          </a:xfrm>
          <a:custGeom>
            <a:avLst/>
            <a:gdLst/>
            <a:ahLst/>
            <a:cxnLst/>
            <a:rect l="l" t="t" r="r" b="b"/>
            <a:pathLst>
              <a:path w="342472" h="342472">
                <a:moveTo>
                  <a:pt x="299663" y="171236"/>
                </a:moveTo>
                <a:cubicBezTo>
                  <a:pt x="299663" y="100355"/>
                  <a:pt x="242117" y="42809"/>
                  <a:pt x="171236" y="42809"/>
                </a:cubicBezTo>
                <a:cubicBezTo>
                  <a:pt x="100355" y="42809"/>
                  <a:pt x="42809" y="100355"/>
                  <a:pt x="42809" y="171236"/>
                </a:cubicBezTo>
                <a:cubicBezTo>
                  <a:pt x="42809" y="242117"/>
                  <a:pt x="100355" y="299663"/>
                  <a:pt x="171236" y="299663"/>
                </a:cubicBezTo>
                <a:cubicBezTo>
                  <a:pt x="242117" y="299663"/>
                  <a:pt x="299663" y="242117"/>
                  <a:pt x="299663" y="171236"/>
                </a:cubicBezTo>
                <a:close/>
                <a:moveTo>
                  <a:pt x="0" y="171236"/>
                </a:moveTo>
                <a:cubicBezTo>
                  <a:pt x="0" y="76728"/>
                  <a:pt x="76728" y="0"/>
                  <a:pt x="171236" y="0"/>
                </a:cubicBezTo>
                <a:cubicBezTo>
                  <a:pt x="265744" y="0"/>
                  <a:pt x="342472" y="76728"/>
                  <a:pt x="342472" y="171236"/>
                </a:cubicBezTo>
                <a:cubicBezTo>
                  <a:pt x="342472" y="265744"/>
                  <a:pt x="265744" y="342472"/>
                  <a:pt x="171236" y="342472"/>
                </a:cubicBezTo>
                <a:cubicBezTo>
                  <a:pt x="76728" y="342472"/>
                  <a:pt x="0" y="265744"/>
                  <a:pt x="0" y="171236"/>
                </a:cubicBezTo>
                <a:close/>
                <a:moveTo>
                  <a:pt x="171236" y="224747"/>
                </a:moveTo>
                <a:cubicBezTo>
                  <a:pt x="200770" y="224747"/>
                  <a:pt x="224747" y="200770"/>
                  <a:pt x="224747" y="171236"/>
                </a:cubicBezTo>
                <a:cubicBezTo>
                  <a:pt x="224747" y="141702"/>
                  <a:pt x="200770" y="117725"/>
                  <a:pt x="171236" y="117725"/>
                </a:cubicBezTo>
                <a:cubicBezTo>
                  <a:pt x="141702" y="117725"/>
                  <a:pt x="117725" y="141702"/>
                  <a:pt x="117725" y="171236"/>
                </a:cubicBezTo>
                <a:cubicBezTo>
                  <a:pt x="117725" y="200770"/>
                  <a:pt x="141702" y="224747"/>
                  <a:pt x="171236" y="224747"/>
                </a:cubicBezTo>
                <a:close/>
                <a:moveTo>
                  <a:pt x="171236" y="74916"/>
                </a:moveTo>
                <a:cubicBezTo>
                  <a:pt x="224397" y="74916"/>
                  <a:pt x="267556" y="118075"/>
                  <a:pt x="267556" y="171236"/>
                </a:cubicBezTo>
                <a:cubicBezTo>
                  <a:pt x="267556" y="224397"/>
                  <a:pt x="224397" y="267556"/>
                  <a:pt x="171236" y="267556"/>
                </a:cubicBezTo>
                <a:cubicBezTo>
                  <a:pt x="118075" y="267556"/>
                  <a:pt x="74916" y="224397"/>
                  <a:pt x="74916" y="171236"/>
                </a:cubicBezTo>
                <a:cubicBezTo>
                  <a:pt x="74916" y="118075"/>
                  <a:pt x="118075" y="74916"/>
                  <a:pt x="171236" y="74916"/>
                </a:cubicBezTo>
                <a:close/>
                <a:moveTo>
                  <a:pt x="149831" y="171236"/>
                </a:moveTo>
                <a:cubicBezTo>
                  <a:pt x="149831" y="159422"/>
                  <a:pt x="159422" y="149831"/>
                  <a:pt x="171236" y="149831"/>
                </a:cubicBezTo>
                <a:cubicBezTo>
                  <a:pt x="183049" y="149831"/>
                  <a:pt x="192640" y="159422"/>
                  <a:pt x="192640" y="171236"/>
                </a:cubicBezTo>
                <a:cubicBezTo>
                  <a:pt x="192640" y="183049"/>
                  <a:pt x="183049" y="192640"/>
                  <a:pt x="171236" y="192640"/>
                </a:cubicBezTo>
                <a:cubicBezTo>
                  <a:pt x="159422" y="192640"/>
                  <a:pt x="149831" y="183049"/>
                  <a:pt x="149831" y="171236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8" name="Text 6"/>
          <p:cNvSpPr/>
          <p:nvPr/>
        </p:nvSpPr>
        <p:spPr>
          <a:xfrm>
            <a:off x="1341348" y="2100494"/>
            <a:ext cx="1232899" cy="3653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核心定义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6270" y="2648316"/>
            <a:ext cx="7032090" cy="5936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</a:t>
            </a:r>
            <a:r>
              <a:rPr lang="en-US" sz="144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科学的指标体系</a:t>
            </a:r>
            <a:r>
              <a:rPr lang="en-US" sz="144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，结合合理的</a:t>
            </a:r>
            <a:r>
              <a:rPr lang="en-US" sz="144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权重分配方法</a:t>
            </a:r>
            <a:r>
              <a:rPr lang="en-US" sz="144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，对评估对象（项目、方案、地区、产品）的综合性能或某一属性进行</a:t>
            </a:r>
            <a:r>
              <a:rPr lang="en-US" sz="144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量化打分</a:t>
            </a:r>
            <a:r>
              <a:rPr lang="en-US" sz="144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，进而给出客观、公正的评价结论。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6629" y="3744226"/>
            <a:ext cx="7534382" cy="4646202"/>
          </a:xfrm>
          <a:custGeom>
            <a:avLst/>
            <a:gdLst/>
            <a:ahLst/>
            <a:cxnLst/>
            <a:rect l="l" t="t" r="r" b="b"/>
            <a:pathLst>
              <a:path w="7534382" h="4646202">
                <a:moveTo>
                  <a:pt x="136970" y="0"/>
                </a:moveTo>
                <a:lnTo>
                  <a:pt x="7397412" y="0"/>
                </a:lnTo>
                <a:cubicBezTo>
                  <a:pt x="7473058" y="0"/>
                  <a:pt x="7534382" y="61324"/>
                  <a:pt x="7534382" y="136970"/>
                </a:cubicBezTo>
                <a:lnTo>
                  <a:pt x="7534382" y="4509232"/>
                </a:lnTo>
                <a:cubicBezTo>
                  <a:pt x="7534382" y="4584879"/>
                  <a:pt x="7473058" y="4646202"/>
                  <a:pt x="7397412" y="4646202"/>
                </a:cubicBezTo>
                <a:lnTo>
                  <a:pt x="136970" y="4646202"/>
                </a:lnTo>
                <a:cubicBezTo>
                  <a:pt x="61324" y="4646202"/>
                  <a:pt x="0" y="4584879"/>
                  <a:pt x="0" y="4509232"/>
                </a:cubicBezTo>
                <a:lnTo>
                  <a:pt x="0" y="136970"/>
                </a:lnTo>
                <a:cubicBezTo>
                  <a:pt x="0" y="61374"/>
                  <a:pt x="61374" y="0"/>
                  <a:pt x="136970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2700000" scaled="1"/>
          </a:gradFill>
          <a:effectLst>
            <a:outerShdw blurRad="285393" dist="22831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4854" y="4063721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77217" y="0"/>
                </a:moveTo>
                <a:lnTo>
                  <a:pt x="197082" y="0"/>
                </a:lnTo>
                <a:cubicBezTo>
                  <a:pt x="211262" y="0"/>
                  <a:pt x="222821" y="11665"/>
                  <a:pt x="222286" y="25792"/>
                </a:cubicBezTo>
                <a:cubicBezTo>
                  <a:pt x="222179" y="28629"/>
                  <a:pt x="222072" y="31465"/>
                  <a:pt x="221911" y="34247"/>
                </a:cubicBezTo>
                <a:lnTo>
                  <a:pt x="248453" y="34247"/>
                </a:lnTo>
                <a:cubicBezTo>
                  <a:pt x="262419" y="34247"/>
                  <a:pt x="274727" y="45806"/>
                  <a:pt x="273656" y="60896"/>
                </a:cubicBezTo>
                <a:cubicBezTo>
                  <a:pt x="269643" y="116387"/>
                  <a:pt x="241282" y="146888"/>
                  <a:pt x="210513" y="162835"/>
                </a:cubicBezTo>
                <a:cubicBezTo>
                  <a:pt x="202058" y="167223"/>
                  <a:pt x="193443" y="170487"/>
                  <a:pt x="185256" y="172895"/>
                </a:cubicBezTo>
                <a:cubicBezTo>
                  <a:pt x="174447" y="188199"/>
                  <a:pt x="163209" y="196279"/>
                  <a:pt x="154273" y="200614"/>
                </a:cubicBezTo>
                <a:lnTo>
                  <a:pt x="154273" y="239730"/>
                </a:lnTo>
                <a:lnTo>
                  <a:pt x="188520" y="239730"/>
                </a:lnTo>
                <a:cubicBezTo>
                  <a:pt x="197992" y="239730"/>
                  <a:pt x="205644" y="247382"/>
                  <a:pt x="205644" y="256854"/>
                </a:cubicBezTo>
                <a:cubicBezTo>
                  <a:pt x="205644" y="266325"/>
                  <a:pt x="197992" y="273978"/>
                  <a:pt x="188520" y="273978"/>
                </a:cubicBezTo>
                <a:lnTo>
                  <a:pt x="85779" y="273978"/>
                </a:lnTo>
                <a:cubicBezTo>
                  <a:pt x="76307" y="273978"/>
                  <a:pt x="68655" y="266325"/>
                  <a:pt x="68655" y="256854"/>
                </a:cubicBezTo>
                <a:cubicBezTo>
                  <a:pt x="68655" y="247382"/>
                  <a:pt x="76307" y="239730"/>
                  <a:pt x="85779" y="239730"/>
                </a:cubicBezTo>
                <a:lnTo>
                  <a:pt x="120026" y="239730"/>
                </a:lnTo>
                <a:lnTo>
                  <a:pt x="120026" y="200614"/>
                </a:lnTo>
                <a:cubicBezTo>
                  <a:pt x="111464" y="196493"/>
                  <a:pt x="100815" y="188841"/>
                  <a:pt x="90434" y="174768"/>
                </a:cubicBezTo>
                <a:cubicBezTo>
                  <a:pt x="80588" y="172199"/>
                  <a:pt x="69886" y="168293"/>
                  <a:pt x="59451" y="162407"/>
                </a:cubicBezTo>
                <a:cubicBezTo>
                  <a:pt x="30501" y="146193"/>
                  <a:pt x="4388" y="115638"/>
                  <a:pt x="642" y="60789"/>
                </a:cubicBezTo>
                <a:cubicBezTo>
                  <a:pt x="-375" y="45752"/>
                  <a:pt x="11879" y="34194"/>
                  <a:pt x="25846" y="34194"/>
                </a:cubicBezTo>
                <a:lnTo>
                  <a:pt x="52388" y="34194"/>
                </a:lnTo>
                <a:cubicBezTo>
                  <a:pt x="52227" y="31411"/>
                  <a:pt x="52120" y="28629"/>
                  <a:pt x="52013" y="25739"/>
                </a:cubicBezTo>
                <a:cubicBezTo>
                  <a:pt x="51478" y="11558"/>
                  <a:pt x="63036" y="-54"/>
                  <a:pt x="77217" y="-54"/>
                </a:cubicBezTo>
                <a:close/>
                <a:moveTo>
                  <a:pt x="54314" y="59933"/>
                </a:moveTo>
                <a:lnTo>
                  <a:pt x="26274" y="59933"/>
                </a:lnTo>
                <a:cubicBezTo>
                  <a:pt x="29592" y="105257"/>
                  <a:pt x="50408" y="127945"/>
                  <a:pt x="71866" y="139985"/>
                </a:cubicBezTo>
                <a:cubicBezTo>
                  <a:pt x="64160" y="120026"/>
                  <a:pt x="57792" y="93966"/>
                  <a:pt x="54314" y="59933"/>
                </a:cubicBezTo>
                <a:close/>
                <a:moveTo>
                  <a:pt x="203343" y="137417"/>
                </a:moveTo>
                <a:cubicBezTo>
                  <a:pt x="225015" y="124681"/>
                  <a:pt x="244600" y="102046"/>
                  <a:pt x="247918" y="59933"/>
                </a:cubicBezTo>
                <a:lnTo>
                  <a:pt x="219931" y="59933"/>
                </a:lnTo>
                <a:cubicBezTo>
                  <a:pt x="216613" y="92521"/>
                  <a:pt x="210620" y="117832"/>
                  <a:pt x="203343" y="137417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2" name="Text 10"/>
          <p:cNvSpPr/>
          <p:nvPr/>
        </p:nvSpPr>
        <p:spPr>
          <a:xfrm>
            <a:off x="1073079" y="4018203"/>
            <a:ext cx="6780944" cy="3653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5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核心三要素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5173" y="4616243"/>
            <a:ext cx="6972728" cy="1036548"/>
          </a:xfrm>
          <a:custGeom>
            <a:avLst/>
            <a:gdLst/>
            <a:ahLst/>
            <a:cxnLst/>
            <a:rect l="l" t="t" r="r" b="b"/>
            <a:pathLst>
              <a:path w="6972728" h="1036548">
                <a:moveTo>
                  <a:pt x="91330" y="0"/>
                </a:moveTo>
                <a:lnTo>
                  <a:pt x="6881398" y="0"/>
                </a:lnTo>
                <a:cubicBezTo>
                  <a:pt x="6931838" y="0"/>
                  <a:pt x="6972728" y="40890"/>
                  <a:pt x="6972728" y="91330"/>
                </a:cubicBezTo>
                <a:lnTo>
                  <a:pt x="6972728" y="945218"/>
                </a:lnTo>
                <a:cubicBezTo>
                  <a:pt x="6972728" y="995658"/>
                  <a:pt x="6931838" y="1036548"/>
                  <a:pt x="6881398" y="1036548"/>
                </a:cubicBezTo>
                <a:lnTo>
                  <a:pt x="91330" y="1036548"/>
                </a:lnTo>
                <a:cubicBezTo>
                  <a:pt x="40890" y="1036548"/>
                  <a:pt x="0" y="995658"/>
                  <a:pt x="0" y="945218"/>
                </a:cubicBezTo>
                <a:lnTo>
                  <a:pt x="0" y="91330"/>
                </a:lnTo>
                <a:cubicBezTo>
                  <a:pt x="0" y="40890"/>
                  <a:pt x="40890" y="0"/>
                  <a:pt x="9133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30" y="4849121"/>
            <a:ext cx="228315" cy="228315"/>
          </a:xfrm>
          <a:custGeom>
            <a:avLst/>
            <a:gdLst/>
            <a:ahLst/>
            <a:cxnLst/>
            <a:rect l="l" t="t" r="r" b="b"/>
            <a:pathLst>
              <a:path w="228315" h="228315">
                <a:moveTo>
                  <a:pt x="59665" y="16187"/>
                </a:moveTo>
                <a:cubicBezTo>
                  <a:pt x="64526" y="19576"/>
                  <a:pt x="65685" y="26265"/>
                  <a:pt x="62296" y="31081"/>
                </a:cubicBezTo>
                <a:lnTo>
                  <a:pt x="37324" y="66755"/>
                </a:lnTo>
                <a:cubicBezTo>
                  <a:pt x="35496" y="69342"/>
                  <a:pt x="32642" y="70992"/>
                  <a:pt x="29476" y="71259"/>
                </a:cubicBezTo>
                <a:cubicBezTo>
                  <a:pt x="26310" y="71527"/>
                  <a:pt x="23188" y="70456"/>
                  <a:pt x="20959" y="68227"/>
                </a:cubicBezTo>
                <a:lnTo>
                  <a:pt x="3121" y="50390"/>
                </a:lnTo>
                <a:cubicBezTo>
                  <a:pt x="-1026" y="46198"/>
                  <a:pt x="-1026" y="39420"/>
                  <a:pt x="3121" y="35228"/>
                </a:cubicBezTo>
                <a:cubicBezTo>
                  <a:pt x="7269" y="31037"/>
                  <a:pt x="14091" y="31081"/>
                  <a:pt x="18283" y="35228"/>
                </a:cubicBezTo>
                <a:lnTo>
                  <a:pt x="27112" y="44058"/>
                </a:lnTo>
                <a:lnTo>
                  <a:pt x="44771" y="18818"/>
                </a:lnTo>
                <a:cubicBezTo>
                  <a:pt x="48160" y="13958"/>
                  <a:pt x="54849" y="12798"/>
                  <a:pt x="59665" y="16187"/>
                </a:cubicBezTo>
                <a:close/>
                <a:moveTo>
                  <a:pt x="59665" y="87535"/>
                </a:moveTo>
                <a:cubicBezTo>
                  <a:pt x="64526" y="90925"/>
                  <a:pt x="65685" y="97613"/>
                  <a:pt x="62296" y="102429"/>
                </a:cubicBezTo>
                <a:lnTo>
                  <a:pt x="37324" y="138104"/>
                </a:lnTo>
                <a:cubicBezTo>
                  <a:pt x="35496" y="140690"/>
                  <a:pt x="32642" y="142340"/>
                  <a:pt x="29476" y="142607"/>
                </a:cubicBezTo>
                <a:cubicBezTo>
                  <a:pt x="26310" y="142875"/>
                  <a:pt x="23188" y="141805"/>
                  <a:pt x="20959" y="139575"/>
                </a:cubicBezTo>
                <a:lnTo>
                  <a:pt x="3121" y="121738"/>
                </a:lnTo>
                <a:cubicBezTo>
                  <a:pt x="-1070" y="117546"/>
                  <a:pt x="-1070" y="110768"/>
                  <a:pt x="3121" y="106621"/>
                </a:cubicBezTo>
                <a:cubicBezTo>
                  <a:pt x="7313" y="102474"/>
                  <a:pt x="14091" y="102429"/>
                  <a:pt x="18238" y="106621"/>
                </a:cubicBezTo>
                <a:lnTo>
                  <a:pt x="27068" y="115450"/>
                </a:lnTo>
                <a:lnTo>
                  <a:pt x="44726" y="90211"/>
                </a:lnTo>
                <a:cubicBezTo>
                  <a:pt x="48116" y="85350"/>
                  <a:pt x="54804" y="84191"/>
                  <a:pt x="59620" y="87580"/>
                </a:cubicBezTo>
                <a:close/>
                <a:moveTo>
                  <a:pt x="99888" y="42809"/>
                </a:moveTo>
                <a:cubicBezTo>
                  <a:pt x="99888" y="34916"/>
                  <a:pt x="106264" y="28539"/>
                  <a:pt x="114157" y="28539"/>
                </a:cubicBezTo>
                <a:lnTo>
                  <a:pt x="214045" y="28539"/>
                </a:lnTo>
                <a:cubicBezTo>
                  <a:pt x="221938" y="28539"/>
                  <a:pt x="228315" y="34916"/>
                  <a:pt x="228315" y="42809"/>
                </a:cubicBezTo>
                <a:cubicBezTo>
                  <a:pt x="228315" y="50702"/>
                  <a:pt x="221938" y="57079"/>
                  <a:pt x="214045" y="57079"/>
                </a:cubicBezTo>
                <a:lnTo>
                  <a:pt x="114157" y="57079"/>
                </a:lnTo>
                <a:cubicBezTo>
                  <a:pt x="106264" y="57079"/>
                  <a:pt x="99888" y="50702"/>
                  <a:pt x="99888" y="42809"/>
                </a:cubicBezTo>
                <a:close/>
                <a:moveTo>
                  <a:pt x="99888" y="114157"/>
                </a:moveTo>
                <a:cubicBezTo>
                  <a:pt x="99888" y="106264"/>
                  <a:pt x="106264" y="99888"/>
                  <a:pt x="114157" y="99888"/>
                </a:cubicBezTo>
                <a:lnTo>
                  <a:pt x="214045" y="99888"/>
                </a:lnTo>
                <a:cubicBezTo>
                  <a:pt x="221938" y="99888"/>
                  <a:pt x="228315" y="106264"/>
                  <a:pt x="228315" y="114157"/>
                </a:cubicBezTo>
                <a:cubicBezTo>
                  <a:pt x="228315" y="122050"/>
                  <a:pt x="221938" y="128427"/>
                  <a:pt x="214045" y="128427"/>
                </a:cubicBezTo>
                <a:lnTo>
                  <a:pt x="114157" y="128427"/>
                </a:lnTo>
                <a:cubicBezTo>
                  <a:pt x="106264" y="128427"/>
                  <a:pt x="99888" y="122050"/>
                  <a:pt x="99888" y="114157"/>
                </a:cubicBezTo>
                <a:close/>
                <a:moveTo>
                  <a:pt x="71348" y="185506"/>
                </a:moveTo>
                <a:cubicBezTo>
                  <a:pt x="71348" y="177613"/>
                  <a:pt x="77725" y="171236"/>
                  <a:pt x="85618" y="171236"/>
                </a:cubicBezTo>
                <a:lnTo>
                  <a:pt x="214045" y="171236"/>
                </a:lnTo>
                <a:cubicBezTo>
                  <a:pt x="221938" y="171236"/>
                  <a:pt x="228315" y="177613"/>
                  <a:pt x="228315" y="185506"/>
                </a:cubicBezTo>
                <a:cubicBezTo>
                  <a:pt x="228315" y="193399"/>
                  <a:pt x="221938" y="199775"/>
                  <a:pt x="214045" y="199775"/>
                </a:cubicBezTo>
                <a:lnTo>
                  <a:pt x="85618" y="199775"/>
                </a:lnTo>
                <a:cubicBezTo>
                  <a:pt x="77725" y="199775"/>
                  <a:pt x="71348" y="193399"/>
                  <a:pt x="71348" y="185506"/>
                </a:cubicBezTo>
                <a:close/>
                <a:moveTo>
                  <a:pt x="28539" y="167669"/>
                </a:moveTo>
                <a:cubicBezTo>
                  <a:pt x="38384" y="167669"/>
                  <a:pt x="46376" y="175661"/>
                  <a:pt x="46376" y="185506"/>
                </a:cubicBezTo>
                <a:cubicBezTo>
                  <a:pt x="46376" y="195350"/>
                  <a:pt x="38384" y="203343"/>
                  <a:pt x="28539" y="203343"/>
                </a:cubicBezTo>
                <a:cubicBezTo>
                  <a:pt x="18695" y="203343"/>
                  <a:pt x="10702" y="195350"/>
                  <a:pt x="10702" y="185506"/>
                </a:cubicBezTo>
                <a:cubicBezTo>
                  <a:pt x="10702" y="175661"/>
                  <a:pt x="18695" y="167669"/>
                  <a:pt x="28539" y="167669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5" name="Text 13"/>
          <p:cNvSpPr/>
          <p:nvPr/>
        </p:nvSpPr>
        <p:spPr>
          <a:xfrm>
            <a:off x="1299110" y="4803458"/>
            <a:ext cx="924674" cy="319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指标合理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2391" y="5214425"/>
            <a:ext cx="6689618" cy="2511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指标体系科学、全面、可量化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5173" y="5844571"/>
            <a:ext cx="6972728" cy="1036548"/>
          </a:xfrm>
          <a:custGeom>
            <a:avLst/>
            <a:gdLst/>
            <a:ahLst/>
            <a:cxnLst/>
            <a:rect l="l" t="t" r="r" b="b"/>
            <a:pathLst>
              <a:path w="6972728" h="1036548">
                <a:moveTo>
                  <a:pt x="91330" y="0"/>
                </a:moveTo>
                <a:lnTo>
                  <a:pt x="6881398" y="0"/>
                </a:lnTo>
                <a:cubicBezTo>
                  <a:pt x="6931838" y="0"/>
                  <a:pt x="6972728" y="40890"/>
                  <a:pt x="6972728" y="91330"/>
                </a:cubicBezTo>
                <a:lnTo>
                  <a:pt x="6972728" y="945218"/>
                </a:lnTo>
                <a:cubicBezTo>
                  <a:pt x="6972728" y="995658"/>
                  <a:pt x="6931838" y="1036548"/>
                  <a:pt x="6881398" y="1036548"/>
                </a:cubicBezTo>
                <a:lnTo>
                  <a:pt x="91330" y="1036548"/>
                </a:lnTo>
                <a:cubicBezTo>
                  <a:pt x="40890" y="1036548"/>
                  <a:pt x="0" y="995658"/>
                  <a:pt x="0" y="945218"/>
                </a:cubicBezTo>
                <a:lnTo>
                  <a:pt x="0" y="91330"/>
                </a:lnTo>
                <a:cubicBezTo>
                  <a:pt x="0" y="40890"/>
                  <a:pt x="40890" y="0"/>
                  <a:pt x="9133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2391" y="6077449"/>
            <a:ext cx="285393" cy="228315"/>
          </a:xfrm>
          <a:custGeom>
            <a:avLst/>
            <a:gdLst/>
            <a:ahLst/>
            <a:cxnLst/>
            <a:rect l="l" t="t" r="r" b="b"/>
            <a:pathLst>
              <a:path w="285393" h="228315">
                <a:moveTo>
                  <a:pt x="171236" y="14270"/>
                </a:moveTo>
                <a:lnTo>
                  <a:pt x="228315" y="14270"/>
                </a:lnTo>
                <a:cubicBezTo>
                  <a:pt x="236208" y="14270"/>
                  <a:pt x="242584" y="20646"/>
                  <a:pt x="242584" y="28539"/>
                </a:cubicBezTo>
                <a:cubicBezTo>
                  <a:pt x="242584" y="36432"/>
                  <a:pt x="236208" y="42809"/>
                  <a:pt x="228315" y="42809"/>
                </a:cubicBezTo>
                <a:lnTo>
                  <a:pt x="177657" y="42809"/>
                </a:lnTo>
                <a:cubicBezTo>
                  <a:pt x="175338" y="54314"/>
                  <a:pt x="167446" y="63812"/>
                  <a:pt x="156966" y="68361"/>
                </a:cubicBezTo>
                <a:lnTo>
                  <a:pt x="156966" y="199775"/>
                </a:lnTo>
                <a:lnTo>
                  <a:pt x="228315" y="199775"/>
                </a:lnTo>
                <a:cubicBezTo>
                  <a:pt x="236208" y="199775"/>
                  <a:pt x="242584" y="206152"/>
                  <a:pt x="242584" y="214045"/>
                </a:cubicBezTo>
                <a:cubicBezTo>
                  <a:pt x="242584" y="221938"/>
                  <a:pt x="236208" y="228315"/>
                  <a:pt x="228315" y="228315"/>
                </a:cubicBezTo>
                <a:lnTo>
                  <a:pt x="57079" y="228315"/>
                </a:lnTo>
                <a:cubicBezTo>
                  <a:pt x="49186" y="228315"/>
                  <a:pt x="42809" y="221938"/>
                  <a:pt x="42809" y="214045"/>
                </a:cubicBezTo>
                <a:cubicBezTo>
                  <a:pt x="42809" y="206152"/>
                  <a:pt x="49186" y="199775"/>
                  <a:pt x="57079" y="199775"/>
                </a:cubicBezTo>
                <a:lnTo>
                  <a:pt x="128427" y="199775"/>
                </a:lnTo>
                <a:lnTo>
                  <a:pt x="128427" y="68361"/>
                </a:lnTo>
                <a:cubicBezTo>
                  <a:pt x="117948" y="63768"/>
                  <a:pt x="110055" y="54269"/>
                  <a:pt x="107736" y="42809"/>
                </a:cubicBezTo>
                <a:lnTo>
                  <a:pt x="57079" y="42809"/>
                </a:lnTo>
                <a:cubicBezTo>
                  <a:pt x="49186" y="42809"/>
                  <a:pt x="42809" y="36432"/>
                  <a:pt x="42809" y="28539"/>
                </a:cubicBezTo>
                <a:cubicBezTo>
                  <a:pt x="42809" y="20646"/>
                  <a:pt x="49186" y="14270"/>
                  <a:pt x="57079" y="14270"/>
                </a:cubicBezTo>
                <a:lnTo>
                  <a:pt x="114157" y="14270"/>
                </a:lnTo>
                <a:cubicBezTo>
                  <a:pt x="120668" y="5619"/>
                  <a:pt x="131013" y="0"/>
                  <a:pt x="142697" y="0"/>
                </a:cubicBezTo>
                <a:cubicBezTo>
                  <a:pt x="154380" y="0"/>
                  <a:pt x="164725" y="5619"/>
                  <a:pt x="171236" y="14270"/>
                </a:cubicBezTo>
                <a:close/>
                <a:moveTo>
                  <a:pt x="196029" y="142697"/>
                </a:moveTo>
                <a:lnTo>
                  <a:pt x="260600" y="142697"/>
                </a:lnTo>
                <a:lnTo>
                  <a:pt x="228315" y="87313"/>
                </a:lnTo>
                <a:lnTo>
                  <a:pt x="196029" y="142697"/>
                </a:lnTo>
                <a:close/>
                <a:moveTo>
                  <a:pt x="228315" y="185506"/>
                </a:moveTo>
                <a:cubicBezTo>
                  <a:pt x="200266" y="185506"/>
                  <a:pt x="176944" y="170344"/>
                  <a:pt x="172128" y="150322"/>
                </a:cubicBezTo>
                <a:cubicBezTo>
                  <a:pt x="170968" y="145417"/>
                  <a:pt x="172574" y="140378"/>
                  <a:pt x="175116" y="136008"/>
                </a:cubicBezTo>
                <a:lnTo>
                  <a:pt x="217568" y="63232"/>
                </a:lnTo>
                <a:cubicBezTo>
                  <a:pt x="219797" y="59397"/>
                  <a:pt x="223900" y="57079"/>
                  <a:pt x="228315" y="57079"/>
                </a:cubicBezTo>
                <a:cubicBezTo>
                  <a:pt x="232729" y="57079"/>
                  <a:pt x="236832" y="59442"/>
                  <a:pt x="239061" y="63232"/>
                </a:cubicBezTo>
                <a:lnTo>
                  <a:pt x="281514" y="136008"/>
                </a:lnTo>
                <a:cubicBezTo>
                  <a:pt x="284055" y="140378"/>
                  <a:pt x="285661" y="145417"/>
                  <a:pt x="284501" y="150322"/>
                </a:cubicBezTo>
                <a:cubicBezTo>
                  <a:pt x="279685" y="170300"/>
                  <a:pt x="256363" y="185506"/>
                  <a:pt x="228315" y="185506"/>
                </a:cubicBezTo>
                <a:close/>
                <a:moveTo>
                  <a:pt x="56544" y="87313"/>
                </a:moveTo>
                <a:lnTo>
                  <a:pt x="24258" y="142697"/>
                </a:lnTo>
                <a:lnTo>
                  <a:pt x="88873" y="142697"/>
                </a:lnTo>
                <a:lnTo>
                  <a:pt x="56544" y="87313"/>
                </a:lnTo>
                <a:close/>
                <a:moveTo>
                  <a:pt x="401" y="150322"/>
                </a:moveTo>
                <a:cubicBezTo>
                  <a:pt x="-758" y="145417"/>
                  <a:pt x="847" y="140378"/>
                  <a:pt x="3389" y="136008"/>
                </a:cubicBezTo>
                <a:lnTo>
                  <a:pt x="45841" y="63232"/>
                </a:lnTo>
                <a:cubicBezTo>
                  <a:pt x="48071" y="59397"/>
                  <a:pt x="52173" y="57079"/>
                  <a:pt x="56588" y="57079"/>
                </a:cubicBezTo>
                <a:cubicBezTo>
                  <a:pt x="61003" y="57079"/>
                  <a:pt x="65105" y="59442"/>
                  <a:pt x="67335" y="63232"/>
                </a:cubicBezTo>
                <a:lnTo>
                  <a:pt x="109787" y="136008"/>
                </a:lnTo>
                <a:cubicBezTo>
                  <a:pt x="112329" y="140378"/>
                  <a:pt x="113934" y="145417"/>
                  <a:pt x="112775" y="150322"/>
                </a:cubicBezTo>
                <a:cubicBezTo>
                  <a:pt x="107959" y="170300"/>
                  <a:pt x="84637" y="185506"/>
                  <a:pt x="56588" y="185506"/>
                </a:cubicBezTo>
                <a:cubicBezTo>
                  <a:pt x="28539" y="185506"/>
                  <a:pt x="5217" y="170344"/>
                  <a:pt x="401" y="150322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9" name="Text 17"/>
          <p:cNvSpPr/>
          <p:nvPr/>
        </p:nvSpPr>
        <p:spPr>
          <a:xfrm>
            <a:off x="1299110" y="6031787"/>
            <a:ext cx="924674" cy="319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权重科学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2391" y="6442753"/>
            <a:ext cx="6689618" cy="2511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权重分配反映指标重要性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5173" y="7072910"/>
            <a:ext cx="6972728" cy="1036548"/>
          </a:xfrm>
          <a:custGeom>
            <a:avLst/>
            <a:gdLst/>
            <a:ahLst/>
            <a:cxnLst/>
            <a:rect l="l" t="t" r="r" b="b"/>
            <a:pathLst>
              <a:path w="6972728" h="1036548">
                <a:moveTo>
                  <a:pt x="91330" y="0"/>
                </a:moveTo>
                <a:lnTo>
                  <a:pt x="6881398" y="0"/>
                </a:lnTo>
                <a:cubicBezTo>
                  <a:pt x="6931838" y="0"/>
                  <a:pt x="6972728" y="40890"/>
                  <a:pt x="6972728" y="91330"/>
                </a:cubicBezTo>
                <a:lnTo>
                  <a:pt x="6972728" y="945218"/>
                </a:lnTo>
                <a:cubicBezTo>
                  <a:pt x="6972728" y="995658"/>
                  <a:pt x="6931838" y="1036548"/>
                  <a:pt x="6881398" y="1036548"/>
                </a:cubicBezTo>
                <a:lnTo>
                  <a:pt x="91330" y="1036548"/>
                </a:lnTo>
                <a:cubicBezTo>
                  <a:pt x="40890" y="1036548"/>
                  <a:pt x="0" y="995658"/>
                  <a:pt x="0" y="945218"/>
                </a:cubicBezTo>
                <a:lnTo>
                  <a:pt x="0" y="91330"/>
                </a:lnTo>
                <a:cubicBezTo>
                  <a:pt x="0" y="40890"/>
                  <a:pt x="40890" y="0"/>
                  <a:pt x="9133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9470" y="7305789"/>
            <a:ext cx="171236" cy="228315"/>
          </a:xfrm>
          <a:custGeom>
            <a:avLst/>
            <a:gdLst/>
            <a:ahLst/>
            <a:cxnLst/>
            <a:rect l="l" t="t" r="r" b="b"/>
            <a:pathLst>
              <a:path w="171236" h="228315">
                <a:moveTo>
                  <a:pt x="111437" y="29788"/>
                </a:moveTo>
                <a:cubicBezTo>
                  <a:pt x="116075" y="23411"/>
                  <a:pt x="114648" y="14493"/>
                  <a:pt x="108271" y="9855"/>
                </a:cubicBezTo>
                <a:cubicBezTo>
                  <a:pt x="101894" y="5217"/>
                  <a:pt x="92976" y="6644"/>
                  <a:pt x="88338" y="13021"/>
                </a:cubicBezTo>
                <a:lnTo>
                  <a:pt x="41070" y="77993"/>
                </a:lnTo>
                <a:lnTo>
                  <a:pt x="24348" y="61270"/>
                </a:lnTo>
                <a:cubicBezTo>
                  <a:pt x="18774" y="55696"/>
                  <a:pt x="9721" y="55696"/>
                  <a:pt x="4147" y="61270"/>
                </a:cubicBezTo>
                <a:cubicBezTo>
                  <a:pt x="-1427" y="66844"/>
                  <a:pt x="-1427" y="75897"/>
                  <a:pt x="4147" y="81471"/>
                </a:cubicBezTo>
                <a:lnTo>
                  <a:pt x="32686" y="110010"/>
                </a:lnTo>
                <a:cubicBezTo>
                  <a:pt x="35630" y="112953"/>
                  <a:pt x="39732" y="114469"/>
                  <a:pt x="43879" y="114157"/>
                </a:cubicBezTo>
                <a:cubicBezTo>
                  <a:pt x="48026" y="113845"/>
                  <a:pt x="51861" y="111705"/>
                  <a:pt x="54314" y="108316"/>
                </a:cubicBezTo>
                <a:lnTo>
                  <a:pt x="111393" y="29833"/>
                </a:lnTo>
                <a:close/>
                <a:moveTo>
                  <a:pt x="168516" y="90434"/>
                </a:moveTo>
                <a:cubicBezTo>
                  <a:pt x="173153" y="84057"/>
                  <a:pt x="171726" y="75139"/>
                  <a:pt x="165350" y="70501"/>
                </a:cubicBezTo>
                <a:cubicBezTo>
                  <a:pt x="158973" y="65863"/>
                  <a:pt x="150054" y="67290"/>
                  <a:pt x="145417" y="73667"/>
                </a:cubicBezTo>
                <a:lnTo>
                  <a:pt x="69609" y="177880"/>
                </a:lnTo>
                <a:lnTo>
                  <a:pt x="38617" y="146888"/>
                </a:lnTo>
                <a:cubicBezTo>
                  <a:pt x="33043" y="141314"/>
                  <a:pt x="23991" y="141314"/>
                  <a:pt x="18417" y="146888"/>
                </a:cubicBezTo>
                <a:cubicBezTo>
                  <a:pt x="12843" y="152462"/>
                  <a:pt x="12843" y="161515"/>
                  <a:pt x="18417" y="167089"/>
                </a:cubicBezTo>
                <a:lnTo>
                  <a:pt x="61226" y="209898"/>
                </a:lnTo>
                <a:cubicBezTo>
                  <a:pt x="64169" y="212841"/>
                  <a:pt x="68271" y="214357"/>
                  <a:pt x="72419" y="214045"/>
                </a:cubicBezTo>
                <a:cubicBezTo>
                  <a:pt x="76566" y="213733"/>
                  <a:pt x="80401" y="211592"/>
                  <a:pt x="82853" y="208203"/>
                </a:cubicBezTo>
                <a:lnTo>
                  <a:pt x="168471" y="90479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23" name="Text 21"/>
          <p:cNvSpPr/>
          <p:nvPr/>
        </p:nvSpPr>
        <p:spPr>
          <a:xfrm>
            <a:off x="1299110" y="7260126"/>
            <a:ext cx="924674" cy="319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评估客观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2391" y="7671092"/>
            <a:ext cx="6689618" cy="2511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评价过程透明、可复现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64989" y="1826517"/>
            <a:ext cx="7534382" cy="4452135"/>
          </a:xfrm>
          <a:custGeom>
            <a:avLst/>
            <a:gdLst/>
            <a:ahLst/>
            <a:cxnLst/>
            <a:rect l="l" t="t" r="r" b="b"/>
            <a:pathLst>
              <a:path w="7534382" h="4452135">
                <a:moveTo>
                  <a:pt x="136992" y="0"/>
                </a:moveTo>
                <a:lnTo>
                  <a:pt x="7397390" y="0"/>
                </a:lnTo>
                <a:cubicBezTo>
                  <a:pt x="7473049" y="0"/>
                  <a:pt x="7534382" y="61333"/>
                  <a:pt x="7534382" y="136992"/>
                </a:cubicBezTo>
                <a:lnTo>
                  <a:pt x="7534382" y="4315143"/>
                </a:lnTo>
                <a:cubicBezTo>
                  <a:pt x="7534382" y="4390801"/>
                  <a:pt x="7473049" y="4452135"/>
                  <a:pt x="7397390" y="4452135"/>
                </a:cubicBezTo>
                <a:lnTo>
                  <a:pt x="136992" y="4452135"/>
                </a:lnTo>
                <a:cubicBezTo>
                  <a:pt x="61333" y="4452135"/>
                  <a:pt x="0" y="4390801"/>
                  <a:pt x="0" y="4315143"/>
                </a:cubicBezTo>
                <a:lnTo>
                  <a:pt x="0" y="136992"/>
                </a:lnTo>
                <a:cubicBezTo>
                  <a:pt x="0" y="61384"/>
                  <a:pt x="61384" y="0"/>
                  <a:pt x="13699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1236" dist="11415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73213" y="2146024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68494" y="171236"/>
                </a:moveTo>
                <a:lnTo>
                  <a:pt x="13110" y="171236"/>
                </a:lnTo>
                <a:cubicBezTo>
                  <a:pt x="-214" y="171236"/>
                  <a:pt x="-8401" y="156734"/>
                  <a:pt x="-1552" y="145283"/>
                </a:cubicBezTo>
                <a:lnTo>
                  <a:pt x="26756" y="98086"/>
                </a:lnTo>
                <a:cubicBezTo>
                  <a:pt x="31411" y="90327"/>
                  <a:pt x="39759" y="85618"/>
                  <a:pt x="48802" y="85618"/>
                </a:cubicBezTo>
                <a:lnTo>
                  <a:pt x="99638" y="85618"/>
                </a:lnTo>
                <a:cubicBezTo>
                  <a:pt x="140360" y="16642"/>
                  <a:pt x="201095" y="13164"/>
                  <a:pt x="241710" y="19104"/>
                </a:cubicBezTo>
                <a:cubicBezTo>
                  <a:pt x="248560" y="20120"/>
                  <a:pt x="253911" y="25471"/>
                  <a:pt x="254874" y="32267"/>
                </a:cubicBezTo>
                <a:cubicBezTo>
                  <a:pt x="260814" y="72882"/>
                  <a:pt x="257336" y="133618"/>
                  <a:pt x="188360" y="174340"/>
                </a:cubicBezTo>
                <a:lnTo>
                  <a:pt x="188360" y="225175"/>
                </a:lnTo>
                <a:cubicBezTo>
                  <a:pt x="188360" y="234219"/>
                  <a:pt x="183651" y="242566"/>
                  <a:pt x="175891" y="247222"/>
                </a:cubicBezTo>
                <a:lnTo>
                  <a:pt x="128695" y="275529"/>
                </a:lnTo>
                <a:cubicBezTo>
                  <a:pt x="117297" y="282379"/>
                  <a:pt x="102742" y="274138"/>
                  <a:pt x="102742" y="260867"/>
                </a:cubicBezTo>
                <a:lnTo>
                  <a:pt x="102742" y="205483"/>
                </a:lnTo>
                <a:cubicBezTo>
                  <a:pt x="102742" y="186594"/>
                  <a:pt x="87384" y="171236"/>
                  <a:pt x="68494" y="171236"/>
                </a:cubicBezTo>
                <a:lnTo>
                  <a:pt x="68441" y="171236"/>
                </a:lnTo>
                <a:close/>
                <a:moveTo>
                  <a:pt x="214045" y="85618"/>
                </a:moveTo>
                <a:cubicBezTo>
                  <a:pt x="214045" y="71442"/>
                  <a:pt x="202536" y="59933"/>
                  <a:pt x="188360" y="59933"/>
                </a:cubicBezTo>
                <a:cubicBezTo>
                  <a:pt x="174183" y="59933"/>
                  <a:pt x="162674" y="71442"/>
                  <a:pt x="162674" y="85618"/>
                </a:cubicBezTo>
                <a:cubicBezTo>
                  <a:pt x="162674" y="99794"/>
                  <a:pt x="174183" y="111303"/>
                  <a:pt x="188360" y="111303"/>
                </a:cubicBezTo>
                <a:cubicBezTo>
                  <a:pt x="202536" y="111303"/>
                  <a:pt x="214045" y="99794"/>
                  <a:pt x="214045" y="85618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7" name="Text 25"/>
          <p:cNvSpPr/>
          <p:nvPr/>
        </p:nvSpPr>
        <p:spPr>
          <a:xfrm>
            <a:off x="8881438" y="2100494"/>
            <a:ext cx="6780944" cy="3653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广泛应用场景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48099" y="2703111"/>
            <a:ext cx="3385906" cy="1547973"/>
          </a:xfrm>
          <a:custGeom>
            <a:avLst/>
            <a:gdLst/>
            <a:ahLst/>
            <a:cxnLst/>
            <a:rect l="l" t="t" r="r" b="b"/>
            <a:pathLst>
              <a:path w="3385906" h="1547973">
                <a:moveTo>
                  <a:pt x="91330" y="0"/>
                </a:moveTo>
                <a:lnTo>
                  <a:pt x="3294575" y="0"/>
                </a:lnTo>
                <a:cubicBezTo>
                  <a:pt x="3345016" y="0"/>
                  <a:pt x="3385906" y="40890"/>
                  <a:pt x="3385906" y="91330"/>
                </a:cubicBezTo>
                <a:lnTo>
                  <a:pt x="3385906" y="1456643"/>
                </a:lnTo>
                <a:cubicBezTo>
                  <a:pt x="3385906" y="1507083"/>
                  <a:pt x="3345016" y="1547973"/>
                  <a:pt x="3294575" y="1547973"/>
                </a:cubicBezTo>
                <a:lnTo>
                  <a:pt x="91330" y="1547973"/>
                </a:lnTo>
                <a:cubicBezTo>
                  <a:pt x="40890" y="1547973"/>
                  <a:pt x="0" y="1507083"/>
                  <a:pt x="0" y="1456643"/>
                </a:cubicBezTo>
                <a:lnTo>
                  <a:pt x="0" y="91330"/>
                </a:lnTo>
                <a:cubicBezTo>
                  <a:pt x="0" y="40924"/>
                  <a:pt x="40924" y="0"/>
                  <a:pt x="9133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92933" y="2894891"/>
            <a:ext cx="299663" cy="342472"/>
          </a:xfrm>
          <a:custGeom>
            <a:avLst/>
            <a:gdLst/>
            <a:ahLst/>
            <a:cxnLst/>
            <a:rect l="l" t="t" r="r" b="b"/>
            <a:pathLst>
              <a:path w="299663" h="342472">
                <a:moveTo>
                  <a:pt x="164480" y="-17324"/>
                </a:moveTo>
                <a:cubicBezTo>
                  <a:pt x="155517" y="-22809"/>
                  <a:pt x="144213" y="-22809"/>
                  <a:pt x="135250" y="-17324"/>
                </a:cubicBezTo>
                <a:cubicBezTo>
                  <a:pt x="118929" y="-7358"/>
                  <a:pt x="108828" y="-4682"/>
                  <a:pt x="89698" y="-5084"/>
                </a:cubicBezTo>
                <a:cubicBezTo>
                  <a:pt x="79197" y="-5351"/>
                  <a:pt x="69431" y="334"/>
                  <a:pt x="64347" y="9565"/>
                </a:cubicBezTo>
                <a:cubicBezTo>
                  <a:pt x="55183" y="26354"/>
                  <a:pt x="47759" y="33779"/>
                  <a:pt x="30970" y="42943"/>
                </a:cubicBezTo>
                <a:cubicBezTo>
                  <a:pt x="21739" y="47959"/>
                  <a:pt x="16120" y="57792"/>
                  <a:pt x="16321" y="68294"/>
                </a:cubicBezTo>
                <a:cubicBezTo>
                  <a:pt x="16789" y="87424"/>
                  <a:pt x="14047" y="97524"/>
                  <a:pt x="4080" y="113845"/>
                </a:cubicBezTo>
                <a:cubicBezTo>
                  <a:pt x="-1405" y="122808"/>
                  <a:pt x="-1405" y="134113"/>
                  <a:pt x="4080" y="143076"/>
                </a:cubicBezTo>
                <a:cubicBezTo>
                  <a:pt x="14047" y="159397"/>
                  <a:pt x="16722" y="169497"/>
                  <a:pt x="16321" y="188627"/>
                </a:cubicBezTo>
                <a:cubicBezTo>
                  <a:pt x="16053" y="199129"/>
                  <a:pt x="21739" y="208894"/>
                  <a:pt x="30970" y="213978"/>
                </a:cubicBezTo>
                <a:cubicBezTo>
                  <a:pt x="45752" y="222072"/>
                  <a:pt x="53244" y="228761"/>
                  <a:pt x="61137" y="241737"/>
                </a:cubicBezTo>
                <a:lnTo>
                  <a:pt x="28562" y="306686"/>
                </a:lnTo>
                <a:cubicBezTo>
                  <a:pt x="24615" y="314646"/>
                  <a:pt x="27826" y="324278"/>
                  <a:pt x="35719" y="328225"/>
                </a:cubicBezTo>
                <a:lnTo>
                  <a:pt x="93243" y="356987"/>
                </a:lnTo>
                <a:cubicBezTo>
                  <a:pt x="100936" y="360800"/>
                  <a:pt x="110300" y="357923"/>
                  <a:pt x="114447" y="350432"/>
                </a:cubicBezTo>
                <a:lnTo>
                  <a:pt x="149765" y="286820"/>
                </a:lnTo>
                <a:lnTo>
                  <a:pt x="185082" y="350432"/>
                </a:lnTo>
                <a:cubicBezTo>
                  <a:pt x="189229" y="357923"/>
                  <a:pt x="198594" y="360866"/>
                  <a:pt x="206286" y="356987"/>
                </a:cubicBezTo>
                <a:lnTo>
                  <a:pt x="263810" y="328225"/>
                </a:lnTo>
                <a:cubicBezTo>
                  <a:pt x="271770" y="324278"/>
                  <a:pt x="274981" y="314646"/>
                  <a:pt x="270968" y="306686"/>
                </a:cubicBezTo>
                <a:lnTo>
                  <a:pt x="238459" y="241670"/>
                </a:lnTo>
                <a:cubicBezTo>
                  <a:pt x="246285" y="228694"/>
                  <a:pt x="253844" y="222005"/>
                  <a:pt x="268626" y="213911"/>
                </a:cubicBezTo>
                <a:cubicBezTo>
                  <a:pt x="277857" y="208894"/>
                  <a:pt x="283476" y="199062"/>
                  <a:pt x="283275" y="188560"/>
                </a:cubicBezTo>
                <a:cubicBezTo>
                  <a:pt x="282807" y="169430"/>
                  <a:pt x="285549" y="159330"/>
                  <a:pt x="295516" y="143009"/>
                </a:cubicBezTo>
                <a:cubicBezTo>
                  <a:pt x="301001" y="134046"/>
                  <a:pt x="301001" y="122741"/>
                  <a:pt x="295516" y="113778"/>
                </a:cubicBezTo>
                <a:cubicBezTo>
                  <a:pt x="285549" y="97457"/>
                  <a:pt x="282874" y="87357"/>
                  <a:pt x="283275" y="68227"/>
                </a:cubicBezTo>
                <a:cubicBezTo>
                  <a:pt x="283543" y="57725"/>
                  <a:pt x="277857" y="47959"/>
                  <a:pt x="268626" y="42876"/>
                </a:cubicBezTo>
                <a:cubicBezTo>
                  <a:pt x="251837" y="33712"/>
                  <a:pt x="244413" y="26287"/>
                  <a:pt x="235249" y="9498"/>
                </a:cubicBezTo>
                <a:cubicBezTo>
                  <a:pt x="230232" y="268"/>
                  <a:pt x="220399" y="-5351"/>
                  <a:pt x="209898" y="-5150"/>
                </a:cubicBezTo>
                <a:cubicBezTo>
                  <a:pt x="190768" y="-4682"/>
                  <a:pt x="180667" y="-7425"/>
                  <a:pt x="164346" y="-17391"/>
                </a:cubicBezTo>
                <a:close/>
                <a:moveTo>
                  <a:pt x="149831" y="64213"/>
                </a:moveTo>
                <a:cubicBezTo>
                  <a:pt x="185272" y="64213"/>
                  <a:pt x="214045" y="92987"/>
                  <a:pt x="214045" y="128427"/>
                </a:cubicBezTo>
                <a:cubicBezTo>
                  <a:pt x="214045" y="163867"/>
                  <a:pt x="185272" y="192640"/>
                  <a:pt x="149831" y="192640"/>
                </a:cubicBezTo>
                <a:cubicBezTo>
                  <a:pt x="114391" y="192640"/>
                  <a:pt x="85618" y="163867"/>
                  <a:pt x="85618" y="128427"/>
                </a:cubicBezTo>
                <a:cubicBezTo>
                  <a:pt x="85618" y="92987"/>
                  <a:pt x="114391" y="64213"/>
                  <a:pt x="149831" y="64213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0" name="Text 28"/>
          <p:cNvSpPr/>
          <p:nvPr/>
        </p:nvSpPr>
        <p:spPr>
          <a:xfrm>
            <a:off x="8688513" y="3374352"/>
            <a:ext cx="3105079" cy="319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2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综合评价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94221" y="3785318"/>
            <a:ext cx="3093663" cy="2739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4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城市宜居性、企业竞争力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132638" y="2703111"/>
            <a:ext cx="3385906" cy="1547973"/>
          </a:xfrm>
          <a:custGeom>
            <a:avLst/>
            <a:gdLst/>
            <a:ahLst/>
            <a:cxnLst/>
            <a:rect l="l" t="t" r="r" b="b"/>
            <a:pathLst>
              <a:path w="3385906" h="1547973">
                <a:moveTo>
                  <a:pt x="91330" y="0"/>
                </a:moveTo>
                <a:lnTo>
                  <a:pt x="3294575" y="0"/>
                </a:lnTo>
                <a:cubicBezTo>
                  <a:pt x="3345016" y="0"/>
                  <a:pt x="3385906" y="40890"/>
                  <a:pt x="3385906" y="91330"/>
                </a:cubicBezTo>
                <a:lnTo>
                  <a:pt x="3385906" y="1456643"/>
                </a:lnTo>
                <a:cubicBezTo>
                  <a:pt x="3385906" y="1507083"/>
                  <a:pt x="3345016" y="1547973"/>
                  <a:pt x="3294575" y="1547973"/>
                </a:cubicBezTo>
                <a:lnTo>
                  <a:pt x="91330" y="1547973"/>
                </a:lnTo>
                <a:cubicBezTo>
                  <a:pt x="40890" y="1547973"/>
                  <a:pt x="0" y="1507083"/>
                  <a:pt x="0" y="1456643"/>
                </a:cubicBezTo>
                <a:lnTo>
                  <a:pt x="0" y="91330"/>
                </a:lnTo>
                <a:cubicBezTo>
                  <a:pt x="0" y="40924"/>
                  <a:pt x="40924" y="0"/>
                  <a:pt x="9133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  <a:ln w="20320">
            <a:solidFill>
              <a:srgbClr val="212C42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677472" y="2894891"/>
            <a:ext cx="299663" cy="342472"/>
          </a:xfrm>
          <a:custGeom>
            <a:avLst/>
            <a:gdLst/>
            <a:ahLst/>
            <a:cxnLst/>
            <a:rect l="l" t="t" r="r" b="b"/>
            <a:pathLst>
              <a:path w="299663" h="342472">
                <a:moveTo>
                  <a:pt x="85618" y="26756"/>
                </a:moveTo>
                <a:cubicBezTo>
                  <a:pt x="85618" y="11973"/>
                  <a:pt x="97591" y="0"/>
                  <a:pt x="112374" y="0"/>
                </a:cubicBezTo>
                <a:cubicBezTo>
                  <a:pt x="127156" y="0"/>
                  <a:pt x="139129" y="11973"/>
                  <a:pt x="139129" y="26756"/>
                </a:cubicBezTo>
                <a:lnTo>
                  <a:pt x="139129" y="125885"/>
                </a:lnTo>
                <a:cubicBezTo>
                  <a:pt x="144815" y="120802"/>
                  <a:pt x="152306" y="117725"/>
                  <a:pt x="160534" y="117725"/>
                </a:cubicBezTo>
                <a:cubicBezTo>
                  <a:pt x="174313" y="117725"/>
                  <a:pt x="186085" y="126420"/>
                  <a:pt x="190634" y="138594"/>
                </a:cubicBezTo>
                <a:cubicBezTo>
                  <a:pt x="196520" y="132373"/>
                  <a:pt x="204814" y="128427"/>
                  <a:pt x="214045" y="128427"/>
                </a:cubicBezTo>
                <a:cubicBezTo>
                  <a:pt x="230968" y="128427"/>
                  <a:pt x="244814" y="141470"/>
                  <a:pt x="246085" y="158059"/>
                </a:cubicBezTo>
                <a:cubicBezTo>
                  <a:pt x="251770" y="152908"/>
                  <a:pt x="259329" y="149831"/>
                  <a:pt x="267556" y="149831"/>
                </a:cubicBezTo>
                <a:cubicBezTo>
                  <a:pt x="285282" y="149831"/>
                  <a:pt x="299663" y="164213"/>
                  <a:pt x="299663" y="181938"/>
                </a:cubicBezTo>
                <a:lnTo>
                  <a:pt x="299663" y="256854"/>
                </a:lnTo>
                <a:cubicBezTo>
                  <a:pt x="299663" y="304144"/>
                  <a:pt x="261335" y="342472"/>
                  <a:pt x="214045" y="342472"/>
                </a:cubicBezTo>
                <a:lnTo>
                  <a:pt x="156989" y="342472"/>
                </a:lnTo>
                <a:cubicBezTo>
                  <a:pt x="153644" y="342472"/>
                  <a:pt x="150367" y="342271"/>
                  <a:pt x="147156" y="341803"/>
                </a:cubicBezTo>
                <a:cubicBezTo>
                  <a:pt x="110166" y="338057"/>
                  <a:pt x="76120" y="319061"/>
                  <a:pt x="53511" y="288961"/>
                </a:cubicBezTo>
                <a:lnTo>
                  <a:pt x="5351" y="224747"/>
                </a:lnTo>
                <a:cubicBezTo>
                  <a:pt x="-3545" y="212908"/>
                  <a:pt x="-1137" y="196186"/>
                  <a:pt x="10702" y="187289"/>
                </a:cubicBezTo>
                <a:cubicBezTo>
                  <a:pt x="22542" y="178393"/>
                  <a:pt x="39264" y="180801"/>
                  <a:pt x="48160" y="192640"/>
                </a:cubicBezTo>
                <a:lnTo>
                  <a:pt x="85618" y="242607"/>
                </a:lnTo>
                <a:lnTo>
                  <a:pt x="85618" y="26756"/>
                </a:lnTo>
                <a:close/>
                <a:moveTo>
                  <a:pt x="160534" y="203343"/>
                </a:moveTo>
                <a:cubicBezTo>
                  <a:pt x="160534" y="197456"/>
                  <a:pt x="155718" y="192640"/>
                  <a:pt x="149831" y="192640"/>
                </a:cubicBezTo>
                <a:cubicBezTo>
                  <a:pt x="143945" y="192640"/>
                  <a:pt x="139129" y="197456"/>
                  <a:pt x="139129" y="203343"/>
                </a:cubicBezTo>
                <a:lnTo>
                  <a:pt x="139129" y="267556"/>
                </a:lnTo>
                <a:cubicBezTo>
                  <a:pt x="139129" y="273442"/>
                  <a:pt x="143945" y="278258"/>
                  <a:pt x="149831" y="278258"/>
                </a:cubicBezTo>
                <a:cubicBezTo>
                  <a:pt x="155718" y="278258"/>
                  <a:pt x="160534" y="273442"/>
                  <a:pt x="160534" y="267556"/>
                </a:cubicBezTo>
                <a:lnTo>
                  <a:pt x="160534" y="203343"/>
                </a:lnTo>
                <a:close/>
                <a:moveTo>
                  <a:pt x="192640" y="192640"/>
                </a:moveTo>
                <a:cubicBezTo>
                  <a:pt x="186754" y="192640"/>
                  <a:pt x="181938" y="197456"/>
                  <a:pt x="181938" y="203343"/>
                </a:cubicBezTo>
                <a:lnTo>
                  <a:pt x="181938" y="267556"/>
                </a:lnTo>
                <a:cubicBezTo>
                  <a:pt x="181938" y="273442"/>
                  <a:pt x="186754" y="278258"/>
                  <a:pt x="192640" y="278258"/>
                </a:cubicBezTo>
                <a:cubicBezTo>
                  <a:pt x="198527" y="278258"/>
                  <a:pt x="203343" y="273442"/>
                  <a:pt x="203343" y="267556"/>
                </a:cubicBezTo>
                <a:lnTo>
                  <a:pt x="203343" y="203343"/>
                </a:lnTo>
                <a:cubicBezTo>
                  <a:pt x="203343" y="197456"/>
                  <a:pt x="198527" y="192640"/>
                  <a:pt x="192640" y="192640"/>
                </a:cubicBezTo>
                <a:close/>
                <a:moveTo>
                  <a:pt x="246152" y="203343"/>
                </a:moveTo>
                <a:cubicBezTo>
                  <a:pt x="246152" y="197456"/>
                  <a:pt x="241336" y="192640"/>
                  <a:pt x="235449" y="192640"/>
                </a:cubicBezTo>
                <a:cubicBezTo>
                  <a:pt x="229563" y="192640"/>
                  <a:pt x="224747" y="197456"/>
                  <a:pt x="224747" y="203343"/>
                </a:cubicBezTo>
                <a:lnTo>
                  <a:pt x="224747" y="267556"/>
                </a:lnTo>
                <a:cubicBezTo>
                  <a:pt x="224747" y="273442"/>
                  <a:pt x="229563" y="278258"/>
                  <a:pt x="235449" y="278258"/>
                </a:cubicBezTo>
                <a:cubicBezTo>
                  <a:pt x="241336" y="278258"/>
                  <a:pt x="246152" y="273442"/>
                  <a:pt x="246152" y="267556"/>
                </a:cubicBezTo>
                <a:lnTo>
                  <a:pt x="246152" y="203343"/>
                </a:lnTo>
                <a:close/>
              </a:path>
            </a:pathLst>
          </a:custGeom>
          <a:solidFill>
            <a:srgbClr val="212C42"/>
          </a:solidFill>
        </p:spPr>
      </p:sp>
      <p:sp>
        <p:nvSpPr>
          <p:cNvPr id="34" name="Text 32"/>
          <p:cNvSpPr/>
          <p:nvPr/>
        </p:nvSpPr>
        <p:spPr>
          <a:xfrm>
            <a:off x="12273051" y="3374352"/>
            <a:ext cx="3105079" cy="319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2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方案优选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278759" y="3785318"/>
            <a:ext cx="3093663" cy="2739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4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技术方案、供应商选择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48099" y="4451992"/>
            <a:ext cx="3385906" cy="1547973"/>
          </a:xfrm>
          <a:custGeom>
            <a:avLst/>
            <a:gdLst/>
            <a:ahLst/>
            <a:cxnLst/>
            <a:rect l="l" t="t" r="r" b="b"/>
            <a:pathLst>
              <a:path w="3385906" h="1547973">
                <a:moveTo>
                  <a:pt x="91330" y="0"/>
                </a:moveTo>
                <a:lnTo>
                  <a:pt x="3294575" y="0"/>
                </a:lnTo>
                <a:cubicBezTo>
                  <a:pt x="3345016" y="0"/>
                  <a:pt x="3385906" y="40890"/>
                  <a:pt x="3385906" y="91330"/>
                </a:cubicBezTo>
                <a:lnTo>
                  <a:pt x="3385906" y="1456643"/>
                </a:lnTo>
                <a:cubicBezTo>
                  <a:pt x="3385906" y="1507083"/>
                  <a:pt x="3345016" y="1547973"/>
                  <a:pt x="3294575" y="1547973"/>
                </a:cubicBezTo>
                <a:lnTo>
                  <a:pt x="91330" y="1547973"/>
                </a:lnTo>
                <a:cubicBezTo>
                  <a:pt x="40890" y="1547973"/>
                  <a:pt x="0" y="1507083"/>
                  <a:pt x="0" y="1456643"/>
                </a:cubicBezTo>
                <a:lnTo>
                  <a:pt x="0" y="91330"/>
                </a:lnTo>
                <a:cubicBezTo>
                  <a:pt x="0" y="40924"/>
                  <a:pt x="40924" y="0"/>
                  <a:pt x="91330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  <a:ln w="20320">
            <a:solidFill>
              <a:srgbClr val="5B677D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71528" y="4643783"/>
            <a:ext cx="342472" cy="342472"/>
          </a:xfrm>
          <a:custGeom>
            <a:avLst/>
            <a:gdLst/>
            <a:ahLst/>
            <a:cxnLst/>
            <a:rect l="l" t="t" r="r" b="b"/>
            <a:pathLst>
              <a:path w="342472" h="342472">
                <a:moveTo>
                  <a:pt x="21404" y="21404"/>
                </a:moveTo>
                <a:cubicBezTo>
                  <a:pt x="33244" y="21404"/>
                  <a:pt x="42809" y="30970"/>
                  <a:pt x="42809" y="42809"/>
                </a:cubicBezTo>
                <a:lnTo>
                  <a:pt x="42809" y="267556"/>
                </a:lnTo>
                <a:cubicBezTo>
                  <a:pt x="42809" y="273442"/>
                  <a:pt x="47625" y="278258"/>
                  <a:pt x="53511" y="278258"/>
                </a:cubicBezTo>
                <a:lnTo>
                  <a:pt x="321067" y="278258"/>
                </a:lnTo>
                <a:cubicBezTo>
                  <a:pt x="332907" y="278258"/>
                  <a:pt x="342472" y="287824"/>
                  <a:pt x="342472" y="299663"/>
                </a:cubicBezTo>
                <a:cubicBezTo>
                  <a:pt x="342472" y="311502"/>
                  <a:pt x="332907" y="321067"/>
                  <a:pt x="321067" y="321067"/>
                </a:cubicBezTo>
                <a:lnTo>
                  <a:pt x="53511" y="321067"/>
                </a:lnTo>
                <a:cubicBezTo>
                  <a:pt x="23946" y="321067"/>
                  <a:pt x="0" y="297121"/>
                  <a:pt x="0" y="267556"/>
                </a:cubicBezTo>
                <a:lnTo>
                  <a:pt x="0" y="42809"/>
                </a:lnTo>
                <a:cubicBezTo>
                  <a:pt x="0" y="30970"/>
                  <a:pt x="9565" y="21404"/>
                  <a:pt x="21404" y="21404"/>
                </a:cubicBezTo>
                <a:close/>
                <a:moveTo>
                  <a:pt x="85618" y="64213"/>
                </a:moveTo>
                <a:cubicBezTo>
                  <a:pt x="85618" y="52374"/>
                  <a:pt x="95183" y="42809"/>
                  <a:pt x="107022" y="42809"/>
                </a:cubicBezTo>
                <a:lnTo>
                  <a:pt x="235449" y="42809"/>
                </a:lnTo>
                <a:cubicBezTo>
                  <a:pt x="247289" y="42809"/>
                  <a:pt x="256854" y="52374"/>
                  <a:pt x="256854" y="64213"/>
                </a:cubicBezTo>
                <a:cubicBezTo>
                  <a:pt x="256854" y="76053"/>
                  <a:pt x="247289" y="85618"/>
                  <a:pt x="235449" y="85618"/>
                </a:cubicBezTo>
                <a:lnTo>
                  <a:pt x="107022" y="85618"/>
                </a:lnTo>
                <a:cubicBezTo>
                  <a:pt x="95183" y="85618"/>
                  <a:pt x="85618" y="76053"/>
                  <a:pt x="85618" y="64213"/>
                </a:cubicBezTo>
                <a:close/>
                <a:moveTo>
                  <a:pt x="107022" y="117725"/>
                </a:moveTo>
                <a:lnTo>
                  <a:pt x="192640" y="117725"/>
                </a:lnTo>
                <a:cubicBezTo>
                  <a:pt x="204480" y="117725"/>
                  <a:pt x="214045" y="127290"/>
                  <a:pt x="214045" y="139129"/>
                </a:cubicBezTo>
                <a:cubicBezTo>
                  <a:pt x="214045" y="150969"/>
                  <a:pt x="204480" y="160534"/>
                  <a:pt x="192640" y="160534"/>
                </a:cubicBezTo>
                <a:lnTo>
                  <a:pt x="107022" y="160534"/>
                </a:lnTo>
                <a:cubicBezTo>
                  <a:pt x="95183" y="160534"/>
                  <a:pt x="85618" y="150969"/>
                  <a:pt x="85618" y="139129"/>
                </a:cubicBezTo>
                <a:cubicBezTo>
                  <a:pt x="85618" y="127290"/>
                  <a:pt x="95183" y="117725"/>
                  <a:pt x="107022" y="117725"/>
                </a:cubicBezTo>
                <a:close/>
                <a:moveTo>
                  <a:pt x="107022" y="192640"/>
                </a:moveTo>
                <a:lnTo>
                  <a:pt x="278258" y="192640"/>
                </a:lnTo>
                <a:cubicBezTo>
                  <a:pt x="290098" y="192640"/>
                  <a:pt x="299663" y="202206"/>
                  <a:pt x="299663" y="214045"/>
                </a:cubicBezTo>
                <a:cubicBezTo>
                  <a:pt x="299663" y="225884"/>
                  <a:pt x="290098" y="235449"/>
                  <a:pt x="278258" y="235449"/>
                </a:cubicBezTo>
                <a:lnTo>
                  <a:pt x="107022" y="235449"/>
                </a:lnTo>
                <a:cubicBezTo>
                  <a:pt x="95183" y="235449"/>
                  <a:pt x="85618" y="225884"/>
                  <a:pt x="85618" y="214045"/>
                </a:cubicBezTo>
                <a:cubicBezTo>
                  <a:pt x="85618" y="202206"/>
                  <a:pt x="95183" y="192640"/>
                  <a:pt x="107022" y="19264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38" name="Text 36"/>
          <p:cNvSpPr/>
          <p:nvPr/>
        </p:nvSpPr>
        <p:spPr>
          <a:xfrm>
            <a:off x="8688513" y="5123244"/>
            <a:ext cx="3105079" cy="319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2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绩效评估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94221" y="5534210"/>
            <a:ext cx="3093663" cy="2739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4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员工绩效、项目评估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132638" y="4451992"/>
            <a:ext cx="3385906" cy="1547973"/>
          </a:xfrm>
          <a:custGeom>
            <a:avLst/>
            <a:gdLst/>
            <a:ahLst/>
            <a:cxnLst/>
            <a:rect l="l" t="t" r="r" b="b"/>
            <a:pathLst>
              <a:path w="3385906" h="1547973">
                <a:moveTo>
                  <a:pt x="91330" y="0"/>
                </a:moveTo>
                <a:lnTo>
                  <a:pt x="3294575" y="0"/>
                </a:lnTo>
                <a:cubicBezTo>
                  <a:pt x="3345016" y="0"/>
                  <a:pt x="3385906" y="40890"/>
                  <a:pt x="3385906" y="91330"/>
                </a:cubicBezTo>
                <a:lnTo>
                  <a:pt x="3385906" y="1456643"/>
                </a:lnTo>
                <a:cubicBezTo>
                  <a:pt x="3385906" y="1507083"/>
                  <a:pt x="3345016" y="1547973"/>
                  <a:pt x="3294575" y="1547973"/>
                </a:cubicBezTo>
                <a:lnTo>
                  <a:pt x="91330" y="1547973"/>
                </a:lnTo>
                <a:cubicBezTo>
                  <a:pt x="40890" y="1547973"/>
                  <a:pt x="0" y="1507083"/>
                  <a:pt x="0" y="1456643"/>
                </a:cubicBezTo>
                <a:lnTo>
                  <a:pt x="0" y="91330"/>
                </a:lnTo>
                <a:cubicBezTo>
                  <a:pt x="0" y="40924"/>
                  <a:pt x="40924" y="0"/>
                  <a:pt x="9133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656067" y="4643783"/>
            <a:ext cx="342472" cy="342472"/>
          </a:xfrm>
          <a:custGeom>
            <a:avLst/>
            <a:gdLst/>
            <a:ahLst/>
            <a:cxnLst/>
            <a:rect l="l" t="t" r="r" b="b"/>
            <a:pathLst>
              <a:path w="342472" h="342472">
                <a:moveTo>
                  <a:pt x="171236" y="0"/>
                </a:moveTo>
                <a:cubicBezTo>
                  <a:pt x="181069" y="0"/>
                  <a:pt x="190099" y="5418"/>
                  <a:pt x="194781" y="14047"/>
                </a:cubicBezTo>
                <a:lnTo>
                  <a:pt x="339261" y="281603"/>
                </a:lnTo>
                <a:cubicBezTo>
                  <a:pt x="343743" y="289897"/>
                  <a:pt x="343542" y="299930"/>
                  <a:pt x="338726" y="308024"/>
                </a:cubicBezTo>
                <a:cubicBezTo>
                  <a:pt x="333910" y="316118"/>
                  <a:pt x="325148" y="321067"/>
                  <a:pt x="315716" y="321067"/>
                </a:cubicBezTo>
                <a:lnTo>
                  <a:pt x="26756" y="321067"/>
                </a:lnTo>
                <a:cubicBezTo>
                  <a:pt x="17324" y="321067"/>
                  <a:pt x="8629" y="316118"/>
                  <a:pt x="3746" y="308024"/>
                </a:cubicBezTo>
                <a:cubicBezTo>
                  <a:pt x="-1137" y="299930"/>
                  <a:pt x="-1271" y="289897"/>
                  <a:pt x="3211" y="281603"/>
                </a:cubicBezTo>
                <a:lnTo>
                  <a:pt x="147691" y="14047"/>
                </a:lnTo>
                <a:cubicBezTo>
                  <a:pt x="152373" y="5418"/>
                  <a:pt x="161403" y="0"/>
                  <a:pt x="171236" y="0"/>
                </a:cubicBezTo>
                <a:close/>
                <a:moveTo>
                  <a:pt x="171236" y="112374"/>
                </a:moveTo>
                <a:cubicBezTo>
                  <a:pt x="162340" y="112374"/>
                  <a:pt x="155183" y="119531"/>
                  <a:pt x="155183" y="128427"/>
                </a:cubicBezTo>
                <a:lnTo>
                  <a:pt x="155183" y="203343"/>
                </a:lnTo>
                <a:cubicBezTo>
                  <a:pt x="155183" y="212239"/>
                  <a:pt x="162340" y="219396"/>
                  <a:pt x="171236" y="219396"/>
                </a:cubicBezTo>
                <a:cubicBezTo>
                  <a:pt x="180132" y="219396"/>
                  <a:pt x="187289" y="212239"/>
                  <a:pt x="187289" y="203343"/>
                </a:cubicBezTo>
                <a:lnTo>
                  <a:pt x="187289" y="128427"/>
                </a:lnTo>
                <a:cubicBezTo>
                  <a:pt x="187289" y="119531"/>
                  <a:pt x="180132" y="112374"/>
                  <a:pt x="171236" y="112374"/>
                </a:cubicBezTo>
                <a:close/>
                <a:moveTo>
                  <a:pt x="189095" y="256854"/>
                </a:moveTo>
                <a:cubicBezTo>
                  <a:pt x="189502" y="250225"/>
                  <a:pt x="186196" y="243918"/>
                  <a:pt x="180513" y="240480"/>
                </a:cubicBezTo>
                <a:cubicBezTo>
                  <a:pt x="174830" y="237043"/>
                  <a:pt x="167709" y="237043"/>
                  <a:pt x="162026" y="240480"/>
                </a:cubicBezTo>
                <a:cubicBezTo>
                  <a:pt x="156343" y="243918"/>
                  <a:pt x="153037" y="250225"/>
                  <a:pt x="153443" y="256854"/>
                </a:cubicBezTo>
                <a:cubicBezTo>
                  <a:pt x="153037" y="263483"/>
                  <a:pt x="156343" y="269790"/>
                  <a:pt x="162026" y="273228"/>
                </a:cubicBezTo>
                <a:cubicBezTo>
                  <a:pt x="167709" y="276665"/>
                  <a:pt x="174830" y="276665"/>
                  <a:pt x="180513" y="273228"/>
                </a:cubicBezTo>
                <a:cubicBezTo>
                  <a:pt x="186196" y="269790"/>
                  <a:pt x="189502" y="263483"/>
                  <a:pt x="189095" y="256854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2" name="Text 40"/>
          <p:cNvSpPr/>
          <p:nvPr/>
        </p:nvSpPr>
        <p:spPr>
          <a:xfrm>
            <a:off x="12273051" y="5123244"/>
            <a:ext cx="3105079" cy="319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2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风险评估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278759" y="5534210"/>
            <a:ext cx="3093663" cy="2739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4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项目风险、信用评估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74121" y="6520525"/>
            <a:ext cx="7518400" cy="1525142"/>
          </a:xfrm>
          <a:custGeom>
            <a:avLst/>
            <a:gdLst/>
            <a:ahLst/>
            <a:cxnLst/>
            <a:rect l="l" t="t" r="r" b="b"/>
            <a:pathLst>
              <a:path w="7518400" h="1525142">
                <a:moveTo>
                  <a:pt x="136988" y="0"/>
                </a:moveTo>
                <a:lnTo>
                  <a:pt x="7381412" y="0"/>
                </a:lnTo>
                <a:cubicBezTo>
                  <a:pt x="7457068" y="0"/>
                  <a:pt x="7518400" y="61332"/>
                  <a:pt x="7518400" y="136988"/>
                </a:cubicBezTo>
                <a:lnTo>
                  <a:pt x="7518400" y="1388153"/>
                </a:lnTo>
                <a:cubicBezTo>
                  <a:pt x="7518400" y="1463810"/>
                  <a:pt x="7457068" y="1525142"/>
                  <a:pt x="7381412" y="1525142"/>
                </a:cubicBezTo>
                <a:lnTo>
                  <a:pt x="136988" y="1525142"/>
                </a:lnTo>
                <a:cubicBezTo>
                  <a:pt x="61382" y="1525142"/>
                  <a:pt x="0" y="1463759"/>
                  <a:pt x="0" y="1388153"/>
                </a:cubicBezTo>
                <a:lnTo>
                  <a:pt x="0" y="136988"/>
                </a:lnTo>
                <a:cubicBezTo>
                  <a:pt x="0" y="61332"/>
                  <a:pt x="61332" y="0"/>
                  <a:pt x="136988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80063" y="6780810"/>
            <a:ext cx="205483" cy="273978"/>
          </a:xfrm>
          <a:custGeom>
            <a:avLst/>
            <a:gdLst/>
            <a:ahLst/>
            <a:cxnLst/>
            <a:rect l="l" t="t" r="r" b="b"/>
            <a:pathLst>
              <a:path w="205483" h="273978">
                <a:moveTo>
                  <a:pt x="156734" y="205483"/>
                </a:moveTo>
                <a:cubicBezTo>
                  <a:pt x="160641" y="193550"/>
                  <a:pt x="168453" y="182741"/>
                  <a:pt x="177283" y="173430"/>
                </a:cubicBezTo>
                <a:cubicBezTo>
                  <a:pt x="194781" y="155022"/>
                  <a:pt x="205483" y="130139"/>
                  <a:pt x="205483" y="102742"/>
                </a:cubicBezTo>
                <a:cubicBezTo>
                  <a:pt x="205483" y="46020"/>
                  <a:pt x="159463" y="0"/>
                  <a:pt x="102742" y="0"/>
                </a:cubicBezTo>
                <a:cubicBezTo>
                  <a:pt x="46020" y="0"/>
                  <a:pt x="0" y="46020"/>
                  <a:pt x="0" y="102742"/>
                </a:cubicBezTo>
                <a:cubicBezTo>
                  <a:pt x="0" y="130139"/>
                  <a:pt x="10702" y="155022"/>
                  <a:pt x="28200" y="173430"/>
                </a:cubicBezTo>
                <a:cubicBezTo>
                  <a:pt x="37030" y="182741"/>
                  <a:pt x="44896" y="193550"/>
                  <a:pt x="48749" y="205483"/>
                </a:cubicBezTo>
                <a:lnTo>
                  <a:pt x="156681" y="205483"/>
                </a:lnTo>
                <a:close/>
                <a:moveTo>
                  <a:pt x="154112" y="231169"/>
                </a:moveTo>
                <a:lnTo>
                  <a:pt x="51371" y="231169"/>
                </a:lnTo>
                <a:lnTo>
                  <a:pt x="51371" y="239730"/>
                </a:lnTo>
                <a:cubicBezTo>
                  <a:pt x="51371" y="263382"/>
                  <a:pt x="70528" y="282539"/>
                  <a:pt x="94180" y="282539"/>
                </a:cubicBezTo>
                <a:lnTo>
                  <a:pt x="111303" y="282539"/>
                </a:lnTo>
                <a:cubicBezTo>
                  <a:pt x="134955" y="282539"/>
                  <a:pt x="154112" y="263382"/>
                  <a:pt x="154112" y="239730"/>
                </a:cubicBezTo>
                <a:lnTo>
                  <a:pt x="154112" y="231169"/>
                </a:lnTo>
                <a:close/>
                <a:moveTo>
                  <a:pt x="98461" y="59933"/>
                </a:moveTo>
                <a:cubicBezTo>
                  <a:pt x="77163" y="59933"/>
                  <a:pt x="59933" y="77163"/>
                  <a:pt x="59933" y="98461"/>
                </a:cubicBezTo>
                <a:cubicBezTo>
                  <a:pt x="59933" y="105578"/>
                  <a:pt x="54207" y="111303"/>
                  <a:pt x="47090" y="111303"/>
                </a:cubicBezTo>
                <a:cubicBezTo>
                  <a:pt x="39973" y="111303"/>
                  <a:pt x="34247" y="105578"/>
                  <a:pt x="34247" y="98461"/>
                </a:cubicBezTo>
                <a:cubicBezTo>
                  <a:pt x="34247" y="62983"/>
                  <a:pt x="62983" y="34247"/>
                  <a:pt x="98461" y="34247"/>
                </a:cubicBezTo>
                <a:cubicBezTo>
                  <a:pt x="105578" y="34247"/>
                  <a:pt x="111303" y="39973"/>
                  <a:pt x="111303" y="47090"/>
                </a:cubicBezTo>
                <a:cubicBezTo>
                  <a:pt x="111303" y="54207"/>
                  <a:pt x="105578" y="59933"/>
                  <a:pt x="98461" y="59933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6" name="Text 44"/>
          <p:cNvSpPr/>
          <p:nvPr/>
        </p:nvSpPr>
        <p:spPr>
          <a:xfrm>
            <a:off x="8991030" y="6757979"/>
            <a:ext cx="1027416" cy="319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11569" y="7214608"/>
            <a:ext cx="7134831" cy="5936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评价模型的核心是</a:t>
            </a:r>
            <a:r>
              <a:rPr lang="en-US" sz="144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将主观判断转化为客观量化</a:t>
            </a:r>
            <a:r>
              <a:rPr lang="en-US" sz="144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的过程。关键在于</a:t>
            </a:r>
            <a:r>
              <a:rPr lang="en-US" sz="144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指标体系构建</a:t>
            </a:r>
            <a:r>
              <a:rPr lang="en-US" sz="144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44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权重合理分配</a:t>
            </a:r>
            <a:r>
              <a:rPr lang="en-US" sz="144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，不同方法适用于不同场景。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AHP &amp; ENTROPY WEIGHT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评价模型：层次分析法与熵权法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6764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508000" y="1981200"/>
            <a:ext cx="7467600" cy="6654800"/>
          </a:xfrm>
          <a:custGeom>
            <a:avLst/>
            <a:gdLst/>
            <a:ahLst/>
            <a:cxnLst/>
            <a:rect l="l" t="t" r="r" b="b"/>
            <a:pathLst>
              <a:path w="7467600" h="6654800">
                <a:moveTo>
                  <a:pt x="152395" y="0"/>
                </a:moveTo>
                <a:lnTo>
                  <a:pt x="7315205" y="0"/>
                </a:lnTo>
                <a:cubicBezTo>
                  <a:pt x="7399370" y="0"/>
                  <a:pt x="7467600" y="68230"/>
                  <a:pt x="7467600" y="152395"/>
                </a:cubicBezTo>
                <a:lnTo>
                  <a:pt x="7467600" y="6502405"/>
                </a:lnTo>
                <a:cubicBezTo>
                  <a:pt x="7467600" y="6586570"/>
                  <a:pt x="7399370" y="6654800"/>
                  <a:pt x="7315205" y="6654800"/>
                </a:cubicBezTo>
                <a:lnTo>
                  <a:pt x="152395" y="6654800"/>
                </a:lnTo>
                <a:cubicBezTo>
                  <a:pt x="68230" y="6654800"/>
                  <a:pt x="0" y="6586570"/>
                  <a:pt x="0" y="6502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8000" y="1981200"/>
            <a:ext cx="7467600" cy="914400"/>
          </a:xfrm>
          <a:custGeom>
            <a:avLst/>
            <a:gdLst/>
            <a:ahLst/>
            <a:cxnLst/>
            <a:rect l="l" t="t" r="r" b="b"/>
            <a:pathLst>
              <a:path w="7467600" h="914400">
                <a:moveTo>
                  <a:pt x="152403" y="0"/>
                </a:moveTo>
                <a:lnTo>
                  <a:pt x="7315197" y="0"/>
                </a:lnTo>
                <a:cubicBezTo>
                  <a:pt x="7399367" y="0"/>
                  <a:pt x="7467600" y="68233"/>
                  <a:pt x="7467600" y="152403"/>
                </a:cubicBezTo>
                <a:lnTo>
                  <a:pt x="7467600" y="914400"/>
                </a:lnTo>
                <a:lnTo>
                  <a:pt x="0" y="914400"/>
                </a:ln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/>
              </a:gs>
              <a:gs pos="100000">
                <a:srgbClr val="5B677D"/>
              </a:gs>
            </a:gsLst>
            <a:lin ang="0" scaled="1"/>
          </a:gradFill>
        </p:spPr>
      </p:sp>
      <p:sp>
        <p:nvSpPr>
          <p:cNvPr id="7" name="Shape 5"/>
          <p:cNvSpPr/>
          <p:nvPr/>
        </p:nvSpPr>
        <p:spPr>
          <a:xfrm>
            <a:off x="800100" y="228585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143000" y="2235200"/>
            <a:ext cx="6731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层次分析法（AHP）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3750" y="32129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0" name="Text 8"/>
          <p:cNvSpPr/>
          <p:nvPr/>
        </p:nvSpPr>
        <p:spPr>
          <a:xfrm>
            <a:off x="1054100" y="3149451"/>
            <a:ext cx="678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606651"/>
            <a:ext cx="7061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适用于</a:t>
            </a: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多准则、多目标的定性+定量综合评价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（如城市宜居性评价、项目风险评估）。可融合专家经验。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5175" y="453375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3" name="Text 11"/>
          <p:cNvSpPr/>
          <p:nvPr/>
        </p:nvSpPr>
        <p:spPr>
          <a:xfrm>
            <a:off x="1054100" y="4470251"/>
            <a:ext cx="678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927451"/>
            <a:ext cx="6959600" cy="508000"/>
          </a:xfrm>
          <a:custGeom>
            <a:avLst/>
            <a:gdLst/>
            <a:ahLst/>
            <a:cxnLst/>
            <a:rect l="l" t="t" r="r" b="b"/>
            <a:pathLst>
              <a:path w="6959600" h="508000">
                <a:moveTo>
                  <a:pt x="101600" y="0"/>
                </a:moveTo>
                <a:lnTo>
                  <a:pt x="6858000" y="0"/>
                </a:lnTo>
                <a:cubicBezTo>
                  <a:pt x="6914075" y="0"/>
                  <a:pt x="6959600" y="45525"/>
                  <a:pt x="6959600" y="101600"/>
                </a:cubicBezTo>
                <a:lnTo>
                  <a:pt x="6959600" y="406400"/>
                </a:lnTo>
                <a:cubicBezTo>
                  <a:pt x="6959600" y="462475"/>
                  <a:pt x="6914075" y="508000"/>
                  <a:pt x="68580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863600" y="502905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6" name="Text 14"/>
          <p:cNvSpPr/>
          <p:nvPr/>
        </p:nvSpPr>
        <p:spPr>
          <a:xfrm>
            <a:off x="825500" y="5029051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0000" y="5029051"/>
            <a:ext cx="3352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分层构建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：目标层→准则层→方案层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537051"/>
            <a:ext cx="6959600" cy="508000"/>
          </a:xfrm>
          <a:custGeom>
            <a:avLst/>
            <a:gdLst/>
            <a:ahLst/>
            <a:cxnLst/>
            <a:rect l="l" t="t" r="r" b="b"/>
            <a:pathLst>
              <a:path w="6959600" h="508000">
                <a:moveTo>
                  <a:pt x="101600" y="0"/>
                </a:moveTo>
                <a:lnTo>
                  <a:pt x="6858000" y="0"/>
                </a:lnTo>
                <a:cubicBezTo>
                  <a:pt x="6914075" y="0"/>
                  <a:pt x="6959600" y="45525"/>
                  <a:pt x="6959600" y="101600"/>
                </a:cubicBezTo>
                <a:lnTo>
                  <a:pt x="6959600" y="406400"/>
                </a:lnTo>
                <a:cubicBezTo>
                  <a:pt x="6959600" y="462475"/>
                  <a:pt x="6914075" y="508000"/>
                  <a:pt x="68580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863600" y="563865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0" name="Text 18"/>
          <p:cNvSpPr/>
          <p:nvPr/>
        </p:nvSpPr>
        <p:spPr>
          <a:xfrm>
            <a:off x="825500" y="5638651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0000" y="5638651"/>
            <a:ext cx="3441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两两比较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：构建判断矩阵（1-9标度）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146651"/>
            <a:ext cx="6959600" cy="508000"/>
          </a:xfrm>
          <a:custGeom>
            <a:avLst/>
            <a:gdLst/>
            <a:ahLst/>
            <a:cxnLst/>
            <a:rect l="l" t="t" r="r" b="b"/>
            <a:pathLst>
              <a:path w="6959600" h="508000">
                <a:moveTo>
                  <a:pt x="101600" y="0"/>
                </a:moveTo>
                <a:lnTo>
                  <a:pt x="6858000" y="0"/>
                </a:lnTo>
                <a:cubicBezTo>
                  <a:pt x="6914075" y="0"/>
                  <a:pt x="6959600" y="45525"/>
                  <a:pt x="6959600" y="101600"/>
                </a:cubicBezTo>
                <a:lnTo>
                  <a:pt x="6959600" y="406400"/>
                </a:lnTo>
                <a:cubicBezTo>
                  <a:pt x="6959600" y="462475"/>
                  <a:pt x="6914075" y="508000"/>
                  <a:pt x="68580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863600" y="624825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4" name="Text 22"/>
          <p:cNvSpPr/>
          <p:nvPr/>
        </p:nvSpPr>
        <p:spPr>
          <a:xfrm>
            <a:off x="825500" y="6248251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70000" y="6248251"/>
            <a:ext cx="2743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计算权重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：特征向量法求权重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6756251"/>
            <a:ext cx="6959600" cy="508000"/>
          </a:xfrm>
          <a:custGeom>
            <a:avLst/>
            <a:gdLst/>
            <a:ahLst/>
            <a:cxnLst/>
            <a:rect l="l" t="t" r="r" b="b"/>
            <a:pathLst>
              <a:path w="6959600" h="508000">
                <a:moveTo>
                  <a:pt x="101600" y="0"/>
                </a:moveTo>
                <a:lnTo>
                  <a:pt x="6858000" y="0"/>
                </a:lnTo>
                <a:cubicBezTo>
                  <a:pt x="6914075" y="0"/>
                  <a:pt x="6959600" y="45525"/>
                  <a:pt x="6959600" y="101600"/>
                </a:cubicBezTo>
                <a:lnTo>
                  <a:pt x="6959600" y="406400"/>
                </a:lnTo>
                <a:cubicBezTo>
                  <a:pt x="6959600" y="462475"/>
                  <a:pt x="6914075" y="508000"/>
                  <a:pt x="68580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863600" y="685785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8" name="Text 26"/>
          <p:cNvSpPr/>
          <p:nvPr/>
        </p:nvSpPr>
        <p:spPr>
          <a:xfrm>
            <a:off x="825500" y="6857851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70000" y="6857851"/>
            <a:ext cx="294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一致性检验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：确保判断逻辑合理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87400" y="7467451"/>
            <a:ext cx="3378200" cy="914400"/>
          </a:xfrm>
          <a:custGeom>
            <a:avLst/>
            <a:gdLst/>
            <a:ahLst/>
            <a:cxnLst/>
            <a:rect l="l" t="t" r="r" b="b"/>
            <a:pathLst>
              <a:path w="3378200" h="914400">
                <a:moveTo>
                  <a:pt x="50800" y="0"/>
                </a:moveTo>
                <a:lnTo>
                  <a:pt x="3276601" y="0"/>
                </a:lnTo>
                <a:cubicBezTo>
                  <a:pt x="3332713" y="0"/>
                  <a:pt x="3378200" y="45487"/>
                  <a:pt x="3378200" y="101599"/>
                </a:cubicBezTo>
                <a:lnTo>
                  <a:pt x="3378200" y="812801"/>
                </a:lnTo>
                <a:cubicBezTo>
                  <a:pt x="3378200" y="868913"/>
                  <a:pt x="3332713" y="914400"/>
                  <a:pt x="32766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787400" y="7467451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2" name="Text 30"/>
          <p:cNvSpPr/>
          <p:nvPr/>
        </p:nvSpPr>
        <p:spPr>
          <a:xfrm>
            <a:off x="965200" y="7619851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5200" y="7975451"/>
            <a:ext cx="313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逻辑清晰，可融合专家经验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43400" y="7467451"/>
            <a:ext cx="3378200" cy="914400"/>
          </a:xfrm>
          <a:custGeom>
            <a:avLst/>
            <a:gdLst/>
            <a:ahLst/>
            <a:cxnLst/>
            <a:rect l="l" t="t" r="r" b="b"/>
            <a:pathLst>
              <a:path w="3378200" h="914400">
                <a:moveTo>
                  <a:pt x="50800" y="0"/>
                </a:moveTo>
                <a:lnTo>
                  <a:pt x="3276601" y="0"/>
                </a:lnTo>
                <a:cubicBezTo>
                  <a:pt x="3332713" y="0"/>
                  <a:pt x="3378200" y="45487"/>
                  <a:pt x="3378200" y="101599"/>
                </a:cubicBezTo>
                <a:lnTo>
                  <a:pt x="3378200" y="812801"/>
                </a:lnTo>
                <a:cubicBezTo>
                  <a:pt x="3378200" y="868913"/>
                  <a:pt x="3332713" y="914400"/>
                  <a:pt x="32766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4343400" y="7467451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36" name="Text 34"/>
          <p:cNvSpPr/>
          <p:nvPr/>
        </p:nvSpPr>
        <p:spPr>
          <a:xfrm>
            <a:off x="4521200" y="7619851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21200" y="7975451"/>
            <a:ext cx="313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主观性较强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80400" y="1981200"/>
            <a:ext cx="7467600" cy="6654800"/>
          </a:xfrm>
          <a:custGeom>
            <a:avLst/>
            <a:gdLst/>
            <a:ahLst/>
            <a:cxnLst/>
            <a:rect l="l" t="t" r="r" b="b"/>
            <a:pathLst>
              <a:path w="7467600" h="6654800">
                <a:moveTo>
                  <a:pt x="152395" y="0"/>
                </a:moveTo>
                <a:lnTo>
                  <a:pt x="7315205" y="0"/>
                </a:lnTo>
                <a:cubicBezTo>
                  <a:pt x="7399370" y="0"/>
                  <a:pt x="7467600" y="68230"/>
                  <a:pt x="7467600" y="152395"/>
                </a:cubicBezTo>
                <a:lnTo>
                  <a:pt x="7467600" y="6502405"/>
                </a:lnTo>
                <a:cubicBezTo>
                  <a:pt x="7467600" y="6586570"/>
                  <a:pt x="7399370" y="6654800"/>
                  <a:pt x="7315205" y="6654800"/>
                </a:cubicBezTo>
                <a:lnTo>
                  <a:pt x="152395" y="6654800"/>
                </a:lnTo>
                <a:cubicBezTo>
                  <a:pt x="68230" y="6654800"/>
                  <a:pt x="0" y="6586570"/>
                  <a:pt x="0" y="6502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80400" y="1981200"/>
            <a:ext cx="7467600" cy="914400"/>
          </a:xfrm>
          <a:custGeom>
            <a:avLst/>
            <a:gdLst/>
            <a:ahLst/>
            <a:cxnLst/>
            <a:rect l="l" t="t" r="r" b="b"/>
            <a:pathLst>
              <a:path w="7467600" h="914400">
                <a:moveTo>
                  <a:pt x="152403" y="0"/>
                </a:moveTo>
                <a:lnTo>
                  <a:pt x="7315197" y="0"/>
                </a:lnTo>
                <a:cubicBezTo>
                  <a:pt x="7399367" y="0"/>
                  <a:pt x="7467600" y="68233"/>
                  <a:pt x="7467600" y="152403"/>
                </a:cubicBezTo>
                <a:lnTo>
                  <a:pt x="7467600" y="914400"/>
                </a:lnTo>
                <a:lnTo>
                  <a:pt x="0" y="914400"/>
                </a:ln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0" scaled="1"/>
          </a:gradFill>
        </p:spPr>
      </p:sp>
      <p:sp>
        <p:nvSpPr>
          <p:cNvPr id="40" name="Shape 38"/>
          <p:cNvSpPr/>
          <p:nvPr/>
        </p:nvSpPr>
        <p:spPr>
          <a:xfrm>
            <a:off x="8591550" y="2285851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8915400" y="2235200"/>
            <a:ext cx="6731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熵权法（Entropy Weight）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66150" y="32129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43" name="Text 41"/>
          <p:cNvSpPr/>
          <p:nvPr/>
        </p:nvSpPr>
        <p:spPr>
          <a:xfrm>
            <a:off x="8826500" y="3149451"/>
            <a:ext cx="678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34400" y="3606651"/>
            <a:ext cx="7061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适用于</a:t>
            </a: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有客观数据支撑的评价场景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（如企业经营绩效评价）。完全基于数据，避免主观偏差。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66150" y="45337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46" name="Text 44"/>
          <p:cNvSpPr/>
          <p:nvPr/>
        </p:nvSpPr>
        <p:spPr>
          <a:xfrm>
            <a:off x="8826500" y="4470251"/>
            <a:ext cx="678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34400" y="4927451"/>
            <a:ext cx="6959600" cy="1955800"/>
          </a:xfrm>
          <a:custGeom>
            <a:avLst/>
            <a:gdLst/>
            <a:ahLst/>
            <a:cxnLst/>
            <a:rect l="l" t="t" r="r" b="b"/>
            <a:pathLst>
              <a:path w="6959600" h="1955800">
                <a:moveTo>
                  <a:pt x="101604" y="0"/>
                </a:moveTo>
                <a:lnTo>
                  <a:pt x="6857996" y="0"/>
                </a:lnTo>
                <a:cubicBezTo>
                  <a:pt x="6914110" y="0"/>
                  <a:pt x="6959600" y="45490"/>
                  <a:pt x="6959600" y="101604"/>
                </a:cubicBezTo>
                <a:lnTo>
                  <a:pt x="6959600" y="1854196"/>
                </a:lnTo>
                <a:cubicBezTo>
                  <a:pt x="6959600" y="1910310"/>
                  <a:pt x="6914110" y="1955800"/>
                  <a:pt x="6857996" y="1955800"/>
                </a:cubicBezTo>
                <a:lnTo>
                  <a:pt x="101604" y="1955800"/>
                </a:lnTo>
                <a:cubicBezTo>
                  <a:pt x="45490" y="1955800"/>
                  <a:pt x="0" y="1910310"/>
                  <a:pt x="0" y="1854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8737600" y="5130651"/>
            <a:ext cx="6654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根据</a:t>
            </a: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数据的离散程度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确定权重——数据离散度越大，信息熵越小，权重越大（说明该指标</a:t>
            </a: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区分能力越强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）。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742680" y="5948531"/>
            <a:ext cx="2105660" cy="721360"/>
          </a:xfrm>
          <a:custGeom>
            <a:avLst/>
            <a:gdLst/>
            <a:ahLst/>
            <a:cxnLst/>
            <a:rect l="l" t="t" r="r" b="b"/>
            <a:pathLst>
              <a:path w="2105660" h="721360">
                <a:moveTo>
                  <a:pt x="50798" y="0"/>
                </a:moveTo>
                <a:lnTo>
                  <a:pt x="2054862" y="0"/>
                </a:lnTo>
                <a:cubicBezTo>
                  <a:pt x="2082917" y="0"/>
                  <a:pt x="2105660" y="22743"/>
                  <a:pt x="2105660" y="50798"/>
                </a:cubicBezTo>
                <a:lnTo>
                  <a:pt x="2105660" y="670562"/>
                </a:lnTo>
                <a:cubicBezTo>
                  <a:pt x="2105660" y="698617"/>
                  <a:pt x="2082917" y="721360"/>
                  <a:pt x="2054862" y="721360"/>
                </a:cubicBezTo>
                <a:lnTo>
                  <a:pt x="50798" y="721360"/>
                </a:lnTo>
                <a:cubicBezTo>
                  <a:pt x="22743" y="721360"/>
                  <a:pt x="0" y="698617"/>
                  <a:pt x="0" y="67056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212C42">
                <a:alpha val="2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04910" y="6055209"/>
            <a:ext cx="1981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离散度大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804910" y="6309209"/>
            <a:ext cx="1981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信息量大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960894" y="5948531"/>
            <a:ext cx="2105660" cy="721360"/>
          </a:xfrm>
          <a:custGeom>
            <a:avLst/>
            <a:gdLst/>
            <a:ahLst/>
            <a:cxnLst/>
            <a:rect l="l" t="t" r="r" b="b"/>
            <a:pathLst>
              <a:path w="2105660" h="721360">
                <a:moveTo>
                  <a:pt x="50798" y="0"/>
                </a:moveTo>
                <a:lnTo>
                  <a:pt x="2054862" y="0"/>
                </a:lnTo>
                <a:cubicBezTo>
                  <a:pt x="2082917" y="0"/>
                  <a:pt x="2105660" y="22743"/>
                  <a:pt x="2105660" y="50798"/>
                </a:cubicBezTo>
                <a:lnTo>
                  <a:pt x="2105660" y="670562"/>
                </a:lnTo>
                <a:cubicBezTo>
                  <a:pt x="2105660" y="698617"/>
                  <a:pt x="2082917" y="721360"/>
                  <a:pt x="2054862" y="721360"/>
                </a:cubicBezTo>
                <a:lnTo>
                  <a:pt x="50798" y="721360"/>
                </a:lnTo>
                <a:cubicBezTo>
                  <a:pt x="22743" y="721360"/>
                  <a:pt x="0" y="698617"/>
                  <a:pt x="0" y="67056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212C42">
                <a:alpha val="2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023124" y="6055209"/>
            <a:ext cx="1981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信息熵小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023124" y="6309209"/>
            <a:ext cx="1981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不确定性低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3179108" y="5948531"/>
            <a:ext cx="2105660" cy="721360"/>
          </a:xfrm>
          <a:custGeom>
            <a:avLst/>
            <a:gdLst/>
            <a:ahLst/>
            <a:cxnLst/>
            <a:rect l="l" t="t" r="r" b="b"/>
            <a:pathLst>
              <a:path w="2105660" h="721360">
                <a:moveTo>
                  <a:pt x="50798" y="0"/>
                </a:moveTo>
                <a:lnTo>
                  <a:pt x="2054862" y="0"/>
                </a:lnTo>
                <a:cubicBezTo>
                  <a:pt x="2082917" y="0"/>
                  <a:pt x="2105660" y="22743"/>
                  <a:pt x="2105660" y="50798"/>
                </a:cubicBezTo>
                <a:lnTo>
                  <a:pt x="2105660" y="670562"/>
                </a:lnTo>
                <a:cubicBezTo>
                  <a:pt x="2105660" y="698617"/>
                  <a:pt x="2082917" y="721360"/>
                  <a:pt x="2054862" y="721360"/>
                </a:cubicBezTo>
                <a:lnTo>
                  <a:pt x="50798" y="721360"/>
                </a:lnTo>
                <a:cubicBezTo>
                  <a:pt x="22743" y="721360"/>
                  <a:pt x="0" y="698617"/>
                  <a:pt x="0" y="67056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212C42">
                <a:alpha val="2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241338" y="6055209"/>
            <a:ext cx="1981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权重大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3241338" y="6309209"/>
            <a:ext cx="1981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区分能力强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559800" y="7081366"/>
            <a:ext cx="3378200" cy="914400"/>
          </a:xfrm>
          <a:custGeom>
            <a:avLst/>
            <a:gdLst/>
            <a:ahLst/>
            <a:cxnLst/>
            <a:rect l="l" t="t" r="r" b="b"/>
            <a:pathLst>
              <a:path w="3378200" h="914400">
                <a:moveTo>
                  <a:pt x="50800" y="0"/>
                </a:moveTo>
                <a:lnTo>
                  <a:pt x="3276601" y="0"/>
                </a:lnTo>
                <a:cubicBezTo>
                  <a:pt x="3332713" y="0"/>
                  <a:pt x="3378200" y="45487"/>
                  <a:pt x="3378200" y="101599"/>
                </a:cubicBezTo>
                <a:lnTo>
                  <a:pt x="3378200" y="812801"/>
                </a:lnTo>
                <a:cubicBezTo>
                  <a:pt x="3378200" y="868913"/>
                  <a:pt x="3332713" y="914400"/>
                  <a:pt x="32766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8559800" y="7081366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60" name="Text 58"/>
          <p:cNvSpPr/>
          <p:nvPr/>
        </p:nvSpPr>
        <p:spPr>
          <a:xfrm>
            <a:off x="8737600" y="7233766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737600" y="7589366"/>
            <a:ext cx="313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权重客观，避免主观偏差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2115800" y="7081366"/>
            <a:ext cx="3378200" cy="914400"/>
          </a:xfrm>
          <a:custGeom>
            <a:avLst/>
            <a:gdLst/>
            <a:ahLst/>
            <a:cxnLst/>
            <a:rect l="l" t="t" r="r" b="b"/>
            <a:pathLst>
              <a:path w="3378200" h="914400">
                <a:moveTo>
                  <a:pt x="50800" y="0"/>
                </a:moveTo>
                <a:lnTo>
                  <a:pt x="3276601" y="0"/>
                </a:lnTo>
                <a:cubicBezTo>
                  <a:pt x="3332713" y="0"/>
                  <a:pt x="3378200" y="45487"/>
                  <a:pt x="3378200" y="101599"/>
                </a:cubicBezTo>
                <a:lnTo>
                  <a:pt x="3378200" y="812801"/>
                </a:lnTo>
                <a:cubicBezTo>
                  <a:pt x="3378200" y="868913"/>
                  <a:pt x="3332713" y="914400"/>
                  <a:pt x="32766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63" name="Shape 61"/>
          <p:cNvSpPr/>
          <p:nvPr/>
        </p:nvSpPr>
        <p:spPr>
          <a:xfrm>
            <a:off x="12115800" y="7081366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64" name="Text 62"/>
          <p:cNvSpPr/>
          <p:nvPr/>
        </p:nvSpPr>
        <p:spPr>
          <a:xfrm>
            <a:off x="12293600" y="7233766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2293600" y="7589366"/>
            <a:ext cx="313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未考虑指标的实际重要性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366" y="476366"/>
            <a:ext cx="15398541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kern="0" spc="75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TOPSIS &amp; FUZZY METHODS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6366" y="857459"/>
            <a:ext cx="15589087" cy="57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评价模型：TOPSIS法与模糊综合评价法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6366" y="1572009"/>
            <a:ext cx="1143279" cy="47637"/>
          </a:xfrm>
          <a:custGeom>
            <a:avLst/>
            <a:gdLst/>
            <a:ahLst/>
            <a:cxnLst/>
            <a:rect l="l" t="t" r="r" b="b"/>
            <a:pathLst>
              <a:path w="1143279" h="47637">
                <a:moveTo>
                  <a:pt x="0" y="0"/>
                </a:moveTo>
                <a:lnTo>
                  <a:pt x="1143279" y="0"/>
                </a:lnTo>
                <a:lnTo>
                  <a:pt x="1143279" y="47637"/>
                </a:lnTo>
                <a:lnTo>
                  <a:pt x="0" y="47637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76366" y="1857829"/>
            <a:ext cx="7514678" cy="6812038"/>
          </a:xfrm>
          <a:custGeom>
            <a:avLst/>
            <a:gdLst/>
            <a:ahLst/>
            <a:cxnLst/>
            <a:rect l="l" t="t" r="r" b="b"/>
            <a:pathLst>
              <a:path w="7514678" h="6812038">
                <a:moveTo>
                  <a:pt x="142917" y="0"/>
                </a:moveTo>
                <a:lnTo>
                  <a:pt x="7371762" y="0"/>
                </a:lnTo>
                <a:cubicBezTo>
                  <a:pt x="7450692" y="0"/>
                  <a:pt x="7514678" y="63986"/>
                  <a:pt x="7514678" y="142917"/>
                </a:cubicBezTo>
                <a:lnTo>
                  <a:pt x="7514678" y="6669122"/>
                </a:lnTo>
                <a:cubicBezTo>
                  <a:pt x="7514678" y="6748052"/>
                  <a:pt x="7450692" y="6812038"/>
                  <a:pt x="7371762" y="6812038"/>
                </a:cubicBezTo>
                <a:lnTo>
                  <a:pt x="142917" y="6812038"/>
                </a:lnTo>
                <a:cubicBezTo>
                  <a:pt x="63986" y="6812038"/>
                  <a:pt x="0" y="6748052"/>
                  <a:pt x="0" y="6669122"/>
                </a:cubicBezTo>
                <a:lnTo>
                  <a:pt x="0" y="142917"/>
                </a:lnTo>
                <a:cubicBezTo>
                  <a:pt x="0" y="64039"/>
                  <a:pt x="64039" y="0"/>
                  <a:pt x="14291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97729" dist="2381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6366" y="1857829"/>
            <a:ext cx="7514678" cy="857459"/>
          </a:xfrm>
          <a:custGeom>
            <a:avLst/>
            <a:gdLst/>
            <a:ahLst/>
            <a:cxnLst/>
            <a:rect l="l" t="t" r="r" b="b"/>
            <a:pathLst>
              <a:path w="7514678" h="857459">
                <a:moveTo>
                  <a:pt x="142913" y="0"/>
                </a:moveTo>
                <a:lnTo>
                  <a:pt x="7371766" y="0"/>
                </a:lnTo>
                <a:cubicBezTo>
                  <a:pt x="7450694" y="0"/>
                  <a:pt x="7514678" y="63984"/>
                  <a:pt x="7514678" y="142913"/>
                </a:cubicBezTo>
                <a:lnTo>
                  <a:pt x="7514678" y="857459"/>
                </a:lnTo>
                <a:lnTo>
                  <a:pt x="0" y="857459"/>
                </a:lnTo>
                <a:lnTo>
                  <a:pt x="0" y="142913"/>
                </a:lnTo>
                <a:cubicBezTo>
                  <a:pt x="0" y="63984"/>
                  <a:pt x="63984" y="0"/>
                  <a:pt x="142913" y="0"/>
                </a:cubicBezTo>
                <a:close/>
              </a:path>
            </a:pathLst>
          </a:custGeom>
          <a:gradFill flip="none" rotWithShape="1">
            <a:gsLst>
              <a:gs pos="0">
                <a:srgbClr val="5B677D"/>
              </a:gs>
              <a:gs pos="100000">
                <a:srgbClr val="16A085"/>
              </a:gs>
            </a:gsLst>
            <a:lin ang="0" scaled="1"/>
          </a:gradFill>
        </p:spPr>
      </p:sp>
      <p:sp>
        <p:nvSpPr>
          <p:cNvPr id="7" name="Shape 5"/>
          <p:cNvSpPr/>
          <p:nvPr/>
        </p:nvSpPr>
        <p:spPr>
          <a:xfrm>
            <a:off x="732413" y="2143509"/>
            <a:ext cx="321547" cy="285820"/>
          </a:xfrm>
          <a:custGeom>
            <a:avLst/>
            <a:gdLst/>
            <a:ahLst/>
            <a:cxnLst/>
            <a:rect l="l" t="t" r="r" b="b"/>
            <a:pathLst>
              <a:path w="321547" h="285820">
                <a:moveTo>
                  <a:pt x="84071" y="23111"/>
                </a:moveTo>
                <a:cubicBezTo>
                  <a:pt x="77093" y="16133"/>
                  <a:pt x="65761" y="16133"/>
                  <a:pt x="58783" y="23111"/>
                </a:cubicBezTo>
                <a:lnTo>
                  <a:pt x="5192" y="76702"/>
                </a:lnTo>
                <a:cubicBezTo>
                  <a:pt x="-1786" y="83680"/>
                  <a:pt x="-1786" y="95013"/>
                  <a:pt x="5192" y="101991"/>
                </a:cubicBezTo>
                <a:cubicBezTo>
                  <a:pt x="12170" y="108969"/>
                  <a:pt x="23502" y="108969"/>
                  <a:pt x="30480" y="101991"/>
                </a:cubicBezTo>
                <a:lnTo>
                  <a:pt x="53591" y="78880"/>
                </a:lnTo>
                <a:lnTo>
                  <a:pt x="53591" y="250092"/>
                </a:lnTo>
                <a:cubicBezTo>
                  <a:pt x="53591" y="259973"/>
                  <a:pt x="61574" y="267956"/>
                  <a:pt x="71455" y="267956"/>
                </a:cubicBezTo>
                <a:cubicBezTo>
                  <a:pt x="81336" y="267956"/>
                  <a:pt x="89319" y="259973"/>
                  <a:pt x="89319" y="250092"/>
                </a:cubicBezTo>
                <a:lnTo>
                  <a:pt x="89319" y="78880"/>
                </a:lnTo>
                <a:lnTo>
                  <a:pt x="112430" y="101991"/>
                </a:lnTo>
                <a:cubicBezTo>
                  <a:pt x="119408" y="108969"/>
                  <a:pt x="130740" y="108969"/>
                  <a:pt x="137718" y="101991"/>
                </a:cubicBezTo>
                <a:cubicBezTo>
                  <a:pt x="144696" y="95013"/>
                  <a:pt x="144696" y="83680"/>
                  <a:pt x="137718" y="76702"/>
                </a:cubicBezTo>
                <a:lnTo>
                  <a:pt x="84127" y="23111"/>
                </a:lnTo>
                <a:close/>
                <a:moveTo>
                  <a:pt x="178637" y="267956"/>
                </a:moveTo>
                <a:lnTo>
                  <a:pt x="196501" y="267956"/>
                </a:lnTo>
                <a:cubicBezTo>
                  <a:pt x="206382" y="267956"/>
                  <a:pt x="214365" y="259973"/>
                  <a:pt x="214365" y="250092"/>
                </a:cubicBezTo>
                <a:cubicBezTo>
                  <a:pt x="214365" y="240211"/>
                  <a:pt x="206382" y="232229"/>
                  <a:pt x="196501" y="232229"/>
                </a:cubicBezTo>
                <a:lnTo>
                  <a:pt x="178637" y="232229"/>
                </a:lnTo>
                <a:cubicBezTo>
                  <a:pt x="168756" y="232229"/>
                  <a:pt x="160774" y="240211"/>
                  <a:pt x="160774" y="250092"/>
                </a:cubicBezTo>
                <a:cubicBezTo>
                  <a:pt x="160774" y="259973"/>
                  <a:pt x="168756" y="267956"/>
                  <a:pt x="178637" y="267956"/>
                </a:cubicBezTo>
                <a:close/>
                <a:moveTo>
                  <a:pt x="178637" y="196501"/>
                </a:moveTo>
                <a:lnTo>
                  <a:pt x="232229" y="196501"/>
                </a:lnTo>
                <a:cubicBezTo>
                  <a:pt x="242109" y="196501"/>
                  <a:pt x="250092" y="188518"/>
                  <a:pt x="250092" y="178637"/>
                </a:cubicBezTo>
                <a:cubicBezTo>
                  <a:pt x="250092" y="168756"/>
                  <a:pt x="242109" y="160774"/>
                  <a:pt x="232229" y="160774"/>
                </a:cubicBezTo>
                <a:lnTo>
                  <a:pt x="178637" y="160774"/>
                </a:lnTo>
                <a:cubicBezTo>
                  <a:pt x="168756" y="160774"/>
                  <a:pt x="160774" y="168756"/>
                  <a:pt x="160774" y="178637"/>
                </a:cubicBezTo>
                <a:cubicBezTo>
                  <a:pt x="160774" y="188518"/>
                  <a:pt x="168756" y="196501"/>
                  <a:pt x="178637" y="196501"/>
                </a:cubicBezTo>
                <a:close/>
                <a:moveTo>
                  <a:pt x="178637" y="125046"/>
                </a:moveTo>
                <a:lnTo>
                  <a:pt x="267956" y="125046"/>
                </a:lnTo>
                <a:cubicBezTo>
                  <a:pt x="277837" y="125046"/>
                  <a:pt x="285820" y="117063"/>
                  <a:pt x="285820" y="107182"/>
                </a:cubicBezTo>
                <a:cubicBezTo>
                  <a:pt x="285820" y="97302"/>
                  <a:pt x="277837" y="89319"/>
                  <a:pt x="267956" y="89319"/>
                </a:cubicBezTo>
                <a:lnTo>
                  <a:pt x="178637" y="89319"/>
                </a:lnTo>
                <a:cubicBezTo>
                  <a:pt x="168756" y="89319"/>
                  <a:pt x="160774" y="97302"/>
                  <a:pt x="160774" y="107182"/>
                </a:cubicBezTo>
                <a:cubicBezTo>
                  <a:pt x="160774" y="117063"/>
                  <a:pt x="168756" y="125046"/>
                  <a:pt x="178637" y="125046"/>
                </a:cubicBezTo>
                <a:close/>
                <a:moveTo>
                  <a:pt x="178637" y="53591"/>
                </a:moveTo>
                <a:lnTo>
                  <a:pt x="303684" y="53591"/>
                </a:lnTo>
                <a:cubicBezTo>
                  <a:pt x="313564" y="53591"/>
                  <a:pt x="321547" y="45608"/>
                  <a:pt x="321547" y="35727"/>
                </a:cubicBezTo>
                <a:cubicBezTo>
                  <a:pt x="321547" y="25847"/>
                  <a:pt x="313564" y="17864"/>
                  <a:pt x="303684" y="17864"/>
                </a:cubicBezTo>
                <a:lnTo>
                  <a:pt x="178637" y="17864"/>
                </a:lnTo>
                <a:cubicBezTo>
                  <a:pt x="168756" y="17864"/>
                  <a:pt x="160774" y="25847"/>
                  <a:pt x="160774" y="35727"/>
                </a:cubicBezTo>
                <a:cubicBezTo>
                  <a:pt x="160774" y="45608"/>
                  <a:pt x="168756" y="53591"/>
                  <a:pt x="178637" y="5359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071824" y="2096012"/>
            <a:ext cx="6823947" cy="3810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TOPSIS法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4322" y="3012877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107182" y="214365"/>
                </a:moveTo>
                <a:cubicBezTo>
                  <a:pt x="166338" y="214365"/>
                  <a:pt x="214365" y="166338"/>
                  <a:pt x="214365" y="107182"/>
                </a:cubicBezTo>
                <a:cubicBezTo>
                  <a:pt x="214365" y="48027"/>
                  <a:pt x="166338" y="0"/>
                  <a:pt x="107182" y="0"/>
                </a:cubicBezTo>
                <a:cubicBezTo>
                  <a:pt x="48027" y="0"/>
                  <a:pt x="0" y="48027"/>
                  <a:pt x="0" y="107182"/>
                </a:cubicBezTo>
                <a:cubicBezTo>
                  <a:pt x="0" y="166338"/>
                  <a:pt x="48027" y="214365"/>
                  <a:pt x="107182" y="214365"/>
                </a:cubicBezTo>
                <a:close/>
                <a:moveTo>
                  <a:pt x="93785" y="66989"/>
                </a:moveTo>
                <a:cubicBezTo>
                  <a:pt x="93785" y="59595"/>
                  <a:pt x="99788" y="53591"/>
                  <a:pt x="107182" y="53591"/>
                </a:cubicBezTo>
                <a:cubicBezTo>
                  <a:pt x="114577" y="53591"/>
                  <a:pt x="120580" y="59595"/>
                  <a:pt x="120580" y="66989"/>
                </a:cubicBezTo>
                <a:cubicBezTo>
                  <a:pt x="120580" y="74383"/>
                  <a:pt x="114577" y="80387"/>
                  <a:pt x="107182" y="80387"/>
                </a:cubicBezTo>
                <a:cubicBezTo>
                  <a:pt x="99788" y="80387"/>
                  <a:pt x="93785" y="74383"/>
                  <a:pt x="93785" y="66989"/>
                </a:cubicBezTo>
                <a:close/>
                <a:moveTo>
                  <a:pt x="90435" y="93785"/>
                </a:moveTo>
                <a:lnTo>
                  <a:pt x="110532" y="93785"/>
                </a:lnTo>
                <a:cubicBezTo>
                  <a:pt x="116100" y="93785"/>
                  <a:pt x="120580" y="98265"/>
                  <a:pt x="120580" y="103833"/>
                </a:cubicBezTo>
                <a:lnTo>
                  <a:pt x="120580" y="140677"/>
                </a:lnTo>
                <a:lnTo>
                  <a:pt x="123930" y="140677"/>
                </a:lnTo>
                <a:cubicBezTo>
                  <a:pt x="129498" y="140677"/>
                  <a:pt x="133978" y="145157"/>
                  <a:pt x="133978" y="150725"/>
                </a:cubicBezTo>
                <a:cubicBezTo>
                  <a:pt x="133978" y="156294"/>
                  <a:pt x="129498" y="160774"/>
                  <a:pt x="123930" y="160774"/>
                </a:cubicBezTo>
                <a:lnTo>
                  <a:pt x="90435" y="160774"/>
                </a:lnTo>
                <a:cubicBezTo>
                  <a:pt x="84867" y="160774"/>
                  <a:pt x="80387" y="156294"/>
                  <a:pt x="80387" y="150725"/>
                </a:cubicBezTo>
                <a:cubicBezTo>
                  <a:pt x="80387" y="145157"/>
                  <a:pt x="84867" y="140677"/>
                  <a:pt x="90435" y="140677"/>
                </a:cubicBezTo>
                <a:lnTo>
                  <a:pt x="100484" y="140677"/>
                </a:lnTo>
                <a:lnTo>
                  <a:pt x="100484" y="113881"/>
                </a:lnTo>
                <a:lnTo>
                  <a:pt x="90435" y="113881"/>
                </a:lnTo>
                <a:cubicBezTo>
                  <a:pt x="84867" y="113881"/>
                  <a:pt x="80387" y="109401"/>
                  <a:pt x="80387" y="103833"/>
                </a:cubicBezTo>
                <a:cubicBezTo>
                  <a:pt x="80387" y="98265"/>
                  <a:pt x="84867" y="93785"/>
                  <a:pt x="90435" y="93785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10" name="Text 8"/>
          <p:cNvSpPr/>
          <p:nvPr/>
        </p:nvSpPr>
        <p:spPr>
          <a:xfrm>
            <a:off x="988460" y="2953332"/>
            <a:ext cx="6871584" cy="333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4549" y="3382061"/>
            <a:ext cx="7133585" cy="619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适用于</a:t>
            </a:r>
            <a:r>
              <a:rPr lang="en-US" sz="15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多指标、多方案的排序优选</a:t>
            </a:r>
            <a:r>
              <a:rPr lang="en-US" sz="15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（如供应商选择、技术方案对比）。需要对方案进行排名。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4322" y="4251430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187569" y="107182"/>
                </a:moveTo>
                <a:cubicBezTo>
                  <a:pt x="187569" y="62816"/>
                  <a:pt x="151549" y="26796"/>
                  <a:pt x="107182" y="26796"/>
                </a:cubicBezTo>
                <a:cubicBezTo>
                  <a:pt x="62816" y="26796"/>
                  <a:pt x="26796" y="62816"/>
                  <a:pt x="26796" y="107182"/>
                </a:cubicBezTo>
                <a:cubicBezTo>
                  <a:pt x="26796" y="151549"/>
                  <a:pt x="62816" y="187569"/>
                  <a:pt x="107182" y="187569"/>
                </a:cubicBezTo>
                <a:cubicBezTo>
                  <a:pt x="151549" y="187569"/>
                  <a:pt x="187569" y="151549"/>
                  <a:pt x="187569" y="107182"/>
                </a:cubicBezTo>
                <a:close/>
                <a:moveTo>
                  <a:pt x="0" y="107182"/>
                </a:moveTo>
                <a:cubicBezTo>
                  <a:pt x="0" y="48027"/>
                  <a:pt x="48027" y="0"/>
                  <a:pt x="107182" y="0"/>
                </a:cubicBezTo>
                <a:cubicBezTo>
                  <a:pt x="166338" y="0"/>
                  <a:pt x="214365" y="48027"/>
                  <a:pt x="214365" y="107182"/>
                </a:cubicBezTo>
                <a:cubicBezTo>
                  <a:pt x="214365" y="166338"/>
                  <a:pt x="166338" y="214365"/>
                  <a:pt x="107182" y="214365"/>
                </a:cubicBezTo>
                <a:cubicBezTo>
                  <a:pt x="48027" y="214365"/>
                  <a:pt x="0" y="166338"/>
                  <a:pt x="0" y="107182"/>
                </a:cubicBezTo>
                <a:close/>
                <a:moveTo>
                  <a:pt x="107182" y="140677"/>
                </a:moveTo>
                <a:cubicBezTo>
                  <a:pt x="125669" y="140677"/>
                  <a:pt x="140677" y="125669"/>
                  <a:pt x="140677" y="107182"/>
                </a:cubicBezTo>
                <a:cubicBezTo>
                  <a:pt x="140677" y="88696"/>
                  <a:pt x="125669" y="73688"/>
                  <a:pt x="107182" y="73688"/>
                </a:cubicBezTo>
                <a:cubicBezTo>
                  <a:pt x="88696" y="73688"/>
                  <a:pt x="73688" y="88696"/>
                  <a:pt x="73688" y="107182"/>
                </a:cubicBezTo>
                <a:cubicBezTo>
                  <a:pt x="73688" y="125669"/>
                  <a:pt x="88696" y="140677"/>
                  <a:pt x="107182" y="140677"/>
                </a:cubicBezTo>
                <a:close/>
                <a:moveTo>
                  <a:pt x="107182" y="46892"/>
                </a:moveTo>
                <a:cubicBezTo>
                  <a:pt x="140457" y="46892"/>
                  <a:pt x="167473" y="73907"/>
                  <a:pt x="167473" y="107182"/>
                </a:cubicBezTo>
                <a:cubicBezTo>
                  <a:pt x="167473" y="140457"/>
                  <a:pt x="140457" y="167473"/>
                  <a:pt x="107182" y="167473"/>
                </a:cubicBezTo>
                <a:cubicBezTo>
                  <a:pt x="73907" y="167473"/>
                  <a:pt x="46892" y="140457"/>
                  <a:pt x="46892" y="107182"/>
                </a:cubicBezTo>
                <a:cubicBezTo>
                  <a:pt x="46892" y="73907"/>
                  <a:pt x="73907" y="46892"/>
                  <a:pt x="107182" y="46892"/>
                </a:cubicBezTo>
                <a:close/>
                <a:moveTo>
                  <a:pt x="93785" y="107182"/>
                </a:moveTo>
                <a:cubicBezTo>
                  <a:pt x="93785" y="99788"/>
                  <a:pt x="99788" y="93785"/>
                  <a:pt x="107182" y="93785"/>
                </a:cubicBezTo>
                <a:cubicBezTo>
                  <a:pt x="114577" y="93785"/>
                  <a:pt x="120580" y="99788"/>
                  <a:pt x="120580" y="107182"/>
                </a:cubicBezTo>
                <a:cubicBezTo>
                  <a:pt x="120580" y="114577"/>
                  <a:pt x="114577" y="120580"/>
                  <a:pt x="107182" y="120580"/>
                </a:cubicBezTo>
                <a:cubicBezTo>
                  <a:pt x="99788" y="120580"/>
                  <a:pt x="93785" y="114577"/>
                  <a:pt x="93785" y="107182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13" name="Text 11"/>
          <p:cNvSpPr/>
          <p:nvPr/>
        </p:nvSpPr>
        <p:spPr>
          <a:xfrm>
            <a:off x="988460" y="4191884"/>
            <a:ext cx="6871584" cy="333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4549" y="4620614"/>
            <a:ext cx="7038312" cy="476366"/>
          </a:xfrm>
          <a:custGeom>
            <a:avLst/>
            <a:gdLst/>
            <a:ahLst/>
            <a:cxnLst/>
            <a:rect l="l" t="t" r="r" b="b"/>
            <a:pathLst>
              <a:path w="7038312" h="476366">
                <a:moveTo>
                  <a:pt x="95273" y="0"/>
                </a:moveTo>
                <a:lnTo>
                  <a:pt x="6943039" y="0"/>
                </a:lnTo>
                <a:cubicBezTo>
                  <a:pt x="6995657" y="0"/>
                  <a:pt x="7038312" y="42655"/>
                  <a:pt x="7038312" y="95273"/>
                </a:cubicBezTo>
                <a:lnTo>
                  <a:pt x="7038312" y="381093"/>
                </a:lnTo>
                <a:cubicBezTo>
                  <a:pt x="7038312" y="433711"/>
                  <a:pt x="6995657" y="476366"/>
                  <a:pt x="6943039" y="476366"/>
                </a:cubicBezTo>
                <a:lnTo>
                  <a:pt x="95273" y="476366"/>
                </a:lnTo>
                <a:cubicBezTo>
                  <a:pt x="42655" y="476366"/>
                  <a:pt x="0" y="433711"/>
                  <a:pt x="0" y="381093"/>
                </a:cubicBezTo>
                <a:lnTo>
                  <a:pt x="0" y="95273"/>
                </a:lnTo>
                <a:cubicBezTo>
                  <a:pt x="0" y="42691"/>
                  <a:pt x="42691" y="0"/>
                  <a:pt x="95273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809823" y="4715887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142910" y="0"/>
                </a:moveTo>
                <a:lnTo>
                  <a:pt x="142910" y="0"/>
                </a:lnTo>
                <a:cubicBezTo>
                  <a:pt x="221837" y="0"/>
                  <a:pt x="285820" y="63983"/>
                  <a:pt x="285820" y="142910"/>
                </a:cubicBezTo>
                <a:lnTo>
                  <a:pt x="285820" y="142910"/>
                </a:lnTo>
                <a:cubicBezTo>
                  <a:pt x="285820" y="221837"/>
                  <a:pt x="221837" y="285820"/>
                  <a:pt x="142910" y="285820"/>
                </a:cubicBezTo>
                <a:lnTo>
                  <a:pt x="142910" y="285820"/>
                </a:lnTo>
                <a:cubicBezTo>
                  <a:pt x="63983" y="285820"/>
                  <a:pt x="0" y="221837"/>
                  <a:pt x="0" y="142910"/>
                </a:cubicBezTo>
                <a:lnTo>
                  <a:pt x="0" y="142910"/>
                </a:lnTo>
                <a:cubicBezTo>
                  <a:pt x="0" y="63983"/>
                  <a:pt x="63983" y="0"/>
                  <a:pt x="142910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16" name="Text 14"/>
          <p:cNvSpPr/>
          <p:nvPr/>
        </p:nvSpPr>
        <p:spPr>
          <a:xfrm>
            <a:off x="774095" y="4715887"/>
            <a:ext cx="357275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90916" y="4715887"/>
            <a:ext cx="2381832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标准化数据</a:t>
            </a:r>
            <a:r>
              <a:rPr lang="en-US" sz="15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：消除量纲影响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4549" y="5192253"/>
            <a:ext cx="7038312" cy="476366"/>
          </a:xfrm>
          <a:custGeom>
            <a:avLst/>
            <a:gdLst/>
            <a:ahLst/>
            <a:cxnLst/>
            <a:rect l="l" t="t" r="r" b="b"/>
            <a:pathLst>
              <a:path w="7038312" h="476366">
                <a:moveTo>
                  <a:pt x="95273" y="0"/>
                </a:moveTo>
                <a:lnTo>
                  <a:pt x="6943039" y="0"/>
                </a:lnTo>
                <a:cubicBezTo>
                  <a:pt x="6995657" y="0"/>
                  <a:pt x="7038312" y="42655"/>
                  <a:pt x="7038312" y="95273"/>
                </a:cubicBezTo>
                <a:lnTo>
                  <a:pt x="7038312" y="381093"/>
                </a:lnTo>
                <a:cubicBezTo>
                  <a:pt x="7038312" y="433711"/>
                  <a:pt x="6995657" y="476366"/>
                  <a:pt x="6943039" y="476366"/>
                </a:cubicBezTo>
                <a:lnTo>
                  <a:pt x="95273" y="476366"/>
                </a:lnTo>
                <a:cubicBezTo>
                  <a:pt x="42655" y="476366"/>
                  <a:pt x="0" y="433711"/>
                  <a:pt x="0" y="381093"/>
                </a:cubicBezTo>
                <a:lnTo>
                  <a:pt x="0" y="95273"/>
                </a:lnTo>
                <a:cubicBezTo>
                  <a:pt x="0" y="42691"/>
                  <a:pt x="42691" y="0"/>
                  <a:pt x="95273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809823" y="5287526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142910" y="0"/>
                </a:moveTo>
                <a:lnTo>
                  <a:pt x="142910" y="0"/>
                </a:lnTo>
                <a:cubicBezTo>
                  <a:pt x="221837" y="0"/>
                  <a:pt x="285820" y="63983"/>
                  <a:pt x="285820" y="142910"/>
                </a:cubicBezTo>
                <a:lnTo>
                  <a:pt x="285820" y="142910"/>
                </a:lnTo>
                <a:cubicBezTo>
                  <a:pt x="285820" y="221837"/>
                  <a:pt x="221837" y="285820"/>
                  <a:pt x="142910" y="285820"/>
                </a:cubicBezTo>
                <a:lnTo>
                  <a:pt x="142910" y="285820"/>
                </a:lnTo>
                <a:cubicBezTo>
                  <a:pt x="63983" y="285820"/>
                  <a:pt x="0" y="221837"/>
                  <a:pt x="0" y="142910"/>
                </a:cubicBezTo>
                <a:lnTo>
                  <a:pt x="0" y="142910"/>
                </a:lnTo>
                <a:cubicBezTo>
                  <a:pt x="0" y="63983"/>
                  <a:pt x="63983" y="0"/>
                  <a:pt x="142910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20" name="Text 18"/>
          <p:cNvSpPr/>
          <p:nvPr/>
        </p:nvSpPr>
        <p:spPr>
          <a:xfrm>
            <a:off x="774095" y="5287526"/>
            <a:ext cx="357275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90916" y="5287526"/>
            <a:ext cx="3144018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确定理想解</a:t>
            </a:r>
            <a:r>
              <a:rPr lang="en-US" sz="15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：最佳方案（正理想解）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4549" y="5763893"/>
            <a:ext cx="7038312" cy="476366"/>
          </a:xfrm>
          <a:custGeom>
            <a:avLst/>
            <a:gdLst/>
            <a:ahLst/>
            <a:cxnLst/>
            <a:rect l="l" t="t" r="r" b="b"/>
            <a:pathLst>
              <a:path w="7038312" h="476366">
                <a:moveTo>
                  <a:pt x="95273" y="0"/>
                </a:moveTo>
                <a:lnTo>
                  <a:pt x="6943039" y="0"/>
                </a:lnTo>
                <a:cubicBezTo>
                  <a:pt x="6995657" y="0"/>
                  <a:pt x="7038312" y="42655"/>
                  <a:pt x="7038312" y="95273"/>
                </a:cubicBezTo>
                <a:lnTo>
                  <a:pt x="7038312" y="381093"/>
                </a:lnTo>
                <a:cubicBezTo>
                  <a:pt x="7038312" y="433711"/>
                  <a:pt x="6995657" y="476366"/>
                  <a:pt x="6943039" y="476366"/>
                </a:cubicBezTo>
                <a:lnTo>
                  <a:pt x="95273" y="476366"/>
                </a:lnTo>
                <a:cubicBezTo>
                  <a:pt x="42655" y="476366"/>
                  <a:pt x="0" y="433711"/>
                  <a:pt x="0" y="381093"/>
                </a:cubicBezTo>
                <a:lnTo>
                  <a:pt x="0" y="95273"/>
                </a:lnTo>
                <a:cubicBezTo>
                  <a:pt x="0" y="42691"/>
                  <a:pt x="42691" y="0"/>
                  <a:pt x="95273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809823" y="5859166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142910" y="0"/>
                </a:moveTo>
                <a:lnTo>
                  <a:pt x="142910" y="0"/>
                </a:lnTo>
                <a:cubicBezTo>
                  <a:pt x="221837" y="0"/>
                  <a:pt x="285820" y="63983"/>
                  <a:pt x="285820" y="142910"/>
                </a:cubicBezTo>
                <a:lnTo>
                  <a:pt x="285820" y="142910"/>
                </a:lnTo>
                <a:cubicBezTo>
                  <a:pt x="285820" y="221837"/>
                  <a:pt x="221837" y="285820"/>
                  <a:pt x="142910" y="285820"/>
                </a:cubicBezTo>
                <a:lnTo>
                  <a:pt x="142910" y="285820"/>
                </a:lnTo>
                <a:cubicBezTo>
                  <a:pt x="63983" y="285820"/>
                  <a:pt x="0" y="221837"/>
                  <a:pt x="0" y="142910"/>
                </a:cubicBezTo>
                <a:lnTo>
                  <a:pt x="0" y="142910"/>
                </a:lnTo>
                <a:cubicBezTo>
                  <a:pt x="0" y="63983"/>
                  <a:pt x="63983" y="0"/>
                  <a:pt x="142910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24" name="Text 22"/>
          <p:cNvSpPr/>
          <p:nvPr/>
        </p:nvSpPr>
        <p:spPr>
          <a:xfrm>
            <a:off x="774095" y="5859166"/>
            <a:ext cx="357275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90916" y="5859166"/>
            <a:ext cx="3334564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确定负理想解</a:t>
            </a:r>
            <a:r>
              <a:rPr lang="en-US" sz="15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：最劣方案（负理想解）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4549" y="6335532"/>
            <a:ext cx="7038312" cy="476366"/>
          </a:xfrm>
          <a:custGeom>
            <a:avLst/>
            <a:gdLst/>
            <a:ahLst/>
            <a:cxnLst/>
            <a:rect l="l" t="t" r="r" b="b"/>
            <a:pathLst>
              <a:path w="7038312" h="476366">
                <a:moveTo>
                  <a:pt x="95273" y="0"/>
                </a:moveTo>
                <a:lnTo>
                  <a:pt x="6943039" y="0"/>
                </a:lnTo>
                <a:cubicBezTo>
                  <a:pt x="6995657" y="0"/>
                  <a:pt x="7038312" y="42655"/>
                  <a:pt x="7038312" y="95273"/>
                </a:cubicBezTo>
                <a:lnTo>
                  <a:pt x="7038312" y="381093"/>
                </a:lnTo>
                <a:cubicBezTo>
                  <a:pt x="7038312" y="433711"/>
                  <a:pt x="6995657" y="476366"/>
                  <a:pt x="6943039" y="476366"/>
                </a:cubicBezTo>
                <a:lnTo>
                  <a:pt x="95273" y="476366"/>
                </a:lnTo>
                <a:cubicBezTo>
                  <a:pt x="42655" y="476366"/>
                  <a:pt x="0" y="433711"/>
                  <a:pt x="0" y="381093"/>
                </a:cubicBezTo>
                <a:lnTo>
                  <a:pt x="0" y="95273"/>
                </a:lnTo>
                <a:cubicBezTo>
                  <a:pt x="0" y="42691"/>
                  <a:pt x="42691" y="0"/>
                  <a:pt x="95273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809823" y="6430805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142910" y="0"/>
                </a:moveTo>
                <a:lnTo>
                  <a:pt x="142910" y="0"/>
                </a:lnTo>
                <a:cubicBezTo>
                  <a:pt x="221837" y="0"/>
                  <a:pt x="285820" y="63983"/>
                  <a:pt x="285820" y="142910"/>
                </a:cubicBezTo>
                <a:lnTo>
                  <a:pt x="285820" y="142910"/>
                </a:lnTo>
                <a:cubicBezTo>
                  <a:pt x="285820" y="221837"/>
                  <a:pt x="221837" y="285820"/>
                  <a:pt x="142910" y="285820"/>
                </a:cubicBezTo>
                <a:lnTo>
                  <a:pt x="142910" y="285820"/>
                </a:lnTo>
                <a:cubicBezTo>
                  <a:pt x="63983" y="285820"/>
                  <a:pt x="0" y="221837"/>
                  <a:pt x="0" y="142910"/>
                </a:cubicBezTo>
                <a:lnTo>
                  <a:pt x="0" y="142910"/>
                </a:lnTo>
                <a:cubicBezTo>
                  <a:pt x="0" y="63983"/>
                  <a:pt x="63983" y="0"/>
                  <a:pt x="142910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28" name="Text 26"/>
          <p:cNvSpPr/>
          <p:nvPr/>
        </p:nvSpPr>
        <p:spPr>
          <a:xfrm>
            <a:off x="774095" y="6430805"/>
            <a:ext cx="357275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90916" y="6430805"/>
            <a:ext cx="2953471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计算欧氏距离</a:t>
            </a:r>
            <a:r>
              <a:rPr lang="en-US" sz="15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：各方案与两者距离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4549" y="6907172"/>
            <a:ext cx="7038312" cy="476366"/>
          </a:xfrm>
          <a:custGeom>
            <a:avLst/>
            <a:gdLst/>
            <a:ahLst/>
            <a:cxnLst/>
            <a:rect l="l" t="t" r="r" b="b"/>
            <a:pathLst>
              <a:path w="7038312" h="476366">
                <a:moveTo>
                  <a:pt x="95273" y="0"/>
                </a:moveTo>
                <a:lnTo>
                  <a:pt x="6943039" y="0"/>
                </a:lnTo>
                <a:cubicBezTo>
                  <a:pt x="6995657" y="0"/>
                  <a:pt x="7038312" y="42655"/>
                  <a:pt x="7038312" y="95273"/>
                </a:cubicBezTo>
                <a:lnTo>
                  <a:pt x="7038312" y="381093"/>
                </a:lnTo>
                <a:cubicBezTo>
                  <a:pt x="7038312" y="433711"/>
                  <a:pt x="6995657" y="476366"/>
                  <a:pt x="6943039" y="476366"/>
                </a:cubicBezTo>
                <a:lnTo>
                  <a:pt x="95273" y="476366"/>
                </a:lnTo>
                <a:cubicBezTo>
                  <a:pt x="42655" y="476366"/>
                  <a:pt x="0" y="433711"/>
                  <a:pt x="0" y="381093"/>
                </a:cubicBezTo>
                <a:lnTo>
                  <a:pt x="0" y="95273"/>
                </a:lnTo>
                <a:cubicBezTo>
                  <a:pt x="0" y="42691"/>
                  <a:pt x="42691" y="0"/>
                  <a:pt x="95273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809823" y="7002445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142910" y="0"/>
                </a:moveTo>
                <a:lnTo>
                  <a:pt x="142910" y="0"/>
                </a:lnTo>
                <a:cubicBezTo>
                  <a:pt x="221837" y="0"/>
                  <a:pt x="285820" y="63983"/>
                  <a:pt x="285820" y="142910"/>
                </a:cubicBezTo>
                <a:lnTo>
                  <a:pt x="285820" y="142910"/>
                </a:lnTo>
                <a:cubicBezTo>
                  <a:pt x="285820" y="221837"/>
                  <a:pt x="221837" y="285820"/>
                  <a:pt x="142910" y="285820"/>
                </a:cubicBezTo>
                <a:lnTo>
                  <a:pt x="142910" y="285820"/>
                </a:lnTo>
                <a:cubicBezTo>
                  <a:pt x="63983" y="285820"/>
                  <a:pt x="0" y="221837"/>
                  <a:pt x="0" y="142910"/>
                </a:cubicBezTo>
                <a:lnTo>
                  <a:pt x="0" y="142910"/>
                </a:lnTo>
                <a:cubicBezTo>
                  <a:pt x="0" y="63983"/>
                  <a:pt x="63983" y="0"/>
                  <a:pt x="142910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32" name="Text 30"/>
          <p:cNvSpPr/>
          <p:nvPr/>
        </p:nvSpPr>
        <p:spPr>
          <a:xfrm>
            <a:off x="774095" y="7002445"/>
            <a:ext cx="357275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90916" y="7002445"/>
            <a:ext cx="2953471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计算贴近度</a:t>
            </a:r>
            <a:r>
              <a:rPr lang="en-US" sz="15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：贴近度越大排名越优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8368" y="7574085"/>
            <a:ext cx="3417928" cy="857459"/>
          </a:xfrm>
          <a:custGeom>
            <a:avLst/>
            <a:gdLst/>
            <a:ahLst/>
            <a:cxnLst/>
            <a:rect l="l" t="t" r="r" b="b"/>
            <a:pathLst>
              <a:path w="3417928" h="857459">
                <a:moveTo>
                  <a:pt x="47637" y="0"/>
                </a:moveTo>
                <a:lnTo>
                  <a:pt x="3322656" y="0"/>
                </a:lnTo>
                <a:cubicBezTo>
                  <a:pt x="3375273" y="0"/>
                  <a:pt x="3417928" y="42655"/>
                  <a:pt x="3417928" y="95272"/>
                </a:cubicBezTo>
                <a:lnTo>
                  <a:pt x="3417928" y="762187"/>
                </a:lnTo>
                <a:cubicBezTo>
                  <a:pt x="3417928" y="814804"/>
                  <a:pt x="3375273" y="857459"/>
                  <a:pt x="3322656" y="857459"/>
                </a:cubicBezTo>
                <a:lnTo>
                  <a:pt x="47637" y="857459"/>
                </a:lnTo>
                <a:cubicBezTo>
                  <a:pt x="21328" y="857459"/>
                  <a:pt x="0" y="836132"/>
                  <a:pt x="0" y="809823"/>
                </a:cubicBezTo>
                <a:lnTo>
                  <a:pt x="0" y="47637"/>
                </a:lnTo>
                <a:cubicBezTo>
                  <a:pt x="0" y="21345"/>
                  <a:pt x="21345" y="0"/>
                  <a:pt x="47637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738368" y="7574085"/>
            <a:ext cx="47637" cy="857459"/>
          </a:xfrm>
          <a:custGeom>
            <a:avLst/>
            <a:gdLst/>
            <a:ahLst/>
            <a:cxnLst/>
            <a:rect l="l" t="t" r="r" b="b"/>
            <a:pathLst>
              <a:path w="47637" h="857459">
                <a:moveTo>
                  <a:pt x="47637" y="0"/>
                </a:moveTo>
                <a:lnTo>
                  <a:pt x="47637" y="0"/>
                </a:lnTo>
                <a:lnTo>
                  <a:pt x="47637" y="857459"/>
                </a:lnTo>
                <a:lnTo>
                  <a:pt x="47637" y="857459"/>
                </a:lnTo>
                <a:cubicBezTo>
                  <a:pt x="21328" y="857459"/>
                  <a:pt x="0" y="836132"/>
                  <a:pt x="0" y="809823"/>
                </a:cubicBezTo>
                <a:lnTo>
                  <a:pt x="0" y="47637"/>
                </a:lnTo>
                <a:cubicBezTo>
                  <a:pt x="0" y="21345"/>
                  <a:pt x="21345" y="0"/>
                  <a:pt x="47637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6" name="Text 34"/>
          <p:cNvSpPr/>
          <p:nvPr/>
        </p:nvSpPr>
        <p:spPr>
          <a:xfrm>
            <a:off x="905096" y="7716995"/>
            <a:ext cx="3203563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5096" y="8050451"/>
            <a:ext cx="3191654" cy="2381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计算简便，区分度强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26895" y="7574085"/>
            <a:ext cx="3417928" cy="857459"/>
          </a:xfrm>
          <a:custGeom>
            <a:avLst/>
            <a:gdLst/>
            <a:ahLst/>
            <a:cxnLst/>
            <a:rect l="l" t="t" r="r" b="b"/>
            <a:pathLst>
              <a:path w="3417928" h="857459">
                <a:moveTo>
                  <a:pt x="47637" y="0"/>
                </a:moveTo>
                <a:lnTo>
                  <a:pt x="3322656" y="0"/>
                </a:lnTo>
                <a:cubicBezTo>
                  <a:pt x="3375273" y="0"/>
                  <a:pt x="3417928" y="42655"/>
                  <a:pt x="3417928" y="95272"/>
                </a:cubicBezTo>
                <a:lnTo>
                  <a:pt x="3417928" y="762187"/>
                </a:lnTo>
                <a:cubicBezTo>
                  <a:pt x="3417928" y="814804"/>
                  <a:pt x="3375273" y="857459"/>
                  <a:pt x="3322656" y="857459"/>
                </a:cubicBezTo>
                <a:lnTo>
                  <a:pt x="47637" y="857459"/>
                </a:lnTo>
                <a:cubicBezTo>
                  <a:pt x="21328" y="857459"/>
                  <a:pt x="0" y="836132"/>
                  <a:pt x="0" y="809823"/>
                </a:cubicBezTo>
                <a:lnTo>
                  <a:pt x="0" y="47637"/>
                </a:lnTo>
                <a:cubicBezTo>
                  <a:pt x="0" y="21345"/>
                  <a:pt x="21345" y="0"/>
                  <a:pt x="47637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4326895" y="7574085"/>
            <a:ext cx="47637" cy="857459"/>
          </a:xfrm>
          <a:custGeom>
            <a:avLst/>
            <a:gdLst/>
            <a:ahLst/>
            <a:cxnLst/>
            <a:rect l="l" t="t" r="r" b="b"/>
            <a:pathLst>
              <a:path w="47637" h="857459">
                <a:moveTo>
                  <a:pt x="47637" y="0"/>
                </a:moveTo>
                <a:lnTo>
                  <a:pt x="47637" y="0"/>
                </a:lnTo>
                <a:lnTo>
                  <a:pt x="47637" y="857459"/>
                </a:lnTo>
                <a:lnTo>
                  <a:pt x="47637" y="857459"/>
                </a:lnTo>
                <a:cubicBezTo>
                  <a:pt x="21328" y="857459"/>
                  <a:pt x="0" y="836132"/>
                  <a:pt x="0" y="809823"/>
                </a:cubicBezTo>
                <a:lnTo>
                  <a:pt x="0" y="47637"/>
                </a:lnTo>
                <a:cubicBezTo>
                  <a:pt x="0" y="21345"/>
                  <a:pt x="21345" y="0"/>
                  <a:pt x="47637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40" name="Text 38"/>
          <p:cNvSpPr/>
          <p:nvPr/>
        </p:nvSpPr>
        <p:spPr>
          <a:xfrm>
            <a:off x="4493623" y="7716995"/>
            <a:ext cx="3203563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93623" y="8050451"/>
            <a:ext cx="3191654" cy="2381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对权重敏感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72846" y="1857829"/>
            <a:ext cx="7514678" cy="6812038"/>
          </a:xfrm>
          <a:custGeom>
            <a:avLst/>
            <a:gdLst/>
            <a:ahLst/>
            <a:cxnLst/>
            <a:rect l="l" t="t" r="r" b="b"/>
            <a:pathLst>
              <a:path w="7514678" h="6812038">
                <a:moveTo>
                  <a:pt x="142917" y="0"/>
                </a:moveTo>
                <a:lnTo>
                  <a:pt x="7371762" y="0"/>
                </a:lnTo>
                <a:cubicBezTo>
                  <a:pt x="7450692" y="0"/>
                  <a:pt x="7514678" y="63986"/>
                  <a:pt x="7514678" y="142917"/>
                </a:cubicBezTo>
                <a:lnTo>
                  <a:pt x="7514678" y="6669122"/>
                </a:lnTo>
                <a:cubicBezTo>
                  <a:pt x="7514678" y="6748052"/>
                  <a:pt x="7450692" y="6812038"/>
                  <a:pt x="7371762" y="6812038"/>
                </a:cubicBezTo>
                <a:lnTo>
                  <a:pt x="142917" y="6812038"/>
                </a:lnTo>
                <a:cubicBezTo>
                  <a:pt x="63986" y="6812038"/>
                  <a:pt x="0" y="6748052"/>
                  <a:pt x="0" y="6669122"/>
                </a:cubicBezTo>
                <a:lnTo>
                  <a:pt x="0" y="142917"/>
                </a:lnTo>
                <a:cubicBezTo>
                  <a:pt x="0" y="64039"/>
                  <a:pt x="64039" y="0"/>
                  <a:pt x="14291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97729" dist="2381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272846" y="1857829"/>
            <a:ext cx="7514678" cy="857459"/>
          </a:xfrm>
          <a:custGeom>
            <a:avLst/>
            <a:gdLst/>
            <a:ahLst/>
            <a:cxnLst/>
            <a:rect l="l" t="t" r="r" b="b"/>
            <a:pathLst>
              <a:path w="7514678" h="857459">
                <a:moveTo>
                  <a:pt x="142913" y="0"/>
                </a:moveTo>
                <a:lnTo>
                  <a:pt x="7371766" y="0"/>
                </a:lnTo>
                <a:cubicBezTo>
                  <a:pt x="7450694" y="0"/>
                  <a:pt x="7514678" y="63984"/>
                  <a:pt x="7514678" y="142913"/>
                </a:cubicBezTo>
                <a:lnTo>
                  <a:pt x="7514678" y="857459"/>
                </a:lnTo>
                <a:lnTo>
                  <a:pt x="0" y="857459"/>
                </a:lnTo>
                <a:lnTo>
                  <a:pt x="0" y="142913"/>
                </a:lnTo>
                <a:cubicBezTo>
                  <a:pt x="0" y="63984"/>
                  <a:pt x="63984" y="0"/>
                  <a:pt x="142913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0" scaled="1"/>
          </a:gradFill>
        </p:spPr>
      </p:sp>
      <p:sp>
        <p:nvSpPr>
          <p:cNvPr id="44" name="Shape 42"/>
          <p:cNvSpPr/>
          <p:nvPr/>
        </p:nvSpPr>
        <p:spPr>
          <a:xfrm>
            <a:off x="8528892" y="2143509"/>
            <a:ext cx="321547" cy="285820"/>
          </a:xfrm>
          <a:custGeom>
            <a:avLst/>
            <a:gdLst/>
            <a:ahLst/>
            <a:cxnLst/>
            <a:rect l="l" t="t" r="r" b="b"/>
            <a:pathLst>
              <a:path w="321547" h="285820">
                <a:moveTo>
                  <a:pt x="0" y="187569"/>
                </a:moveTo>
                <a:cubicBezTo>
                  <a:pt x="0" y="231949"/>
                  <a:pt x="36007" y="267956"/>
                  <a:pt x="80387" y="267956"/>
                </a:cubicBezTo>
                <a:lnTo>
                  <a:pt x="250092" y="267956"/>
                </a:lnTo>
                <a:cubicBezTo>
                  <a:pt x="289560" y="267956"/>
                  <a:pt x="321547" y="235969"/>
                  <a:pt x="321547" y="196501"/>
                </a:cubicBezTo>
                <a:cubicBezTo>
                  <a:pt x="321547" y="167696"/>
                  <a:pt x="304521" y="142854"/>
                  <a:pt x="279958" y="131578"/>
                </a:cubicBezTo>
                <a:cubicBezTo>
                  <a:pt x="283698" y="124265"/>
                  <a:pt x="285820" y="115947"/>
                  <a:pt x="285820" y="107182"/>
                </a:cubicBezTo>
                <a:cubicBezTo>
                  <a:pt x="285820" y="77596"/>
                  <a:pt x="261815" y="53591"/>
                  <a:pt x="232229" y="53591"/>
                </a:cubicBezTo>
                <a:cubicBezTo>
                  <a:pt x="222348" y="53591"/>
                  <a:pt x="213137" y="56271"/>
                  <a:pt x="205210" y="60904"/>
                </a:cubicBezTo>
                <a:cubicBezTo>
                  <a:pt x="191756" y="35337"/>
                  <a:pt x="164905" y="17864"/>
                  <a:pt x="133978" y="17864"/>
                </a:cubicBezTo>
                <a:cubicBezTo>
                  <a:pt x="89598" y="17864"/>
                  <a:pt x="53591" y="53870"/>
                  <a:pt x="53591" y="98251"/>
                </a:cubicBezTo>
                <a:cubicBezTo>
                  <a:pt x="53591" y="102716"/>
                  <a:pt x="53982" y="107127"/>
                  <a:pt x="54652" y="111369"/>
                </a:cubicBezTo>
                <a:cubicBezTo>
                  <a:pt x="22888" y="122087"/>
                  <a:pt x="0" y="152177"/>
                  <a:pt x="0" y="18756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8868303" y="2096012"/>
            <a:ext cx="6823947" cy="3810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模糊综合评价法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40802" y="3012877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107182" y="214365"/>
                </a:moveTo>
                <a:cubicBezTo>
                  <a:pt x="166338" y="214365"/>
                  <a:pt x="214365" y="166338"/>
                  <a:pt x="214365" y="107182"/>
                </a:cubicBezTo>
                <a:cubicBezTo>
                  <a:pt x="214365" y="48027"/>
                  <a:pt x="166338" y="0"/>
                  <a:pt x="107182" y="0"/>
                </a:cubicBezTo>
                <a:cubicBezTo>
                  <a:pt x="48027" y="0"/>
                  <a:pt x="0" y="48027"/>
                  <a:pt x="0" y="107182"/>
                </a:cubicBezTo>
                <a:cubicBezTo>
                  <a:pt x="0" y="166338"/>
                  <a:pt x="48027" y="214365"/>
                  <a:pt x="107182" y="214365"/>
                </a:cubicBezTo>
                <a:close/>
                <a:moveTo>
                  <a:pt x="93785" y="66989"/>
                </a:moveTo>
                <a:cubicBezTo>
                  <a:pt x="93785" y="59595"/>
                  <a:pt x="99788" y="53591"/>
                  <a:pt x="107182" y="53591"/>
                </a:cubicBezTo>
                <a:cubicBezTo>
                  <a:pt x="114577" y="53591"/>
                  <a:pt x="120580" y="59595"/>
                  <a:pt x="120580" y="66989"/>
                </a:cubicBezTo>
                <a:cubicBezTo>
                  <a:pt x="120580" y="74383"/>
                  <a:pt x="114577" y="80387"/>
                  <a:pt x="107182" y="80387"/>
                </a:cubicBezTo>
                <a:cubicBezTo>
                  <a:pt x="99788" y="80387"/>
                  <a:pt x="93785" y="74383"/>
                  <a:pt x="93785" y="66989"/>
                </a:cubicBezTo>
                <a:close/>
                <a:moveTo>
                  <a:pt x="90435" y="93785"/>
                </a:moveTo>
                <a:lnTo>
                  <a:pt x="110532" y="93785"/>
                </a:lnTo>
                <a:cubicBezTo>
                  <a:pt x="116100" y="93785"/>
                  <a:pt x="120580" y="98265"/>
                  <a:pt x="120580" y="103833"/>
                </a:cubicBezTo>
                <a:lnTo>
                  <a:pt x="120580" y="140677"/>
                </a:lnTo>
                <a:lnTo>
                  <a:pt x="123930" y="140677"/>
                </a:lnTo>
                <a:cubicBezTo>
                  <a:pt x="129498" y="140677"/>
                  <a:pt x="133978" y="145157"/>
                  <a:pt x="133978" y="150725"/>
                </a:cubicBezTo>
                <a:cubicBezTo>
                  <a:pt x="133978" y="156294"/>
                  <a:pt x="129498" y="160774"/>
                  <a:pt x="123930" y="160774"/>
                </a:cubicBezTo>
                <a:lnTo>
                  <a:pt x="90435" y="160774"/>
                </a:lnTo>
                <a:cubicBezTo>
                  <a:pt x="84867" y="160774"/>
                  <a:pt x="80387" y="156294"/>
                  <a:pt x="80387" y="150725"/>
                </a:cubicBezTo>
                <a:cubicBezTo>
                  <a:pt x="80387" y="145157"/>
                  <a:pt x="84867" y="140677"/>
                  <a:pt x="90435" y="140677"/>
                </a:cubicBezTo>
                <a:lnTo>
                  <a:pt x="100484" y="140677"/>
                </a:lnTo>
                <a:lnTo>
                  <a:pt x="100484" y="113881"/>
                </a:lnTo>
                <a:lnTo>
                  <a:pt x="90435" y="113881"/>
                </a:lnTo>
                <a:cubicBezTo>
                  <a:pt x="84867" y="113881"/>
                  <a:pt x="80387" y="109401"/>
                  <a:pt x="80387" y="103833"/>
                </a:cubicBezTo>
                <a:cubicBezTo>
                  <a:pt x="80387" y="98265"/>
                  <a:pt x="84867" y="93785"/>
                  <a:pt x="90435" y="93785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47" name="Text 45"/>
          <p:cNvSpPr/>
          <p:nvPr/>
        </p:nvSpPr>
        <p:spPr>
          <a:xfrm>
            <a:off x="8784939" y="2953332"/>
            <a:ext cx="6871584" cy="333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11029" y="3382061"/>
            <a:ext cx="7133585" cy="619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适用于</a:t>
            </a:r>
            <a:r>
              <a:rPr lang="en-US" sz="15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指标含模糊性的场景</a:t>
            </a:r>
            <a:r>
              <a:rPr lang="en-US" sz="15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（如服务质量评价、满意度调研）。指标难以精确量化。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540802" y="4251430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50242" y="23446"/>
                </a:moveTo>
                <a:cubicBezTo>
                  <a:pt x="50242" y="10509"/>
                  <a:pt x="60751" y="0"/>
                  <a:pt x="73688" y="0"/>
                </a:cubicBezTo>
                <a:lnTo>
                  <a:pt x="83736" y="0"/>
                </a:lnTo>
                <a:cubicBezTo>
                  <a:pt x="91147" y="0"/>
                  <a:pt x="97134" y="5987"/>
                  <a:pt x="97134" y="13398"/>
                </a:cubicBezTo>
                <a:lnTo>
                  <a:pt x="97134" y="200967"/>
                </a:lnTo>
                <a:cubicBezTo>
                  <a:pt x="97134" y="208378"/>
                  <a:pt x="91147" y="214365"/>
                  <a:pt x="83736" y="214365"/>
                </a:cubicBezTo>
                <a:lnTo>
                  <a:pt x="70338" y="214365"/>
                </a:lnTo>
                <a:cubicBezTo>
                  <a:pt x="57862" y="214365"/>
                  <a:pt x="47353" y="205824"/>
                  <a:pt x="44380" y="194268"/>
                </a:cubicBezTo>
                <a:cubicBezTo>
                  <a:pt x="44087" y="194268"/>
                  <a:pt x="43836" y="194268"/>
                  <a:pt x="43543" y="194268"/>
                </a:cubicBezTo>
                <a:cubicBezTo>
                  <a:pt x="25037" y="194268"/>
                  <a:pt x="10048" y="179279"/>
                  <a:pt x="10048" y="160774"/>
                </a:cubicBezTo>
                <a:cubicBezTo>
                  <a:pt x="10048" y="153237"/>
                  <a:pt x="12560" y="146287"/>
                  <a:pt x="16747" y="140677"/>
                </a:cubicBezTo>
                <a:cubicBezTo>
                  <a:pt x="8625" y="134564"/>
                  <a:pt x="3349" y="124851"/>
                  <a:pt x="3349" y="113881"/>
                </a:cubicBezTo>
                <a:cubicBezTo>
                  <a:pt x="3349" y="100944"/>
                  <a:pt x="10718" y="89682"/>
                  <a:pt x="21436" y="84113"/>
                </a:cubicBezTo>
                <a:cubicBezTo>
                  <a:pt x="18464" y="79089"/>
                  <a:pt x="16747" y="73227"/>
                  <a:pt x="16747" y="66989"/>
                </a:cubicBezTo>
                <a:cubicBezTo>
                  <a:pt x="16747" y="48483"/>
                  <a:pt x="31736" y="33495"/>
                  <a:pt x="50242" y="33495"/>
                </a:cubicBezTo>
                <a:lnTo>
                  <a:pt x="50242" y="23446"/>
                </a:lnTo>
                <a:close/>
                <a:moveTo>
                  <a:pt x="164123" y="23446"/>
                </a:moveTo>
                <a:lnTo>
                  <a:pt x="164123" y="33495"/>
                </a:lnTo>
                <a:cubicBezTo>
                  <a:pt x="182629" y="33495"/>
                  <a:pt x="197618" y="48483"/>
                  <a:pt x="197618" y="66989"/>
                </a:cubicBezTo>
                <a:cubicBezTo>
                  <a:pt x="197618" y="73269"/>
                  <a:pt x="195901" y="79131"/>
                  <a:pt x="192928" y="84113"/>
                </a:cubicBezTo>
                <a:cubicBezTo>
                  <a:pt x="203688" y="89682"/>
                  <a:pt x="211015" y="100902"/>
                  <a:pt x="211015" y="113881"/>
                </a:cubicBezTo>
                <a:cubicBezTo>
                  <a:pt x="211015" y="124851"/>
                  <a:pt x="205740" y="134564"/>
                  <a:pt x="197618" y="140677"/>
                </a:cubicBezTo>
                <a:cubicBezTo>
                  <a:pt x="201804" y="146287"/>
                  <a:pt x="204316" y="153237"/>
                  <a:pt x="204316" y="160774"/>
                </a:cubicBezTo>
                <a:cubicBezTo>
                  <a:pt x="204316" y="179279"/>
                  <a:pt x="189328" y="194268"/>
                  <a:pt x="170822" y="194268"/>
                </a:cubicBezTo>
                <a:cubicBezTo>
                  <a:pt x="170529" y="194268"/>
                  <a:pt x="170278" y="194268"/>
                  <a:pt x="169985" y="194268"/>
                </a:cubicBezTo>
                <a:cubicBezTo>
                  <a:pt x="167012" y="205824"/>
                  <a:pt x="156503" y="214365"/>
                  <a:pt x="144026" y="214365"/>
                </a:cubicBezTo>
                <a:lnTo>
                  <a:pt x="130629" y="214365"/>
                </a:lnTo>
                <a:cubicBezTo>
                  <a:pt x="123218" y="214365"/>
                  <a:pt x="117231" y="208378"/>
                  <a:pt x="117231" y="200967"/>
                </a:cubicBezTo>
                <a:lnTo>
                  <a:pt x="117231" y="13398"/>
                </a:lnTo>
                <a:cubicBezTo>
                  <a:pt x="117231" y="5987"/>
                  <a:pt x="123218" y="0"/>
                  <a:pt x="130629" y="0"/>
                </a:cubicBezTo>
                <a:lnTo>
                  <a:pt x="140677" y="0"/>
                </a:lnTo>
                <a:cubicBezTo>
                  <a:pt x="153614" y="0"/>
                  <a:pt x="164123" y="10509"/>
                  <a:pt x="164123" y="23446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50" name="Text 48"/>
          <p:cNvSpPr/>
          <p:nvPr/>
        </p:nvSpPr>
        <p:spPr>
          <a:xfrm>
            <a:off x="8784939" y="4191884"/>
            <a:ext cx="6871584" cy="333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511029" y="4620614"/>
            <a:ext cx="7038312" cy="1643464"/>
          </a:xfrm>
          <a:custGeom>
            <a:avLst/>
            <a:gdLst/>
            <a:ahLst/>
            <a:cxnLst/>
            <a:rect l="l" t="t" r="r" b="b"/>
            <a:pathLst>
              <a:path w="7038312" h="1643464">
                <a:moveTo>
                  <a:pt x="95272" y="0"/>
                </a:moveTo>
                <a:lnTo>
                  <a:pt x="6943040" y="0"/>
                </a:lnTo>
                <a:cubicBezTo>
                  <a:pt x="6995622" y="0"/>
                  <a:pt x="7038312" y="42690"/>
                  <a:pt x="7038312" y="95272"/>
                </a:cubicBezTo>
                <a:lnTo>
                  <a:pt x="7038312" y="1548192"/>
                </a:lnTo>
                <a:cubicBezTo>
                  <a:pt x="7038312" y="1600774"/>
                  <a:pt x="6995622" y="1643464"/>
                  <a:pt x="6943040" y="1643464"/>
                </a:cubicBezTo>
                <a:lnTo>
                  <a:pt x="95272" y="1643464"/>
                </a:lnTo>
                <a:cubicBezTo>
                  <a:pt x="42690" y="1643464"/>
                  <a:pt x="0" y="1600774"/>
                  <a:pt x="0" y="1548192"/>
                </a:cubicBezTo>
                <a:lnTo>
                  <a:pt x="0" y="95272"/>
                </a:lnTo>
                <a:cubicBezTo>
                  <a:pt x="0" y="42690"/>
                  <a:pt x="42690" y="0"/>
                  <a:pt x="95272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8701575" y="4811160"/>
            <a:ext cx="6752492" cy="619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</a:t>
            </a:r>
            <a:r>
              <a:rPr lang="en-US" sz="15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模糊数学</a:t>
            </a:r>
            <a:r>
              <a:rPr lang="en-US" sz="15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将"好/较好/一般/较差/差"等模糊评价转化为</a:t>
            </a:r>
            <a:r>
              <a:rPr lang="en-US" sz="15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量化隶属度</a:t>
            </a:r>
            <a:r>
              <a:rPr lang="en-US" sz="15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，构建模糊评判矩阵，结合权重得到综合评价结果。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706339" y="5578110"/>
            <a:ext cx="1283807" cy="485894"/>
          </a:xfrm>
          <a:custGeom>
            <a:avLst/>
            <a:gdLst/>
            <a:ahLst/>
            <a:cxnLst/>
            <a:rect l="l" t="t" r="r" b="b"/>
            <a:pathLst>
              <a:path w="1283807" h="485894">
                <a:moveTo>
                  <a:pt x="47637" y="0"/>
                </a:moveTo>
                <a:lnTo>
                  <a:pt x="1236170" y="0"/>
                </a:lnTo>
                <a:cubicBezTo>
                  <a:pt x="1262479" y="0"/>
                  <a:pt x="1283807" y="21328"/>
                  <a:pt x="1283807" y="47637"/>
                </a:cubicBezTo>
                <a:lnTo>
                  <a:pt x="1283807" y="438257"/>
                </a:lnTo>
                <a:cubicBezTo>
                  <a:pt x="1283807" y="464566"/>
                  <a:pt x="1262479" y="485894"/>
                  <a:pt x="1236170" y="485894"/>
                </a:cubicBezTo>
                <a:lnTo>
                  <a:pt x="47637" y="485894"/>
                </a:lnTo>
                <a:cubicBezTo>
                  <a:pt x="21328" y="485894"/>
                  <a:pt x="0" y="464566"/>
                  <a:pt x="0" y="438257"/>
                </a:cubicBezTo>
                <a:lnTo>
                  <a:pt x="0" y="47637"/>
                </a:lnTo>
                <a:cubicBezTo>
                  <a:pt x="0" y="21328"/>
                  <a:pt x="21328" y="0"/>
                  <a:pt x="4763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212C42">
                <a:alpha val="2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23012" y="5630508"/>
            <a:ext cx="1250462" cy="190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好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723012" y="5820903"/>
            <a:ext cx="1250462" cy="190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0.9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046416" y="5578110"/>
            <a:ext cx="1283807" cy="485894"/>
          </a:xfrm>
          <a:custGeom>
            <a:avLst/>
            <a:gdLst/>
            <a:ahLst/>
            <a:cxnLst/>
            <a:rect l="l" t="t" r="r" b="b"/>
            <a:pathLst>
              <a:path w="1283807" h="485894">
                <a:moveTo>
                  <a:pt x="47637" y="0"/>
                </a:moveTo>
                <a:lnTo>
                  <a:pt x="1236170" y="0"/>
                </a:lnTo>
                <a:cubicBezTo>
                  <a:pt x="1262479" y="0"/>
                  <a:pt x="1283807" y="21328"/>
                  <a:pt x="1283807" y="47637"/>
                </a:cubicBezTo>
                <a:lnTo>
                  <a:pt x="1283807" y="438257"/>
                </a:lnTo>
                <a:cubicBezTo>
                  <a:pt x="1283807" y="464566"/>
                  <a:pt x="1262479" y="485894"/>
                  <a:pt x="1236170" y="485894"/>
                </a:cubicBezTo>
                <a:lnTo>
                  <a:pt x="47637" y="485894"/>
                </a:lnTo>
                <a:cubicBezTo>
                  <a:pt x="21328" y="485894"/>
                  <a:pt x="0" y="464566"/>
                  <a:pt x="0" y="438257"/>
                </a:cubicBezTo>
                <a:lnTo>
                  <a:pt x="0" y="47637"/>
                </a:lnTo>
                <a:cubicBezTo>
                  <a:pt x="0" y="21328"/>
                  <a:pt x="21328" y="0"/>
                  <a:pt x="4763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212C42">
                <a:alpha val="2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63089" y="5630508"/>
            <a:ext cx="1250462" cy="190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较好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063089" y="5820903"/>
            <a:ext cx="1250462" cy="190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0.7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386644" y="5578110"/>
            <a:ext cx="1283807" cy="485894"/>
          </a:xfrm>
          <a:custGeom>
            <a:avLst/>
            <a:gdLst/>
            <a:ahLst/>
            <a:cxnLst/>
            <a:rect l="l" t="t" r="r" b="b"/>
            <a:pathLst>
              <a:path w="1283807" h="485894">
                <a:moveTo>
                  <a:pt x="47637" y="0"/>
                </a:moveTo>
                <a:lnTo>
                  <a:pt x="1236170" y="0"/>
                </a:lnTo>
                <a:cubicBezTo>
                  <a:pt x="1262479" y="0"/>
                  <a:pt x="1283807" y="21328"/>
                  <a:pt x="1283807" y="47637"/>
                </a:cubicBezTo>
                <a:lnTo>
                  <a:pt x="1283807" y="438257"/>
                </a:lnTo>
                <a:cubicBezTo>
                  <a:pt x="1283807" y="464566"/>
                  <a:pt x="1262479" y="485894"/>
                  <a:pt x="1236170" y="485894"/>
                </a:cubicBezTo>
                <a:lnTo>
                  <a:pt x="47637" y="485894"/>
                </a:lnTo>
                <a:cubicBezTo>
                  <a:pt x="21328" y="485894"/>
                  <a:pt x="0" y="464566"/>
                  <a:pt x="0" y="438257"/>
                </a:cubicBezTo>
                <a:lnTo>
                  <a:pt x="0" y="47637"/>
                </a:lnTo>
                <a:cubicBezTo>
                  <a:pt x="0" y="21328"/>
                  <a:pt x="21328" y="0"/>
                  <a:pt x="4763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212C42">
                <a:alpha val="2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403316" y="5630508"/>
            <a:ext cx="1250462" cy="190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一般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403316" y="5820903"/>
            <a:ext cx="1250462" cy="190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0.5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2726721" y="5578110"/>
            <a:ext cx="1283807" cy="485894"/>
          </a:xfrm>
          <a:custGeom>
            <a:avLst/>
            <a:gdLst/>
            <a:ahLst/>
            <a:cxnLst/>
            <a:rect l="l" t="t" r="r" b="b"/>
            <a:pathLst>
              <a:path w="1283807" h="485894">
                <a:moveTo>
                  <a:pt x="47637" y="0"/>
                </a:moveTo>
                <a:lnTo>
                  <a:pt x="1236170" y="0"/>
                </a:lnTo>
                <a:cubicBezTo>
                  <a:pt x="1262479" y="0"/>
                  <a:pt x="1283807" y="21328"/>
                  <a:pt x="1283807" y="47637"/>
                </a:cubicBezTo>
                <a:lnTo>
                  <a:pt x="1283807" y="438257"/>
                </a:lnTo>
                <a:cubicBezTo>
                  <a:pt x="1283807" y="464566"/>
                  <a:pt x="1262479" y="485894"/>
                  <a:pt x="1236170" y="485894"/>
                </a:cubicBezTo>
                <a:lnTo>
                  <a:pt x="47637" y="485894"/>
                </a:lnTo>
                <a:cubicBezTo>
                  <a:pt x="21328" y="485894"/>
                  <a:pt x="0" y="464566"/>
                  <a:pt x="0" y="438257"/>
                </a:cubicBezTo>
                <a:lnTo>
                  <a:pt x="0" y="47637"/>
                </a:lnTo>
                <a:cubicBezTo>
                  <a:pt x="0" y="21328"/>
                  <a:pt x="21328" y="0"/>
                  <a:pt x="4763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212C42">
                <a:alpha val="2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2743395" y="5630508"/>
            <a:ext cx="1250462" cy="190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较差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2743395" y="5820903"/>
            <a:ext cx="1250462" cy="190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0.3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4066948" y="5578110"/>
            <a:ext cx="1283807" cy="485894"/>
          </a:xfrm>
          <a:custGeom>
            <a:avLst/>
            <a:gdLst/>
            <a:ahLst/>
            <a:cxnLst/>
            <a:rect l="l" t="t" r="r" b="b"/>
            <a:pathLst>
              <a:path w="1283807" h="485894">
                <a:moveTo>
                  <a:pt x="47637" y="0"/>
                </a:moveTo>
                <a:lnTo>
                  <a:pt x="1236170" y="0"/>
                </a:lnTo>
                <a:cubicBezTo>
                  <a:pt x="1262479" y="0"/>
                  <a:pt x="1283807" y="21328"/>
                  <a:pt x="1283807" y="47637"/>
                </a:cubicBezTo>
                <a:lnTo>
                  <a:pt x="1283807" y="438257"/>
                </a:lnTo>
                <a:cubicBezTo>
                  <a:pt x="1283807" y="464566"/>
                  <a:pt x="1262479" y="485894"/>
                  <a:pt x="1236170" y="485894"/>
                </a:cubicBezTo>
                <a:lnTo>
                  <a:pt x="47637" y="485894"/>
                </a:lnTo>
                <a:cubicBezTo>
                  <a:pt x="21328" y="485894"/>
                  <a:pt x="0" y="464566"/>
                  <a:pt x="0" y="438257"/>
                </a:cubicBezTo>
                <a:lnTo>
                  <a:pt x="0" y="47637"/>
                </a:lnTo>
                <a:cubicBezTo>
                  <a:pt x="0" y="21328"/>
                  <a:pt x="21328" y="0"/>
                  <a:pt x="4763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212C42">
                <a:alpha val="2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4083621" y="5630508"/>
            <a:ext cx="1250462" cy="190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差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4083621" y="5820903"/>
            <a:ext cx="1250462" cy="190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0.1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534847" y="6449553"/>
            <a:ext cx="3417928" cy="857459"/>
          </a:xfrm>
          <a:custGeom>
            <a:avLst/>
            <a:gdLst/>
            <a:ahLst/>
            <a:cxnLst/>
            <a:rect l="l" t="t" r="r" b="b"/>
            <a:pathLst>
              <a:path w="3417928" h="857459">
                <a:moveTo>
                  <a:pt x="47637" y="0"/>
                </a:moveTo>
                <a:lnTo>
                  <a:pt x="3322656" y="0"/>
                </a:lnTo>
                <a:cubicBezTo>
                  <a:pt x="3375273" y="0"/>
                  <a:pt x="3417928" y="42655"/>
                  <a:pt x="3417928" y="95272"/>
                </a:cubicBezTo>
                <a:lnTo>
                  <a:pt x="3417928" y="762187"/>
                </a:lnTo>
                <a:cubicBezTo>
                  <a:pt x="3417928" y="814804"/>
                  <a:pt x="3375273" y="857459"/>
                  <a:pt x="3322656" y="857459"/>
                </a:cubicBezTo>
                <a:lnTo>
                  <a:pt x="47637" y="857459"/>
                </a:lnTo>
                <a:cubicBezTo>
                  <a:pt x="21328" y="857459"/>
                  <a:pt x="0" y="836132"/>
                  <a:pt x="0" y="809823"/>
                </a:cubicBezTo>
                <a:lnTo>
                  <a:pt x="0" y="47637"/>
                </a:lnTo>
                <a:cubicBezTo>
                  <a:pt x="0" y="21345"/>
                  <a:pt x="21345" y="0"/>
                  <a:pt x="47637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69" name="Shape 67"/>
          <p:cNvSpPr/>
          <p:nvPr/>
        </p:nvSpPr>
        <p:spPr>
          <a:xfrm>
            <a:off x="8534847" y="6449553"/>
            <a:ext cx="47637" cy="857459"/>
          </a:xfrm>
          <a:custGeom>
            <a:avLst/>
            <a:gdLst/>
            <a:ahLst/>
            <a:cxnLst/>
            <a:rect l="l" t="t" r="r" b="b"/>
            <a:pathLst>
              <a:path w="47637" h="857459">
                <a:moveTo>
                  <a:pt x="47637" y="0"/>
                </a:moveTo>
                <a:lnTo>
                  <a:pt x="47637" y="0"/>
                </a:lnTo>
                <a:lnTo>
                  <a:pt x="47637" y="857459"/>
                </a:lnTo>
                <a:lnTo>
                  <a:pt x="47637" y="857459"/>
                </a:lnTo>
                <a:cubicBezTo>
                  <a:pt x="21328" y="857459"/>
                  <a:pt x="0" y="836132"/>
                  <a:pt x="0" y="809823"/>
                </a:cubicBezTo>
                <a:lnTo>
                  <a:pt x="0" y="47637"/>
                </a:lnTo>
                <a:cubicBezTo>
                  <a:pt x="0" y="21345"/>
                  <a:pt x="21345" y="0"/>
                  <a:pt x="47637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70" name="Text 68"/>
          <p:cNvSpPr/>
          <p:nvPr/>
        </p:nvSpPr>
        <p:spPr>
          <a:xfrm>
            <a:off x="8701575" y="6592463"/>
            <a:ext cx="3203563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701575" y="6925919"/>
            <a:ext cx="3191654" cy="2381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处理模糊信息，贴近人类思维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2123373" y="6449553"/>
            <a:ext cx="3417928" cy="857459"/>
          </a:xfrm>
          <a:custGeom>
            <a:avLst/>
            <a:gdLst/>
            <a:ahLst/>
            <a:cxnLst/>
            <a:rect l="l" t="t" r="r" b="b"/>
            <a:pathLst>
              <a:path w="3417928" h="857459">
                <a:moveTo>
                  <a:pt x="47637" y="0"/>
                </a:moveTo>
                <a:lnTo>
                  <a:pt x="3322656" y="0"/>
                </a:lnTo>
                <a:cubicBezTo>
                  <a:pt x="3375273" y="0"/>
                  <a:pt x="3417928" y="42655"/>
                  <a:pt x="3417928" y="95272"/>
                </a:cubicBezTo>
                <a:lnTo>
                  <a:pt x="3417928" y="762187"/>
                </a:lnTo>
                <a:cubicBezTo>
                  <a:pt x="3417928" y="814804"/>
                  <a:pt x="3375273" y="857459"/>
                  <a:pt x="3322656" y="857459"/>
                </a:cubicBezTo>
                <a:lnTo>
                  <a:pt x="47637" y="857459"/>
                </a:lnTo>
                <a:cubicBezTo>
                  <a:pt x="21328" y="857459"/>
                  <a:pt x="0" y="836132"/>
                  <a:pt x="0" y="809823"/>
                </a:cubicBezTo>
                <a:lnTo>
                  <a:pt x="0" y="47637"/>
                </a:lnTo>
                <a:cubicBezTo>
                  <a:pt x="0" y="21345"/>
                  <a:pt x="21345" y="0"/>
                  <a:pt x="47637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73" name="Shape 71"/>
          <p:cNvSpPr/>
          <p:nvPr/>
        </p:nvSpPr>
        <p:spPr>
          <a:xfrm>
            <a:off x="12123373" y="6449553"/>
            <a:ext cx="47637" cy="857459"/>
          </a:xfrm>
          <a:custGeom>
            <a:avLst/>
            <a:gdLst/>
            <a:ahLst/>
            <a:cxnLst/>
            <a:rect l="l" t="t" r="r" b="b"/>
            <a:pathLst>
              <a:path w="47637" h="857459">
                <a:moveTo>
                  <a:pt x="47637" y="0"/>
                </a:moveTo>
                <a:lnTo>
                  <a:pt x="47637" y="0"/>
                </a:lnTo>
                <a:lnTo>
                  <a:pt x="47637" y="857459"/>
                </a:lnTo>
                <a:lnTo>
                  <a:pt x="47637" y="857459"/>
                </a:lnTo>
                <a:cubicBezTo>
                  <a:pt x="21328" y="857459"/>
                  <a:pt x="0" y="836132"/>
                  <a:pt x="0" y="809823"/>
                </a:cubicBezTo>
                <a:lnTo>
                  <a:pt x="0" y="47637"/>
                </a:lnTo>
                <a:cubicBezTo>
                  <a:pt x="0" y="21345"/>
                  <a:pt x="21345" y="0"/>
                  <a:pt x="47637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74" name="Text 72"/>
          <p:cNvSpPr/>
          <p:nvPr/>
        </p:nvSpPr>
        <p:spPr>
          <a:xfrm>
            <a:off x="12290102" y="6592463"/>
            <a:ext cx="3203563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2290102" y="6925919"/>
            <a:ext cx="3191654" cy="2381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计算复杂，隶属度确定主观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282" y="474282"/>
            <a:ext cx="15402293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5" b="1" kern="0" spc="75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APPLICATION &amp; KEY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4282" y="853707"/>
            <a:ext cx="15520864" cy="474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6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评价模型适用场景与建模要点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4282" y="1470273"/>
            <a:ext cx="1138276" cy="47428"/>
          </a:xfrm>
          <a:custGeom>
            <a:avLst/>
            <a:gdLst/>
            <a:ahLst/>
            <a:cxnLst/>
            <a:rect l="l" t="t" r="r" b="b"/>
            <a:pathLst>
              <a:path w="1138276" h="47428">
                <a:moveTo>
                  <a:pt x="0" y="0"/>
                </a:moveTo>
                <a:lnTo>
                  <a:pt x="1138276" y="0"/>
                </a:lnTo>
                <a:lnTo>
                  <a:pt x="1138276" y="47428"/>
                </a:lnTo>
                <a:lnTo>
                  <a:pt x="0" y="47428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74282" y="1754842"/>
            <a:ext cx="7529220" cy="6912654"/>
          </a:xfrm>
          <a:custGeom>
            <a:avLst/>
            <a:gdLst/>
            <a:ahLst/>
            <a:cxnLst/>
            <a:rect l="l" t="t" r="r" b="b"/>
            <a:pathLst>
              <a:path w="7529220" h="6912654">
                <a:moveTo>
                  <a:pt x="142262" y="0"/>
                </a:moveTo>
                <a:lnTo>
                  <a:pt x="7386957" y="0"/>
                </a:lnTo>
                <a:cubicBezTo>
                  <a:pt x="7465526" y="0"/>
                  <a:pt x="7529220" y="63693"/>
                  <a:pt x="7529220" y="142262"/>
                </a:cubicBezTo>
                <a:lnTo>
                  <a:pt x="7529220" y="6770391"/>
                </a:lnTo>
                <a:cubicBezTo>
                  <a:pt x="7529220" y="6848960"/>
                  <a:pt x="7465526" y="6912654"/>
                  <a:pt x="7386957" y="6912654"/>
                </a:cubicBezTo>
                <a:lnTo>
                  <a:pt x="142262" y="6912654"/>
                </a:lnTo>
                <a:cubicBezTo>
                  <a:pt x="63693" y="6912654"/>
                  <a:pt x="0" y="6848960"/>
                  <a:pt x="0" y="6770391"/>
                </a:cubicBezTo>
                <a:lnTo>
                  <a:pt x="0" y="142262"/>
                </a:lnTo>
                <a:cubicBezTo>
                  <a:pt x="0" y="63746"/>
                  <a:pt x="63746" y="0"/>
                  <a:pt x="14226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96426" dist="2371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4282" y="1754842"/>
            <a:ext cx="7529220" cy="758850"/>
          </a:xfrm>
          <a:custGeom>
            <a:avLst/>
            <a:gdLst/>
            <a:ahLst/>
            <a:cxnLst/>
            <a:rect l="l" t="t" r="r" b="b"/>
            <a:pathLst>
              <a:path w="7529220" h="758850">
                <a:moveTo>
                  <a:pt x="142284" y="0"/>
                </a:moveTo>
                <a:lnTo>
                  <a:pt x="7386935" y="0"/>
                </a:lnTo>
                <a:cubicBezTo>
                  <a:pt x="7465517" y="0"/>
                  <a:pt x="7529220" y="63703"/>
                  <a:pt x="7529220" y="142284"/>
                </a:cubicBezTo>
                <a:lnTo>
                  <a:pt x="7529220" y="758850"/>
                </a:lnTo>
                <a:lnTo>
                  <a:pt x="0" y="758850"/>
                </a:lnTo>
                <a:lnTo>
                  <a:pt x="0" y="142284"/>
                </a:lnTo>
                <a:cubicBezTo>
                  <a:pt x="0" y="63703"/>
                  <a:pt x="63703" y="0"/>
                  <a:pt x="142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/>
              </a:gs>
              <a:gs pos="100000">
                <a:srgbClr val="212C42"/>
              </a:gs>
            </a:gsLst>
            <a:lin ang="0" scaled="1"/>
          </a:gradFill>
        </p:spPr>
      </p:sp>
      <p:sp>
        <p:nvSpPr>
          <p:cNvPr id="7" name="Shape 5"/>
          <p:cNvSpPr/>
          <p:nvPr/>
        </p:nvSpPr>
        <p:spPr>
          <a:xfrm>
            <a:off x="699565" y="1991832"/>
            <a:ext cx="284569" cy="284569"/>
          </a:xfrm>
          <a:custGeom>
            <a:avLst/>
            <a:gdLst/>
            <a:ahLst/>
            <a:cxnLst/>
            <a:rect l="l" t="t" r="r" b="b"/>
            <a:pathLst>
              <a:path w="284569" h="284569">
                <a:moveTo>
                  <a:pt x="142507" y="0"/>
                </a:moveTo>
                <a:cubicBezTo>
                  <a:pt x="132669" y="0"/>
                  <a:pt x="124721" y="7948"/>
                  <a:pt x="124721" y="17786"/>
                </a:cubicBezTo>
                <a:lnTo>
                  <a:pt x="124721" y="35571"/>
                </a:lnTo>
                <a:lnTo>
                  <a:pt x="35793" y="35571"/>
                </a:lnTo>
                <a:cubicBezTo>
                  <a:pt x="25956" y="35571"/>
                  <a:pt x="18008" y="43519"/>
                  <a:pt x="18008" y="53357"/>
                </a:cubicBezTo>
                <a:lnTo>
                  <a:pt x="18008" y="88928"/>
                </a:lnTo>
                <a:cubicBezTo>
                  <a:pt x="18008" y="98765"/>
                  <a:pt x="25956" y="106713"/>
                  <a:pt x="35793" y="106713"/>
                </a:cubicBezTo>
                <a:lnTo>
                  <a:pt x="124721" y="106713"/>
                </a:lnTo>
                <a:lnTo>
                  <a:pt x="124721" y="142284"/>
                </a:lnTo>
                <a:lnTo>
                  <a:pt x="39462" y="142284"/>
                </a:lnTo>
                <a:cubicBezTo>
                  <a:pt x="37127" y="142284"/>
                  <a:pt x="34849" y="143229"/>
                  <a:pt x="33181" y="144897"/>
                </a:cubicBezTo>
                <a:lnTo>
                  <a:pt x="6503" y="171575"/>
                </a:lnTo>
                <a:cubicBezTo>
                  <a:pt x="3057" y="175021"/>
                  <a:pt x="3057" y="180690"/>
                  <a:pt x="6503" y="184136"/>
                </a:cubicBezTo>
                <a:lnTo>
                  <a:pt x="33181" y="210814"/>
                </a:lnTo>
                <a:cubicBezTo>
                  <a:pt x="34849" y="212482"/>
                  <a:pt x="37127" y="213427"/>
                  <a:pt x="39462" y="213427"/>
                </a:cubicBezTo>
                <a:lnTo>
                  <a:pt x="124721" y="213427"/>
                </a:lnTo>
                <a:lnTo>
                  <a:pt x="124721" y="266783"/>
                </a:lnTo>
                <a:cubicBezTo>
                  <a:pt x="124721" y="276621"/>
                  <a:pt x="132669" y="284569"/>
                  <a:pt x="142507" y="284569"/>
                </a:cubicBezTo>
                <a:cubicBezTo>
                  <a:pt x="152344" y="284569"/>
                  <a:pt x="160292" y="276621"/>
                  <a:pt x="160292" y="266783"/>
                </a:cubicBezTo>
                <a:lnTo>
                  <a:pt x="160292" y="213427"/>
                </a:lnTo>
                <a:lnTo>
                  <a:pt x="249220" y="213427"/>
                </a:lnTo>
                <a:cubicBezTo>
                  <a:pt x="259058" y="213427"/>
                  <a:pt x="267006" y="205479"/>
                  <a:pt x="267006" y="195641"/>
                </a:cubicBezTo>
                <a:lnTo>
                  <a:pt x="267006" y="160070"/>
                </a:lnTo>
                <a:cubicBezTo>
                  <a:pt x="267006" y="150232"/>
                  <a:pt x="259058" y="142284"/>
                  <a:pt x="249220" y="142284"/>
                </a:cubicBezTo>
                <a:lnTo>
                  <a:pt x="160292" y="142284"/>
                </a:lnTo>
                <a:lnTo>
                  <a:pt x="160292" y="106713"/>
                </a:lnTo>
                <a:lnTo>
                  <a:pt x="245552" y="106713"/>
                </a:lnTo>
                <a:cubicBezTo>
                  <a:pt x="247886" y="106713"/>
                  <a:pt x="250165" y="105768"/>
                  <a:pt x="251832" y="104101"/>
                </a:cubicBezTo>
                <a:lnTo>
                  <a:pt x="278511" y="77423"/>
                </a:lnTo>
                <a:cubicBezTo>
                  <a:pt x="281957" y="73977"/>
                  <a:pt x="281957" y="68308"/>
                  <a:pt x="278511" y="64862"/>
                </a:cubicBezTo>
                <a:lnTo>
                  <a:pt x="251832" y="38183"/>
                </a:lnTo>
                <a:cubicBezTo>
                  <a:pt x="250165" y="36516"/>
                  <a:pt x="247886" y="35571"/>
                  <a:pt x="245552" y="35571"/>
                </a:cubicBezTo>
                <a:lnTo>
                  <a:pt x="160292" y="35571"/>
                </a:lnTo>
                <a:lnTo>
                  <a:pt x="160292" y="17786"/>
                </a:lnTo>
                <a:cubicBezTo>
                  <a:pt x="160292" y="7948"/>
                  <a:pt x="152344" y="0"/>
                  <a:pt x="142507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019705" y="1944554"/>
            <a:ext cx="6936368" cy="379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4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适用场景决策指南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7708" y="2703254"/>
            <a:ext cx="7126080" cy="877421"/>
          </a:xfrm>
          <a:custGeom>
            <a:avLst/>
            <a:gdLst/>
            <a:ahLst/>
            <a:cxnLst/>
            <a:rect l="l" t="t" r="r" b="b"/>
            <a:pathLst>
              <a:path w="7126080" h="877421">
                <a:moveTo>
                  <a:pt x="47428" y="0"/>
                </a:moveTo>
                <a:lnTo>
                  <a:pt x="7031222" y="0"/>
                </a:lnTo>
                <a:cubicBezTo>
                  <a:pt x="7083611" y="0"/>
                  <a:pt x="7126080" y="42469"/>
                  <a:pt x="7126080" y="94858"/>
                </a:cubicBezTo>
                <a:lnTo>
                  <a:pt x="7126080" y="782563"/>
                </a:lnTo>
                <a:cubicBezTo>
                  <a:pt x="7126080" y="834951"/>
                  <a:pt x="7083611" y="877421"/>
                  <a:pt x="7031222" y="877421"/>
                </a:cubicBezTo>
                <a:lnTo>
                  <a:pt x="47428" y="877421"/>
                </a:lnTo>
                <a:cubicBezTo>
                  <a:pt x="21234" y="877421"/>
                  <a:pt x="0" y="856187"/>
                  <a:pt x="0" y="829993"/>
                </a:cubicBezTo>
                <a:lnTo>
                  <a:pt x="0" y="47428"/>
                </a:lnTo>
                <a:cubicBezTo>
                  <a:pt x="0" y="21252"/>
                  <a:pt x="21252" y="0"/>
                  <a:pt x="47428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87708" y="2703254"/>
            <a:ext cx="47428" cy="877421"/>
          </a:xfrm>
          <a:custGeom>
            <a:avLst/>
            <a:gdLst/>
            <a:ahLst/>
            <a:cxnLst/>
            <a:rect l="l" t="t" r="r" b="b"/>
            <a:pathLst>
              <a:path w="47428" h="877421">
                <a:moveTo>
                  <a:pt x="47428" y="0"/>
                </a:moveTo>
                <a:lnTo>
                  <a:pt x="47428" y="0"/>
                </a:lnTo>
                <a:lnTo>
                  <a:pt x="47428" y="877421"/>
                </a:lnTo>
                <a:lnTo>
                  <a:pt x="47428" y="877421"/>
                </a:lnTo>
                <a:cubicBezTo>
                  <a:pt x="21234" y="877421"/>
                  <a:pt x="0" y="856187"/>
                  <a:pt x="0" y="829993"/>
                </a:cubicBezTo>
                <a:lnTo>
                  <a:pt x="0" y="47428"/>
                </a:lnTo>
                <a:cubicBezTo>
                  <a:pt x="0" y="21252"/>
                  <a:pt x="21252" y="0"/>
                  <a:pt x="47428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1" name="Shape 9"/>
          <p:cNvSpPr/>
          <p:nvPr/>
        </p:nvSpPr>
        <p:spPr>
          <a:xfrm>
            <a:off x="896689" y="2881110"/>
            <a:ext cx="186748" cy="213427"/>
          </a:xfrm>
          <a:custGeom>
            <a:avLst/>
            <a:gdLst/>
            <a:ahLst/>
            <a:cxnLst/>
            <a:rect l="l" t="t" r="r" b="b"/>
            <a:pathLst>
              <a:path w="186748" h="213427">
                <a:moveTo>
                  <a:pt x="93374" y="103379"/>
                </a:moveTo>
                <a:cubicBezTo>
                  <a:pt x="65766" y="103379"/>
                  <a:pt x="43352" y="80965"/>
                  <a:pt x="43352" y="53357"/>
                </a:cubicBezTo>
                <a:cubicBezTo>
                  <a:pt x="43352" y="25749"/>
                  <a:pt x="65766" y="3335"/>
                  <a:pt x="93374" y="3335"/>
                </a:cubicBezTo>
                <a:cubicBezTo>
                  <a:pt x="120982" y="3335"/>
                  <a:pt x="143396" y="25749"/>
                  <a:pt x="143396" y="53357"/>
                </a:cubicBezTo>
                <a:cubicBezTo>
                  <a:pt x="143396" y="80965"/>
                  <a:pt x="120982" y="103379"/>
                  <a:pt x="93374" y="103379"/>
                </a:cubicBezTo>
                <a:close/>
                <a:moveTo>
                  <a:pt x="80660" y="126722"/>
                </a:moveTo>
                <a:lnTo>
                  <a:pt x="106088" y="126722"/>
                </a:lnTo>
                <a:cubicBezTo>
                  <a:pt x="110132" y="126722"/>
                  <a:pt x="113383" y="129974"/>
                  <a:pt x="113383" y="134017"/>
                </a:cubicBezTo>
                <a:cubicBezTo>
                  <a:pt x="113383" y="135768"/>
                  <a:pt x="112758" y="137435"/>
                  <a:pt x="111632" y="138769"/>
                </a:cubicBezTo>
                <a:lnTo>
                  <a:pt x="100211" y="152108"/>
                </a:lnTo>
                <a:lnTo>
                  <a:pt x="113133" y="200088"/>
                </a:lnTo>
                <a:lnTo>
                  <a:pt x="113383" y="200088"/>
                </a:lnTo>
                <a:lnTo>
                  <a:pt x="127806" y="142354"/>
                </a:lnTo>
                <a:cubicBezTo>
                  <a:pt x="128723" y="138727"/>
                  <a:pt x="132433" y="136518"/>
                  <a:pt x="135934" y="137852"/>
                </a:cubicBezTo>
                <a:cubicBezTo>
                  <a:pt x="161737" y="147690"/>
                  <a:pt x="180079" y="172701"/>
                  <a:pt x="180079" y="201963"/>
                </a:cubicBezTo>
                <a:cubicBezTo>
                  <a:pt x="180079" y="208258"/>
                  <a:pt x="174952" y="213385"/>
                  <a:pt x="168657" y="213385"/>
                </a:cubicBezTo>
                <a:lnTo>
                  <a:pt x="18091" y="213427"/>
                </a:lnTo>
                <a:cubicBezTo>
                  <a:pt x="11797" y="213427"/>
                  <a:pt x="6670" y="208299"/>
                  <a:pt x="6670" y="202005"/>
                </a:cubicBezTo>
                <a:cubicBezTo>
                  <a:pt x="6670" y="172742"/>
                  <a:pt x="25011" y="147731"/>
                  <a:pt x="50814" y="137894"/>
                </a:cubicBezTo>
                <a:cubicBezTo>
                  <a:pt x="54315" y="136560"/>
                  <a:pt x="58025" y="138769"/>
                  <a:pt x="58942" y="142396"/>
                </a:cubicBezTo>
                <a:lnTo>
                  <a:pt x="73365" y="200129"/>
                </a:lnTo>
                <a:lnTo>
                  <a:pt x="73616" y="200129"/>
                </a:lnTo>
                <a:lnTo>
                  <a:pt x="86538" y="152150"/>
                </a:lnTo>
                <a:lnTo>
                  <a:pt x="75116" y="138811"/>
                </a:lnTo>
                <a:cubicBezTo>
                  <a:pt x="73991" y="137477"/>
                  <a:pt x="73365" y="135809"/>
                  <a:pt x="73365" y="134059"/>
                </a:cubicBezTo>
                <a:cubicBezTo>
                  <a:pt x="73365" y="130015"/>
                  <a:pt x="76617" y="126764"/>
                  <a:pt x="80660" y="126764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2" name="Text 10"/>
          <p:cNvSpPr/>
          <p:nvPr/>
        </p:nvSpPr>
        <p:spPr>
          <a:xfrm>
            <a:off x="1215346" y="2845539"/>
            <a:ext cx="2561120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需结合专家经验、定性指标多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3707" y="3177536"/>
            <a:ext cx="6912654" cy="2608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9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49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层次分析法（AHP）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7708" y="3675531"/>
            <a:ext cx="7126080" cy="877421"/>
          </a:xfrm>
          <a:custGeom>
            <a:avLst/>
            <a:gdLst/>
            <a:ahLst/>
            <a:cxnLst/>
            <a:rect l="l" t="t" r="r" b="b"/>
            <a:pathLst>
              <a:path w="7126080" h="877421">
                <a:moveTo>
                  <a:pt x="47428" y="0"/>
                </a:moveTo>
                <a:lnTo>
                  <a:pt x="7031222" y="0"/>
                </a:lnTo>
                <a:cubicBezTo>
                  <a:pt x="7083611" y="0"/>
                  <a:pt x="7126080" y="42469"/>
                  <a:pt x="7126080" y="94858"/>
                </a:cubicBezTo>
                <a:lnTo>
                  <a:pt x="7126080" y="782563"/>
                </a:lnTo>
                <a:cubicBezTo>
                  <a:pt x="7126080" y="834951"/>
                  <a:pt x="7083611" y="877421"/>
                  <a:pt x="7031222" y="877421"/>
                </a:cubicBezTo>
                <a:lnTo>
                  <a:pt x="47428" y="877421"/>
                </a:lnTo>
                <a:cubicBezTo>
                  <a:pt x="21234" y="877421"/>
                  <a:pt x="0" y="856187"/>
                  <a:pt x="0" y="829993"/>
                </a:cubicBezTo>
                <a:lnTo>
                  <a:pt x="0" y="47428"/>
                </a:lnTo>
                <a:cubicBezTo>
                  <a:pt x="0" y="21252"/>
                  <a:pt x="21252" y="0"/>
                  <a:pt x="47428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87708" y="3675531"/>
            <a:ext cx="47428" cy="877421"/>
          </a:xfrm>
          <a:custGeom>
            <a:avLst/>
            <a:gdLst/>
            <a:ahLst/>
            <a:cxnLst/>
            <a:rect l="l" t="t" r="r" b="b"/>
            <a:pathLst>
              <a:path w="47428" h="877421">
                <a:moveTo>
                  <a:pt x="47428" y="0"/>
                </a:moveTo>
                <a:lnTo>
                  <a:pt x="47428" y="0"/>
                </a:lnTo>
                <a:lnTo>
                  <a:pt x="47428" y="877421"/>
                </a:lnTo>
                <a:lnTo>
                  <a:pt x="47428" y="877421"/>
                </a:lnTo>
                <a:cubicBezTo>
                  <a:pt x="21234" y="877421"/>
                  <a:pt x="0" y="856187"/>
                  <a:pt x="0" y="829993"/>
                </a:cubicBezTo>
                <a:lnTo>
                  <a:pt x="0" y="47428"/>
                </a:lnTo>
                <a:cubicBezTo>
                  <a:pt x="0" y="21252"/>
                  <a:pt x="21252" y="0"/>
                  <a:pt x="47428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16" name="Shape 14"/>
          <p:cNvSpPr/>
          <p:nvPr/>
        </p:nvSpPr>
        <p:spPr>
          <a:xfrm>
            <a:off x="896689" y="3853387"/>
            <a:ext cx="186748" cy="213427"/>
          </a:xfrm>
          <a:custGeom>
            <a:avLst/>
            <a:gdLst/>
            <a:ahLst/>
            <a:cxnLst/>
            <a:rect l="l" t="t" r="r" b="b"/>
            <a:pathLst>
              <a:path w="186748" h="213427">
                <a:moveTo>
                  <a:pt x="186748" y="85788"/>
                </a:moveTo>
                <a:cubicBezTo>
                  <a:pt x="180579" y="89873"/>
                  <a:pt x="173493" y="93166"/>
                  <a:pt x="166114" y="95792"/>
                </a:cubicBezTo>
                <a:cubicBezTo>
                  <a:pt x="146522" y="102795"/>
                  <a:pt x="120803" y="106713"/>
                  <a:pt x="93374" y="106713"/>
                </a:cubicBezTo>
                <a:cubicBezTo>
                  <a:pt x="65946" y="106713"/>
                  <a:pt x="40184" y="102753"/>
                  <a:pt x="20634" y="95792"/>
                </a:cubicBezTo>
                <a:cubicBezTo>
                  <a:pt x="13297" y="93166"/>
                  <a:pt x="6169" y="89873"/>
                  <a:pt x="0" y="85788"/>
                </a:cubicBezTo>
                <a:lnTo>
                  <a:pt x="0" y="120053"/>
                </a:lnTo>
                <a:cubicBezTo>
                  <a:pt x="0" y="138477"/>
                  <a:pt x="41810" y="153400"/>
                  <a:pt x="93374" y="153400"/>
                </a:cubicBezTo>
                <a:cubicBezTo>
                  <a:pt x="144938" y="153400"/>
                  <a:pt x="186748" y="138477"/>
                  <a:pt x="186748" y="120053"/>
                </a:cubicBezTo>
                <a:lnTo>
                  <a:pt x="186748" y="85788"/>
                </a:lnTo>
                <a:close/>
                <a:moveTo>
                  <a:pt x="186748" y="53357"/>
                </a:moveTo>
                <a:lnTo>
                  <a:pt x="186748" y="33348"/>
                </a:lnTo>
                <a:cubicBezTo>
                  <a:pt x="186748" y="14923"/>
                  <a:pt x="144938" y="0"/>
                  <a:pt x="93374" y="0"/>
                </a:cubicBezTo>
                <a:cubicBezTo>
                  <a:pt x="41810" y="0"/>
                  <a:pt x="0" y="14923"/>
                  <a:pt x="0" y="33348"/>
                </a:cubicBezTo>
                <a:lnTo>
                  <a:pt x="0" y="53357"/>
                </a:lnTo>
                <a:cubicBezTo>
                  <a:pt x="0" y="71781"/>
                  <a:pt x="41810" y="86705"/>
                  <a:pt x="93374" y="86705"/>
                </a:cubicBezTo>
                <a:cubicBezTo>
                  <a:pt x="144938" y="86705"/>
                  <a:pt x="186748" y="71781"/>
                  <a:pt x="186748" y="53357"/>
                </a:cubicBezTo>
                <a:close/>
                <a:moveTo>
                  <a:pt x="166114" y="162488"/>
                </a:moveTo>
                <a:cubicBezTo>
                  <a:pt x="146564" y="169449"/>
                  <a:pt x="120845" y="173409"/>
                  <a:pt x="93374" y="173409"/>
                </a:cubicBezTo>
                <a:cubicBezTo>
                  <a:pt x="65904" y="173409"/>
                  <a:pt x="40184" y="169449"/>
                  <a:pt x="20634" y="162488"/>
                </a:cubicBezTo>
                <a:cubicBezTo>
                  <a:pt x="13297" y="159862"/>
                  <a:pt x="6169" y="156568"/>
                  <a:pt x="0" y="152483"/>
                </a:cubicBezTo>
                <a:lnTo>
                  <a:pt x="0" y="180079"/>
                </a:lnTo>
                <a:cubicBezTo>
                  <a:pt x="0" y="198504"/>
                  <a:pt x="41810" y="213427"/>
                  <a:pt x="93374" y="213427"/>
                </a:cubicBezTo>
                <a:cubicBezTo>
                  <a:pt x="144938" y="213427"/>
                  <a:pt x="186748" y="198504"/>
                  <a:pt x="186748" y="180079"/>
                </a:cubicBezTo>
                <a:lnTo>
                  <a:pt x="186748" y="152483"/>
                </a:lnTo>
                <a:cubicBezTo>
                  <a:pt x="180579" y="156568"/>
                  <a:pt x="173493" y="159862"/>
                  <a:pt x="166114" y="162488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17" name="Text 15"/>
          <p:cNvSpPr/>
          <p:nvPr/>
        </p:nvSpPr>
        <p:spPr>
          <a:xfrm>
            <a:off x="1215346" y="3817816"/>
            <a:ext cx="2750833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有充足客观数据、追求权重客观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3707" y="4149813"/>
            <a:ext cx="6912654" cy="2608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9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49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熵权法，或熵权+TOPSIS组合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7708" y="4647809"/>
            <a:ext cx="7126080" cy="877421"/>
          </a:xfrm>
          <a:custGeom>
            <a:avLst/>
            <a:gdLst/>
            <a:ahLst/>
            <a:cxnLst/>
            <a:rect l="l" t="t" r="r" b="b"/>
            <a:pathLst>
              <a:path w="7126080" h="877421">
                <a:moveTo>
                  <a:pt x="47428" y="0"/>
                </a:moveTo>
                <a:lnTo>
                  <a:pt x="7031222" y="0"/>
                </a:lnTo>
                <a:cubicBezTo>
                  <a:pt x="7083611" y="0"/>
                  <a:pt x="7126080" y="42469"/>
                  <a:pt x="7126080" y="94858"/>
                </a:cubicBezTo>
                <a:lnTo>
                  <a:pt x="7126080" y="782563"/>
                </a:lnTo>
                <a:cubicBezTo>
                  <a:pt x="7126080" y="834951"/>
                  <a:pt x="7083611" y="877421"/>
                  <a:pt x="7031222" y="877421"/>
                </a:cubicBezTo>
                <a:lnTo>
                  <a:pt x="47428" y="877421"/>
                </a:lnTo>
                <a:cubicBezTo>
                  <a:pt x="21234" y="877421"/>
                  <a:pt x="0" y="856187"/>
                  <a:pt x="0" y="829993"/>
                </a:cubicBezTo>
                <a:lnTo>
                  <a:pt x="0" y="47428"/>
                </a:lnTo>
                <a:cubicBezTo>
                  <a:pt x="0" y="21252"/>
                  <a:pt x="21252" y="0"/>
                  <a:pt x="47428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687708" y="4647809"/>
            <a:ext cx="47428" cy="877421"/>
          </a:xfrm>
          <a:custGeom>
            <a:avLst/>
            <a:gdLst/>
            <a:ahLst/>
            <a:cxnLst/>
            <a:rect l="l" t="t" r="r" b="b"/>
            <a:pathLst>
              <a:path w="47428" h="877421">
                <a:moveTo>
                  <a:pt x="47428" y="0"/>
                </a:moveTo>
                <a:lnTo>
                  <a:pt x="47428" y="0"/>
                </a:lnTo>
                <a:lnTo>
                  <a:pt x="47428" y="877421"/>
                </a:lnTo>
                <a:lnTo>
                  <a:pt x="47428" y="877421"/>
                </a:lnTo>
                <a:cubicBezTo>
                  <a:pt x="21234" y="877421"/>
                  <a:pt x="0" y="856187"/>
                  <a:pt x="0" y="829993"/>
                </a:cubicBezTo>
                <a:lnTo>
                  <a:pt x="0" y="47428"/>
                </a:lnTo>
                <a:cubicBezTo>
                  <a:pt x="0" y="21252"/>
                  <a:pt x="21252" y="0"/>
                  <a:pt x="47428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21" name="Shape 19"/>
          <p:cNvSpPr/>
          <p:nvPr/>
        </p:nvSpPr>
        <p:spPr>
          <a:xfrm>
            <a:off x="870010" y="4825664"/>
            <a:ext cx="240105" cy="213427"/>
          </a:xfrm>
          <a:custGeom>
            <a:avLst/>
            <a:gdLst/>
            <a:ahLst/>
            <a:cxnLst/>
            <a:rect l="l" t="t" r="r" b="b"/>
            <a:pathLst>
              <a:path w="240105" h="213427">
                <a:moveTo>
                  <a:pt x="62777" y="17258"/>
                </a:moveTo>
                <a:cubicBezTo>
                  <a:pt x="57567" y="12047"/>
                  <a:pt x="49105" y="12047"/>
                  <a:pt x="43894" y="17258"/>
                </a:cubicBezTo>
                <a:lnTo>
                  <a:pt x="3877" y="57275"/>
                </a:lnTo>
                <a:cubicBezTo>
                  <a:pt x="-1334" y="62486"/>
                  <a:pt x="-1334" y="70948"/>
                  <a:pt x="3877" y="76158"/>
                </a:cubicBezTo>
                <a:cubicBezTo>
                  <a:pt x="9087" y="81369"/>
                  <a:pt x="17549" y="81369"/>
                  <a:pt x="22760" y="76158"/>
                </a:cubicBezTo>
                <a:lnTo>
                  <a:pt x="40018" y="58901"/>
                </a:lnTo>
                <a:lnTo>
                  <a:pt x="40018" y="186748"/>
                </a:lnTo>
                <a:cubicBezTo>
                  <a:pt x="40018" y="194127"/>
                  <a:pt x="45978" y="200088"/>
                  <a:pt x="53357" y="200088"/>
                </a:cubicBezTo>
                <a:cubicBezTo>
                  <a:pt x="60735" y="200088"/>
                  <a:pt x="66696" y="194127"/>
                  <a:pt x="66696" y="186748"/>
                </a:cubicBezTo>
                <a:lnTo>
                  <a:pt x="66696" y="58901"/>
                </a:lnTo>
                <a:lnTo>
                  <a:pt x="83953" y="76158"/>
                </a:lnTo>
                <a:cubicBezTo>
                  <a:pt x="89164" y="81369"/>
                  <a:pt x="97626" y="81369"/>
                  <a:pt x="102837" y="76158"/>
                </a:cubicBezTo>
                <a:cubicBezTo>
                  <a:pt x="108047" y="70948"/>
                  <a:pt x="108047" y="62486"/>
                  <a:pt x="102837" y="57275"/>
                </a:cubicBezTo>
                <a:lnTo>
                  <a:pt x="62819" y="17258"/>
                </a:lnTo>
                <a:close/>
                <a:moveTo>
                  <a:pt x="133392" y="200088"/>
                </a:moveTo>
                <a:lnTo>
                  <a:pt x="146731" y="200088"/>
                </a:lnTo>
                <a:cubicBezTo>
                  <a:pt x="154109" y="200088"/>
                  <a:pt x="160070" y="194127"/>
                  <a:pt x="160070" y="186748"/>
                </a:cubicBezTo>
                <a:cubicBezTo>
                  <a:pt x="160070" y="179370"/>
                  <a:pt x="154109" y="173409"/>
                  <a:pt x="146731" y="173409"/>
                </a:cubicBezTo>
                <a:lnTo>
                  <a:pt x="133392" y="173409"/>
                </a:lnTo>
                <a:cubicBezTo>
                  <a:pt x="126013" y="173409"/>
                  <a:pt x="120053" y="179370"/>
                  <a:pt x="120053" y="186748"/>
                </a:cubicBezTo>
                <a:cubicBezTo>
                  <a:pt x="120053" y="194127"/>
                  <a:pt x="126013" y="200088"/>
                  <a:pt x="133392" y="200088"/>
                </a:cubicBezTo>
                <a:close/>
                <a:moveTo>
                  <a:pt x="133392" y="146731"/>
                </a:moveTo>
                <a:lnTo>
                  <a:pt x="173409" y="146731"/>
                </a:lnTo>
                <a:cubicBezTo>
                  <a:pt x="180787" y="146731"/>
                  <a:pt x="186748" y="140770"/>
                  <a:pt x="186748" y="133392"/>
                </a:cubicBezTo>
                <a:cubicBezTo>
                  <a:pt x="186748" y="126013"/>
                  <a:pt x="180787" y="120053"/>
                  <a:pt x="173409" y="120053"/>
                </a:cubicBezTo>
                <a:lnTo>
                  <a:pt x="133392" y="120053"/>
                </a:lnTo>
                <a:cubicBezTo>
                  <a:pt x="126013" y="120053"/>
                  <a:pt x="120053" y="126013"/>
                  <a:pt x="120053" y="133392"/>
                </a:cubicBezTo>
                <a:cubicBezTo>
                  <a:pt x="120053" y="140770"/>
                  <a:pt x="126013" y="146731"/>
                  <a:pt x="133392" y="146731"/>
                </a:cubicBezTo>
                <a:close/>
                <a:moveTo>
                  <a:pt x="133392" y="93374"/>
                </a:moveTo>
                <a:lnTo>
                  <a:pt x="200088" y="93374"/>
                </a:lnTo>
                <a:cubicBezTo>
                  <a:pt x="207466" y="93374"/>
                  <a:pt x="213427" y="87413"/>
                  <a:pt x="213427" y="80035"/>
                </a:cubicBezTo>
                <a:cubicBezTo>
                  <a:pt x="213427" y="72657"/>
                  <a:pt x="207466" y="66696"/>
                  <a:pt x="200088" y="66696"/>
                </a:cubicBezTo>
                <a:lnTo>
                  <a:pt x="133392" y="66696"/>
                </a:lnTo>
                <a:cubicBezTo>
                  <a:pt x="126013" y="66696"/>
                  <a:pt x="120053" y="72657"/>
                  <a:pt x="120053" y="80035"/>
                </a:cubicBezTo>
                <a:cubicBezTo>
                  <a:pt x="120053" y="87413"/>
                  <a:pt x="126013" y="93374"/>
                  <a:pt x="133392" y="93374"/>
                </a:cubicBezTo>
                <a:close/>
                <a:moveTo>
                  <a:pt x="133392" y="40018"/>
                </a:moveTo>
                <a:lnTo>
                  <a:pt x="226766" y="40018"/>
                </a:lnTo>
                <a:cubicBezTo>
                  <a:pt x="234144" y="40018"/>
                  <a:pt x="240105" y="34057"/>
                  <a:pt x="240105" y="26678"/>
                </a:cubicBezTo>
                <a:cubicBezTo>
                  <a:pt x="240105" y="19300"/>
                  <a:pt x="234144" y="13339"/>
                  <a:pt x="226766" y="13339"/>
                </a:cubicBezTo>
                <a:lnTo>
                  <a:pt x="133392" y="13339"/>
                </a:lnTo>
                <a:cubicBezTo>
                  <a:pt x="126013" y="13339"/>
                  <a:pt x="120053" y="19300"/>
                  <a:pt x="120053" y="26678"/>
                </a:cubicBezTo>
                <a:cubicBezTo>
                  <a:pt x="120053" y="34057"/>
                  <a:pt x="126013" y="40018"/>
                  <a:pt x="133392" y="40018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22" name="Text 20"/>
          <p:cNvSpPr/>
          <p:nvPr/>
        </p:nvSpPr>
        <p:spPr>
          <a:xfrm>
            <a:off x="1215346" y="4790093"/>
            <a:ext cx="2371408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多方案排序优选、指标明确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3707" y="5122090"/>
            <a:ext cx="6912654" cy="2608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9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49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TOPSIS法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7708" y="5620086"/>
            <a:ext cx="7126080" cy="877421"/>
          </a:xfrm>
          <a:custGeom>
            <a:avLst/>
            <a:gdLst/>
            <a:ahLst/>
            <a:cxnLst/>
            <a:rect l="l" t="t" r="r" b="b"/>
            <a:pathLst>
              <a:path w="7126080" h="877421">
                <a:moveTo>
                  <a:pt x="47428" y="0"/>
                </a:moveTo>
                <a:lnTo>
                  <a:pt x="7031222" y="0"/>
                </a:lnTo>
                <a:cubicBezTo>
                  <a:pt x="7083611" y="0"/>
                  <a:pt x="7126080" y="42469"/>
                  <a:pt x="7126080" y="94858"/>
                </a:cubicBezTo>
                <a:lnTo>
                  <a:pt x="7126080" y="782563"/>
                </a:lnTo>
                <a:cubicBezTo>
                  <a:pt x="7126080" y="834951"/>
                  <a:pt x="7083611" y="877421"/>
                  <a:pt x="7031222" y="877421"/>
                </a:cubicBezTo>
                <a:lnTo>
                  <a:pt x="47428" y="877421"/>
                </a:lnTo>
                <a:cubicBezTo>
                  <a:pt x="21234" y="877421"/>
                  <a:pt x="0" y="856187"/>
                  <a:pt x="0" y="829993"/>
                </a:cubicBezTo>
                <a:lnTo>
                  <a:pt x="0" y="47428"/>
                </a:lnTo>
                <a:cubicBezTo>
                  <a:pt x="0" y="21252"/>
                  <a:pt x="21252" y="0"/>
                  <a:pt x="47428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>
                  <a:alpha val="20000"/>
                </a:srgbClr>
              </a:gs>
              <a:gs pos="100000">
                <a:srgbClr val="212C42">
                  <a:alpha val="20000"/>
                </a:srgbClr>
              </a:gs>
            </a:gsLst>
            <a:lin ang="0" scaled="1"/>
          </a:gradFill>
        </p:spPr>
      </p:sp>
      <p:sp>
        <p:nvSpPr>
          <p:cNvPr id="25" name="Shape 23"/>
          <p:cNvSpPr/>
          <p:nvPr/>
        </p:nvSpPr>
        <p:spPr>
          <a:xfrm>
            <a:off x="687708" y="5620086"/>
            <a:ext cx="47428" cy="877421"/>
          </a:xfrm>
          <a:custGeom>
            <a:avLst/>
            <a:gdLst/>
            <a:ahLst/>
            <a:cxnLst/>
            <a:rect l="l" t="t" r="r" b="b"/>
            <a:pathLst>
              <a:path w="47428" h="877421">
                <a:moveTo>
                  <a:pt x="47428" y="0"/>
                </a:moveTo>
                <a:lnTo>
                  <a:pt x="47428" y="0"/>
                </a:lnTo>
                <a:lnTo>
                  <a:pt x="47428" y="877421"/>
                </a:lnTo>
                <a:lnTo>
                  <a:pt x="47428" y="877421"/>
                </a:lnTo>
                <a:cubicBezTo>
                  <a:pt x="21234" y="877421"/>
                  <a:pt x="0" y="856187"/>
                  <a:pt x="0" y="829993"/>
                </a:cubicBezTo>
                <a:lnTo>
                  <a:pt x="0" y="47428"/>
                </a:lnTo>
                <a:cubicBezTo>
                  <a:pt x="0" y="21252"/>
                  <a:pt x="21252" y="0"/>
                  <a:pt x="47428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6" name="Shape 24"/>
          <p:cNvSpPr/>
          <p:nvPr/>
        </p:nvSpPr>
        <p:spPr>
          <a:xfrm>
            <a:off x="870010" y="5797941"/>
            <a:ext cx="240105" cy="213427"/>
          </a:xfrm>
          <a:custGeom>
            <a:avLst/>
            <a:gdLst/>
            <a:ahLst/>
            <a:cxnLst/>
            <a:rect l="l" t="t" r="r" b="b"/>
            <a:pathLst>
              <a:path w="240105" h="213427">
                <a:moveTo>
                  <a:pt x="0" y="140061"/>
                </a:moveTo>
                <a:cubicBezTo>
                  <a:pt x="0" y="173201"/>
                  <a:pt x="26887" y="200088"/>
                  <a:pt x="60026" y="200088"/>
                </a:cubicBezTo>
                <a:lnTo>
                  <a:pt x="186748" y="200088"/>
                </a:lnTo>
                <a:cubicBezTo>
                  <a:pt x="216220" y="200088"/>
                  <a:pt x="240105" y="176202"/>
                  <a:pt x="240105" y="146731"/>
                </a:cubicBezTo>
                <a:cubicBezTo>
                  <a:pt x="240105" y="125221"/>
                  <a:pt x="227391" y="106672"/>
                  <a:pt x="209050" y="98251"/>
                </a:cubicBezTo>
                <a:cubicBezTo>
                  <a:pt x="211843" y="92791"/>
                  <a:pt x="213427" y="86580"/>
                  <a:pt x="213427" y="80035"/>
                </a:cubicBezTo>
                <a:cubicBezTo>
                  <a:pt x="213427" y="57942"/>
                  <a:pt x="195502" y="40018"/>
                  <a:pt x="173409" y="40018"/>
                </a:cubicBezTo>
                <a:cubicBezTo>
                  <a:pt x="166031" y="40018"/>
                  <a:pt x="159153" y="42018"/>
                  <a:pt x="153234" y="45478"/>
                </a:cubicBezTo>
                <a:cubicBezTo>
                  <a:pt x="143188" y="26387"/>
                  <a:pt x="123137" y="13339"/>
                  <a:pt x="100044" y="13339"/>
                </a:cubicBezTo>
                <a:cubicBezTo>
                  <a:pt x="66904" y="13339"/>
                  <a:pt x="40018" y="40226"/>
                  <a:pt x="40018" y="73365"/>
                </a:cubicBezTo>
                <a:cubicBezTo>
                  <a:pt x="40018" y="76700"/>
                  <a:pt x="40309" y="79993"/>
                  <a:pt x="40810" y="83161"/>
                </a:cubicBezTo>
                <a:cubicBezTo>
                  <a:pt x="17091" y="91165"/>
                  <a:pt x="0" y="113633"/>
                  <a:pt x="0" y="140061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7" name="Text 25"/>
          <p:cNvSpPr/>
          <p:nvPr/>
        </p:nvSpPr>
        <p:spPr>
          <a:xfrm>
            <a:off x="1215346" y="5762370"/>
            <a:ext cx="2750833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指标含模糊描述、难以精确量化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3707" y="6094367"/>
            <a:ext cx="6912654" cy="2608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9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49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模糊综合评价法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44496" y="1754842"/>
            <a:ext cx="7529220" cy="3687539"/>
          </a:xfrm>
          <a:custGeom>
            <a:avLst/>
            <a:gdLst/>
            <a:ahLst/>
            <a:cxnLst/>
            <a:rect l="l" t="t" r="r" b="b"/>
            <a:pathLst>
              <a:path w="7529220" h="3687539">
                <a:moveTo>
                  <a:pt x="142302" y="0"/>
                </a:moveTo>
                <a:lnTo>
                  <a:pt x="7386917" y="0"/>
                </a:lnTo>
                <a:cubicBezTo>
                  <a:pt x="7465509" y="0"/>
                  <a:pt x="7529220" y="63711"/>
                  <a:pt x="7529220" y="142302"/>
                </a:cubicBezTo>
                <a:lnTo>
                  <a:pt x="7529220" y="3545237"/>
                </a:lnTo>
                <a:cubicBezTo>
                  <a:pt x="7529220" y="3623828"/>
                  <a:pt x="7465509" y="3687539"/>
                  <a:pt x="7386917" y="3687539"/>
                </a:cubicBezTo>
                <a:lnTo>
                  <a:pt x="142302" y="3687539"/>
                </a:lnTo>
                <a:cubicBezTo>
                  <a:pt x="63711" y="3687539"/>
                  <a:pt x="0" y="3623828"/>
                  <a:pt x="0" y="3545237"/>
                </a:cubicBezTo>
                <a:lnTo>
                  <a:pt x="0" y="142302"/>
                </a:lnTo>
                <a:cubicBezTo>
                  <a:pt x="0" y="63763"/>
                  <a:pt x="63763" y="0"/>
                  <a:pt x="142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2700000" scaled="1"/>
          </a:gradFill>
          <a:effectLst>
            <a:outerShdw blurRad="296426" dist="2371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69779" y="1991832"/>
            <a:ext cx="284569" cy="284569"/>
          </a:xfrm>
          <a:custGeom>
            <a:avLst/>
            <a:gdLst/>
            <a:ahLst/>
            <a:cxnLst/>
            <a:rect l="l" t="t" r="r" b="b"/>
            <a:pathLst>
              <a:path w="284569" h="284569">
                <a:moveTo>
                  <a:pt x="186748" y="195641"/>
                </a:moveTo>
                <a:cubicBezTo>
                  <a:pt x="240772" y="195641"/>
                  <a:pt x="284569" y="151844"/>
                  <a:pt x="284569" y="97821"/>
                </a:cubicBezTo>
                <a:cubicBezTo>
                  <a:pt x="284569" y="43797"/>
                  <a:pt x="240772" y="0"/>
                  <a:pt x="186748" y="0"/>
                </a:cubicBezTo>
                <a:cubicBezTo>
                  <a:pt x="132725" y="0"/>
                  <a:pt x="88928" y="43797"/>
                  <a:pt x="88928" y="97821"/>
                </a:cubicBezTo>
                <a:cubicBezTo>
                  <a:pt x="88928" y="108214"/>
                  <a:pt x="90540" y="118274"/>
                  <a:pt x="93541" y="127667"/>
                </a:cubicBezTo>
                <a:lnTo>
                  <a:pt x="3891" y="217317"/>
                </a:lnTo>
                <a:cubicBezTo>
                  <a:pt x="1389" y="219818"/>
                  <a:pt x="0" y="223209"/>
                  <a:pt x="0" y="226766"/>
                </a:cubicBezTo>
                <a:lnTo>
                  <a:pt x="0" y="271230"/>
                </a:lnTo>
                <a:cubicBezTo>
                  <a:pt x="0" y="278622"/>
                  <a:pt x="5947" y="284569"/>
                  <a:pt x="13339" y="284569"/>
                </a:cubicBezTo>
                <a:lnTo>
                  <a:pt x="57803" y="284569"/>
                </a:lnTo>
                <a:cubicBezTo>
                  <a:pt x="65195" y="284569"/>
                  <a:pt x="71142" y="278622"/>
                  <a:pt x="71142" y="271230"/>
                </a:cubicBezTo>
                <a:lnTo>
                  <a:pt x="71142" y="248998"/>
                </a:lnTo>
                <a:lnTo>
                  <a:pt x="93374" y="248998"/>
                </a:lnTo>
                <a:cubicBezTo>
                  <a:pt x="100766" y="248998"/>
                  <a:pt x="106713" y="243051"/>
                  <a:pt x="106713" y="235659"/>
                </a:cubicBezTo>
                <a:lnTo>
                  <a:pt x="106713" y="213427"/>
                </a:lnTo>
                <a:lnTo>
                  <a:pt x="128945" y="213427"/>
                </a:lnTo>
                <a:cubicBezTo>
                  <a:pt x="132502" y="213427"/>
                  <a:pt x="135893" y="212037"/>
                  <a:pt x="138394" y="209536"/>
                </a:cubicBezTo>
                <a:lnTo>
                  <a:pt x="156902" y="191028"/>
                </a:lnTo>
                <a:cubicBezTo>
                  <a:pt x="166295" y="194029"/>
                  <a:pt x="176355" y="195641"/>
                  <a:pt x="186748" y="195641"/>
                </a:cubicBezTo>
                <a:close/>
                <a:moveTo>
                  <a:pt x="208980" y="53357"/>
                </a:moveTo>
                <a:cubicBezTo>
                  <a:pt x="221250" y="53357"/>
                  <a:pt x="231212" y="63318"/>
                  <a:pt x="231212" y="75589"/>
                </a:cubicBezTo>
                <a:cubicBezTo>
                  <a:pt x="231212" y="87859"/>
                  <a:pt x="221250" y="97821"/>
                  <a:pt x="208980" y="97821"/>
                </a:cubicBezTo>
                <a:cubicBezTo>
                  <a:pt x="196710" y="97821"/>
                  <a:pt x="186748" y="87859"/>
                  <a:pt x="186748" y="75589"/>
                </a:cubicBezTo>
                <a:cubicBezTo>
                  <a:pt x="186748" y="63318"/>
                  <a:pt x="196710" y="53357"/>
                  <a:pt x="208980" y="53357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1" name="Text 29"/>
          <p:cNvSpPr/>
          <p:nvPr/>
        </p:nvSpPr>
        <p:spPr>
          <a:xfrm>
            <a:off x="8789919" y="1944554"/>
            <a:ext cx="6936368" cy="379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4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建模关键要点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38951" y="2470856"/>
            <a:ext cx="7147423" cy="851335"/>
          </a:xfrm>
          <a:custGeom>
            <a:avLst/>
            <a:gdLst/>
            <a:ahLst/>
            <a:cxnLst/>
            <a:rect l="l" t="t" r="r" b="b"/>
            <a:pathLst>
              <a:path w="7147423" h="851335">
                <a:moveTo>
                  <a:pt x="94856" y="0"/>
                </a:moveTo>
                <a:lnTo>
                  <a:pt x="7052567" y="0"/>
                </a:lnTo>
                <a:cubicBezTo>
                  <a:pt x="7104955" y="0"/>
                  <a:pt x="7147423" y="42468"/>
                  <a:pt x="7147423" y="94856"/>
                </a:cubicBezTo>
                <a:lnTo>
                  <a:pt x="7147423" y="756480"/>
                </a:lnTo>
                <a:cubicBezTo>
                  <a:pt x="7147423" y="808867"/>
                  <a:pt x="7104955" y="851335"/>
                  <a:pt x="7052567" y="851335"/>
                </a:cubicBezTo>
                <a:lnTo>
                  <a:pt x="94856" y="851335"/>
                </a:lnTo>
                <a:cubicBezTo>
                  <a:pt x="42468" y="851335"/>
                  <a:pt x="0" y="808867"/>
                  <a:pt x="0" y="756480"/>
                </a:cubicBezTo>
                <a:lnTo>
                  <a:pt x="0" y="94856"/>
                </a:lnTo>
                <a:cubicBezTo>
                  <a:pt x="0" y="42468"/>
                  <a:pt x="42468" y="0"/>
                  <a:pt x="9485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15621" y="2653464"/>
            <a:ext cx="213427" cy="213427"/>
          </a:xfrm>
          <a:custGeom>
            <a:avLst/>
            <a:gdLst/>
            <a:ahLst/>
            <a:cxnLst/>
            <a:rect l="l" t="t" r="r" b="b"/>
            <a:pathLst>
              <a:path w="213427" h="213427">
                <a:moveTo>
                  <a:pt x="55774" y="15132"/>
                </a:moveTo>
                <a:cubicBezTo>
                  <a:pt x="60318" y="18300"/>
                  <a:pt x="61402" y="24552"/>
                  <a:pt x="58234" y="29054"/>
                </a:cubicBezTo>
                <a:lnTo>
                  <a:pt x="34890" y="62402"/>
                </a:lnTo>
                <a:cubicBezTo>
                  <a:pt x="33181" y="64820"/>
                  <a:pt x="30513" y="66362"/>
                  <a:pt x="27554" y="66612"/>
                </a:cubicBezTo>
                <a:cubicBezTo>
                  <a:pt x="24594" y="66863"/>
                  <a:pt x="21676" y="65862"/>
                  <a:pt x="19592" y="63778"/>
                </a:cubicBezTo>
                <a:lnTo>
                  <a:pt x="2918" y="47104"/>
                </a:lnTo>
                <a:cubicBezTo>
                  <a:pt x="-959" y="43186"/>
                  <a:pt x="-959" y="36849"/>
                  <a:pt x="2918" y="32931"/>
                </a:cubicBezTo>
                <a:cubicBezTo>
                  <a:pt x="6795" y="29013"/>
                  <a:pt x="13172" y="29054"/>
                  <a:pt x="17091" y="32931"/>
                </a:cubicBezTo>
                <a:lnTo>
                  <a:pt x="25344" y="41185"/>
                </a:lnTo>
                <a:lnTo>
                  <a:pt x="41852" y="17591"/>
                </a:lnTo>
                <a:cubicBezTo>
                  <a:pt x="45020" y="13047"/>
                  <a:pt x="51272" y="11964"/>
                  <a:pt x="55774" y="15132"/>
                </a:cubicBezTo>
                <a:close/>
                <a:moveTo>
                  <a:pt x="55774" y="81827"/>
                </a:moveTo>
                <a:cubicBezTo>
                  <a:pt x="60318" y="84996"/>
                  <a:pt x="61402" y="91248"/>
                  <a:pt x="58234" y="95750"/>
                </a:cubicBezTo>
                <a:lnTo>
                  <a:pt x="34890" y="129098"/>
                </a:lnTo>
                <a:cubicBezTo>
                  <a:pt x="33181" y="131516"/>
                  <a:pt x="30513" y="133058"/>
                  <a:pt x="27554" y="133308"/>
                </a:cubicBezTo>
                <a:cubicBezTo>
                  <a:pt x="24594" y="133558"/>
                  <a:pt x="21676" y="132558"/>
                  <a:pt x="19592" y="130474"/>
                </a:cubicBezTo>
                <a:lnTo>
                  <a:pt x="2918" y="113800"/>
                </a:lnTo>
                <a:cubicBezTo>
                  <a:pt x="-1000" y="109881"/>
                  <a:pt x="-1000" y="103545"/>
                  <a:pt x="2918" y="99669"/>
                </a:cubicBezTo>
                <a:cubicBezTo>
                  <a:pt x="6836" y="95792"/>
                  <a:pt x="13172" y="95750"/>
                  <a:pt x="17049" y="99669"/>
                </a:cubicBezTo>
                <a:lnTo>
                  <a:pt x="25303" y="107922"/>
                </a:lnTo>
                <a:lnTo>
                  <a:pt x="41810" y="84329"/>
                </a:lnTo>
                <a:cubicBezTo>
                  <a:pt x="44978" y="79785"/>
                  <a:pt x="51231" y="78701"/>
                  <a:pt x="55733" y="81869"/>
                </a:cubicBezTo>
                <a:close/>
                <a:moveTo>
                  <a:pt x="93374" y="40018"/>
                </a:moveTo>
                <a:cubicBezTo>
                  <a:pt x="93374" y="32639"/>
                  <a:pt x="99335" y="26678"/>
                  <a:pt x="106713" y="26678"/>
                </a:cubicBezTo>
                <a:lnTo>
                  <a:pt x="200088" y="26678"/>
                </a:lnTo>
                <a:cubicBezTo>
                  <a:pt x="207466" y="26678"/>
                  <a:pt x="213427" y="32639"/>
                  <a:pt x="213427" y="40018"/>
                </a:cubicBezTo>
                <a:cubicBezTo>
                  <a:pt x="213427" y="47396"/>
                  <a:pt x="207466" y="53357"/>
                  <a:pt x="200088" y="53357"/>
                </a:cubicBezTo>
                <a:lnTo>
                  <a:pt x="106713" y="53357"/>
                </a:lnTo>
                <a:cubicBezTo>
                  <a:pt x="99335" y="53357"/>
                  <a:pt x="93374" y="47396"/>
                  <a:pt x="93374" y="40018"/>
                </a:cubicBezTo>
                <a:close/>
                <a:moveTo>
                  <a:pt x="93374" y="106713"/>
                </a:moveTo>
                <a:cubicBezTo>
                  <a:pt x="93374" y="99335"/>
                  <a:pt x="99335" y="93374"/>
                  <a:pt x="106713" y="93374"/>
                </a:cubicBezTo>
                <a:lnTo>
                  <a:pt x="200088" y="93374"/>
                </a:lnTo>
                <a:cubicBezTo>
                  <a:pt x="207466" y="93374"/>
                  <a:pt x="213427" y="99335"/>
                  <a:pt x="213427" y="106713"/>
                </a:cubicBezTo>
                <a:cubicBezTo>
                  <a:pt x="213427" y="114092"/>
                  <a:pt x="207466" y="120053"/>
                  <a:pt x="200088" y="120053"/>
                </a:cubicBezTo>
                <a:lnTo>
                  <a:pt x="106713" y="120053"/>
                </a:lnTo>
                <a:cubicBezTo>
                  <a:pt x="99335" y="120053"/>
                  <a:pt x="93374" y="114092"/>
                  <a:pt x="93374" y="106713"/>
                </a:cubicBezTo>
                <a:close/>
                <a:moveTo>
                  <a:pt x="66696" y="173409"/>
                </a:moveTo>
                <a:cubicBezTo>
                  <a:pt x="66696" y="166031"/>
                  <a:pt x="72657" y="160070"/>
                  <a:pt x="80035" y="160070"/>
                </a:cubicBezTo>
                <a:lnTo>
                  <a:pt x="200088" y="160070"/>
                </a:lnTo>
                <a:cubicBezTo>
                  <a:pt x="207466" y="160070"/>
                  <a:pt x="213427" y="166031"/>
                  <a:pt x="213427" y="173409"/>
                </a:cubicBezTo>
                <a:cubicBezTo>
                  <a:pt x="213427" y="180787"/>
                  <a:pt x="207466" y="186748"/>
                  <a:pt x="200088" y="186748"/>
                </a:cubicBezTo>
                <a:lnTo>
                  <a:pt x="80035" y="186748"/>
                </a:lnTo>
                <a:cubicBezTo>
                  <a:pt x="72657" y="186748"/>
                  <a:pt x="66696" y="180787"/>
                  <a:pt x="66696" y="173409"/>
                </a:cubicBezTo>
                <a:close/>
                <a:moveTo>
                  <a:pt x="26678" y="156735"/>
                </a:moveTo>
                <a:cubicBezTo>
                  <a:pt x="35881" y="156735"/>
                  <a:pt x="43352" y="164207"/>
                  <a:pt x="43352" y="173409"/>
                </a:cubicBezTo>
                <a:cubicBezTo>
                  <a:pt x="43352" y="182612"/>
                  <a:pt x="35881" y="190083"/>
                  <a:pt x="26678" y="190083"/>
                </a:cubicBezTo>
                <a:cubicBezTo>
                  <a:pt x="17476" y="190083"/>
                  <a:pt x="10004" y="182612"/>
                  <a:pt x="10004" y="173409"/>
                </a:cubicBezTo>
                <a:cubicBezTo>
                  <a:pt x="10004" y="164207"/>
                  <a:pt x="17476" y="156735"/>
                  <a:pt x="26678" y="156735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4" name="Text 32"/>
          <p:cNvSpPr/>
          <p:nvPr/>
        </p:nvSpPr>
        <p:spPr>
          <a:xfrm>
            <a:off x="8947618" y="2617893"/>
            <a:ext cx="1612557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指标体系构建原则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85978" y="2949890"/>
            <a:ext cx="6936368" cy="2252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遵循系统性、科学性、可量化原则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38951" y="3429505"/>
            <a:ext cx="7147423" cy="851335"/>
          </a:xfrm>
          <a:custGeom>
            <a:avLst/>
            <a:gdLst/>
            <a:ahLst/>
            <a:cxnLst/>
            <a:rect l="l" t="t" r="r" b="b"/>
            <a:pathLst>
              <a:path w="7147423" h="851335">
                <a:moveTo>
                  <a:pt x="94856" y="0"/>
                </a:moveTo>
                <a:lnTo>
                  <a:pt x="7052567" y="0"/>
                </a:lnTo>
                <a:cubicBezTo>
                  <a:pt x="7104955" y="0"/>
                  <a:pt x="7147423" y="42468"/>
                  <a:pt x="7147423" y="94856"/>
                </a:cubicBezTo>
                <a:lnTo>
                  <a:pt x="7147423" y="756480"/>
                </a:lnTo>
                <a:cubicBezTo>
                  <a:pt x="7147423" y="808867"/>
                  <a:pt x="7104955" y="851335"/>
                  <a:pt x="7052567" y="851335"/>
                </a:cubicBezTo>
                <a:lnTo>
                  <a:pt x="94856" y="851335"/>
                </a:lnTo>
                <a:cubicBezTo>
                  <a:pt x="42468" y="851335"/>
                  <a:pt x="0" y="808867"/>
                  <a:pt x="0" y="756480"/>
                </a:cubicBezTo>
                <a:lnTo>
                  <a:pt x="0" y="94856"/>
                </a:lnTo>
                <a:cubicBezTo>
                  <a:pt x="0" y="42468"/>
                  <a:pt x="42468" y="0"/>
                  <a:pt x="9485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88942" y="3612101"/>
            <a:ext cx="266783" cy="213427"/>
          </a:xfrm>
          <a:custGeom>
            <a:avLst/>
            <a:gdLst/>
            <a:ahLst/>
            <a:cxnLst/>
            <a:rect l="l" t="t" r="r" b="b"/>
            <a:pathLst>
              <a:path w="266783" h="213427">
                <a:moveTo>
                  <a:pt x="160070" y="13339"/>
                </a:moveTo>
                <a:lnTo>
                  <a:pt x="213427" y="13339"/>
                </a:lnTo>
                <a:cubicBezTo>
                  <a:pt x="220805" y="13339"/>
                  <a:pt x="226766" y="19300"/>
                  <a:pt x="226766" y="26678"/>
                </a:cubicBezTo>
                <a:cubicBezTo>
                  <a:pt x="226766" y="34057"/>
                  <a:pt x="220805" y="40018"/>
                  <a:pt x="213427" y="40018"/>
                </a:cubicBezTo>
                <a:lnTo>
                  <a:pt x="166073" y="40018"/>
                </a:lnTo>
                <a:cubicBezTo>
                  <a:pt x="163905" y="50772"/>
                  <a:pt x="156527" y="59651"/>
                  <a:pt x="146731" y="63903"/>
                </a:cubicBezTo>
                <a:lnTo>
                  <a:pt x="146731" y="186748"/>
                </a:lnTo>
                <a:lnTo>
                  <a:pt x="213427" y="186748"/>
                </a:lnTo>
                <a:cubicBezTo>
                  <a:pt x="220805" y="186748"/>
                  <a:pt x="226766" y="192709"/>
                  <a:pt x="226766" y="200088"/>
                </a:cubicBezTo>
                <a:cubicBezTo>
                  <a:pt x="226766" y="207466"/>
                  <a:pt x="220805" y="213427"/>
                  <a:pt x="213427" y="213427"/>
                </a:cubicBezTo>
                <a:lnTo>
                  <a:pt x="53357" y="213427"/>
                </a:lnTo>
                <a:cubicBezTo>
                  <a:pt x="45978" y="213427"/>
                  <a:pt x="40018" y="207466"/>
                  <a:pt x="40018" y="200088"/>
                </a:cubicBezTo>
                <a:cubicBezTo>
                  <a:pt x="40018" y="192709"/>
                  <a:pt x="45978" y="186748"/>
                  <a:pt x="53357" y="186748"/>
                </a:cubicBezTo>
                <a:lnTo>
                  <a:pt x="120053" y="186748"/>
                </a:lnTo>
                <a:lnTo>
                  <a:pt x="120053" y="63903"/>
                </a:lnTo>
                <a:cubicBezTo>
                  <a:pt x="110257" y="59609"/>
                  <a:pt x="102878" y="50731"/>
                  <a:pt x="100711" y="40018"/>
                </a:cubicBezTo>
                <a:lnTo>
                  <a:pt x="53357" y="40018"/>
                </a:lnTo>
                <a:cubicBezTo>
                  <a:pt x="45978" y="40018"/>
                  <a:pt x="40018" y="34057"/>
                  <a:pt x="40018" y="26678"/>
                </a:cubicBezTo>
                <a:cubicBezTo>
                  <a:pt x="40018" y="19300"/>
                  <a:pt x="45978" y="13339"/>
                  <a:pt x="53357" y="13339"/>
                </a:cubicBezTo>
                <a:lnTo>
                  <a:pt x="106713" y="13339"/>
                </a:lnTo>
                <a:cubicBezTo>
                  <a:pt x="112799" y="5252"/>
                  <a:pt x="122470" y="0"/>
                  <a:pt x="133392" y="0"/>
                </a:cubicBezTo>
                <a:cubicBezTo>
                  <a:pt x="144313" y="0"/>
                  <a:pt x="153984" y="5252"/>
                  <a:pt x="160070" y="13339"/>
                </a:cubicBezTo>
                <a:close/>
                <a:moveTo>
                  <a:pt x="183247" y="133392"/>
                </a:moveTo>
                <a:lnTo>
                  <a:pt x="243607" y="133392"/>
                </a:lnTo>
                <a:lnTo>
                  <a:pt x="213427" y="81619"/>
                </a:lnTo>
                <a:lnTo>
                  <a:pt x="183247" y="133392"/>
                </a:lnTo>
                <a:close/>
                <a:moveTo>
                  <a:pt x="213427" y="173409"/>
                </a:moveTo>
                <a:cubicBezTo>
                  <a:pt x="187207" y="173409"/>
                  <a:pt x="165406" y="159236"/>
                  <a:pt x="160904" y="140520"/>
                </a:cubicBezTo>
                <a:cubicBezTo>
                  <a:pt x="159820" y="135934"/>
                  <a:pt x="161321" y="131224"/>
                  <a:pt x="163697" y="127139"/>
                </a:cubicBezTo>
                <a:lnTo>
                  <a:pt x="203381" y="59109"/>
                </a:lnTo>
                <a:cubicBezTo>
                  <a:pt x="205465" y="55524"/>
                  <a:pt x="209300" y="53357"/>
                  <a:pt x="213427" y="53357"/>
                </a:cubicBezTo>
                <a:cubicBezTo>
                  <a:pt x="217554" y="53357"/>
                  <a:pt x="221389" y="55566"/>
                  <a:pt x="223473" y="59109"/>
                </a:cubicBezTo>
                <a:lnTo>
                  <a:pt x="263157" y="127139"/>
                </a:lnTo>
                <a:cubicBezTo>
                  <a:pt x="265533" y="131224"/>
                  <a:pt x="267033" y="135934"/>
                  <a:pt x="265950" y="140520"/>
                </a:cubicBezTo>
                <a:cubicBezTo>
                  <a:pt x="261448" y="159195"/>
                  <a:pt x="239646" y="173409"/>
                  <a:pt x="213427" y="173409"/>
                </a:cubicBezTo>
                <a:close/>
                <a:moveTo>
                  <a:pt x="52856" y="81619"/>
                </a:moveTo>
                <a:lnTo>
                  <a:pt x="22677" y="133392"/>
                </a:lnTo>
                <a:lnTo>
                  <a:pt x="83078" y="133392"/>
                </a:lnTo>
                <a:lnTo>
                  <a:pt x="52856" y="81619"/>
                </a:lnTo>
                <a:close/>
                <a:moveTo>
                  <a:pt x="375" y="140520"/>
                </a:moveTo>
                <a:cubicBezTo>
                  <a:pt x="-709" y="135934"/>
                  <a:pt x="792" y="131224"/>
                  <a:pt x="3168" y="127139"/>
                </a:cubicBezTo>
                <a:lnTo>
                  <a:pt x="42852" y="59109"/>
                </a:lnTo>
                <a:cubicBezTo>
                  <a:pt x="44936" y="55524"/>
                  <a:pt x="48771" y="53357"/>
                  <a:pt x="52898" y="53357"/>
                </a:cubicBezTo>
                <a:cubicBezTo>
                  <a:pt x="57025" y="53357"/>
                  <a:pt x="60860" y="55566"/>
                  <a:pt x="62944" y="59109"/>
                </a:cubicBezTo>
                <a:lnTo>
                  <a:pt x="102628" y="127139"/>
                </a:lnTo>
                <a:cubicBezTo>
                  <a:pt x="105004" y="131224"/>
                  <a:pt x="106505" y="135934"/>
                  <a:pt x="105421" y="140520"/>
                </a:cubicBezTo>
                <a:cubicBezTo>
                  <a:pt x="100919" y="159195"/>
                  <a:pt x="79118" y="173409"/>
                  <a:pt x="52898" y="173409"/>
                </a:cubicBezTo>
                <a:cubicBezTo>
                  <a:pt x="26678" y="173409"/>
                  <a:pt x="4877" y="159236"/>
                  <a:pt x="375" y="14052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8" name="Text 36"/>
          <p:cNvSpPr/>
          <p:nvPr/>
        </p:nvSpPr>
        <p:spPr>
          <a:xfrm>
            <a:off x="8947618" y="3576530"/>
            <a:ext cx="1233132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权重确定策略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85978" y="3908527"/>
            <a:ext cx="6936368" cy="2252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结合主观（AHP）与客观（熵权）方法，提升合理性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38951" y="4388142"/>
            <a:ext cx="7147423" cy="851335"/>
          </a:xfrm>
          <a:custGeom>
            <a:avLst/>
            <a:gdLst/>
            <a:ahLst/>
            <a:cxnLst/>
            <a:rect l="l" t="t" r="r" b="b"/>
            <a:pathLst>
              <a:path w="7147423" h="851335">
                <a:moveTo>
                  <a:pt x="94856" y="0"/>
                </a:moveTo>
                <a:lnTo>
                  <a:pt x="7052567" y="0"/>
                </a:lnTo>
                <a:cubicBezTo>
                  <a:pt x="7104955" y="0"/>
                  <a:pt x="7147423" y="42468"/>
                  <a:pt x="7147423" y="94856"/>
                </a:cubicBezTo>
                <a:lnTo>
                  <a:pt x="7147423" y="756480"/>
                </a:lnTo>
                <a:cubicBezTo>
                  <a:pt x="7147423" y="808867"/>
                  <a:pt x="7104955" y="851335"/>
                  <a:pt x="7052567" y="851335"/>
                </a:cubicBezTo>
                <a:lnTo>
                  <a:pt x="94856" y="851335"/>
                </a:lnTo>
                <a:cubicBezTo>
                  <a:pt x="42468" y="851335"/>
                  <a:pt x="0" y="808867"/>
                  <a:pt x="0" y="756480"/>
                </a:cubicBezTo>
                <a:lnTo>
                  <a:pt x="0" y="94856"/>
                </a:lnTo>
                <a:cubicBezTo>
                  <a:pt x="0" y="42468"/>
                  <a:pt x="42468" y="0"/>
                  <a:pt x="9485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42299" y="4570738"/>
            <a:ext cx="160070" cy="213427"/>
          </a:xfrm>
          <a:custGeom>
            <a:avLst/>
            <a:gdLst/>
            <a:ahLst/>
            <a:cxnLst/>
            <a:rect l="l" t="t" r="r" b="b"/>
            <a:pathLst>
              <a:path w="160070" h="213427">
                <a:moveTo>
                  <a:pt x="26678" y="0"/>
                </a:moveTo>
                <a:cubicBezTo>
                  <a:pt x="11964" y="0"/>
                  <a:pt x="0" y="11964"/>
                  <a:pt x="0" y="26678"/>
                </a:cubicBezTo>
                <a:lnTo>
                  <a:pt x="0" y="186748"/>
                </a:lnTo>
                <a:cubicBezTo>
                  <a:pt x="0" y="201463"/>
                  <a:pt x="11964" y="213427"/>
                  <a:pt x="26678" y="213427"/>
                </a:cubicBezTo>
                <a:lnTo>
                  <a:pt x="133392" y="213427"/>
                </a:lnTo>
                <a:cubicBezTo>
                  <a:pt x="148106" y="213427"/>
                  <a:pt x="160070" y="201463"/>
                  <a:pt x="160070" y="186748"/>
                </a:cubicBezTo>
                <a:lnTo>
                  <a:pt x="160070" y="26678"/>
                </a:lnTo>
                <a:cubicBezTo>
                  <a:pt x="160070" y="11964"/>
                  <a:pt x="148106" y="0"/>
                  <a:pt x="133392" y="0"/>
                </a:cubicBezTo>
                <a:lnTo>
                  <a:pt x="26678" y="0"/>
                </a:lnTo>
                <a:close/>
                <a:moveTo>
                  <a:pt x="40018" y="26678"/>
                </a:moveTo>
                <a:lnTo>
                  <a:pt x="120053" y="26678"/>
                </a:lnTo>
                <a:cubicBezTo>
                  <a:pt x="127431" y="26678"/>
                  <a:pt x="133392" y="32639"/>
                  <a:pt x="133392" y="40018"/>
                </a:cubicBezTo>
                <a:lnTo>
                  <a:pt x="133392" y="53357"/>
                </a:lnTo>
                <a:cubicBezTo>
                  <a:pt x="133392" y="60735"/>
                  <a:pt x="127431" y="66696"/>
                  <a:pt x="120053" y="66696"/>
                </a:cubicBezTo>
                <a:lnTo>
                  <a:pt x="40018" y="66696"/>
                </a:lnTo>
                <a:cubicBezTo>
                  <a:pt x="32639" y="66696"/>
                  <a:pt x="26678" y="60735"/>
                  <a:pt x="26678" y="53357"/>
                </a:cubicBezTo>
                <a:lnTo>
                  <a:pt x="26678" y="40018"/>
                </a:lnTo>
                <a:cubicBezTo>
                  <a:pt x="26678" y="32639"/>
                  <a:pt x="32639" y="26678"/>
                  <a:pt x="40018" y="26678"/>
                </a:cubicBezTo>
                <a:close/>
                <a:moveTo>
                  <a:pt x="46687" y="96709"/>
                </a:moveTo>
                <a:cubicBezTo>
                  <a:pt x="46687" y="102231"/>
                  <a:pt x="42204" y="106713"/>
                  <a:pt x="36683" y="106713"/>
                </a:cubicBezTo>
                <a:cubicBezTo>
                  <a:pt x="31161" y="106713"/>
                  <a:pt x="26678" y="102231"/>
                  <a:pt x="26678" y="96709"/>
                </a:cubicBezTo>
                <a:cubicBezTo>
                  <a:pt x="26678" y="91187"/>
                  <a:pt x="31161" y="86705"/>
                  <a:pt x="36683" y="86705"/>
                </a:cubicBezTo>
                <a:cubicBezTo>
                  <a:pt x="42204" y="86705"/>
                  <a:pt x="46687" y="91187"/>
                  <a:pt x="46687" y="96709"/>
                </a:cubicBezTo>
                <a:close/>
                <a:moveTo>
                  <a:pt x="80035" y="106713"/>
                </a:moveTo>
                <a:cubicBezTo>
                  <a:pt x="74513" y="106713"/>
                  <a:pt x="70031" y="102231"/>
                  <a:pt x="70031" y="96709"/>
                </a:cubicBezTo>
                <a:cubicBezTo>
                  <a:pt x="70031" y="91187"/>
                  <a:pt x="74513" y="86705"/>
                  <a:pt x="80035" y="86705"/>
                </a:cubicBezTo>
                <a:cubicBezTo>
                  <a:pt x="85557" y="86705"/>
                  <a:pt x="90039" y="91187"/>
                  <a:pt x="90039" y="96709"/>
                </a:cubicBezTo>
                <a:cubicBezTo>
                  <a:pt x="90039" y="102231"/>
                  <a:pt x="85557" y="106713"/>
                  <a:pt x="80035" y="106713"/>
                </a:cubicBezTo>
                <a:close/>
                <a:moveTo>
                  <a:pt x="133392" y="96709"/>
                </a:moveTo>
                <a:cubicBezTo>
                  <a:pt x="133392" y="102231"/>
                  <a:pt x="128909" y="106713"/>
                  <a:pt x="123387" y="106713"/>
                </a:cubicBezTo>
                <a:cubicBezTo>
                  <a:pt x="117866" y="106713"/>
                  <a:pt x="113383" y="102231"/>
                  <a:pt x="113383" y="96709"/>
                </a:cubicBezTo>
                <a:cubicBezTo>
                  <a:pt x="113383" y="91187"/>
                  <a:pt x="117866" y="86705"/>
                  <a:pt x="123387" y="86705"/>
                </a:cubicBezTo>
                <a:cubicBezTo>
                  <a:pt x="128909" y="86705"/>
                  <a:pt x="133392" y="91187"/>
                  <a:pt x="133392" y="96709"/>
                </a:cubicBezTo>
                <a:close/>
                <a:moveTo>
                  <a:pt x="36683" y="146731"/>
                </a:moveTo>
                <a:cubicBezTo>
                  <a:pt x="31161" y="146731"/>
                  <a:pt x="26678" y="142248"/>
                  <a:pt x="26678" y="136726"/>
                </a:cubicBezTo>
                <a:cubicBezTo>
                  <a:pt x="26678" y="131205"/>
                  <a:pt x="31161" y="126722"/>
                  <a:pt x="36683" y="126722"/>
                </a:cubicBezTo>
                <a:cubicBezTo>
                  <a:pt x="42204" y="126722"/>
                  <a:pt x="46687" y="131205"/>
                  <a:pt x="46687" y="136726"/>
                </a:cubicBezTo>
                <a:cubicBezTo>
                  <a:pt x="46687" y="142248"/>
                  <a:pt x="42204" y="146731"/>
                  <a:pt x="36683" y="146731"/>
                </a:cubicBezTo>
                <a:close/>
                <a:moveTo>
                  <a:pt x="90039" y="136726"/>
                </a:moveTo>
                <a:cubicBezTo>
                  <a:pt x="90039" y="142248"/>
                  <a:pt x="85557" y="146731"/>
                  <a:pt x="80035" y="146731"/>
                </a:cubicBezTo>
                <a:cubicBezTo>
                  <a:pt x="74513" y="146731"/>
                  <a:pt x="70031" y="142248"/>
                  <a:pt x="70031" y="136726"/>
                </a:cubicBezTo>
                <a:cubicBezTo>
                  <a:pt x="70031" y="131205"/>
                  <a:pt x="74513" y="126722"/>
                  <a:pt x="80035" y="126722"/>
                </a:cubicBezTo>
                <a:cubicBezTo>
                  <a:pt x="85557" y="126722"/>
                  <a:pt x="90039" y="131205"/>
                  <a:pt x="90039" y="136726"/>
                </a:cubicBezTo>
                <a:close/>
                <a:moveTo>
                  <a:pt x="123387" y="146731"/>
                </a:moveTo>
                <a:cubicBezTo>
                  <a:pt x="117866" y="146731"/>
                  <a:pt x="113383" y="142248"/>
                  <a:pt x="113383" y="136726"/>
                </a:cubicBezTo>
                <a:cubicBezTo>
                  <a:pt x="113383" y="131205"/>
                  <a:pt x="117866" y="126722"/>
                  <a:pt x="123387" y="126722"/>
                </a:cubicBezTo>
                <a:cubicBezTo>
                  <a:pt x="128909" y="126722"/>
                  <a:pt x="133392" y="131205"/>
                  <a:pt x="133392" y="136726"/>
                </a:cubicBezTo>
                <a:cubicBezTo>
                  <a:pt x="133392" y="142248"/>
                  <a:pt x="128909" y="146731"/>
                  <a:pt x="123387" y="146731"/>
                </a:cubicBezTo>
                <a:close/>
                <a:moveTo>
                  <a:pt x="26678" y="176744"/>
                </a:moveTo>
                <a:cubicBezTo>
                  <a:pt x="26678" y="171200"/>
                  <a:pt x="31139" y="166740"/>
                  <a:pt x="36683" y="166740"/>
                </a:cubicBezTo>
                <a:lnTo>
                  <a:pt x="83370" y="166740"/>
                </a:lnTo>
                <a:cubicBezTo>
                  <a:pt x="88914" y="166740"/>
                  <a:pt x="93374" y="171200"/>
                  <a:pt x="93374" y="176744"/>
                </a:cubicBezTo>
                <a:cubicBezTo>
                  <a:pt x="93374" y="182288"/>
                  <a:pt x="88914" y="186748"/>
                  <a:pt x="83370" y="186748"/>
                </a:cubicBezTo>
                <a:lnTo>
                  <a:pt x="36683" y="186748"/>
                </a:lnTo>
                <a:cubicBezTo>
                  <a:pt x="31139" y="186748"/>
                  <a:pt x="26678" y="182288"/>
                  <a:pt x="26678" y="176744"/>
                </a:cubicBezTo>
                <a:close/>
                <a:moveTo>
                  <a:pt x="123387" y="166740"/>
                </a:moveTo>
                <a:cubicBezTo>
                  <a:pt x="128931" y="166740"/>
                  <a:pt x="133392" y="171200"/>
                  <a:pt x="133392" y="176744"/>
                </a:cubicBezTo>
                <a:cubicBezTo>
                  <a:pt x="133392" y="182288"/>
                  <a:pt x="128931" y="186748"/>
                  <a:pt x="123387" y="186748"/>
                </a:cubicBezTo>
                <a:cubicBezTo>
                  <a:pt x="117843" y="186748"/>
                  <a:pt x="113383" y="182288"/>
                  <a:pt x="113383" y="176744"/>
                </a:cubicBezTo>
                <a:cubicBezTo>
                  <a:pt x="113383" y="171200"/>
                  <a:pt x="117843" y="166740"/>
                  <a:pt x="123387" y="16674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2" name="Text 40"/>
          <p:cNvSpPr/>
          <p:nvPr/>
        </p:nvSpPr>
        <p:spPr>
          <a:xfrm>
            <a:off x="8947618" y="4535167"/>
            <a:ext cx="1422845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数据标准化处理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85978" y="4867164"/>
            <a:ext cx="6936368" cy="2252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消除量纲影响：正向指标归一化、负向指标逆向化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44496" y="5579188"/>
            <a:ext cx="7529220" cy="3082830"/>
          </a:xfrm>
          <a:custGeom>
            <a:avLst/>
            <a:gdLst/>
            <a:ahLst/>
            <a:cxnLst/>
            <a:rect l="l" t="t" r="r" b="b"/>
            <a:pathLst>
              <a:path w="7529220" h="3082830">
                <a:moveTo>
                  <a:pt x="142273" y="0"/>
                </a:moveTo>
                <a:lnTo>
                  <a:pt x="7386947" y="0"/>
                </a:lnTo>
                <a:cubicBezTo>
                  <a:pt x="7465522" y="0"/>
                  <a:pt x="7529220" y="63698"/>
                  <a:pt x="7529220" y="142273"/>
                </a:cubicBezTo>
                <a:lnTo>
                  <a:pt x="7529220" y="2940557"/>
                </a:lnTo>
                <a:cubicBezTo>
                  <a:pt x="7529220" y="3019132"/>
                  <a:pt x="7465522" y="3082830"/>
                  <a:pt x="7386947" y="3082830"/>
                </a:cubicBezTo>
                <a:lnTo>
                  <a:pt x="142273" y="3082830"/>
                </a:lnTo>
                <a:cubicBezTo>
                  <a:pt x="63698" y="3082830"/>
                  <a:pt x="0" y="3019132"/>
                  <a:pt x="0" y="2940557"/>
                </a:cubicBezTo>
                <a:lnTo>
                  <a:pt x="0" y="142273"/>
                </a:lnTo>
                <a:cubicBezTo>
                  <a:pt x="0" y="63750"/>
                  <a:pt x="63750" y="0"/>
                  <a:pt x="14227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7856" dist="11857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03083" y="5780758"/>
            <a:ext cx="240105" cy="213427"/>
          </a:xfrm>
          <a:custGeom>
            <a:avLst/>
            <a:gdLst/>
            <a:ahLst/>
            <a:cxnLst/>
            <a:rect l="l" t="t" r="r" b="b"/>
            <a:pathLst>
              <a:path w="240105" h="213427">
                <a:moveTo>
                  <a:pt x="213593" y="100044"/>
                </a:moveTo>
                <a:lnTo>
                  <a:pt x="140228" y="100044"/>
                </a:lnTo>
                <a:cubicBezTo>
                  <a:pt x="132850" y="100044"/>
                  <a:pt x="126889" y="94083"/>
                  <a:pt x="126889" y="86705"/>
                </a:cubicBezTo>
                <a:lnTo>
                  <a:pt x="126889" y="13339"/>
                </a:lnTo>
                <a:cubicBezTo>
                  <a:pt x="126889" y="5961"/>
                  <a:pt x="132891" y="-83"/>
                  <a:pt x="140186" y="875"/>
                </a:cubicBezTo>
                <a:cubicBezTo>
                  <a:pt x="184789" y="6795"/>
                  <a:pt x="220138" y="42143"/>
                  <a:pt x="226057" y="86746"/>
                </a:cubicBezTo>
                <a:cubicBezTo>
                  <a:pt x="227016" y="94041"/>
                  <a:pt x="220972" y="100044"/>
                  <a:pt x="213593" y="100044"/>
                </a:cubicBezTo>
                <a:close/>
                <a:moveTo>
                  <a:pt x="92791" y="15507"/>
                </a:moveTo>
                <a:cubicBezTo>
                  <a:pt x="100336" y="13923"/>
                  <a:pt x="106880" y="20092"/>
                  <a:pt x="106880" y="27804"/>
                </a:cubicBezTo>
                <a:lnTo>
                  <a:pt x="106880" y="110048"/>
                </a:lnTo>
                <a:cubicBezTo>
                  <a:pt x="106880" y="112382"/>
                  <a:pt x="107714" y="114633"/>
                  <a:pt x="109173" y="116426"/>
                </a:cubicBezTo>
                <a:lnTo>
                  <a:pt x="164239" y="182872"/>
                </a:lnTo>
                <a:cubicBezTo>
                  <a:pt x="169116" y="188749"/>
                  <a:pt x="168074" y="197628"/>
                  <a:pt x="161362" y="201255"/>
                </a:cubicBezTo>
                <a:cubicBezTo>
                  <a:pt x="147148" y="209008"/>
                  <a:pt x="130849" y="213427"/>
                  <a:pt x="113550" y="213427"/>
                </a:cubicBezTo>
                <a:cubicBezTo>
                  <a:pt x="58317" y="213427"/>
                  <a:pt x="13506" y="168615"/>
                  <a:pt x="13506" y="113383"/>
                </a:cubicBezTo>
                <a:cubicBezTo>
                  <a:pt x="13506" y="65237"/>
                  <a:pt x="47479" y="25053"/>
                  <a:pt x="92791" y="15507"/>
                </a:cubicBezTo>
                <a:close/>
                <a:moveTo>
                  <a:pt x="199170" y="120053"/>
                </a:moveTo>
                <a:lnTo>
                  <a:pt x="225849" y="120053"/>
                </a:lnTo>
                <a:cubicBezTo>
                  <a:pt x="233561" y="120053"/>
                  <a:pt x="239730" y="126597"/>
                  <a:pt x="238146" y="134142"/>
                </a:cubicBezTo>
                <a:cubicBezTo>
                  <a:pt x="233894" y="154318"/>
                  <a:pt x="223556" y="172242"/>
                  <a:pt x="209133" y="185915"/>
                </a:cubicBezTo>
                <a:cubicBezTo>
                  <a:pt x="204006" y="190792"/>
                  <a:pt x="195961" y="189750"/>
                  <a:pt x="191459" y="184289"/>
                </a:cubicBezTo>
                <a:lnTo>
                  <a:pt x="156277" y="141895"/>
                </a:lnTo>
                <a:cubicBezTo>
                  <a:pt x="149065" y="133183"/>
                  <a:pt x="155276" y="120053"/>
                  <a:pt x="166531" y="120053"/>
                </a:cubicBezTo>
                <a:lnTo>
                  <a:pt x="199129" y="120053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46" name="Text 44"/>
          <p:cNvSpPr/>
          <p:nvPr/>
        </p:nvSpPr>
        <p:spPr>
          <a:xfrm>
            <a:off x="8659492" y="5721473"/>
            <a:ext cx="7078652" cy="331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方法组合策略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10494" y="6148326"/>
            <a:ext cx="7220937" cy="758850"/>
          </a:xfrm>
          <a:custGeom>
            <a:avLst/>
            <a:gdLst/>
            <a:ahLst/>
            <a:cxnLst/>
            <a:rect l="l" t="t" r="r" b="b"/>
            <a:pathLst>
              <a:path w="7220937" h="758850">
                <a:moveTo>
                  <a:pt x="47428" y="0"/>
                </a:moveTo>
                <a:lnTo>
                  <a:pt x="7126080" y="0"/>
                </a:lnTo>
                <a:cubicBezTo>
                  <a:pt x="7178468" y="0"/>
                  <a:pt x="7220937" y="42469"/>
                  <a:pt x="7220937" y="94856"/>
                </a:cubicBezTo>
                <a:lnTo>
                  <a:pt x="7220937" y="663994"/>
                </a:lnTo>
                <a:cubicBezTo>
                  <a:pt x="7220937" y="716382"/>
                  <a:pt x="7178468" y="758850"/>
                  <a:pt x="7126080" y="758850"/>
                </a:cubicBezTo>
                <a:lnTo>
                  <a:pt x="47428" y="758850"/>
                </a:lnTo>
                <a:cubicBezTo>
                  <a:pt x="21234" y="758850"/>
                  <a:pt x="0" y="737616"/>
                  <a:pt x="0" y="711422"/>
                </a:cubicBezTo>
                <a:lnTo>
                  <a:pt x="0" y="47428"/>
                </a:lnTo>
                <a:cubicBezTo>
                  <a:pt x="0" y="21252"/>
                  <a:pt x="21252" y="0"/>
                  <a:pt x="47428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8410494" y="6148326"/>
            <a:ext cx="47428" cy="758850"/>
          </a:xfrm>
          <a:custGeom>
            <a:avLst/>
            <a:gdLst/>
            <a:ahLst/>
            <a:cxnLst/>
            <a:rect l="l" t="t" r="r" b="b"/>
            <a:pathLst>
              <a:path w="47428" h="758850">
                <a:moveTo>
                  <a:pt x="47428" y="0"/>
                </a:moveTo>
                <a:lnTo>
                  <a:pt x="47428" y="0"/>
                </a:lnTo>
                <a:lnTo>
                  <a:pt x="47428" y="758850"/>
                </a:lnTo>
                <a:lnTo>
                  <a:pt x="47428" y="758850"/>
                </a:lnTo>
                <a:cubicBezTo>
                  <a:pt x="21234" y="758850"/>
                  <a:pt x="0" y="737616"/>
                  <a:pt x="0" y="711422"/>
                </a:cubicBezTo>
                <a:lnTo>
                  <a:pt x="0" y="47428"/>
                </a:lnTo>
                <a:cubicBezTo>
                  <a:pt x="0" y="21252"/>
                  <a:pt x="21252" y="0"/>
                  <a:pt x="47428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9" name="Text 47"/>
          <p:cNvSpPr/>
          <p:nvPr/>
        </p:nvSpPr>
        <p:spPr>
          <a:xfrm>
            <a:off x="8529064" y="6243182"/>
            <a:ext cx="7102366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AHP+熵权法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29064" y="6575180"/>
            <a:ext cx="7090509" cy="2371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主客观结合，优势互补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10494" y="6954605"/>
            <a:ext cx="7220937" cy="758850"/>
          </a:xfrm>
          <a:custGeom>
            <a:avLst/>
            <a:gdLst/>
            <a:ahLst/>
            <a:cxnLst/>
            <a:rect l="l" t="t" r="r" b="b"/>
            <a:pathLst>
              <a:path w="7220937" h="758850">
                <a:moveTo>
                  <a:pt x="47428" y="0"/>
                </a:moveTo>
                <a:lnTo>
                  <a:pt x="7126080" y="0"/>
                </a:lnTo>
                <a:cubicBezTo>
                  <a:pt x="7178468" y="0"/>
                  <a:pt x="7220937" y="42469"/>
                  <a:pt x="7220937" y="94856"/>
                </a:cubicBezTo>
                <a:lnTo>
                  <a:pt x="7220937" y="663994"/>
                </a:lnTo>
                <a:cubicBezTo>
                  <a:pt x="7220937" y="716382"/>
                  <a:pt x="7178468" y="758850"/>
                  <a:pt x="7126080" y="758850"/>
                </a:cubicBezTo>
                <a:lnTo>
                  <a:pt x="47428" y="758850"/>
                </a:lnTo>
                <a:cubicBezTo>
                  <a:pt x="21234" y="758850"/>
                  <a:pt x="0" y="737616"/>
                  <a:pt x="0" y="711422"/>
                </a:cubicBezTo>
                <a:lnTo>
                  <a:pt x="0" y="47428"/>
                </a:lnTo>
                <a:cubicBezTo>
                  <a:pt x="0" y="21252"/>
                  <a:pt x="21252" y="0"/>
                  <a:pt x="47428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8410494" y="6954605"/>
            <a:ext cx="47428" cy="758850"/>
          </a:xfrm>
          <a:custGeom>
            <a:avLst/>
            <a:gdLst/>
            <a:ahLst/>
            <a:cxnLst/>
            <a:rect l="l" t="t" r="r" b="b"/>
            <a:pathLst>
              <a:path w="47428" h="758850">
                <a:moveTo>
                  <a:pt x="47428" y="0"/>
                </a:moveTo>
                <a:lnTo>
                  <a:pt x="47428" y="0"/>
                </a:lnTo>
                <a:lnTo>
                  <a:pt x="47428" y="758850"/>
                </a:lnTo>
                <a:lnTo>
                  <a:pt x="47428" y="758850"/>
                </a:lnTo>
                <a:cubicBezTo>
                  <a:pt x="21234" y="758850"/>
                  <a:pt x="0" y="737616"/>
                  <a:pt x="0" y="711422"/>
                </a:cubicBezTo>
                <a:lnTo>
                  <a:pt x="0" y="47428"/>
                </a:lnTo>
                <a:cubicBezTo>
                  <a:pt x="0" y="21252"/>
                  <a:pt x="21252" y="0"/>
                  <a:pt x="47428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53" name="Text 51"/>
          <p:cNvSpPr/>
          <p:nvPr/>
        </p:nvSpPr>
        <p:spPr>
          <a:xfrm>
            <a:off x="8529064" y="7049461"/>
            <a:ext cx="7102366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熵权法+TOPSIS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29064" y="7381458"/>
            <a:ext cx="7090509" cy="2371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客观权重+方案排序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10494" y="7760883"/>
            <a:ext cx="7220937" cy="758850"/>
          </a:xfrm>
          <a:custGeom>
            <a:avLst/>
            <a:gdLst/>
            <a:ahLst/>
            <a:cxnLst/>
            <a:rect l="l" t="t" r="r" b="b"/>
            <a:pathLst>
              <a:path w="7220937" h="758850">
                <a:moveTo>
                  <a:pt x="47428" y="0"/>
                </a:moveTo>
                <a:lnTo>
                  <a:pt x="7126080" y="0"/>
                </a:lnTo>
                <a:cubicBezTo>
                  <a:pt x="7178468" y="0"/>
                  <a:pt x="7220937" y="42469"/>
                  <a:pt x="7220937" y="94856"/>
                </a:cubicBezTo>
                <a:lnTo>
                  <a:pt x="7220937" y="663994"/>
                </a:lnTo>
                <a:cubicBezTo>
                  <a:pt x="7220937" y="716382"/>
                  <a:pt x="7178468" y="758850"/>
                  <a:pt x="7126080" y="758850"/>
                </a:cubicBezTo>
                <a:lnTo>
                  <a:pt x="47428" y="758850"/>
                </a:lnTo>
                <a:cubicBezTo>
                  <a:pt x="21234" y="758850"/>
                  <a:pt x="0" y="737616"/>
                  <a:pt x="0" y="711422"/>
                </a:cubicBezTo>
                <a:lnTo>
                  <a:pt x="0" y="47428"/>
                </a:lnTo>
                <a:cubicBezTo>
                  <a:pt x="0" y="21252"/>
                  <a:pt x="21252" y="0"/>
                  <a:pt x="47428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8410494" y="7760883"/>
            <a:ext cx="47428" cy="758850"/>
          </a:xfrm>
          <a:custGeom>
            <a:avLst/>
            <a:gdLst/>
            <a:ahLst/>
            <a:cxnLst/>
            <a:rect l="l" t="t" r="r" b="b"/>
            <a:pathLst>
              <a:path w="47428" h="758850">
                <a:moveTo>
                  <a:pt x="47428" y="0"/>
                </a:moveTo>
                <a:lnTo>
                  <a:pt x="47428" y="0"/>
                </a:lnTo>
                <a:lnTo>
                  <a:pt x="47428" y="758850"/>
                </a:lnTo>
                <a:lnTo>
                  <a:pt x="47428" y="758850"/>
                </a:lnTo>
                <a:cubicBezTo>
                  <a:pt x="21234" y="758850"/>
                  <a:pt x="0" y="737616"/>
                  <a:pt x="0" y="711422"/>
                </a:cubicBezTo>
                <a:lnTo>
                  <a:pt x="0" y="47428"/>
                </a:lnTo>
                <a:cubicBezTo>
                  <a:pt x="0" y="21252"/>
                  <a:pt x="21252" y="0"/>
                  <a:pt x="47428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57" name="Text 55"/>
          <p:cNvSpPr/>
          <p:nvPr/>
        </p:nvSpPr>
        <p:spPr>
          <a:xfrm>
            <a:off x="8529064" y="7855740"/>
            <a:ext cx="7102366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AHP+模糊综合评价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529064" y="8187737"/>
            <a:ext cx="7090509" cy="2371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处理定性+模糊信息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zlab.github.io/0d8e9eeb923c6cb30a7a8ccd74c7f3434fed2997.png"/>
          <p:cNvPicPr>
            <a:picLocks noChangeAspect="1"/>
          </p:cNvPicPr>
          <p:nvPr/>
        </p:nvPicPr>
        <p:blipFill>
          <a:blip r:embed="rId1">
            <a:alphaModFix amt="20000"/>
          </a:blip>
          <a:srcRect l="20470" r="20470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12C42">
                  <a:alpha val="95000"/>
                </a:srgbClr>
              </a:gs>
              <a:gs pos="50000">
                <a:srgbClr val="212C42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08000" y="1526542"/>
            <a:ext cx="2159000" cy="558800"/>
          </a:xfrm>
          <a:custGeom>
            <a:avLst/>
            <a:gdLst/>
            <a:ahLst/>
            <a:cxnLst/>
            <a:rect l="l" t="t" r="r" b="b"/>
            <a:pathLst>
              <a:path w="2159000" h="558800">
                <a:moveTo>
                  <a:pt x="101601" y="0"/>
                </a:moveTo>
                <a:lnTo>
                  <a:pt x="2057399" y="0"/>
                </a:lnTo>
                <a:cubicBezTo>
                  <a:pt x="2113512" y="0"/>
                  <a:pt x="2159000" y="45488"/>
                  <a:pt x="2159000" y="101601"/>
                </a:cubicBezTo>
                <a:lnTo>
                  <a:pt x="2159000" y="457199"/>
                </a:lnTo>
                <a:cubicBezTo>
                  <a:pt x="2159000" y="513312"/>
                  <a:pt x="2113512" y="558800"/>
                  <a:pt x="2057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Text 2"/>
          <p:cNvSpPr/>
          <p:nvPr/>
        </p:nvSpPr>
        <p:spPr>
          <a:xfrm>
            <a:off x="762000" y="1628142"/>
            <a:ext cx="1778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491742"/>
            <a:ext cx="158496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8F9FA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分类模型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422142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8" name="Text 5"/>
          <p:cNvSpPr/>
          <p:nvPr/>
        </p:nvSpPr>
        <p:spPr>
          <a:xfrm>
            <a:off x="508000" y="5006342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F8F9FA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划归属——通过学习样本特征进行类别判断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3080" y="6129022"/>
            <a:ext cx="3642360" cy="1483360"/>
          </a:xfrm>
          <a:custGeom>
            <a:avLst/>
            <a:gdLst/>
            <a:ahLst/>
            <a:cxnLst/>
            <a:rect l="l" t="t" r="r" b="b"/>
            <a:pathLst>
              <a:path w="3642360" h="1483360">
                <a:moveTo>
                  <a:pt x="101595" y="0"/>
                </a:moveTo>
                <a:lnTo>
                  <a:pt x="3540765" y="0"/>
                </a:lnTo>
                <a:cubicBezTo>
                  <a:pt x="3596874" y="0"/>
                  <a:pt x="3642360" y="45486"/>
                  <a:pt x="3642360" y="101595"/>
                </a:cubicBezTo>
                <a:lnTo>
                  <a:pt x="3642360" y="1381765"/>
                </a:lnTo>
                <a:cubicBezTo>
                  <a:pt x="3642360" y="1437874"/>
                  <a:pt x="3596874" y="1483360"/>
                  <a:pt x="35407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9310" y="6388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1" name="Text 8"/>
          <p:cNvSpPr/>
          <p:nvPr/>
        </p:nvSpPr>
        <p:spPr>
          <a:xfrm>
            <a:off x="772160" y="6997700"/>
            <a:ext cx="323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逻辑回归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73880" y="6129022"/>
            <a:ext cx="3642360" cy="1483360"/>
          </a:xfrm>
          <a:custGeom>
            <a:avLst/>
            <a:gdLst/>
            <a:ahLst/>
            <a:cxnLst/>
            <a:rect l="l" t="t" r="r" b="b"/>
            <a:pathLst>
              <a:path w="3642360" h="1483360">
                <a:moveTo>
                  <a:pt x="101595" y="0"/>
                </a:moveTo>
                <a:lnTo>
                  <a:pt x="3540765" y="0"/>
                </a:lnTo>
                <a:cubicBezTo>
                  <a:pt x="3596874" y="0"/>
                  <a:pt x="3642360" y="45486"/>
                  <a:pt x="3642360" y="101595"/>
                </a:cubicBezTo>
                <a:lnTo>
                  <a:pt x="3642360" y="1381765"/>
                </a:lnTo>
                <a:cubicBezTo>
                  <a:pt x="3642360" y="1437874"/>
                  <a:pt x="3596874" y="1483360"/>
                  <a:pt x="35407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90110" y="6388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57150"/>
                </a:moveTo>
                <a:cubicBezTo>
                  <a:pt x="171450" y="41344"/>
                  <a:pt x="184219" y="28575"/>
                  <a:pt x="200025" y="28575"/>
                </a:cubicBezTo>
                <a:lnTo>
                  <a:pt x="257175" y="28575"/>
                </a:lnTo>
                <a:cubicBezTo>
                  <a:pt x="272981" y="28575"/>
                  <a:pt x="285750" y="41344"/>
                  <a:pt x="285750" y="57150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250031" y="142875"/>
                </a:lnTo>
                <a:lnTo>
                  <a:pt x="250031" y="200025"/>
                </a:lnTo>
                <a:lnTo>
                  <a:pt x="357188" y="200025"/>
                </a:lnTo>
                <a:cubicBezTo>
                  <a:pt x="392728" y="200025"/>
                  <a:pt x="421481" y="228779"/>
                  <a:pt x="421481" y="264319"/>
                </a:cubicBezTo>
                <a:lnTo>
                  <a:pt x="421481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371475" y="428625"/>
                </a:lnTo>
                <a:cubicBezTo>
                  <a:pt x="355669" y="428625"/>
                  <a:pt x="342900" y="415856"/>
                  <a:pt x="342900" y="400050"/>
                </a:cubicBezTo>
                <a:lnTo>
                  <a:pt x="342900" y="342900"/>
                </a:lnTo>
                <a:cubicBezTo>
                  <a:pt x="342900" y="327094"/>
                  <a:pt x="355669" y="314325"/>
                  <a:pt x="371475" y="314325"/>
                </a:cubicBezTo>
                <a:lnTo>
                  <a:pt x="378619" y="314325"/>
                </a:lnTo>
                <a:lnTo>
                  <a:pt x="378619" y="264319"/>
                </a:lnTo>
                <a:cubicBezTo>
                  <a:pt x="378619" y="252442"/>
                  <a:pt x="369064" y="242888"/>
                  <a:pt x="357188" y="242888"/>
                </a:cubicBezTo>
                <a:lnTo>
                  <a:pt x="250031" y="242888"/>
                </a:lnTo>
                <a:lnTo>
                  <a:pt x="250031" y="314325"/>
                </a:lnTo>
                <a:lnTo>
                  <a:pt x="257175" y="314325"/>
                </a:lnTo>
                <a:cubicBezTo>
                  <a:pt x="272981" y="314325"/>
                  <a:pt x="285750" y="327094"/>
                  <a:pt x="285750" y="342900"/>
                </a:cubicBezTo>
                <a:lnTo>
                  <a:pt x="285750" y="400050"/>
                </a:lnTo>
                <a:cubicBezTo>
                  <a:pt x="285750" y="415856"/>
                  <a:pt x="272981" y="428625"/>
                  <a:pt x="257175" y="428625"/>
                </a:cubicBezTo>
                <a:lnTo>
                  <a:pt x="200025" y="428625"/>
                </a:lnTo>
                <a:cubicBezTo>
                  <a:pt x="184219" y="428625"/>
                  <a:pt x="171450" y="415856"/>
                  <a:pt x="171450" y="400050"/>
                </a:cubicBezTo>
                <a:lnTo>
                  <a:pt x="171450" y="342900"/>
                </a:lnTo>
                <a:cubicBezTo>
                  <a:pt x="171450" y="327094"/>
                  <a:pt x="184219" y="314325"/>
                  <a:pt x="200025" y="314325"/>
                </a:cubicBezTo>
                <a:lnTo>
                  <a:pt x="207169" y="314325"/>
                </a:lnTo>
                <a:lnTo>
                  <a:pt x="207169" y="242888"/>
                </a:lnTo>
                <a:lnTo>
                  <a:pt x="100013" y="242888"/>
                </a:lnTo>
                <a:cubicBezTo>
                  <a:pt x="88136" y="242888"/>
                  <a:pt x="78581" y="252442"/>
                  <a:pt x="78581" y="264319"/>
                </a:cubicBezTo>
                <a:lnTo>
                  <a:pt x="78581" y="314325"/>
                </a:lnTo>
                <a:lnTo>
                  <a:pt x="85725" y="314325"/>
                </a:lnTo>
                <a:cubicBezTo>
                  <a:pt x="101531" y="314325"/>
                  <a:pt x="114300" y="327094"/>
                  <a:pt x="114300" y="342900"/>
                </a:cubicBezTo>
                <a:lnTo>
                  <a:pt x="114300" y="400050"/>
                </a:lnTo>
                <a:cubicBezTo>
                  <a:pt x="114300" y="415856"/>
                  <a:pt x="101531" y="428625"/>
                  <a:pt x="8572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42900"/>
                </a:lnTo>
                <a:cubicBezTo>
                  <a:pt x="0" y="327094"/>
                  <a:pt x="12769" y="314325"/>
                  <a:pt x="28575" y="314325"/>
                </a:cubicBezTo>
                <a:lnTo>
                  <a:pt x="35719" y="314325"/>
                </a:lnTo>
                <a:lnTo>
                  <a:pt x="35719" y="264319"/>
                </a:lnTo>
                <a:cubicBezTo>
                  <a:pt x="35719" y="228779"/>
                  <a:pt x="64472" y="200025"/>
                  <a:pt x="100013" y="200025"/>
                </a:cubicBezTo>
                <a:lnTo>
                  <a:pt x="207169" y="200025"/>
                </a:lnTo>
                <a:lnTo>
                  <a:pt x="207169" y="142875"/>
                </a:lnTo>
                <a:lnTo>
                  <a:pt x="200025" y="142875"/>
                </a:lnTo>
                <a:cubicBezTo>
                  <a:pt x="184219" y="142875"/>
                  <a:pt x="171450" y="130106"/>
                  <a:pt x="171450" y="114300"/>
                </a:cubicBezTo>
                <a:lnTo>
                  <a:pt x="171450" y="5715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4" name="Text 11"/>
          <p:cNvSpPr/>
          <p:nvPr/>
        </p:nvSpPr>
        <p:spPr>
          <a:xfrm>
            <a:off x="4632960" y="6997700"/>
            <a:ext cx="323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决策树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34680" y="6129022"/>
            <a:ext cx="3642360" cy="1483360"/>
          </a:xfrm>
          <a:custGeom>
            <a:avLst/>
            <a:gdLst/>
            <a:ahLst/>
            <a:cxnLst/>
            <a:rect l="l" t="t" r="r" b="b"/>
            <a:pathLst>
              <a:path w="3642360" h="1483360">
                <a:moveTo>
                  <a:pt x="101595" y="0"/>
                </a:moveTo>
                <a:lnTo>
                  <a:pt x="3540765" y="0"/>
                </a:lnTo>
                <a:cubicBezTo>
                  <a:pt x="3596874" y="0"/>
                  <a:pt x="3642360" y="45486"/>
                  <a:pt x="3642360" y="101595"/>
                </a:cubicBezTo>
                <a:lnTo>
                  <a:pt x="3642360" y="1381765"/>
                </a:lnTo>
                <a:cubicBezTo>
                  <a:pt x="3642360" y="1437874"/>
                  <a:pt x="3596874" y="1483360"/>
                  <a:pt x="35407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50910" y="6388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8847" y="204043"/>
                </a:moveTo>
                <a:cubicBezTo>
                  <a:pt x="70723" y="120997"/>
                  <a:pt x="142250" y="57150"/>
                  <a:pt x="228600" y="57150"/>
                </a:cubicBezTo>
                <a:cubicBezTo>
                  <a:pt x="275927" y="57150"/>
                  <a:pt x="318790" y="76349"/>
                  <a:pt x="349865" y="107335"/>
                </a:cubicBezTo>
                <a:cubicBezTo>
                  <a:pt x="350044" y="107513"/>
                  <a:pt x="350222" y="107692"/>
                  <a:pt x="350401" y="107871"/>
                </a:cubicBezTo>
                <a:lnTo>
                  <a:pt x="357188" y="114300"/>
                </a:lnTo>
                <a:lnTo>
                  <a:pt x="314414" y="114300"/>
                </a:lnTo>
                <a:cubicBezTo>
                  <a:pt x="298609" y="114300"/>
                  <a:pt x="285839" y="127069"/>
                  <a:pt x="285839" y="142875"/>
                </a:cubicBezTo>
                <a:cubicBezTo>
                  <a:pt x="285839" y="158681"/>
                  <a:pt x="298609" y="171450"/>
                  <a:pt x="314414" y="171450"/>
                </a:cubicBezTo>
                <a:lnTo>
                  <a:pt x="428714" y="171450"/>
                </a:lnTo>
                <a:cubicBezTo>
                  <a:pt x="444520" y="171450"/>
                  <a:pt x="457289" y="158681"/>
                  <a:pt x="457289" y="142875"/>
                </a:cubicBezTo>
                <a:lnTo>
                  <a:pt x="457289" y="28575"/>
                </a:lnTo>
                <a:cubicBezTo>
                  <a:pt x="457289" y="12769"/>
                  <a:pt x="444520" y="0"/>
                  <a:pt x="428714" y="0"/>
                </a:cubicBezTo>
                <a:cubicBezTo>
                  <a:pt x="412909" y="0"/>
                  <a:pt x="400139" y="12769"/>
                  <a:pt x="400139" y="28575"/>
                </a:cubicBezTo>
                <a:lnTo>
                  <a:pt x="400139" y="76260"/>
                </a:lnTo>
                <a:lnTo>
                  <a:pt x="390049" y="66705"/>
                </a:lnTo>
                <a:cubicBezTo>
                  <a:pt x="348704" y="25539"/>
                  <a:pt x="29155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lose/>
                <a:moveTo>
                  <a:pt x="454878" y="261193"/>
                </a:moveTo>
                <a:cubicBezTo>
                  <a:pt x="457111" y="245566"/>
                  <a:pt x="446216" y="231100"/>
                  <a:pt x="430679" y="228868"/>
                </a:cubicBezTo>
                <a:cubicBezTo>
                  <a:pt x="415141" y="226635"/>
                  <a:pt x="400586" y="237530"/>
                  <a:pt x="398353" y="253067"/>
                </a:cubicBezTo>
                <a:cubicBezTo>
                  <a:pt x="386477" y="336113"/>
                  <a:pt x="314950" y="399961"/>
                  <a:pt x="228600" y="399961"/>
                </a:cubicBezTo>
                <a:cubicBezTo>
                  <a:pt x="181273" y="399961"/>
                  <a:pt x="138410" y="380762"/>
                  <a:pt x="107335" y="349776"/>
                </a:cubicBezTo>
                <a:cubicBezTo>
                  <a:pt x="107156" y="349597"/>
                  <a:pt x="106978" y="349419"/>
                  <a:pt x="106799" y="349240"/>
                </a:cubicBezTo>
                <a:lnTo>
                  <a:pt x="100012" y="342811"/>
                </a:lnTo>
                <a:lnTo>
                  <a:pt x="142786" y="342811"/>
                </a:lnTo>
                <a:cubicBezTo>
                  <a:pt x="158591" y="342811"/>
                  <a:pt x="171361" y="330041"/>
                  <a:pt x="171361" y="314236"/>
                </a:cubicBezTo>
                <a:cubicBezTo>
                  <a:pt x="171361" y="298430"/>
                  <a:pt x="158591" y="285661"/>
                  <a:pt x="142786" y="285661"/>
                </a:cubicBezTo>
                <a:lnTo>
                  <a:pt x="28575" y="285750"/>
                </a:lnTo>
                <a:cubicBezTo>
                  <a:pt x="20985" y="285750"/>
                  <a:pt x="13662" y="288786"/>
                  <a:pt x="8305" y="294233"/>
                </a:cubicBezTo>
                <a:cubicBezTo>
                  <a:pt x="2947" y="299680"/>
                  <a:pt x="-89" y="306913"/>
                  <a:pt x="0" y="314593"/>
                </a:cubicBezTo>
                <a:lnTo>
                  <a:pt x="893" y="428000"/>
                </a:lnTo>
                <a:cubicBezTo>
                  <a:pt x="982" y="443805"/>
                  <a:pt x="13930" y="456486"/>
                  <a:pt x="29736" y="456307"/>
                </a:cubicBezTo>
                <a:cubicBezTo>
                  <a:pt x="45541" y="456128"/>
                  <a:pt x="58222" y="443270"/>
                  <a:pt x="58043" y="427464"/>
                </a:cubicBezTo>
                <a:lnTo>
                  <a:pt x="57686" y="381476"/>
                </a:lnTo>
                <a:lnTo>
                  <a:pt x="67241" y="390495"/>
                </a:lnTo>
                <a:cubicBezTo>
                  <a:pt x="108585" y="431661"/>
                  <a:pt x="16564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7" name="Text 14"/>
          <p:cNvSpPr/>
          <p:nvPr/>
        </p:nvSpPr>
        <p:spPr>
          <a:xfrm>
            <a:off x="8493760" y="6997700"/>
            <a:ext cx="323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支持向量机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2095480" y="6129022"/>
            <a:ext cx="3642360" cy="1483360"/>
          </a:xfrm>
          <a:custGeom>
            <a:avLst/>
            <a:gdLst/>
            <a:ahLst/>
            <a:cxnLst/>
            <a:rect l="l" t="t" r="r" b="b"/>
            <a:pathLst>
              <a:path w="3642360" h="1483360">
                <a:moveTo>
                  <a:pt x="101595" y="0"/>
                </a:moveTo>
                <a:lnTo>
                  <a:pt x="3540765" y="0"/>
                </a:lnTo>
                <a:cubicBezTo>
                  <a:pt x="3596874" y="0"/>
                  <a:pt x="3642360" y="45486"/>
                  <a:pt x="3642360" y="101595"/>
                </a:cubicBezTo>
                <a:lnTo>
                  <a:pt x="3642360" y="1381765"/>
                </a:lnTo>
                <a:cubicBezTo>
                  <a:pt x="3642360" y="1437874"/>
                  <a:pt x="3596874" y="1483360"/>
                  <a:pt x="35407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440285" y="63881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-28575"/>
                </a:moveTo>
                <a:cubicBezTo>
                  <a:pt x="206276" y="-28575"/>
                  <a:pt x="212259" y="-25807"/>
                  <a:pt x="216366" y="-20985"/>
                </a:cubicBezTo>
                <a:lnTo>
                  <a:pt x="337810" y="121890"/>
                </a:lnTo>
                <a:cubicBezTo>
                  <a:pt x="343257" y="128230"/>
                  <a:pt x="344418" y="137160"/>
                  <a:pt x="340935" y="144750"/>
                </a:cubicBezTo>
                <a:cubicBezTo>
                  <a:pt x="337453" y="152340"/>
                  <a:pt x="329863" y="157163"/>
                  <a:pt x="321469" y="157163"/>
                </a:cubicBezTo>
                <a:lnTo>
                  <a:pt x="299234" y="157163"/>
                </a:lnTo>
                <a:lnTo>
                  <a:pt x="366385" y="236190"/>
                </a:lnTo>
                <a:cubicBezTo>
                  <a:pt x="371832" y="242530"/>
                  <a:pt x="372993" y="251460"/>
                  <a:pt x="369510" y="259050"/>
                </a:cubicBezTo>
                <a:cubicBezTo>
                  <a:pt x="366028" y="266640"/>
                  <a:pt x="358438" y="271463"/>
                  <a:pt x="350044" y="271463"/>
                </a:cubicBezTo>
                <a:lnTo>
                  <a:pt x="315664" y="271463"/>
                </a:lnTo>
                <a:lnTo>
                  <a:pt x="394960" y="364778"/>
                </a:lnTo>
                <a:cubicBezTo>
                  <a:pt x="400407" y="371118"/>
                  <a:pt x="401568" y="380048"/>
                  <a:pt x="398085" y="387638"/>
                </a:cubicBezTo>
                <a:cubicBezTo>
                  <a:pt x="394603" y="395228"/>
                  <a:pt x="387013" y="400050"/>
                  <a:pt x="378619" y="400050"/>
                </a:cubicBezTo>
                <a:lnTo>
                  <a:pt x="228600" y="400050"/>
                </a:lnTo>
                <a:lnTo>
                  <a:pt x="228600" y="457200"/>
                </a:lnTo>
                <a:cubicBezTo>
                  <a:pt x="228600" y="473006"/>
                  <a:pt x="215831" y="485775"/>
                  <a:pt x="200025" y="485775"/>
                </a:cubicBezTo>
                <a:cubicBezTo>
                  <a:pt x="184219" y="485775"/>
                  <a:pt x="171450" y="473006"/>
                  <a:pt x="171450" y="457200"/>
                </a:cubicBezTo>
                <a:lnTo>
                  <a:pt x="171450" y="400050"/>
                </a:lnTo>
                <a:lnTo>
                  <a:pt x="21431" y="400050"/>
                </a:lnTo>
                <a:cubicBezTo>
                  <a:pt x="13037" y="400050"/>
                  <a:pt x="5447" y="395228"/>
                  <a:pt x="1965" y="387638"/>
                </a:cubicBezTo>
                <a:cubicBezTo>
                  <a:pt x="-1518" y="380048"/>
                  <a:pt x="-357" y="371118"/>
                  <a:pt x="5090" y="364778"/>
                </a:cubicBezTo>
                <a:lnTo>
                  <a:pt x="84386" y="271463"/>
                </a:lnTo>
                <a:lnTo>
                  <a:pt x="50006" y="271463"/>
                </a:lnTo>
                <a:cubicBezTo>
                  <a:pt x="41612" y="271463"/>
                  <a:pt x="34022" y="266640"/>
                  <a:pt x="30540" y="259050"/>
                </a:cubicBezTo>
                <a:cubicBezTo>
                  <a:pt x="27057" y="251460"/>
                  <a:pt x="28218" y="242530"/>
                  <a:pt x="33665" y="236190"/>
                </a:cubicBezTo>
                <a:lnTo>
                  <a:pt x="100816" y="157163"/>
                </a:lnTo>
                <a:lnTo>
                  <a:pt x="78581" y="157163"/>
                </a:lnTo>
                <a:cubicBezTo>
                  <a:pt x="70187" y="157163"/>
                  <a:pt x="62597" y="152340"/>
                  <a:pt x="59115" y="144750"/>
                </a:cubicBezTo>
                <a:cubicBezTo>
                  <a:pt x="55632" y="137160"/>
                  <a:pt x="56793" y="128230"/>
                  <a:pt x="62240" y="121890"/>
                </a:cubicBezTo>
                <a:lnTo>
                  <a:pt x="183684" y="-20985"/>
                </a:lnTo>
                <a:cubicBezTo>
                  <a:pt x="187791" y="-25807"/>
                  <a:pt x="193774" y="-28575"/>
                  <a:pt x="200025" y="-28575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0" name="Text 17"/>
          <p:cNvSpPr/>
          <p:nvPr/>
        </p:nvSpPr>
        <p:spPr>
          <a:xfrm>
            <a:off x="12354560" y="6997700"/>
            <a:ext cx="323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随机森林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9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CLASSIFICATION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62000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分类模型核心概念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397000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44500" y="1693333"/>
            <a:ext cx="7556500" cy="1566333"/>
          </a:xfrm>
          <a:custGeom>
            <a:avLst/>
            <a:gdLst/>
            <a:ahLst/>
            <a:cxnLst/>
            <a:rect l="l" t="t" r="r" b="b"/>
            <a:pathLst>
              <a:path w="7556500" h="1566333">
                <a:moveTo>
                  <a:pt x="42333" y="0"/>
                </a:moveTo>
                <a:lnTo>
                  <a:pt x="7429502" y="0"/>
                </a:lnTo>
                <a:cubicBezTo>
                  <a:pt x="7499641" y="0"/>
                  <a:pt x="7556500" y="56859"/>
                  <a:pt x="7556500" y="126998"/>
                </a:cubicBezTo>
                <a:lnTo>
                  <a:pt x="7556500" y="1439335"/>
                </a:lnTo>
                <a:cubicBezTo>
                  <a:pt x="7556500" y="1509474"/>
                  <a:pt x="7499641" y="1566333"/>
                  <a:pt x="7429502" y="1566333"/>
                </a:cubicBezTo>
                <a:lnTo>
                  <a:pt x="42333" y="1566333"/>
                </a:lnTo>
                <a:cubicBezTo>
                  <a:pt x="18953" y="1566333"/>
                  <a:pt x="0" y="1547380"/>
                  <a:pt x="0" y="1524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4500" y="1693333"/>
            <a:ext cx="42333" cy="1566333"/>
          </a:xfrm>
          <a:custGeom>
            <a:avLst/>
            <a:gdLst/>
            <a:ahLst/>
            <a:cxnLst/>
            <a:rect l="l" t="t" r="r" b="b"/>
            <a:pathLst>
              <a:path w="42333" h="1566333">
                <a:moveTo>
                  <a:pt x="42333" y="0"/>
                </a:moveTo>
                <a:lnTo>
                  <a:pt x="42333" y="0"/>
                </a:lnTo>
                <a:lnTo>
                  <a:pt x="42333" y="1566333"/>
                </a:lnTo>
                <a:lnTo>
                  <a:pt x="42333" y="1566333"/>
                </a:lnTo>
                <a:cubicBezTo>
                  <a:pt x="18953" y="1566333"/>
                  <a:pt x="0" y="1547380"/>
                  <a:pt x="0" y="1524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7" name="Shape 5"/>
          <p:cNvSpPr/>
          <p:nvPr/>
        </p:nvSpPr>
        <p:spPr>
          <a:xfrm>
            <a:off x="762000" y="195779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277813" y="158750"/>
                </a:moveTo>
                <a:cubicBezTo>
                  <a:pt x="277813" y="93038"/>
                  <a:pt x="224462" y="39688"/>
                  <a:pt x="158750" y="39688"/>
                </a:cubicBezTo>
                <a:cubicBezTo>
                  <a:pt x="93038" y="39688"/>
                  <a:pt x="39688" y="93038"/>
                  <a:pt x="39688" y="158750"/>
                </a:cubicBezTo>
                <a:cubicBezTo>
                  <a:pt x="39688" y="224462"/>
                  <a:pt x="93038" y="277813"/>
                  <a:pt x="158750" y="277813"/>
                </a:cubicBezTo>
                <a:cubicBezTo>
                  <a:pt x="224462" y="277813"/>
                  <a:pt x="277813" y="224462"/>
                  <a:pt x="277813" y="158750"/>
                </a:cubicBezTo>
                <a:close/>
                <a:moveTo>
                  <a:pt x="0" y="158750"/>
                </a:moveTo>
                <a:cubicBezTo>
                  <a:pt x="0" y="71133"/>
                  <a:pt x="71133" y="0"/>
                  <a:pt x="158750" y="0"/>
                </a:cubicBezTo>
                <a:cubicBezTo>
                  <a:pt x="246367" y="0"/>
                  <a:pt x="317500" y="71133"/>
                  <a:pt x="317500" y="158750"/>
                </a:cubicBezTo>
                <a:cubicBezTo>
                  <a:pt x="317500" y="246367"/>
                  <a:pt x="246367" y="317500"/>
                  <a:pt x="158750" y="317500"/>
                </a:cubicBezTo>
                <a:cubicBezTo>
                  <a:pt x="71133" y="317500"/>
                  <a:pt x="0" y="246367"/>
                  <a:pt x="0" y="158750"/>
                </a:cubicBezTo>
                <a:close/>
                <a:moveTo>
                  <a:pt x="158750" y="208359"/>
                </a:moveTo>
                <a:cubicBezTo>
                  <a:pt x="186130" y="208359"/>
                  <a:pt x="208359" y="186130"/>
                  <a:pt x="208359" y="158750"/>
                </a:cubicBezTo>
                <a:cubicBezTo>
                  <a:pt x="208359" y="131370"/>
                  <a:pt x="186130" y="109141"/>
                  <a:pt x="158750" y="109141"/>
                </a:cubicBezTo>
                <a:cubicBezTo>
                  <a:pt x="131370" y="109141"/>
                  <a:pt x="109141" y="131370"/>
                  <a:pt x="109141" y="158750"/>
                </a:cubicBezTo>
                <a:cubicBezTo>
                  <a:pt x="109141" y="186130"/>
                  <a:pt x="131370" y="208359"/>
                  <a:pt x="158750" y="208359"/>
                </a:cubicBezTo>
                <a:close/>
                <a:moveTo>
                  <a:pt x="158750" y="69453"/>
                </a:moveTo>
                <a:cubicBezTo>
                  <a:pt x="208034" y="69453"/>
                  <a:pt x="248047" y="109466"/>
                  <a:pt x="248047" y="158750"/>
                </a:cubicBezTo>
                <a:cubicBezTo>
                  <a:pt x="248047" y="208034"/>
                  <a:pt x="208034" y="248047"/>
                  <a:pt x="158750" y="248047"/>
                </a:cubicBezTo>
                <a:cubicBezTo>
                  <a:pt x="109466" y="248047"/>
                  <a:pt x="69453" y="208034"/>
                  <a:pt x="69453" y="158750"/>
                </a:cubicBezTo>
                <a:cubicBezTo>
                  <a:pt x="69453" y="109466"/>
                  <a:pt x="109466" y="69453"/>
                  <a:pt x="158750" y="69453"/>
                </a:cubicBezTo>
                <a:close/>
                <a:moveTo>
                  <a:pt x="138906" y="158750"/>
                </a:moveTo>
                <a:cubicBezTo>
                  <a:pt x="138906" y="147798"/>
                  <a:pt x="147798" y="138906"/>
                  <a:pt x="158750" y="138906"/>
                </a:cubicBezTo>
                <a:cubicBezTo>
                  <a:pt x="169702" y="138906"/>
                  <a:pt x="178594" y="147798"/>
                  <a:pt x="178594" y="158750"/>
                </a:cubicBezTo>
                <a:cubicBezTo>
                  <a:pt x="178594" y="169702"/>
                  <a:pt x="169702" y="178594"/>
                  <a:pt x="158750" y="178594"/>
                </a:cubicBezTo>
                <a:cubicBezTo>
                  <a:pt x="147798" y="178594"/>
                  <a:pt x="138906" y="169702"/>
                  <a:pt x="138906" y="15875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8" name="Text 6"/>
          <p:cNvSpPr/>
          <p:nvPr/>
        </p:nvSpPr>
        <p:spPr>
          <a:xfrm>
            <a:off x="1243542" y="1947333"/>
            <a:ext cx="11430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核心定义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9667" y="2455209"/>
            <a:ext cx="7112000" cy="550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通过学习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已知类别的样本数据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，挖掘样本特征与类别之间的映射关系，进而对未知类别的新样本进行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类别判断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grpSp>
        <p:nvGrpSpPr>
          <p:cNvPr id="66" name="组合 65"/>
          <p:cNvGrpSpPr/>
          <p:nvPr/>
        </p:nvGrpSpPr>
        <p:grpSpPr>
          <a:xfrm>
            <a:off x="423545" y="3922395"/>
            <a:ext cx="7576820" cy="2528570"/>
            <a:chOff x="667" y="5466"/>
            <a:chExt cx="11932" cy="3982"/>
          </a:xfrm>
        </p:grpSpPr>
        <p:sp>
          <p:nvSpPr>
            <p:cNvPr id="10" name="Shape 8"/>
            <p:cNvSpPr/>
            <p:nvPr/>
          </p:nvSpPr>
          <p:spPr>
            <a:xfrm>
              <a:off x="667" y="5466"/>
              <a:ext cx="11933" cy="3983"/>
            </a:xfrm>
            <a:custGeom>
              <a:avLst/>
              <a:gdLst/>
              <a:ahLst/>
              <a:cxnLst/>
              <a:rect l="l" t="t" r="r" b="b"/>
              <a:pathLst>
                <a:path w="7577667" h="2529417">
                  <a:moveTo>
                    <a:pt x="127002" y="0"/>
                  </a:moveTo>
                  <a:lnTo>
                    <a:pt x="7450665" y="0"/>
                  </a:lnTo>
                  <a:cubicBezTo>
                    <a:pt x="7520806" y="0"/>
                    <a:pt x="7577667" y="56861"/>
                    <a:pt x="7577667" y="127002"/>
                  </a:cubicBezTo>
                  <a:lnTo>
                    <a:pt x="7577667" y="2402415"/>
                  </a:lnTo>
                  <a:cubicBezTo>
                    <a:pt x="7577667" y="2472556"/>
                    <a:pt x="7520806" y="2529417"/>
                    <a:pt x="7450665" y="2529417"/>
                  </a:cubicBezTo>
                  <a:lnTo>
                    <a:pt x="127002" y="2529417"/>
                  </a:lnTo>
                  <a:cubicBezTo>
                    <a:pt x="56861" y="2529417"/>
                    <a:pt x="0" y="2472556"/>
                    <a:pt x="0" y="2402415"/>
                  </a:cubicBezTo>
                  <a:lnTo>
                    <a:pt x="0" y="127002"/>
                  </a:lnTo>
                  <a:cubicBezTo>
                    <a:pt x="0" y="56908"/>
                    <a:pt x="56908" y="0"/>
                    <a:pt x="127002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58750" dist="10583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1" name="Shape 9"/>
            <p:cNvSpPr/>
            <p:nvPr/>
          </p:nvSpPr>
          <p:spPr>
            <a:xfrm>
              <a:off x="1092" y="5933"/>
              <a:ext cx="450" cy="400"/>
            </a:xfrm>
            <a:custGeom>
              <a:avLst/>
              <a:gdLst/>
              <a:ahLst/>
              <a:cxnLst/>
              <a:rect l="l" t="t" r="r" b="b"/>
              <a:pathLst>
                <a:path w="285750" h="254000">
                  <a:moveTo>
                    <a:pt x="199033" y="19397"/>
                  </a:moveTo>
                  <a:lnTo>
                    <a:pt x="272554" y="93960"/>
                  </a:lnTo>
                  <a:cubicBezTo>
                    <a:pt x="286296" y="107900"/>
                    <a:pt x="286296" y="130225"/>
                    <a:pt x="272554" y="144165"/>
                  </a:cubicBezTo>
                  <a:lnTo>
                    <a:pt x="194965" y="222696"/>
                  </a:lnTo>
                  <a:cubicBezTo>
                    <a:pt x="190351" y="227360"/>
                    <a:pt x="182811" y="227409"/>
                    <a:pt x="178147" y="222796"/>
                  </a:cubicBezTo>
                  <a:cubicBezTo>
                    <a:pt x="173484" y="218182"/>
                    <a:pt x="173434" y="210641"/>
                    <a:pt x="178048" y="205978"/>
                  </a:cubicBezTo>
                  <a:lnTo>
                    <a:pt x="255637" y="127397"/>
                  </a:lnTo>
                  <a:cubicBezTo>
                    <a:pt x="260201" y="122783"/>
                    <a:pt x="260201" y="115292"/>
                    <a:pt x="255637" y="110679"/>
                  </a:cubicBezTo>
                  <a:lnTo>
                    <a:pt x="182066" y="36165"/>
                  </a:lnTo>
                  <a:cubicBezTo>
                    <a:pt x="177453" y="31502"/>
                    <a:pt x="177502" y="23961"/>
                    <a:pt x="182166" y="19348"/>
                  </a:cubicBezTo>
                  <a:cubicBezTo>
                    <a:pt x="186829" y="14734"/>
                    <a:pt x="194370" y="14784"/>
                    <a:pt x="198983" y="19447"/>
                  </a:cubicBezTo>
                  <a:close/>
                  <a:moveTo>
                    <a:pt x="15925" y="113854"/>
                  </a:moveTo>
                  <a:lnTo>
                    <a:pt x="15925" y="47625"/>
                  </a:lnTo>
                  <a:cubicBezTo>
                    <a:pt x="15925" y="30113"/>
                    <a:pt x="30163" y="15875"/>
                    <a:pt x="47675" y="15875"/>
                  </a:cubicBezTo>
                  <a:lnTo>
                    <a:pt x="113903" y="15875"/>
                  </a:lnTo>
                  <a:cubicBezTo>
                    <a:pt x="122337" y="15875"/>
                    <a:pt x="130423" y="19199"/>
                    <a:pt x="136376" y="25152"/>
                  </a:cubicBezTo>
                  <a:lnTo>
                    <a:pt x="207814" y="96589"/>
                  </a:lnTo>
                  <a:cubicBezTo>
                    <a:pt x="220216" y="108992"/>
                    <a:pt x="220216" y="129084"/>
                    <a:pt x="207814" y="141486"/>
                  </a:cubicBezTo>
                  <a:lnTo>
                    <a:pt x="141585" y="207714"/>
                  </a:lnTo>
                  <a:cubicBezTo>
                    <a:pt x="129183" y="220117"/>
                    <a:pt x="109091" y="220117"/>
                    <a:pt x="96689" y="207714"/>
                  </a:cubicBezTo>
                  <a:lnTo>
                    <a:pt x="25251" y="136277"/>
                  </a:lnTo>
                  <a:cubicBezTo>
                    <a:pt x="19298" y="130324"/>
                    <a:pt x="15974" y="122238"/>
                    <a:pt x="15974" y="113804"/>
                  </a:cubicBezTo>
                  <a:close/>
                  <a:moveTo>
                    <a:pt x="87362" y="71438"/>
                  </a:moveTo>
                  <a:cubicBezTo>
                    <a:pt x="87362" y="62676"/>
                    <a:pt x="80249" y="55563"/>
                    <a:pt x="71487" y="55563"/>
                  </a:cubicBezTo>
                  <a:cubicBezTo>
                    <a:pt x="62725" y="55563"/>
                    <a:pt x="55612" y="62676"/>
                    <a:pt x="55612" y="71438"/>
                  </a:cubicBezTo>
                  <a:cubicBezTo>
                    <a:pt x="55612" y="80199"/>
                    <a:pt x="62725" y="87313"/>
                    <a:pt x="71487" y="87313"/>
                  </a:cubicBezTo>
                  <a:cubicBezTo>
                    <a:pt x="80249" y="87313"/>
                    <a:pt x="87362" y="80199"/>
                    <a:pt x="87362" y="71438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  <p:sp>
          <p:nvSpPr>
            <p:cNvPr id="12" name="Text 10"/>
            <p:cNvSpPr/>
            <p:nvPr/>
          </p:nvSpPr>
          <p:spPr>
            <a:xfrm>
              <a:off x="1567" y="5866"/>
              <a:ext cx="10833" cy="5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000" b="1" dirty="0">
                  <a:solidFill>
                    <a:srgbClr val="212C42"/>
                  </a:solidFill>
                  <a:latin typeface="阿里妈妈数黑体" pitchFamily="34" charset="-122"/>
                  <a:ea typeface="阿里妈妈数黑体" pitchFamily="34" charset="-122"/>
                  <a:cs typeface="阿里妈妈数黑体" pitchFamily="34" charset="-120"/>
                </a:rPr>
                <a:t>分类方式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80" y="6680"/>
              <a:ext cx="5410" cy="2360"/>
            </a:xfrm>
            <a:custGeom>
              <a:avLst/>
              <a:gdLst/>
              <a:ahLst/>
              <a:cxnLst/>
              <a:rect l="l" t="t" r="r" b="b"/>
              <a:pathLst>
                <a:path w="3435350" h="1498600">
                  <a:moveTo>
                    <a:pt x="84671" y="0"/>
                  </a:moveTo>
                  <a:lnTo>
                    <a:pt x="3350679" y="0"/>
                  </a:lnTo>
                  <a:cubicBezTo>
                    <a:pt x="3397442" y="0"/>
                    <a:pt x="3435350" y="37908"/>
                    <a:pt x="3435350" y="84671"/>
                  </a:cubicBezTo>
                  <a:lnTo>
                    <a:pt x="3435350" y="1413929"/>
                  </a:lnTo>
                  <a:cubicBezTo>
                    <a:pt x="3435350" y="1460692"/>
                    <a:pt x="3397442" y="1498600"/>
                    <a:pt x="3350679" y="1498600"/>
                  </a:cubicBezTo>
                  <a:lnTo>
                    <a:pt x="84671" y="1498600"/>
                  </a:lnTo>
                  <a:cubicBezTo>
                    <a:pt x="37908" y="1498600"/>
                    <a:pt x="0" y="1460692"/>
                    <a:pt x="0" y="1413929"/>
                  </a:cubicBezTo>
                  <a:lnTo>
                    <a:pt x="0" y="84671"/>
                  </a:lnTo>
                  <a:cubicBezTo>
                    <a:pt x="0" y="37908"/>
                    <a:pt x="37908" y="0"/>
                    <a:pt x="84671" y="0"/>
                  </a:cubicBezTo>
                  <a:close/>
                </a:path>
              </a:pathLst>
            </a:custGeom>
            <a:solidFill>
              <a:srgbClr val="16A085">
                <a:alpha val="10196"/>
              </a:srgbClr>
            </a:solidFill>
            <a:ln w="20320">
              <a:solidFill>
                <a:srgbClr val="16A085">
                  <a:alpha val="30196"/>
                </a:srgbClr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3446" y="6960"/>
              <a:ext cx="675" cy="600"/>
            </a:xfrm>
            <a:custGeom>
              <a:avLst/>
              <a:gdLst/>
              <a:ahLst/>
              <a:cxnLst/>
              <a:rect l="l" t="t" r="r" b="b"/>
              <a:pathLst>
                <a:path w="428625" h="381000">
                  <a:moveTo>
                    <a:pt x="142875" y="47625"/>
                  </a:moveTo>
                  <a:cubicBezTo>
                    <a:pt x="63996" y="47625"/>
                    <a:pt x="0" y="111621"/>
                    <a:pt x="0" y="190500"/>
                  </a:cubicBezTo>
                  <a:cubicBezTo>
                    <a:pt x="0" y="269379"/>
                    <a:pt x="63996" y="333375"/>
                    <a:pt x="142875" y="333375"/>
                  </a:cubicBezTo>
                  <a:lnTo>
                    <a:pt x="285750" y="333375"/>
                  </a:lnTo>
                  <a:cubicBezTo>
                    <a:pt x="364629" y="333375"/>
                    <a:pt x="428625" y="269379"/>
                    <a:pt x="428625" y="190500"/>
                  </a:cubicBezTo>
                  <a:cubicBezTo>
                    <a:pt x="428625" y="111621"/>
                    <a:pt x="364629" y="47625"/>
                    <a:pt x="285750" y="47625"/>
                  </a:cubicBezTo>
                  <a:lnTo>
                    <a:pt x="142875" y="47625"/>
                  </a:lnTo>
                  <a:close/>
                  <a:moveTo>
                    <a:pt x="285750" y="119063"/>
                  </a:moveTo>
                  <a:cubicBezTo>
                    <a:pt x="325177" y="119063"/>
                    <a:pt x="357188" y="151073"/>
                    <a:pt x="357188" y="190500"/>
                  </a:cubicBezTo>
                  <a:cubicBezTo>
                    <a:pt x="357188" y="229927"/>
                    <a:pt x="325177" y="261938"/>
                    <a:pt x="285750" y="261938"/>
                  </a:cubicBezTo>
                  <a:cubicBezTo>
                    <a:pt x="246323" y="261938"/>
                    <a:pt x="214313" y="229927"/>
                    <a:pt x="214313" y="190500"/>
                  </a:cubicBezTo>
                  <a:cubicBezTo>
                    <a:pt x="214313" y="151073"/>
                    <a:pt x="246323" y="119063"/>
                    <a:pt x="285750" y="119063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  <p:sp>
          <p:nvSpPr>
            <p:cNvPr id="15" name="Text 13"/>
            <p:cNvSpPr/>
            <p:nvPr/>
          </p:nvSpPr>
          <p:spPr>
            <a:xfrm>
              <a:off x="1277" y="7760"/>
              <a:ext cx="5017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65" b="1" dirty="0">
                  <a:solidFill>
                    <a:srgbClr val="212C42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二分类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293" y="8360"/>
              <a:ext cx="4983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35" dirty="0">
                  <a:solidFill>
                    <a:srgbClr val="5B677D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合格/不合格、垃圾邮件/正常邮件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780" y="6680"/>
              <a:ext cx="5410" cy="2360"/>
            </a:xfrm>
            <a:custGeom>
              <a:avLst/>
              <a:gdLst/>
              <a:ahLst/>
              <a:cxnLst/>
              <a:rect l="l" t="t" r="r" b="b"/>
              <a:pathLst>
                <a:path w="3435350" h="1498600">
                  <a:moveTo>
                    <a:pt x="84671" y="0"/>
                  </a:moveTo>
                  <a:lnTo>
                    <a:pt x="3350679" y="0"/>
                  </a:lnTo>
                  <a:cubicBezTo>
                    <a:pt x="3397442" y="0"/>
                    <a:pt x="3435350" y="37908"/>
                    <a:pt x="3435350" y="84671"/>
                  </a:cubicBezTo>
                  <a:lnTo>
                    <a:pt x="3435350" y="1413929"/>
                  </a:lnTo>
                  <a:cubicBezTo>
                    <a:pt x="3435350" y="1460692"/>
                    <a:pt x="3397442" y="1498600"/>
                    <a:pt x="3350679" y="1498600"/>
                  </a:cubicBezTo>
                  <a:lnTo>
                    <a:pt x="84671" y="1498600"/>
                  </a:lnTo>
                  <a:cubicBezTo>
                    <a:pt x="37908" y="1498600"/>
                    <a:pt x="0" y="1460692"/>
                    <a:pt x="0" y="1413929"/>
                  </a:cubicBezTo>
                  <a:lnTo>
                    <a:pt x="0" y="84671"/>
                  </a:lnTo>
                  <a:cubicBezTo>
                    <a:pt x="0" y="37908"/>
                    <a:pt x="37908" y="0"/>
                    <a:pt x="84671" y="0"/>
                  </a:cubicBezTo>
                  <a:close/>
                </a:path>
              </a:pathLst>
            </a:custGeom>
            <a:solidFill>
              <a:srgbClr val="212C42">
                <a:alpha val="10196"/>
              </a:srgbClr>
            </a:solidFill>
            <a:ln w="20320">
              <a:solidFill>
                <a:srgbClr val="212C42">
                  <a:alpha val="30196"/>
                </a:srgbClr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9183" y="6960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5719" y="107156"/>
                  </a:moveTo>
                  <a:cubicBezTo>
                    <a:pt x="55432" y="107156"/>
                    <a:pt x="71438" y="91151"/>
                    <a:pt x="71438" y="71438"/>
                  </a:cubicBezTo>
                  <a:cubicBezTo>
                    <a:pt x="71438" y="51724"/>
                    <a:pt x="55432" y="35719"/>
                    <a:pt x="35719" y="35719"/>
                  </a:cubicBezTo>
                  <a:cubicBezTo>
                    <a:pt x="16005" y="35719"/>
                    <a:pt x="0" y="51724"/>
                    <a:pt x="0" y="71438"/>
                  </a:cubicBezTo>
                  <a:cubicBezTo>
                    <a:pt x="0" y="91151"/>
                    <a:pt x="16005" y="107156"/>
                    <a:pt x="35719" y="107156"/>
                  </a:cubicBezTo>
                  <a:close/>
                  <a:moveTo>
                    <a:pt x="142875" y="47625"/>
                  </a:moveTo>
                  <a:cubicBezTo>
                    <a:pt x="129704" y="47625"/>
                    <a:pt x="119063" y="58266"/>
                    <a:pt x="119063" y="71438"/>
                  </a:cubicBezTo>
                  <a:cubicBezTo>
                    <a:pt x="119063" y="84609"/>
                    <a:pt x="129704" y="95250"/>
                    <a:pt x="142875" y="95250"/>
                  </a:cubicBezTo>
                  <a:lnTo>
                    <a:pt x="357188" y="95250"/>
                  </a:lnTo>
                  <a:cubicBezTo>
                    <a:pt x="370359" y="95250"/>
                    <a:pt x="381000" y="84609"/>
                    <a:pt x="381000" y="71438"/>
                  </a:cubicBezTo>
                  <a:cubicBezTo>
                    <a:pt x="381000" y="58266"/>
                    <a:pt x="370359" y="47625"/>
                    <a:pt x="357188" y="47625"/>
                  </a:cubicBezTo>
                  <a:lnTo>
                    <a:pt x="142875" y="47625"/>
                  </a:lnTo>
                  <a:close/>
                  <a:moveTo>
                    <a:pt x="142875" y="166688"/>
                  </a:moveTo>
                  <a:cubicBezTo>
                    <a:pt x="129704" y="166688"/>
                    <a:pt x="119063" y="177329"/>
                    <a:pt x="119063" y="190500"/>
                  </a:cubicBezTo>
                  <a:cubicBezTo>
                    <a:pt x="119063" y="203671"/>
                    <a:pt x="129704" y="214313"/>
                    <a:pt x="142875" y="214313"/>
                  </a:cubicBezTo>
                  <a:lnTo>
                    <a:pt x="357188" y="214313"/>
                  </a:lnTo>
                  <a:cubicBezTo>
                    <a:pt x="370359" y="214313"/>
                    <a:pt x="381000" y="203671"/>
                    <a:pt x="381000" y="190500"/>
                  </a:cubicBezTo>
                  <a:cubicBezTo>
                    <a:pt x="381000" y="177329"/>
                    <a:pt x="370359" y="166688"/>
                    <a:pt x="357188" y="166688"/>
                  </a:cubicBezTo>
                  <a:lnTo>
                    <a:pt x="142875" y="166688"/>
                  </a:lnTo>
                  <a:close/>
                  <a:moveTo>
                    <a:pt x="142875" y="285750"/>
                  </a:moveTo>
                  <a:cubicBezTo>
                    <a:pt x="129704" y="285750"/>
                    <a:pt x="119063" y="296391"/>
                    <a:pt x="119063" y="309563"/>
                  </a:cubicBezTo>
                  <a:cubicBezTo>
                    <a:pt x="119063" y="322734"/>
                    <a:pt x="129704" y="333375"/>
                    <a:pt x="142875" y="333375"/>
                  </a:cubicBezTo>
                  <a:lnTo>
                    <a:pt x="357188" y="333375"/>
                  </a:lnTo>
                  <a:cubicBezTo>
                    <a:pt x="370359" y="333375"/>
                    <a:pt x="381000" y="322734"/>
                    <a:pt x="381000" y="309563"/>
                  </a:cubicBezTo>
                  <a:cubicBezTo>
                    <a:pt x="381000" y="296391"/>
                    <a:pt x="370359" y="285750"/>
                    <a:pt x="357188" y="285750"/>
                  </a:cubicBezTo>
                  <a:lnTo>
                    <a:pt x="142875" y="285750"/>
                  </a:lnTo>
                  <a:close/>
                  <a:moveTo>
                    <a:pt x="35719" y="345281"/>
                  </a:moveTo>
                  <a:cubicBezTo>
                    <a:pt x="55432" y="345281"/>
                    <a:pt x="71438" y="329276"/>
                    <a:pt x="71438" y="309563"/>
                  </a:cubicBezTo>
                  <a:cubicBezTo>
                    <a:pt x="71438" y="289849"/>
                    <a:pt x="55432" y="273844"/>
                    <a:pt x="35719" y="273844"/>
                  </a:cubicBezTo>
                  <a:cubicBezTo>
                    <a:pt x="16005" y="273844"/>
                    <a:pt x="0" y="289849"/>
                    <a:pt x="0" y="309563"/>
                  </a:cubicBezTo>
                  <a:cubicBezTo>
                    <a:pt x="0" y="329276"/>
                    <a:pt x="16005" y="345281"/>
                    <a:pt x="35719" y="345281"/>
                  </a:cubicBezTo>
                  <a:close/>
                  <a:moveTo>
                    <a:pt x="71438" y="190500"/>
                  </a:moveTo>
                  <a:cubicBezTo>
                    <a:pt x="71438" y="170786"/>
                    <a:pt x="55432" y="154781"/>
                    <a:pt x="35719" y="154781"/>
                  </a:cubicBezTo>
                  <a:cubicBezTo>
                    <a:pt x="16005" y="154781"/>
                    <a:pt x="0" y="170786"/>
                    <a:pt x="0" y="190500"/>
                  </a:cubicBezTo>
                  <a:cubicBezTo>
                    <a:pt x="0" y="210214"/>
                    <a:pt x="16005" y="226219"/>
                    <a:pt x="35719" y="226219"/>
                  </a:cubicBezTo>
                  <a:cubicBezTo>
                    <a:pt x="55432" y="226219"/>
                    <a:pt x="71438" y="210214"/>
                    <a:pt x="71438" y="190500"/>
                  </a:cubicBezTo>
                  <a:close/>
                </a:path>
              </a:pathLst>
            </a:custGeom>
            <a:solidFill>
              <a:srgbClr val="212C42"/>
            </a:solidFill>
          </p:spPr>
        </p:sp>
        <p:sp>
          <p:nvSpPr>
            <p:cNvPr id="19" name="Text 17"/>
            <p:cNvSpPr/>
            <p:nvPr/>
          </p:nvSpPr>
          <p:spPr>
            <a:xfrm>
              <a:off x="6977" y="7760"/>
              <a:ext cx="5017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65" b="1" dirty="0">
                  <a:solidFill>
                    <a:srgbClr val="212C42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多分类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993" y="8360"/>
              <a:ext cx="4983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35" dirty="0">
                  <a:solidFill>
                    <a:srgbClr val="5B677D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优秀/良好/一般、不同疾病类型</a:t>
              </a:r>
              <a:endParaRPr lang="en-US" sz="1600" dirty="0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423545" y="7002145"/>
            <a:ext cx="7562850" cy="1413510"/>
            <a:chOff x="680" y="9800"/>
            <a:chExt cx="11910" cy="2226"/>
          </a:xfrm>
        </p:grpSpPr>
        <p:sp>
          <p:nvSpPr>
            <p:cNvPr id="21" name="Shape 19"/>
            <p:cNvSpPr/>
            <p:nvPr/>
          </p:nvSpPr>
          <p:spPr>
            <a:xfrm>
              <a:off x="680" y="9800"/>
              <a:ext cx="11910" cy="2227"/>
            </a:xfrm>
            <a:custGeom>
              <a:avLst/>
              <a:gdLst/>
              <a:ahLst/>
              <a:cxnLst/>
              <a:rect l="l" t="t" r="r" b="b"/>
              <a:pathLst>
                <a:path w="7562850" h="1413933">
                  <a:moveTo>
                    <a:pt x="126999" y="0"/>
                  </a:moveTo>
                  <a:lnTo>
                    <a:pt x="7435851" y="0"/>
                  </a:lnTo>
                  <a:cubicBezTo>
                    <a:pt x="7505990" y="0"/>
                    <a:pt x="7562850" y="56860"/>
                    <a:pt x="7562850" y="126999"/>
                  </a:cubicBezTo>
                  <a:lnTo>
                    <a:pt x="7562850" y="1286934"/>
                  </a:lnTo>
                  <a:cubicBezTo>
                    <a:pt x="7562850" y="1357074"/>
                    <a:pt x="7505990" y="1413933"/>
                    <a:pt x="7435851" y="1413933"/>
                  </a:cubicBezTo>
                  <a:lnTo>
                    <a:pt x="126999" y="1413933"/>
                  </a:lnTo>
                  <a:cubicBezTo>
                    <a:pt x="56907" y="1413933"/>
                    <a:pt x="0" y="1357027"/>
                    <a:pt x="0" y="1286934"/>
                  </a:cubicBezTo>
                  <a:lnTo>
                    <a:pt x="0" y="126999"/>
                  </a:lnTo>
                  <a:cubicBezTo>
                    <a:pt x="0" y="56907"/>
                    <a:pt x="56907" y="0"/>
                    <a:pt x="126999" y="0"/>
                  </a:cubicBezTo>
                  <a:close/>
                </a:path>
              </a:pathLst>
            </a:custGeom>
            <a:solidFill>
              <a:srgbClr val="16A085">
                <a:alpha val="10196"/>
              </a:srgbClr>
            </a:solidFill>
            <a:ln w="20320">
              <a:solidFill>
                <a:srgbClr val="16A085">
                  <a:alpha val="30196"/>
                </a:srgbClr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1127" y="10180"/>
              <a:ext cx="300" cy="400"/>
            </a:xfrm>
            <a:custGeom>
              <a:avLst/>
              <a:gdLst/>
              <a:ahLst/>
              <a:cxnLst/>
              <a:rect l="l" t="t" r="r" b="b"/>
              <a:pathLst>
                <a:path w="190500" h="254000">
                  <a:moveTo>
                    <a:pt x="145306" y="190500"/>
                  </a:moveTo>
                  <a:cubicBezTo>
                    <a:pt x="148927" y="179437"/>
                    <a:pt x="156170" y="169416"/>
                    <a:pt x="164356" y="160784"/>
                  </a:cubicBezTo>
                  <a:cubicBezTo>
                    <a:pt x="180578" y="143718"/>
                    <a:pt x="190500" y="120650"/>
                    <a:pt x="190500" y="95250"/>
                  </a:cubicBezTo>
                  <a:cubicBezTo>
                    <a:pt x="190500" y="42664"/>
                    <a:pt x="147836" y="0"/>
                    <a:pt x="95250" y="0"/>
                  </a:cubicBezTo>
                  <a:cubicBezTo>
                    <a:pt x="42664" y="0"/>
                    <a:pt x="0" y="42664"/>
                    <a:pt x="0" y="95250"/>
                  </a:cubicBezTo>
                  <a:cubicBezTo>
                    <a:pt x="0" y="120650"/>
                    <a:pt x="9922" y="143718"/>
                    <a:pt x="26144" y="160784"/>
                  </a:cubicBezTo>
                  <a:cubicBezTo>
                    <a:pt x="34330" y="169416"/>
                    <a:pt x="41622" y="179437"/>
                    <a:pt x="45194" y="190500"/>
                  </a:cubicBezTo>
                  <a:lnTo>
                    <a:pt x="145256" y="190500"/>
                  </a:lnTo>
                  <a:close/>
                  <a:moveTo>
                    <a:pt x="142875" y="214313"/>
                  </a:moveTo>
                  <a:lnTo>
                    <a:pt x="47625" y="214313"/>
                  </a:lnTo>
                  <a:lnTo>
                    <a:pt x="47625" y="222250"/>
                  </a:lnTo>
                  <a:cubicBezTo>
                    <a:pt x="47625" y="244177"/>
                    <a:pt x="65385" y="261937"/>
                    <a:pt x="87313" y="261937"/>
                  </a:cubicBezTo>
                  <a:lnTo>
                    <a:pt x="103188" y="261937"/>
                  </a:lnTo>
                  <a:cubicBezTo>
                    <a:pt x="125115" y="261937"/>
                    <a:pt x="142875" y="244177"/>
                    <a:pt x="142875" y="222250"/>
                  </a:cubicBezTo>
                  <a:lnTo>
                    <a:pt x="142875" y="214313"/>
                  </a:lnTo>
                  <a:close/>
                  <a:moveTo>
                    <a:pt x="91281" y="55563"/>
                  </a:moveTo>
                  <a:cubicBezTo>
                    <a:pt x="71537" y="55563"/>
                    <a:pt x="55563" y="71537"/>
                    <a:pt x="55563" y="91281"/>
                  </a:cubicBezTo>
                  <a:cubicBezTo>
                    <a:pt x="55563" y="97879"/>
                    <a:pt x="50254" y="103188"/>
                    <a:pt x="43656" y="103188"/>
                  </a:cubicBezTo>
                  <a:cubicBezTo>
                    <a:pt x="37058" y="103188"/>
                    <a:pt x="31750" y="97879"/>
                    <a:pt x="31750" y="91281"/>
                  </a:cubicBezTo>
                  <a:cubicBezTo>
                    <a:pt x="31750" y="58390"/>
                    <a:pt x="58390" y="31750"/>
                    <a:pt x="91281" y="31750"/>
                  </a:cubicBezTo>
                  <a:cubicBezTo>
                    <a:pt x="97879" y="31750"/>
                    <a:pt x="103188" y="37058"/>
                    <a:pt x="103188" y="43656"/>
                  </a:cubicBezTo>
                  <a:cubicBezTo>
                    <a:pt x="103188" y="50254"/>
                    <a:pt x="97879" y="55563"/>
                    <a:pt x="91281" y="55563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  <p:sp>
          <p:nvSpPr>
            <p:cNvPr id="23" name="Text 21"/>
            <p:cNvSpPr/>
            <p:nvPr/>
          </p:nvSpPr>
          <p:spPr>
            <a:xfrm>
              <a:off x="1727" y="10146"/>
              <a:ext cx="1500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5" b="1" dirty="0">
                  <a:solidFill>
                    <a:srgbClr val="212C42"/>
                  </a:solidFill>
                  <a:latin typeface="阿里妈妈数黑体" pitchFamily="34" charset="-122"/>
                  <a:ea typeface="阿里妈妈数黑体" pitchFamily="34" charset="-122"/>
                  <a:cs typeface="阿里妈妈数黑体" pitchFamily="34" charset="-120"/>
                </a:rPr>
                <a:t>关键洞察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027" y="10813"/>
              <a:ext cx="11350" cy="8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35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分类模型的本质是</a:t>
              </a:r>
              <a:r>
                <a:rPr lang="en-US" sz="1335" b="1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模式识别</a:t>
              </a:r>
              <a:r>
                <a:rPr lang="en-US" sz="1335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，通过学习历史样本的"经验"，对新样本进行"判断"。关键在于</a:t>
              </a:r>
              <a:r>
                <a:rPr lang="en-US" sz="1335" b="1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特征工程</a:t>
              </a:r>
              <a:r>
                <a:rPr lang="en-US" sz="1335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和</a:t>
              </a:r>
              <a:r>
                <a:rPr lang="en-US" sz="1335" b="1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模型泛化能力</a:t>
              </a:r>
              <a:r>
                <a:rPr lang="en-US" sz="1335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。</a:t>
              </a:r>
              <a:endParaRPr lang="en-US" sz="1600" dirty="0"/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8340090" y="423545"/>
            <a:ext cx="7576820" cy="3925570"/>
            <a:chOff x="13000" y="2667"/>
            <a:chExt cx="11932" cy="6182"/>
          </a:xfrm>
        </p:grpSpPr>
        <p:sp>
          <p:nvSpPr>
            <p:cNvPr id="25" name="Shape 23"/>
            <p:cNvSpPr/>
            <p:nvPr/>
          </p:nvSpPr>
          <p:spPr>
            <a:xfrm>
              <a:off x="13000" y="2667"/>
              <a:ext cx="11933" cy="6183"/>
            </a:xfrm>
            <a:custGeom>
              <a:avLst/>
              <a:gdLst/>
              <a:ahLst/>
              <a:cxnLst/>
              <a:rect l="l" t="t" r="r" b="b"/>
              <a:pathLst>
                <a:path w="7577667" h="3926417">
                  <a:moveTo>
                    <a:pt x="127020" y="0"/>
                  </a:moveTo>
                  <a:lnTo>
                    <a:pt x="7450647" y="0"/>
                  </a:lnTo>
                  <a:cubicBezTo>
                    <a:pt x="7520798" y="0"/>
                    <a:pt x="7577667" y="56869"/>
                    <a:pt x="7577667" y="127020"/>
                  </a:cubicBezTo>
                  <a:lnTo>
                    <a:pt x="7577667" y="3799397"/>
                  </a:lnTo>
                  <a:cubicBezTo>
                    <a:pt x="7577667" y="3869548"/>
                    <a:pt x="7520798" y="3926417"/>
                    <a:pt x="7450647" y="3926417"/>
                  </a:cubicBezTo>
                  <a:lnTo>
                    <a:pt x="127020" y="3926417"/>
                  </a:lnTo>
                  <a:cubicBezTo>
                    <a:pt x="56869" y="3926417"/>
                    <a:pt x="0" y="3869548"/>
                    <a:pt x="0" y="3799397"/>
                  </a:cubicBezTo>
                  <a:lnTo>
                    <a:pt x="0" y="127020"/>
                  </a:lnTo>
                  <a:cubicBezTo>
                    <a:pt x="0" y="56869"/>
                    <a:pt x="56869" y="0"/>
                    <a:pt x="12702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12C42"/>
                </a:gs>
                <a:gs pos="100000">
                  <a:srgbClr val="5B677D"/>
                </a:gs>
              </a:gsLst>
              <a:lin ang="2700000" scaled="1"/>
            </a:gradFill>
            <a:effectLst>
              <a:outerShdw blurRad="264583" dist="211667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13450" y="3133"/>
              <a:ext cx="400" cy="4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63500" y="158750"/>
                  </a:moveTo>
                  <a:lnTo>
                    <a:pt x="12154" y="158750"/>
                  </a:lnTo>
                  <a:cubicBezTo>
                    <a:pt x="-198" y="158750"/>
                    <a:pt x="-7789" y="145306"/>
                    <a:pt x="-1439" y="134689"/>
                  </a:cubicBezTo>
                  <a:lnTo>
                    <a:pt x="24805" y="90934"/>
                  </a:lnTo>
                  <a:cubicBezTo>
                    <a:pt x="29121" y="83741"/>
                    <a:pt x="36860" y="79375"/>
                    <a:pt x="45244" y="79375"/>
                  </a:cubicBezTo>
                  <a:lnTo>
                    <a:pt x="92373" y="79375"/>
                  </a:lnTo>
                  <a:cubicBezTo>
                    <a:pt x="130125" y="15429"/>
                    <a:pt x="186432" y="12204"/>
                    <a:pt x="224086" y="17711"/>
                  </a:cubicBezTo>
                  <a:cubicBezTo>
                    <a:pt x="230436" y="18653"/>
                    <a:pt x="235396" y="23614"/>
                    <a:pt x="236289" y="29914"/>
                  </a:cubicBezTo>
                  <a:cubicBezTo>
                    <a:pt x="241796" y="67568"/>
                    <a:pt x="238571" y="123875"/>
                    <a:pt x="174625" y="161627"/>
                  </a:cubicBezTo>
                  <a:lnTo>
                    <a:pt x="174625" y="208756"/>
                  </a:lnTo>
                  <a:cubicBezTo>
                    <a:pt x="174625" y="217140"/>
                    <a:pt x="170259" y="224879"/>
                    <a:pt x="163066" y="229195"/>
                  </a:cubicBezTo>
                  <a:lnTo>
                    <a:pt x="119311" y="255439"/>
                  </a:lnTo>
                  <a:cubicBezTo>
                    <a:pt x="108744" y="261789"/>
                    <a:pt x="95250" y="254149"/>
                    <a:pt x="95250" y="241846"/>
                  </a:cubicBezTo>
                  <a:lnTo>
                    <a:pt x="95250" y="190500"/>
                  </a:lnTo>
                  <a:cubicBezTo>
                    <a:pt x="95250" y="172988"/>
                    <a:pt x="81012" y="158750"/>
                    <a:pt x="63500" y="158750"/>
                  </a:cubicBezTo>
                  <a:lnTo>
                    <a:pt x="63450" y="158750"/>
                  </a:lnTo>
                  <a:close/>
                  <a:moveTo>
                    <a:pt x="198438" y="79375"/>
                  </a:moveTo>
                  <a:cubicBezTo>
                    <a:pt x="198438" y="66233"/>
                    <a:pt x="187767" y="55563"/>
                    <a:pt x="174625" y="55563"/>
                  </a:cubicBezTo>
                  <a:cubicBezTo>
                    <a:pt x="161483" y="55563"/>
                    <a:pt x="150813" y="66233"/>
                    <a:pt x="150813" y="79375"/>
                  </a:cubicBezTo>
                  <a:cubicBezTo>
                    <a:pt x="150813" y="92517"/>
                    <a:pt x="161483" y="103188"/>
                    <a:pt x="174625" y="103188"/>
                  </a:cubicBezTo>
                  <a:cubicBezTo>
                    <a:pt x="187767" y="103188"/>
                    <a:pt x="198438" y="92517"/>
                    <a:pt x="198438" y="79375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  <p:sp>
          <p:nvSpPr>
            <p:cNvPr id="27" name="Text 25"/>
            <p:cNvSpPr/>
            <p:nvPr/>
          </p:nvSpPr>
          <p:spPr>
            <a:xfrm>
              <a:off x="13900" y="3067"/>
              <a:ext cx="10833" cy="5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阿里妈妈数黑体" pitchFamily="34" charset="-122"/>
                  <a:ea typeface="阿里妈妈数黑体" pitchFamily="34" charset="-122"/>
                  <a:cs typeface="阿里妈妈数黑体" pitchFamily="34" charset="-120"/>
                </a:rPr>
                <a:t>广泛应用场景</a:t>
              </a:r>
              <a:endParaRPr lang="en-US" sz="16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13407" y="3940"/>
              <a:ext cx="5413" cy="2113"/>
            </a:xfrm>
            <a:custGeom>
              <a:avLst/>
              <a:gdLst/>
              <a:ahLst/>
              <a:cxnLst/>
              <a:rect l="l" t="t" r="r" b="b"/>
              <a:pathLst>
                <a:path w="3437467" h="1341967">
                  <a:moveTo>
                    <a:pt x="84665" y="0"/>
                  </a:moveTo>
                  <a:lnTo>
                    <a:pt x="3352802" y="0"/>
                  </a:lnTo>
                  <a:cubicBezTo>
                    <a:pt x="3399561" y="0"/>
                    <a:pt x="3437467" y="37906"/>
                    <a:pt x="3437467" y="84665"/>
                  </a:cubicBezTo>
                  <a:lnTo>
                    <a:pt x="3437467" y="1257302"/>
                  </a:lnTo>
                  <a:cubicBezTo>
                    <a:pt x="3437467" y="1304061"/>
                    <a:pt x="3399561" y="1341967"/>
                    <a:pt x="3352802" y="1341967"/>
                  </a:cubicBezTo>
                  <a:lnTo>
                    <a:pt x="84665" y="1341967"/>
                  </a:lnTo>
                  <a:cubicBezTo>
                    <a:pt x="37906" y="1341967"/>
                    <a:pt x="0" y="1304061"/>
                    <a:pt x="0" y="1257302"/>
                  </a:cubicBezTo>
                  <a:lnTo>
                    <a:pt x="0" y="84665"/>
                  </a:lnTo>
                  <a:cubicBezTo>
                    <a:pt x="0" y="37937"/>
                    <a:pt x="37937" y="0"/>
                    <a:pt x="8466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 w="10160">
              <a:solidFill>
                <a:srgbClr val="FFFFFF">
                  <a:alpha val="20000"/>
                </a:srgbClr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13747" y="4213"/>
              <a:ext cx="500" cy="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29766" y="158750"/>
                  </a:moveTo>
                  <a:cubicBezTo>
                    <a:pt x="29766" y="87499"/>
                    <a:pt x="87499" y="29766"/>
                    <a:pt x="158750" y="29766"/>
                  </a:cubicBezTo>
                  <a:cubicBezTo>
                    <a:pt x="197879" y="29766"/>
                    <a:pt x="232916" y="47191"/>
                    <a:pt x="256604" y="74724"/>
                  </a:cubicBezTo>
                  <a:cubicBezTo>
                    <a:pt x="261938" y="80987"/>
                    <a:pt x="271363" y="81669"/>
                    <a:pt x="277564" y="76336"/>
                  </a:cubicBezTo>
                  <a:cubicBezTo>
                    <a:pt x="283766" y="71003"/>
                    <a:pt x="284510" y="61578"/>
                    <a:pt x="279177" y="55376"/>
                  </a:cubicBezTo>
                  <a:cubicBezTo>
                    <a:pt x="250093" y="21456"/>
                    <a:pt x="206933" y="0"/>
                    <a:pt x="158750" y="0"/>
                  </a:cubicBezTo>
                  <a:cubicBezTo>
                    <a:pt x="71065" y="0"/>
                    <a:pt x="0" y="71065"/>
                    <a:pt x="0" y="158750"/>
                  </a:cubicBezTo>
                  <a:lnTo>
                    <a:pt x="0" y="183555"/>
                  </a:lnTo>
                  <a:cubicBezTo>
                    <a:pt x="0" y="191802"/>
                    <a:pt x="6635" y="198438"/>
                    <a:pt x="14883" y="198438"/>
                  </a:cubicBezTo>
                  <a:cubicBezTo>
                    <a:pt x="23130" y="198438"/>
                    <a:pt x="29766" y="191802"/>
                    <a:pt x="29766" y="183555"/>
                  </a:cubicBezTo>
                  <a:lnTo>
                    <a:pt x="29766" y="158750"/>
                  </a:lnTo>
                  <a:close/>
                  <a:moveTo>
                    <a:pt x="314089" y="125946"/>
                  </a:moveTo>
                  <a:cubicBezTo>
                    <a:pt x="312415" y="117884"/>
                    <a:pt x="304478" y="112737"/>
                    <a:pt x="296478" y="114474"/>
                  </a:cubicBezTo>
                  <a:cubicBezTo>
                    <a:pt x="288479" y="116210"/>
                    <a:pt x="283270" y="124085"/>
                    <a:pt x="285006" y="132085"/>
                  </a:cubicBezTo>
                  <a:cubicBezTo>
                    <a:pt x="286804" y="140705"/>
                    <a:pt x="287796" y="149634"/>
                    <a:pt x="287796" y="158812"/>
                  </a:cubicBezTo>
                  <a:lnTo>
                    <a:pt x="287796" y="183617"/>
                  </a:lnTo>
                  <a:cubicBezTo>
                    <a:pt x="287796" y="191864"/>
                    <a:pt x="294432" y="198500"/>
                    <a:pt x="302679" y="198500"/>
                  </a:cubicBezTo>
                  <a:cubicBezTo>
                    <a:pt x="310927" y="198500"/>
                    <a:pt x="317562" y="191864"/>
                    <a:pt x="317562" y="183617"/>
                  </a:cubicBezTo>
                  <a:lnTo>
                    <a:pt x="317562" y="158812"/>
                  </a:lnTo>
                  <a:cubicBezTo>
                    <a:pt x="317562" y="147588"/>
                    <a:pt x="316384" y="136612"/>
                    <a:pt x="314151" y="126008"/>
                  </a:cubicBezTo>
                  <a:close/>
                  <a:moveTo>
                    <a:pt x="158750" y="49609"/>
                  </a:moveTo>
                  <a:cubicBezTo>
                    <a:pt x="146968" y="49609"/>
                    <a:pt x="135558" y="51470"/>
                    <a:pt x="124954" y="54942"/>
                  </a:cubicBezTo>
                  <a:cubicBezTo>
                    <a:pt x="115528" y="58043"/>
                    <a:pt x="113357" y="69639"/>
                    <a:pt x="119807" y="77205"/>
                  </a:cubicBezTo>
                  <a:cubicBezTo>
                    <a:pt x="124209" y="82352"/>
                    <a:pt x="131465" y="83902"/>
                    <a:pt x="138038" y="82104"/>
                  </a:cubicBezTo>
                  <a:cubicBezTo>
                    <a:pt x="144611" y="80305"/>
                    <a:pt x="151557" y="79375"/>
                    <a:pt x="158750" y="79375"/>
                  </a:cubicBezTo>
                  <a:cubicBezTo>
                    <a:pt x="202592" y="79375"/>
                    <a:pt x="238125" y="114908"/>
                    <a:pt x="238125" y="158750"/>
                  </a:cubicBezTo>
                  <a:lnTo>
                    <a:pt x="238125" y="174191"/>
                  </a:lnTo>
                  <a:cubicBezTo>
                    <a:pt x="238125" y="189818"/>
                    <a:pt x="237195" y="205383"/>
                    <a:pt x="235396" y="220886"/>
                  </a:cubicBezTo>
                  <a:cubicBezTo>
                    <a:pt x="234342" y="229939"/>
                    <a:pt x="241226" y="238125"/>
                    <a:pt x="250403" y="238125"/>
                  </a:cubicBezTo>
                  <a:cubicBezTo>
                    <a:pt x="257721" y="238125"/>
                    <a:pt x="263984" y="232792"/>
                    <a:pt x="264852" y="225537"/>
                  </a:cubicBezTo>
                  <a:cubicBezTo>
                    <a:pt x="266898" y="208545"/>
                    <a:pt x="267953" y="191430"/>
                    <a:pt x="267953" y="174253"/>
                  </a:cubicBezTo>
                  <a:lnTo>
                    <a:pt x="267953" y="158812"/>
                  </a:lnTo>
                  <a:cubicBezTo>
                    <a:pt x="267953" y="98537"/>
                    <a:pt x="219087" y="49671"/>
                    <a:pt x="158812" y="49671"/>
                  </a:cubicBezTo>
                  <a:close/>
                  <a:moveTo>
                    <a:pt x="93452" y="92211"/>
                  </a:moveTo>
                  <a:cubicBezTo>
                    <a:pt x="87809" y="85638"/>
                    <a:pt x="77763" y="85142"/>
                    <a:pt x="72430" y="91963"/>
                  </a:cubicBezTo>
                  <a:cubicBezTo>
                    <a:pt x="58105" y="110443"/>
                    <a:pt x="49609" y="133573"/>
                    <a:pt x="49609" y="158750"/>
                  </a:cubicBezTo>
                  <a:lnTo>
                    <a:pt x="49609" y="174191"/>
                  </a:lnTo>
                  <a:cubicBezTo>
                    <a:pt x="49609" y="189198"/>
                    <a:pt x="47997" y="204205"/>
                    <a:pt x="44772" y="218777"/>
                  </a:cubicBezTo>
                  <a:cubicBezTo>
                    <a:pt x="42664" y="228451"/>
                    <a:pt x="49671" y="238063"/>
                    <a:pt x="59593" y="238063"/>
                  </a:cubicBezTo>
                  <a:cubicBezTo>
                    <a:pt x="66104" y="238063"/>
                    <a:pt x="71934" y="233722"/>
                    <a:pt x="73360" y="227335"/>
                  </a:cubicBezTo>
                  <a:cubicBezTo>
                    <a:pt x="77329" y="209910"/>
                    <a:pt x="79375" y="192112"/>
                    <a:pt x="79375" y="174129"/>
                  </a:cubicBezTo>
                  <a:lnTo>
                    <a:pt x="79375" y="158688"/>
                  </a:lnTo>
                  <a:cubicBezTo>
                    <a:pt x="79375" y="141821"/>
                    <a:pt x="84646" y="126194"/>
                    <a:pt x="93576" y="113357"/>
                  </a:cubicBezTo>
                  <a:cubicBezTo>
                    <a:pt x="98041" y="106908"/>
                    <a:pt x="98537" y="98103"/>
                    <a:pt x="93452" y="92149"/>
                  </a:cubicBezTo>
                  <a:close/>
                  <a:moveTo>
                    <a:pt x="158750" y="99219"/>
                  </a:moveTo>
                  <a:cubicBezTo>
                    <a:pt x="125884" y="99219"/>
                    <a:pt x="99219" y="125884"/>
                    <a:pt x="99219" y="158750"/>
                  </a:cubicBezTo>
                  <a:lnTo>
                    <a:pt x="99219" y="174191"/>
                  </a:lnTo>
                  <a:cubicBezTo>
                    <a:pt x="99219" y="196453"/>
                    <a:pt x="96366" y="218529"/>
                    <a:pt x="90661" y="239985"/>
                  </a:cubicBezTo>
                  <a:cubicBezTo>
                    <a:pt x="88305" y="248853"/>
                    <a:pt x="94816" y="257969"/>
                    <a:pt x="103994" y="257969"/>
                  </a:cubicBezTo>
                  <a:cubicBezTo>
                    <a:pt x="109885" y="257969"/>
                    <a:pt x="115094" y="254124"/>
                    <a:pt x="116644" y="248419"/>
                  </a:cubicBezTo>
                  <a:cubicBezTo>
                    <a:pt x="123155" y="224234"/>
                    <a:pt x="126504" y="199306"/>
                    <a:pt x="126504" y="174191"/>
                  </a:cubicBezTo>
                  <a:lnTo>
                    <a:pt x="126504" y="158750"/>
                  </a:lnTo>
                  <a:cubicBezTo>
                    <a:pt x="126504" y="140953"/>
                    <a:pt x="140953" y="126504"/>
                    <a:pt x="158750" y="126504"/>
                  </a:cubicBezTo>
                  <a:cubicBezTo>
                    <a:pt x="176547" y="126504"/>
                    <a:pt x="190996" y="140953"/>
                    <a:pt x="190996" y="158750"/>
                  </a:cubicBezTo>
                  <a:lnTo>
                    <a:pt x="190996" y="174191"/>
                  </a:lnTo>
                  <a:cubicBezTo>
                    <a:pt x="190996" y="196701"/>
                    <a:pt x="188826" y="219087"/>
                    <a:pt x="184547" y="241102"/>
                  </a:cubicBezTo>
                  <a:cubicBezTo>
                    <a:pt x="182873" y="249721"/>
                    <a:pt x="189322" y="257969"/>
                    <a:pt x="198065" y="257969"/>
                  </a:cubicBezTo>
                  <a:cubicBezTo>
                    <a:pt x="204391" y="257969"/>
                    <a:pt x="209848" y="253628"/>
                    <a:pt x="211088" y="247427"/>
                  </a:cubicBezTo>
                  <a:cubicBezTo>
                    <a:pt x="215863" y="223366"/>
                    <a:pt x="218281" y="198872"/>
                    <a:pt x="218281" y="174191"/>
                  </a:cubicBezTo>
                  <a:lnTo>
                    <a:pt x="218281" y="158750"/>
                  </a:lnTo>
                  <a:cubicBezTo>
                    <a:pt x="218281" y="125884"/>
                    <a:pt x="191616" y="99219"/>
                    <a:pt x="158750" y="99219"/>
                  </a:cubicBezTo>
                  <a:close/>
                  <a:moveTo>
                    <a:pt x="173633" y="158750"/>
                  </a:moveTo>
                  <a:cubicBezTo>
                    <a:pt x="173633" y="150502"/>
                    <a:pt x="166998" y="143867"/>
                    <a:pt x="158750" y="143867"/>
                  </a:cubicBezTo>
                  <a:cubicBezTo>
                    <a:pt x="150502" y="143867"/>
                    <a:pt x="143867" y="150502"/>
                    <a:pt x="143867" y="158750"/>
                  </a:cubicBezTo>
                  <a:lnTo>
                    <a:pt x="143867" y="174191"/>
                  </a:lnTo>
                  <a:cubicBezTo>
                    <a:pt x="143867" y="211336"/>
                    <a:pt x="137046" y="248171"/>
                    <a:pt x="123713" y="282835"/>
                  </a:cubicBezTo>
                  <a:lnTo>
                    <a:pt x="120055" y="292323"/>
                  </a:lnTo>
                  <a:cubicBezTo>
                    <a:pt x="117078" y="300013"/>
                    <a:pt x="120923" y="308632"/>
                    <a:pt x="128612" y="311547"/>
                  </a:cubicBezTo>
                  <a:cubicBezTo>
                    <a:pt x="136302" y="314461"/>
                    <a:pt x="144921" y="310679"/>
                    <a:pt x="147836" y="302989"/>
                  </a:cubicBezTo>
                  <a:lnTo>
                    <a:pt x="151495" y="293501"/>
                  </a:lnTo>
                  <a:cubicBezTo>
                    <a:pt x="166129" y="255426"/>
                    <a:pt x="173633" y="214995"/>
                    <a:pt x="173633" y="174191"/>
                  </a:cubicBezTo>
                  <a:lnTo>
                    <a:pt x="173633" y="158750"/>
                  </a:lnTo>
                  <a:close/>
                </a:path>
              </a:pathLst>
            </a:custGeom>
            <a:solidFill>
              <a:srgbClr val="16A085"/>
            </a:solidFill>
          </p:spPr>
        </p:sp>
        <p:sp>
          <p:nvSpPr>
            <p:cNvPr id="30" name="Text 28"/>
            <p:cNvSpPr/>
            <p:nvPr/>
          </p:nvSpPr>
          <p:spPr>
            <a:xfrm>
              <a:off x="13680" y="4846"/>
              <a:ext cx="5017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识别</a:t>
              </a:r>
              <a:endParaRPr lang="en-US" sz="16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13680" y="5380"/>
              <a:ext cx="500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dirty="0">
                  <a:solidFill>
                    <a:srgbClr val="FFFFFF">
                      <a:alpha val="90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图像识别、语音识别</a:t>
              </a:r>
              <a:endParaRPr lang="en-US" sz="16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19107" y="3940"/>
              <a:ext cx="5413" cy="2113"/>
            </a:xfrm>
            <a:custGeom>
              <a:avLst/>
              <a:gdLst/>
              <a:ahLst/>
              <a:cxnLst/>
              <a:rect l="l" t="t" r="r" b="b"/>
              <a:pathLst>
                <a:path w="3437467" h="1341967">
                  <a:moveTo>
                    <a:pt x="84665" y="0"/>
                  </a:moveTo>
                  <a:lnTo>
                    <a:pt x="3352802" y="0"/>
                  </a:lnTo>
                  <a:cubicBezTo>
                    <a:pt x="3399561" y="0"/>
                    <a:pt x="3437467" y="37906"/>
                    <a:pt x="3437467" y="84665"/>
                  </a:cubicBezTo>
                  <a:lnTo>
                    <a:pt x="3437467" y="1257302"/>
                  </a:lnTo>
                  <a:cubicBezTo>
                    <a:pt x="3437467" y="1304061"/>
                    <a:pt x="3399561" y="1341967"/>
                    <a:pt x="3352802" y="1341967"/>
                  </a:cubicBezTo>
                  <a:lnTo>
                    <a:pt x="84665" y="1341967"/>
                  </a:lnTo>
                  <a:cubicBezTo>
                    <a:pt x="37906" y="1341967"/>
                    <a:pt x="0" y="1304061"/>
                    <a:pt x="0" y="1257302"/>
                  </a:cubicBezTo>
                  <a:lnTo>
                    <a:pt x="0" y="84665"/>
                  </a:lnTo>
                  <a:cubicBezTo>
                    <a:pt x="0" y="37937"/>
                    <a:pt x="37937" y="0"/>
                    <a:pt x="8466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 w="10160">
              <a:solidFill>
                <a:srgbClr val="FFFFFF">
                  <a:alpha val="20000"/>
                </a:srgbClr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19415" y="4213"/>
              <a:ext cx="563" cy="500"/>
            </a:xfrm>
            <a:custGeom>
              <a:avLst/>
              <a:gdLst/>
              <a:ahLst/>
              <a:cxnLst/>
              <a:rect l="l" t="t" r="r" b="b"/>
              <a:pathLst>
                <a:path w="357188" h="317500">
                  <a:moveTo>
                    <a:pt x="19844" y="29766"/>
                  </a:moveTo>
                  <a:cubicBezTo>
                    <a:pt x="19844" y="13333"/>
                    <a:pt x="33176" y="0"/>
                    <a:pt x="49609" y="0"/>
                  </a:cubicBezTo>
                  <a:lnTo>
                    <a:pt x="79375" y="0"/>
                  </a:lnTo>
                  <a:cubicBezTo>
                    <a:pt x="90351" y="0"/>
                    <a:pt x="99219" y="8868"/>
                    <a:pt x="99219" y="19844"/>
                  </a:cubicBezTo>
                  <a:cubicBezTo>
                    <a:pt x="99219" y="30820"/>
                    <a:pt x="90351" y="39688"/>
                    <a:pt x="79375" y="39688"/>
                  </a:cubicBezTo>
                  <a:lnTo>
                    <a:pt x="59531" y="39688"/>
                  </a:lnTo>
                  <a:lnTo>
                    <a:pt x="59531" y="119062"/>
                  </a:lnTo>
                  <a:cubicBezTo>
                    <a:pt x="59531" y="151929"/>
                    <a:pt x="86196" y="178594"/>
                    <a:pt x="119062" y="178594"/>
                  </a:cubicBezTo>
                  <a:cubicBezTo>
                    <a:pt x="151929" y="178594"/>
                    <a:pt x="178594" y="151929"/>
                    <a:pt x="178594" y="119062"/>
                  </a:cubicBezTo>
                  <a:lnTo>
                    <a:pt x="178594" y="39688"/>
                  </a:lnTo>
                  <a:lnTo>
                    <a:pt x="158750" y="39688"/>
                  </a:lnTo>
                  <a:cubicBezTo>
                    <a:pt x="147774" y="39688"/>
                    <a:pt x="138906" y="30820"/>
                    <a:pt x="138906" y="19844"/>
                  </a:cubicBezTo>
                  <a:cubicBezTo>
                    <a:pt x="138906" y="8868"/>
                    <a:pt x="147774" y="0"/>
                    <a:pt x="158750" y="0"/>
                  </a:cubicBezTo>
                  <a:lnTo>
                    <a:pt x="188516" y="0"/>
                  </a:lnTo>
                  <a:cubicBezTo>
                    <a:pt x="204949" y="0"/>
                    <a:pt x="218281" y="13333"/>
                    <a:pt x="218281" y="29766"/>
                  </a:cubicBezTo>
                  <a:lnTo>
                    <a:pt x="218281" y="119062"/>
                  </a:lnTo>
                  <a:cubicBezTo>
                    <a:pt x="218281" y="167060"/>
                    <a:pt x="184175" y="207119"/>
                    <a:pt x="138906" y="216297"/>
                  </a:cubicBezTo>
                  <a:lnTo>
                    <a:pt x="138906" y="228203"/>
                  </a:lnTo>
                  <a:cubicBezTo>
                    <a:pt x="138906" y="266588"/>
                    <a:pt x="169974" y="297656"/>
                    <a:pt x="208359" y="297656"/>
                  </a:cubicBezTo>
                  <a:cubicBezTo>
                    <a:pt x="246745" y="297656"/>
                    <a:pt x="277813" y="266588"/>
                    <a:pt x="277813" y="228203"/>
                  </a:cubicBezTo>
                  <a:lnTo>
                    <a:pt x="277813" y="175183"/>
                  </a:lnTo>
                  <a:cubicBezTo>
                    <a:pt x="254682" y="166998"/>
                    <a:pt x="238125" y="144983"/>
                    <a:pt x="238125" y="119062"/>
                  </a:cubicBezTo>
                  <a:cubicBezTo>
                    <a:pt x="238125" y="86196"/>
                    <a:pt x="264790" y="59531"/>
                    <a:pt x="297656" y="59531"/>
                  </a:cubicBezTo>
                  <a:cubicBezTo>
                    <a:pt x="330522" y="59531"/>
                    <a:pt x="357188" y="86196"/>
                    <a:pt x="357188" y="119062"/>
                  </a:cubicBezTo>
                  <a:cubicBezTo>
                    <a:pt x="357188" y="144983"/>
                    <a:pt x="340630" y="167060"/>
                    <a:pt x="317500" y="175183"/>
                  </a:cubicBezTo>
                  <a:lnTo>
                    <a:pt x="317500" y="228203"/>
                  </a:lnTo>
                  <a:cubicBezTo>
                    <a:pt x="317500" y="288479"/>
                    <a:pt x="268635" y="337344"/>
                    <a:pt x="208359" y="337344"/>
                  </a:cubicBezTo>
                  <a:cubicBezTo>
                    <a:pt x="148084" y="337344"/>
                    <a:pt x="99219" y="288479"/>
                    <a:pt x="99219" y="228203"/>
                  </a:cubicBezTo>
                  <a:lnTo>
                    <a:pt x="99219" y="216297"/>
                  </a:lnTo>
                  <a:cubicBezTo>
                    <a:pt x="53950" y="207119"/>
                    <a:pt x="19844" y="167060"/>
                    <a:pt x="19844" y="119062"/>
                  </a:cubicBezTo>
                  <a:lnTo>
                    <a:pt x="19844" y="29766"/>
                  </a:lnTo>
                  <a:close/>
                  <a:moveTo>
                    <a:pt x="297656" y="138906"/>
                  </a:moveTo>
                  <a:cubicBezTo>
                    <a:pt x="308608" y="138906"/>
                    <a:pt x="317500" y="130015"/>
                    <a:pt x="317500" y="119062"/>
                  </a:cubicBezTo>
                  <a:cubicBezTo>
                    <a:pt x="317500" y="108110"/>
                    <a:pt x="308608" y="99219"/>
                    <a:pt x="297656" y="99219"/>
                  </a:cubicBezTo>
                  <a:cubicBezTo>
                    <a:pt x="286704" y="99219"/>
                    <a:pt x="277813" y="108110"/>
                    <a:pt x="277813" y="119062"/>
                  </a:cubicBezTo>
                  <a:cubicBezTo>
                    <a:pt x="277813" y="130015"/>
                    <a:pt x="286704" y="138906"/>
                    <a:pt x="297656" y="138906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  <p:sp>
          <p:nvSpPr>
            <p:cNvPr id="34" name="Text 32"/>
            <p:cNvSpPr/>
            <p:nvPr/>
          </p:nvSpPr>
          <p:spPr>
            <a:xfrm>
              <a:off x="19380" y="4846"/>
              <a:ext cx="5017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诊断</a:t>
              </a:r>
              <a:endParaRPr lang="en-US" sz="16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9380" y="5380"/>
              <a:ext cx="500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dirty="0">
                  <a:solidFill>
                    <a:srgbClr val="FFFFFF">
                      <a:alpha val="90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疾病诊断、故障诊断</a:t>
              </a:r>
              <a:endParaRPr lang="en-US" sz="16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13407" y="6333"/>
              <a:ext cx="5413" cy="2113"/>
            </a:xfrm>
            <a:custGeom>
              <a:avLst/>
              <a:gdLst/>
              <a:ahLst/>
              <a:cxnLst/>
              <a:rect l="l" t="t" r="r" b="b"/>
              <a:pathLst>
                <a:path w="3437467" h="1341967">
                  <a:moveTo>
                    <a:pt x="84665" y="0"/>
                  </a:moveTo>
                  <a:lnTo>
                    <a:pt x="3352802" y="0"/>
                  </a:lnTo>
                  <a:cubicBezTo>
                    <a:pt x="3399561" y="0"/>
                    <a:pt x="3437467" y="37906"/>
                    <a:pt x="3437467" y="84665"/>
                  </a:cubicBezTo>
                  <a:lnTo>
                    <a:pt x="3437467" y="1257302"/>
                  </a:lnTo>
                  <a:cubicBezTo>
                    <a:pt x="3437467" y="1304061"/>
                    <a:pt x="3399561" y="1341967"/>
                    <a:pt x="3352802" y="1341967"/>
                  </a:cubicBezTo>
                  <a:lnTo>
                    <a:pt x="84665" y="1341967"/>
                  </a:lnTo>
                  <a:cubicBezTo>
                    <a:pt x="37906" y="1341967"/>
                    <a:pt x="0" y="1304061"/>
                    <a:pt x="0" y="1257302"/>
                  </a:cubicBezTo>
                  <a:lnTo>
                    <a:pt x="0" y="84665"/>
                  </a:lnTo>
                  <a:cubicBezTo>
                    <a:pt x="0" y="37937"/>
                    <a:pt x="37937" y="0"/>
                    <a:pt x="8466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 w="10160">
              <a:solidFill>
                <a:srgbClr val="FFFFFF">
                  <a:alpha val="20000"/>
                </a:srgbClr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13747" y="6606"/>
              <a:ext cx="500" cy="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9844" y="39688"/>
                  </a:moveTo>
                  <a:cubicBezTo>
                    <a:pt x="11844" y="39688"/>
                    <a:pt x="4589" y="44524"/>
                    <a:pt x="1488" y="51966"/>
                  </a:cubicBezTo>
                  <a:cubicBezTo>
                    <a:pt x="-1612" y="59407"/>
                    <a:pt x="124" y="67903"/>
                    <a:pt x="5829" y="73546"/>
                  </a:cubicBezTo>
                  <a:lnTo>
                    <a:pt x="119062" y="186841"/>
                  </a:lnTo>
                  <a:lnTo>
                    <a:pt x="119062" y="257969"/>
                  </a:lnTo>
                  <a:cubicBezTo>
                    <a:pt x="119062" y="263240"/>
                    <a:pt x="121171" y="268263"/>
                    <a:pt x="124892" y="271983"/>
                  </a:cubicBezTo>
                  <a:lnTo>
                    <a:pt x="164579" y="311671"/>
                  </a:lnTo>
                  <a:cubicBezTo>
                    <a:pt x="170284" y="317376"/>
                    <a:pt x="178780" y="319050"/>
                    <a:pt x="186221" y="315950"/>
                  </a:cubicBezTo>
                  <a:cubicBezTo>
                    <a:pt x="193663" y="312849"/>
                    <a:pt x="198438" y="305656"/>
                    <a:pt x="198438" y="297656"/>
                  </a:cubicBezTo>
                  <a:lnTo>
                    <a:pt x="198438" y="186841"/>
                  </a:lnTo>
                  <a:lnTo>
                    <a:pt x="311671" y="73608"/>
                  </a:lnTo>
                  <a:cubicBezTo>
                    <a:pt x="317376" y="67903"/>
                    <a:pt x="319050" y="59407"/>
                    <a:pt x="315950" y="51966"/>
                  </a:cubicBezTo>
                  <a:cubicBezTo>
                    <a:pt x="312849" y="44524"/>
                    <a:pt x="305656" y="39688"/>
                    <a:pt x="297656" y="39688"/>
                  </a:cubicBezTo>
                  <a:lnTo>
                    <a:pt x="19844" y="39688"/>
                  </a:lnTo>
                  <a:close/>
                </a:path>
              </a:pathLst>
            </a:custGeom>
            <a:solidFill>
              <a:srgbClr val="16A085"/>
            </a:solidFill>
          </p:spPr>
        </p:sp>
        <p:sp>
          <p:nvSpPr>
            <p:cNvPr id="38" name="Text 36"/>
            <p:cNvSpPr/>
            <p:nvPr/>
          </p:nvSpPr>
          <p:spPr>
            <a:xfrm>
              <a:off x="13680" y="7240"/>
              <a:ext cx="5017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筛选</a:t>
              </a:r>
              <a:endParaRPr lang="en-US" sz="16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13680" y="7773"/>
              <a:ext cx="500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dirty="0">
                  <a:solidFill>
                    <a:srgbClr val="FFFFFF">
                      <a:alpha val="90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简历筛选、信用评估</a:t>
              </a:r>
              <a:endParaRPr lang="en-US" sz="16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19107" y="6333"/>
              <a:ext cx="5413" cy="2113"/>
            </a:xfrm>
            <a:custGeom>
              <a:avLst/>
              <a:gdLst/>
              <a:ahLst/>
              <a:cxnLst/>
              <a:rect l="l" t="t" r="r" b="b"/>
              <a:pathLst>
                <a:path w="3437467" h="1341967">
                  <a:moveTo>
                    <a:pt x="84665" y="0"/>
                  </a:moveTo>
                  <a:lnTo>
                    <a:pt x="3352802" y="0"/>
                  </a:lnTo>
                  <a:cubicBezTo>
                    <a:pt x="3399561" y="0"/>
                    <a:pt x="3437467" y="37906"/>
                    <a:pt x="3437467" y="84665"/>
                  </a:cubicBezTo>
                  <a:lnTo>
                    <a:pt x="3437467" y="1257302"/>
                  </a:lnTo>
                  <a:cubicBezTo>
                    <a:pt x="3437467" y="1304061"/>
                    <a:pt x="3399561" y="1341967"/>
                    <a:pt x="3352802" y="1341967"/>
                  </a:cubicBezTo>
                  <a:lnTo>
                    <a:pt x="84665" y="1341967"/>
                  </a:lnTo>
                  <a:cubicBezTo>
                    <a:pt x="37906" y="1341967"/>
                    <a:pt x="0" y="1304061"/>
                    <a:pt x="0" y="1257302"/>
                  </a:cubicBezTo>
                  <a:lnTo>
                    <a:pt x="0" y="84665"/>
                  </a:lnTo>
                  <a:cubicBezTo>
                    <a:pt x="0" y="37937"/>
                    <a:pt x="37937" y="0"/>
                    <a:pt x="8466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 w="10160">
              <a:solidFill>
                <a:srgbClr val="FFFFFF">
                  <a:alpha val="20000"/>
                </a:srgbClr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19415" y="6606"/>
              <a:ext cx="563" cy="500"/>
            </a:xfrm>
            <a:custGeom>
              <a:avLst/>
              <a:gdLst/>
              <a:ahLst/>
              <a:cxnLst/>
              <a:rect l="l" t="t" r="r" b="b"/>
              <a:pathLst>
                <a:path w="357188" h="317500">
                  <a:moveTo>
                    <a:pt x="119062" y="59531"/>
                  </a:moveTo>
                  <a:cubicBezTo>
                    <a:pt x="119062" y="26665"/>
                    <a:pt x="145728" y="0"/>
                    <a:pt x="178594" y="0"/>
                  </a:cubicBezTo>
                  <a:cubicBezTo>
                    <a:pt x="211460" y="0"/>
                    <a:pt x="238125" y="26665"/>
                    <a:pt x="238125" y="59531"/>
                  </a:cubicBezTo>
                  <a:lnTo>
                    <a:pt x="238125" y="61764"/>
                  </a:lnTo>
                  <a:cubicBezTo>
                    <a:pt x="238125" y="71500"/>
                    <a:pt x="230250" y="79375"/>
                    <a:pt x="220514" y="79375"/>
                  </a:cubicBezTo>
                  <a:lnTo>
                    <a:pt x="136736" y="79375"/>
                  </a:lnTo>
                  <a:cubicBezTo>
                    <a:pt x="127000" y="79375"/>
                    <a:pt x="119125" y="71500"/>
                    <a:pt x="119125" y="61764"/>
                  </a:cubicBezTo>
                  <a:lnTo>
                    <a:pt x="119125" y="59531"/>
                  </a:lnTo>
                  <a:close/>
                  <a:moveTo>
                    <a:pt x="333375" y="67469"/>
                  </a:moveTo>
                  <a:cubicBezTo>
                    <a:pt x="339948" y="76212"/>
                    <a:pt x="338150" y="88677"/>
                    <a:pt x="329406" y="95250"/>
                  </a:cubicBezTo>
                  <a:lnTo>
                    <a:pt x="268759" y="140705"/>
                  </a:lnTo>
                  <a:cubicBezTo>
                    <a:pt x="272045" y="146224"/>
                    <a:pt x="274526" y="152301"/>
                    <a:pt x="276076" y="158750"/>
                  </a:cubicBezTo>
                  <a:lnTo>
                    <a:pt x="337344" y="158750"/>
                  </a:lnTo>
                  <a:cubicBezTo>
                    <a:pt x="348320" y="158750"/>
                    <a:pt x="357188" y="167618"/>
                    <a:pt x="357188" y="178594"/>
                  </a:cubicBezTo>
                  <a:cubicBezTo>
                    <a:pt x="357188" y="189570"/>
                    <a:pt x="348320" y="198438"/>
                    <a:pt x="337344" y="198438"/>
                  </a:cubicBezTo>
                  <a:lnTo>
                    <a:pt x="277813" y="198438"/>
                  </a:lnTo>
                  <a:lnTo>
                    <a:pt x="277813" y="218281"/>
                  </a:lnTo>
                  <a:cubicBezTo>
                    <a:pt x="277813" y="219894"/>
                    <a:pt x="277750" y="221568"/>
                    <a:pt x="277688" y="223180"/>
                  </a:cubicBezTo>
                  <a:lnTo>
                    <a:pt x="329406" y="261937"/>
                  </a:lnTo>
                  <a:cubicBezTo>
                    <a:pt x="338150" y="268511"/>
                    <a:pt x="339948" y="280975"/>
                    <a:pt x="333375" y="289719"/>
                  </a:cubicBezTo>
                  <a:cubicBezTo>
                    <a:pt x="326802" y="298462"/>
                    <a:pt x="314337" y="300261"/>
                    <a:pt x="305594" y="293688"/>
                  </a:cubicBezTo>
                  <a:lnTo>
                    <a:pt x="266464" y="264356"/>
                  </a:lnTo>
                  <a:cubicBezTo>
                    <a:pt x="252078" y="291765"/>
                    <a:pt x="225227" y="311609"/>
                    <a:pt x="193477" y="316384"/>
                  </a:cubicBezTo>
                  <a:lnTo>
                    <a:pt x="193477" y="173633"/>
                  </a:lnTo>
                  <a:cubicBezTo>
                    <a:pt x="193477" y="165385"/>
                    <a:pt x="186841" y="158750"/>
                    <a:pt x="178594" y="158750"/>
                  </a:cubicBezTo>
                  <a:cubicBezTo>
                    <a:pt x="170346" y="158750"/>
                    <a:pt x="163711" y="165385"/>
                    <a:pt x="163711" y="173633"/>
                  </a:cubicBezTo>
                  <a:lnTo>
                    <a:pt x="163711" y="316384"/>
                  </a:lnTo>
                  <a:cubicBezTo>
                    <a:pt x="131961" y="311609"/>
                    <a:pt x="105110" y="291765"/>
                    <a:pt x="90723" y="264356"/>
                  </a:cubicBezTo>
                  <a:lnTo>
                    <a:pt x="51594" y="293688"/>
                  </a:lnTo>
                  <a:cubicBezTo>
                    <a:pt x="42850" y="300261"/>
                    <a:pt x="30386" y="298462"/>
                    <a:pt x="23813" y="289719"/>
                  </a:cubicBezTo>
                  <a:cubicBezTo>
                    <a:pt x="17239" y="280975"/>
                    <a:pt x="19038" y="268511"/>
                    <a:pt x="27781" y="261938"/>
                  </a:cubicBezTo>
                  <a:lnTo>
                    <a:pt x="79499" y="223180"/>
                  </a:lnTo>
                  <a:cubicBezTo>
                    <a:pt x="79437" y="221568"/>
                    <a:pt x="79375" y="219956"/>
                    <a:pt x="79375" y="218281"/>
                  </a:cubicBezTo>
                  <a:lnTo>
                    <a:pt x="79375" y="198438"/>
                  </a:lnTo>
                  <a:lnTo>
                    <a:pt x="19844" y="198438"/>
                  </a:lnTo>
                  <a:cubicBezTo>
                    <a:pt x="8868" y="198438"/>
                    <a:pt x="0" y="189570"/>
                    <a:pt x="0" y="178594"/>
                  </a:cubicBezTo>
                  <a:cubicBezTo>
                    <a:pt x="0" y="167618"/>
                    <a:pt x="8868" y="158750"/>
                    <a:pt x="19844" y="158750"/>
                  </a:cubicBezTo>
                  <a:lnTo>
                    <a:pt x="81111" y="158750"/>
                  </a:lnTo>
                  <a:cubicBezTo>
                    <a:pt x="82662" y="152301"/>
                    <a:pt x="85142" y="146224"/>
                    <a:pt x="88429" y="140705"/>
                  </a:cubicBezTo>
                  <a:lnTo>
                    <a:pt x="27781" y="95250"/>
                  </a:lnTo>
                  <a:cubicBezTo>
                    <a:pt x="19038" y="88677"/>
                    <a:pt x="17239" y="76212"/>
                    <a:pt x="23813" y="67469"/>
                  </a:cubicBezTo>
                  <a:cubicBezTo>
                    <a:pt x="30386" y="58725"/>
                    <a:pt x="42850" y="56927"/>
                    <a:pt x="51594" y="63500"/>
                  </a:cubicBezTo>
                  <a:lnTo>
                    <a:pt x="119062" y="114102"/>
                  </a:lnTo>
                  <a:cubicBezTo>
                    <a:pt x="126690" y="110939"/>
                    <a:pt x="135062" y="109141"/>
                    <a:pt x="143867" y="109141"/>
                  </a:cubicBezTo>
                  <a:lnTo>
                    <a:pt x="213320" y="109141"/>
                  </a:lnTo>
                  <a:cubicBezTo>
                    <a:pt x="222126" y="109141"/>
                    <a:pt x="230498" y="110877"/>
                    <a:pt x="238125" y="114102"/>
                  </a:cubicBezTo>
                  <a:lnTo>
                    <a:pt x="305594" y="63500"/>
                  </a:lnTo>
                  <a:cubicBezTo>
                    <a:pt x="314337" y="56927"/>
                    <a:pt x="326802" y="58725"/>
                    <a:pt x="333375" y="67469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  <p:sp>
          <p:nvSpPr>
            <p:cNvPr id="42" name="Text 40"/>
            <p:cNvSpPr/>
            <p:nvPr/>
          </p:nvSpPr>
          <p:spPr>
            <a:xfrm>
              <a:off x="19380" y="7240"/>
              <a:ext cx="5017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检测</a:t>
              </a:r>
              <a:endParaRPr lang="en-US" sz="16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19380" y="7773"/>
              <a:ext cx="500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dirty="0">
                  <a:solidFill>
                    <a:srgbClr val="FFFFFF">
                      <a:alpha val="90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异常检测、欺诈检测</a:t>
              </a:r>
              <a:endParaRPr lang="en-US" sz="1600" dirty="0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8308340" y="4800600"/>
            <a:ext cx="7576820" cy="3766820"/>
            <a:chOff x="13000" y="9186"/>
            <a:chExt cx="11932" cy="5932"/>
          </a:xfrm>
        </p:grpSpPr>
        <p:sp>
          <p:nvSpPr>
            <p:cNvPr id="44" name="Shape 42"/>
            <p:cNvSpPr/>
            <p:nvPr/>
          </p:nvSpPr>
          <p:spPr>
            <a:xfrm>
              <a:off x="13000" y="9186"/>
              <a:ext cx="11933" cy="5933"/>
            </a:xfrm>
            <a:custGeom>
              <a:avLst/>
              <a:gdLst/>
              <a:ahLst/>
              <a:cxnLst/>
              <a:rect l="l" t="t" r="r" b="b"/>
              <a:pathLst>
                <a:path w="7577667" h="3767667">
                  <a:moveTo>
                    <a:pt x="127008" y="0"/>
                  </a:moveTo>
                  <a:lnTo>
                    <a:pt x="7450659" y="0"/>
                  </a:lnTo>
                  <a:cubicBezTo>
                    <a:pt x="7520803" y="0"/>
                    <a:pt x="7577667" y="56863"/>
                    <a:pt x="7577667" y="127008"/>
                  </a:cubicBezTo>
                  <a:lnTo>
                    <a:pt x="7577667" y="3640659"/>
                  </a:lnTo>
                  <a:cubicBezTo>
                    <a:pt x="7577667" y="3710803"/>
                    <a:pt x="7520803" y="3767667"/>
                    <a:pt x="7450659" y="3767667"/>
                  </a:cubicBezTo>
                  <a:lnTo>
                    <a:pt x="127008" y="3767667"/>
                  </a:lnTo>
                  <a:cubicBezTo>
                    <a:pt x="56863" y="3767667"/>
                    <a:pt x="0" y="3710803"/>
                    <a:pt x="0" y="3640659"/>
                  </a:cubicBezTo>
                  <a:lnTo>
                    <a:pt x="0" y="127008"/>
                  </a:lnTo>
                  <a:cubicBezTo>
                    <a:pt x="0" y="56910"/>
                    <a:pt x="56910" y="0"/>
                    <a:pt x="127008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58750" dist="105833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5" name="Shape 43"/>
            <p:cNvSpPr/>
            <p:nvPr/>
          </p:nvSpPr>
          <p:spPr>
            <a:xfrm>
              <a:off x="13400" y="9653"/>
              <a:ext cx="500" cy="400"/>
            </a:xfrm>
            <a:custGeom>
              <a:avLst/>
              <a:gdLst/>
              <a:ahLst/>
              <a:cxnLst/>
              <a:rect l="l" t="t" r="r" b="b"/>
              <a:pathLst>
                <a:path w="317500" h="254000">
                  <a:moveTo>
                    <a:pt x="206325" y="104428"/>
                  </a:moveTo>
                  <a:cubicBezTo>
                    <a:pt x="212378" y="102791"/>
                    <a:pt x="218728" y="105668"/>
                    <a:pt x="221456" y="111274"/>
                  </a:cubicBezTo>
                  <a:lnTo>
                    <a:pt x="230684" y="129927"/>
                  </a:lnTo>
                  <a:cubicBezTo>
                    <a:pt x="235793" y="130621"/>
                    <a:pt x="240804" y="132011"/>
                    <a:pt x="245517" y="133945"/>
                  </a:cubicBezTo>
                  <a:lnTo>
                    <a:pt x="262880" y="122386"/>
                  </a:lnTo>
                  <a:cubicBezTo>
                    <a:pt x="268089" y="118914"/>
                    <a:pt x="274985" y="119608"/>
                    <a:pt x="279400" y="124023"/>
                  </a:cubicBezTo>
                  <a:lnTo>
                    <a:pt x="288925" y="133548"/>
                  </a:lnTo>
                  <a:cubicBezTo>
                    <a:pt x="293340" y="137964"/>
                    <a:pt x="294035" y="144909"/>
                    <a:pt x="290562" y="150068"/>
                  </a:cubicBezTo>
                  <a:lnTo>
                    <a:pt x="279003" y="167382"/>
                  </a:lnTo>
                  <a:cubicBezTo>
                    <a:pt x="279946" y="169714"/>
                    <a:pt x="280789" y="172145"/>
                    <a:pt x="281484" y="174675"/>
                  </a:cubicBezTo>
                  <a:cubicBezTo>
                    <a:pt x="282178" y="177205"/>
                    <a:pt x="282625" y="179685"/>
                    <a:pt x="282972" y="182215"/>
                  </a:cubicBezTo>
                  <a:lnTo>
                    <a:pt x="301675" y="191443"/>
                  </a:lnTo>
                  <a:cubicBezTo>
                    <a:pt x="307280" y="194221"/>
                    <a:pt x="310158" y="200571"/>
                    <a:pt x="308521" y="206573"/>
                  </a:cubicBezTo>
                  <a:lnTo>
                    <a:pt x="305048" y="219571"/>
                  </a:lnTo>
                  <a:cubicBezTo>
                    <a:pt x="303411" y="225574"/>
                    <a:pt x="297805" y="229642"/>
                    <a:pt x="291554" y="229245"/>
                  </a:cubicBezTo>
                  <a:lnTo>
                    <a:pt x="270718" y="227905"/>
                  </a:lnTo>
                  <a:cubicBezTo>
                    <a:pt x="267593" y="231924"/>
                    <a:pt x="263971" y="235645"/>
                    <a:pt x="259854" y="238820"/>
                  </a:cubicBezTo>
                  <a:lnTo>
                    <a:pt x="261193" y="259606"/>
                  </a:lnTo>
                  <a:cubicBezTo>
                    <a:pt x="261590" y="265857"/>
                    <a:pt x="257522" y="271512"/>
                    <a:pt x="251520" y="273100"/>
                  </a:cubicBezTo>
                  <a:lnTo>
                    <a:pt x="238522" y="276572"/>
                  </a:lnTo>
                  <a:cubicBezTo>
                    <a:pt x="232470" y="278209"/>
                    <a:pt x="226169" y="275332"/>
                    <a:pt x="223391" y="269726"/>
                  </a:cubicBezTo>
                  <a:lnTo>
                    <a:pt x="214164" y="251073"/>
                  </a:lnTo>
                  <a:cubicBezTo>
                    <a:pt x="209054" y="250379"/>
                    <a:pt x="204043" y="248989"/>
                    <a:pt x="199330" y="247055"/>
                  </a:cubicBezTo>
                  <a:lnTo>
                    <a:pt x="181967" y="258614"/>
                  </a:lnTo>
                  <a:cubicBezTo>
                    <a:pt x="176758" y="262086"/>
                    <a:pt x="169863" y="261392"/>
                    <a:pt x="165447" y="256977"/>
                  </a:cubicBezTo>
                  <a:lnTo>
                    <a:pt x="155922" y="247452"/>
                  </a:lnTo>
                  <a:cubicBezTo>
                    <a:pt x="151507" y="243036"/>
                    <a:pt x="150813" y="236141"/>
                    <a:pt x="154285" y="230932"/>
                  </a:cubicBezTo>
                  <a:lnTo>
                    <a:pt x="165844" y="213568"/>
                  </a:lnTo>
                  <a:cubicBezTo>
                    <a:pt x="164902" y="211237"/>
                    <a:pt x="164058" y="208806"/>
                    <a:pt x="163364" y="206276"/>
                  </a:cubicBezTo>
                  <a:cubicBezTo>
                    <a:pt x="162669" y="203746"/>
                    <a:pt x="162223" y="201216"/>
                    <a:pt x="161875" y="198735"/>
                  </a:cubicBezTo>
                  <a:lnTo>
                    <a:pt x="143173" y="189508"/>
                  </a:lnTo>
                  <a:cubicBezTo>
                    <a:pt x="137567" y="186730"/>
                    <a:pt x="134739" y="180380"/>
                    <a:pt x="136327" y="174377"/>
                  </a:cubicBezTo>
                  <a:lnTo>
                    <a:pt x="139799" y="161379"/>
                  </a:lnTo>
                  <a:cubicBezTo>
                    <a:pt x="141436" y="155377"/>
                    <a:pt x="147042" y="151309"/>
                    <a:pt x="153293" y="151705"/>
                  </a:cubicBezTo>
                  <a:lnTo>
                    <a:pt x="174079" y="153045"/>
                  </a:lnTo>
                  <a:cubicBezTo>
                    <a:pt x="177205" y="149027"/>
                    <a:pt x="180826" y="145306"/>
                    <a:pt x="184944" y="142131"/>
                  </a:cubicBezTo>
                  <a:lnTo>
                    <a:pt x="183604" y="121394"/>
                  </a:lnTo>
                  <a:cubicBezTo>
                    <a:pt x="183207" y="115143"/>
                    <a:pt x="187275" y="109488"/>
                    <a:pt x="193278" y="107900"/>
                  </a:cubicBezTo>
                  <a:lnTo>
                    <a:pt x="206276" y="104428"/>
                  </a:lnTo>
                  <a:close/>
                  <a:moveTo>
                    <a:pt x="222448" y="168672"/>
                  </a:moveTo>
                  <a:cubicBezTo>
                    <a:pt x="210401" y="168686"/>
                    <a:pt x="200631" y="178478"/>
                    <a:pt x="200645" y="190525"/>
                  </a:cubicBezTo>
                  <a:cubicBezTo>
                    <a:pt x="200659" y="202572"/>
                    <a:pt x="210451" y="212342"/>
                    <a:pt x="222498" y="212328"/>
                  </a:cubicBezTo>
                  <a:cubicBezTo>
                    <a:pt x="234545" y="212314"/>
                    <a:pt x="244315" y="202522"/>
                    <a:pt x="244301" y="190475"/>
                  </a:cubicBezTo>
                  <a:cubicBezTo>
                    <a:pt x="244288" y="178428"/>
                    <a:pt x="234496" y="168658"/>
                    <a:pt x="222448" y="168672"/>
                  </a:cubicBezTo>
                  <a:close/>
                  <a:moveTo>
                    <a:pt x="111571" y="-22572"/>
                  </a:moveTo>
                  <a:lnTo>
                    <a:pt x="124569" y="-19100"/>
                  </a:lnTo>
                  <a:cubicBezTo>
                    <a:pt x="130572" y="-17462"/>
                    <a:pt x="134640" y="-11807"/>
                    <a:pt x="134243" y="-5606"/>
                  </a:cubicBezTo>
                  <a:lnTo>
                    <a:pt x="132904" y="15131"/>
                  </a:lnTo>
                  <a:cubicBezTo>
                    <a:pt x="137021" y="18306"/>
                    <a:pt x="140643" y="21977"/>
                    <a:pt x="143768" y="26045"/>
                  </a:cubicBezTo>
                  <a:lnTo>
                    <a:pt x="164604" y="24705"/>
                  </a:lnTo>
                  <a:cubicBezTo>
                    <a:pt x="170805" y="24309"/>
                    <a:pt x="176461" y="28377"/>
                    <a:pt x="178098" y="34379"/>
                  </a:cubicBezTo>
                  <a:lnTo>
                    <a:pt x="181570" y="47377"/>
                  </a:lnTo>
                  <a:cubicBezTo>
                    <a:pt x="183158" y="53380"/>
                    <a:pt x="180330" y="59730"/>
                    <a:pt x="174724" y="62508"/>
                  </a:cubicBezTo>
                  <a:lnTo>
                    <a:pt x="156021" y="71735"/>
                  </a:lnTo>
                  <a:cubicBezTo>
                    <a:pt x="155674" y="74265"/>
                    <a:pt x="155178" y="76795"/>
                    <a:pt x="154533" y="79276"/>
                  </a:cubicBezTo>
                  <a:cubicBezTo>
                    <a:pt x="153888" y="81756"/>
                    <a:pt x="152995" y="84237"/>
                    <a:pt x="152053" y="86568"/>
                  </a:cubicBezTo>
                  <a:lnTo>
                    <a:pt x="163612" y="103932"/>
                  </a:lnTo>
                  <a:cubicBezTo>
                    <a:pt x="167084" y="109141"/>
                    <a:pt x="166390" y="116036"/>
                    <a:pt x="161975" y="120452"/>
                  </a:cubicBezTo>
                  <a:lnTo>
                    <a:pt x="152450" y="129977"/>
                  </a:lnTo>
                  <a:cubicBezTo>
                    <a:pt x="148034" y="134392"/>
                    <a:pt x="141139" y="135086"/>
                    <a:pt x="135930" y="131614"/>
                  </a:cubicBezTo>
                  <a:lnTo>
                    <a:pt x="118566" y="120055"/>
                  </a:lnTo>
                  <a:cubicBezTo>
                    <a:pt x="113854" y="121989"/>
                    <a:pt x="108843" y="123379"/>
                    <a:pt x="103733" y="124073"/>
                  </a:cubicBezTo>
                  <a:lnTo>
                    <a:pt x="94506" y="142726"/>
                  </a:lnTo>
                  <a:cubicBezTo>
                    <a:pt x="91728" y="148332"/>
                    <a:pt x="85378" y="151160"/>
                    <a:pt x="79375" y="149572"/>
                  </a:cubicBezTo>
                  <a:lnTo>
                    <a:pt x="66377" y="146100"/>
                  </a:lnTo>
                  <a:cubicBezTo>
                    <a:pt x="60325" y="144463"/>
                    <a:pt x="56307" y="138807"/>
                    <a:pt x="56704" y="132606"/>
                  </a:cubicBezTo>
                  <a:lnTo>
                    <a:pt x="58043" y="111820"/>
                  </a:lnTo>
                  <a:cubicBezTo>
                    <a:pt x="53925" y="108645"/>
                    <a:pt x="50304" y="104973"/>
                    <a:pt x="47179" y="100905"/>
                  </a:cubicBezTo>
                  <a:lnTo>
                    <a:pt x="26343" y="102245"/>
                  </a:lnTo>
                  <a:cubicBezTo>
                    <a:pt x="20141" y="102642"/>
                    <a:pt x="14486" y="98574"/>
                    <a:pt x="12849" y="92571"/>
                  </a:cubicBezTo>
                  <a:lnTo>
                    <a:pt x="9376" y="79573"/>
                  </a:lnTo>
                  <a:cubicBezTo>
                    <a:pt x="7789" y="73571"/>
                    <a:pt x="10616" y="67221"/>
                    <a:pt x="16222" y="64443"/>
                  </a:cubicBezTo>
                  <a:lnTo>
                    <a:pt x="34925" y="55215"/>
                  </a:lnTo>
                  <a:cubicBezTo>
                    <a:pt x="35272" y="52685"/>
                    <a:pt x="35768" y="50205"/>
                    <a:pt x="36413" y="47675"/>
                  </a:cubicBezTo>
                  <a:cubicBezTo>
                    <a:pt x="37108" y="45145"/>
                    <a:pt x="37902" y="42714"/>
                    <a:pt x="38894" y="40382"/>
                  </a:cubicBezTo>
                  <a:lnTo>
                    <a:pt x="27335" y="23068"/>
                  </a:lnTo>
                  <a:cubicBezTo>
                    <a:pt x="23862" y="17859"/>
                    <a:pt x="24557" y="10964"/>
                    <a:pt x="28972" y="6548"/>
                  </a:cubicBezTo>
                  <a:lnTo>
                    <a:pt x="38497" y="-2977"/>
                  </a:lnTo>
                  <a:cubicBezTo>
                    <a:pt x="42912" y="-7392"/>
                    <a:pt x="49808" y="-8086"/>
                    <a:pt x="55017" y="-4614"/>
                  </a:cubicBezTo>
                  <a:lnTo>
                    <a:pt x="72380" y="6945"/>
                  </a:lnTo>
                  <a:cubicBezTo>
                    <a:pt x="77093" y="5011"/>
                    <a:pt x="82104" y="3621"/>
                    <a:pt x="87213" y="2927"/>
                  </a:cubicBezTo>
                  <a:lnTo>
                    <a:pt x="96441" y="-15726"/>
                  </a:lnTo>
                  <a:cubicBezTo>
                    <a:pt x="99219" y="-21332"/>
                    <a:pt x="105519" y="-24160"/>
                    <a:pt x="111571" y="-22572"/>
                  </a:cubicBezTo>
                  <a:close/>
                  <a:moveTo>
                    <a:pt x="95448" y="41672"/>
                  </a:moveTo>
                  <a:cubicBezTo>
                    <a:pt x="83401" y="41672"/>
                    <a:pt x="73620" y="51453"/>
                    <a:pt x="73620" y="63500"/>
                  </a:cubicBezTo>
                  <a:cubicBezTo>
                    <a:pt x="73620" y="75547"/>
                    <a:pt x="83401" y="85328"/>
                    <a:pt x="95448" y="85328"/>
                  </a:cubicBezTo>
                  <a:cubicBezTo>
                    <a:pt x="107496" y="85328"/>
                    <a:pt x="117277" y="75547"/>
                    <a:pt x="117277" y="63500"/>
                  </a:cubicBezTo>
                  <a:cubicBezTo>
                    <a:pt x="117277" y="51453"/>
                    <a:pt x="107496" y="41672"/>
                    <a:pt x="95448" y="41672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  <p:sp>
          <p:nvSpPr>
            <p:cNvPr id="46" name="Text 44"/>
            <p:cNvSpPr/>
            <p:nvPr/>
          </p:nvSpPr>
          <p:spPr>
            <a:xfrm>
              <a:off x="13900" y="9586"/>
              <a:ext cx="10833" cy="5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000" b="1" dirty="0">
                  <a:solidFill>
                    <a:srgbClr val="212C42"/>
                  </a:solidFill>
                  <a:latin typeface="阿里妈妈数黑体" pitchFamily="34" charset="-122"/>
                  <a:ea typeface="阿里妈妈数黑体" pitchFamily="34" charset="-122"/>
                  <a:cs typeface="阿里妈妈数黑体" pitchFamily="34" charset="-120"/>
                </a:rPr>
                <a:t>建模核心流程</a:t>
              </a:r>
              <a:endParaRPr lang="en-US" sz="16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13400" y="10386"/>
              <a:ext cx="11133" cy="933"/>
            </a:xfrm>
            <a:custGeom>
              <a:avLst/>
              <a:gdLst/>
              <a:ahLst/>
              <a:cxnLst/>
              <a:rect l="l" t="t" r="r" b="b"/>
              <a:pathLst>
                <a:path w="7069667" h="592667">
                  <a:moveTo>
                    <a:pt x="84668" y="0"/>
                  </a:moveTo>
                  <a:lnTo>
                    <a:pt x="6984998" y="0"/>
                  </a:lnTo>
                  <a:cubicBezTo>
                    <a:pt x="7031759" y="0"/>
                    <a:pt x="7069667" y="37907"/>
                    <a:pt x="7069667" y="84668"/>
                  </a:cubicBezTo>
                  <a:lnTo>
                    <a:pt x="7069667" y="507998"/>
                  </a:lnTo>
                  <a:cubicBezTo>
                    <a:pt x="7069667" y="554759"/>
                    <a:pt x="7031759" y="592667"/>
                    <a:pt x="6984998" y="592667"/>
                  </a:cubicBezTo>
                  <a:lnTo>
                    <a:pt x="84668" y="592667"/>
                  </a:lnTo>
                  <a:cubicBezTo>
                    <a:pt x="37907" y="592667"/>
                    <a:pt x="0" y="554759"/>
                    <a:pt x="0" y="507998"/>
                  </a:cubicBezTo>
                  <a:lnTo>
                    <a:pt x="0" y="84668"/>
                  </a:lnTo>
                  <a:cubicBezTo>
                    <a:pt x="0" y="37939"/>
                    <a:pt x="37939" y="0"/>
                    <a:pt x="84668" y="0"/>
                  </a:cubicBezTo>
                  <a:close/>
                </a:path>
              </a:pathLst>
            </a:custGeom>
            <a:solidFill>
              <a:srgbClr val="16A085">
                <a:alpha val="10196"/>
              </a:srgbClr>
            </a:solidFill>
          </p:spPr>
        </p:sp>
        <p:sp>
          <p:nvSpPr>
            <p:cNvPr id="48" name="Shape 46"/>
            <p:cNvSpPr/>
            <p:nvPr/>
          </p:nvSpPr>
          <p:spPr>
            <a:xfrm>
              <a:off x="13600" y="10586"/>
              <a:ext cx="533" cy="533"/>
            </a:xfrm>
            <a:custGeom>
              <a:avLst/>
              <a:gdLst/>
              <a:ahLst/>
              <a:cxnLst/>
              <a:rect l="l" t="t" r="r" b="b"/>
              <a:pathLst>
                <a:path w="338667" h="338667">
                  <a:moveTo>
                    <a:pt x="169333" y="0"/>
                  </a:moveTo>
                  <a:lnTo>
                    <a:pt x="169333" y="0"/>
                  </a:lnTo>
                  <a:cubicBezTo>
                    <a:pt x="262854" y="0"/>
                    <a:pt x="338667" y="75813"/>
                    <a:pt x="338667" y="169333"/>
                  </a:cubicBezTo>
                  <a:lnTo>
                    <a:pt x="338667" y="169333"/>
                  </a:lnTo>
                  <a:cubicBezTo>
                    <a:pt x="338667" y="262854"/>
                    <a:pt x="262854" y="338667"/>
                    <a:pt x="169333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  <p:sp>
          <p:nvSpPr>
            <p:cNvPr id="49" name="Text 47"/>
            <p:cNvSpPr/>
            <p:nvPr/>
          </p:nvSpPr>
          <p:spPr>
            <a:xfrm>
              <a:off x="13533" y="10586"/>
              <a:ext cx="667" cy="5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35" b="1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14333" y="10653"/>
              <a:ext cx="375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特征工程 — 提取、转换、降维</a:t>
              </a:r>
              <a:endParaRPr lang="en-US" sz="16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13400" y="11520"/>
              <a:ext cx="11133" cy="933"/>
            </a:xfrm>
            <a:custGeom>
              <a:avLst/>
              <a:gdLst/>
              <a:ahLst/>
              <a:cxnLst/>
              <a:rect l="l" t="t" r="r" b="b"/>
              <a:pathLst>
                <a:path w="7069667" h="592667">
                  <a:moveTo>
                    <a:pt x="84668" y="0"/>
                  </a:moveTo>
                  <a:lnTo>
                    <a:pt x="6984998" y="0"/>
                  </a:lnTo>
                  <a:cubicBezTo>
                    <a:pt x="7031759" y="0"/>
                    <a:pt x="7069667" y="37907"/>
                    <a:pt x="7069667" y="84668"/>
                  </a:cubicBezTo>
                  <a:lnTo>
                    <a:pt x="7069667" y="507998"/>
                  </a:lnTo>
                  <a:cubicBezTo>
                    <a:pt x="7069667" y="554759"/>
                    <a:pt x="7031759" y="592667"/>
                    <a:pt x="6984998" y="592667"/>
                  </a:cubicBezTo>
                  <a:lnTo>
                    <a:pt x="84668" y="592667"/>
                  </a:lnTo>
                  <a:cubicBezTo>
                    <a:pt x="37907" y="592667"/>
                    <a:pt x="0" y="554759"/>
                    <a:pt x="0" y="507998"/>
                  </a:cubicBezTo>
                  <a:lnTo>
                    <a:pt x="0" y="84668"/>
                  </a:lnTo>
                  <a:cubicBezTo>
                    <a:pt x="0" y="37939"/>
                    <a:pt x="37939" y="0"/>
                    <a:pt x="84668" y="0"/>
                  </a:cubicBezTo>
                  <a:close/>
                </a:path>
              </a:pathLst>
            </a:custGeom>
            <a:solidFill>
              <a:srgbClr val="212C42">
                <a:alpha val="10196"/>
              </a:srgbClr>
            </a:solidFill>
          </p:spPr>
        </p:sp>
        <p:sp>
          <p:nvSpPr>
            <p:cNvPr id="52" name="Shape 50"/>
            <p:cNvSpPr/>
            <p:nvPr/>
          </p:nvSpPr>
          <p:spPr>
            <a:xfrm>
              <a:off x="13600" y="11720"/>
              <a:ext cx="533" cy="533"/>
            </a:xfrm>
            <a:custGeom>
              <a:avLst/>
              <a:gdLst/>
              <a:ahLst/>
              <a:cxnLst/>
              <a:rect l="l" t="t" r="r" b="b"/>
              <a:pathLst>
                <a:path w="338667" h="338667">
                  <a:moveTo>
                    <a:pt x="169333" y="0"/>
                  </a:moveTo>
                  <a:lnTo>
                    <a:pt x="169333" y="0"/>
                  </a:lnTo>
                  <a:cubicBezTo>
                    <a:pt x="262854" y="0"/>
                    <a:pt x="338667" y="75813"/>
                    <a:pt x="338667" y="169333"/>
                  </a:cubicBezTo>
                  <a:lnTo>
                    <a:pt x="338667" y="169333"/>
                  </a:lnTo>
                  <a:cubicBezTo>
                    <a:pt x="338667" y="262854"/>
                    <a:pt x="262854" y="338667"/>
                    <a:pt x="169333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212C42"/>
            </a:solidFill>
          </p:spPr>
        </p:sp>
        <p:sp>
          <p:nvSpPr>
            <p:cNvPr id="53" name="Text 51"/>
            <p:cNvSpPr/>
            <p:nvPr/>
          </p:nvSpPr>
          <p:spPr>
            <a:xfrm>
              <a:off x="13533" y="11720"/>
              <a:ext cx="667" cy="5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35" b="1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14333" y="11786"/>
              <a:ext cx="375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模型训练 — 学习样本映射关系</a:t>
              </a:r>
              <a:endParaRPr lang="en-US" sz="16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13400" y="12653"/>
              <a:ext cx="11133" cy="933"/>
            </a:xfrm>
            <a:custGeom>
              <a:avLst/>
              <a:gdLst/>
              <a:ahLst/>
              <a:cxnLst/>
              <a:rect l="l" t="t" r="r" b="b"/>
              <a:pathLst>
                <a:path w="7069667" h="592667">
                  <a:moveTo>
                    <a:pt x="84668" y="0"/>
                  </a:moveTo>
                  <a:lnTo>
                    <a:pt x="6984998" y="0"/>
                  </a:lnTo>
                  <a:cubicBezTo>
                    <a:pt x="7031759" y="0"/>
                    <a:pt x="7069667" y="37907"/>
                    <a:pt x="7069667" y="84668"/>
                  </a:cubicBezTo>
                  <a:lnTo>
                    <a:pt x="7069667" y="507998"/>
                  </a:lnTo>
                  <a:cubicBezTo>
                    <a:pt x="7069667" y="554759"/>
                    <a:pt x="7031759" y="592667"/>
                    <a:pt x="6984998" y="592667"/>
                  </a:cubicBezTo>
                  <a:lnTo>
                    <a:pt x="84668" y="592667"/>
                  </a:lnTo>
                  <a:cubicBezTo>
                    <a:pt x="37907" y="592667"/>
                    <a:pt x="0" y="554759"/>
                    <a:pt x="0" y="507998"/>
                  </a:cubicBezTo>
                  <a:lnTo>
                    <a:pt x="0" y="84668"/>
                  </a:lnTo>
                  <a:cubicBezTo>
                    <a:pt x="0" y="37939"/>
                    <a:pt x="37939" y="0"/>
                    <a:pt x="84668" y="0"/>
                  </a:cubicBezTo>
                  <a:close/>
                </a:path>
              </a:pathLst>
            </a:custGeom>
            <a:solidFill>
              <a:srgbClr val="5B677D">
                <a:alpha val="10196"/>
              </a:srgbClr>
            </a:solidFill>
          </p:spPr>
        </p:sp>
        <p:sp>
          <p:nvSpPr>
            <p:cNvPr id="56" name="Shape 54"/>
            <p:cNvSpPr/>
            <p:nvPr/>
          </p:nvSpPr>
          <p:spPr>
            <a:xfrm>
              <a:off x="13600" y="12853"/>
              <a:ext cx="533" cy="533"/>
            </a:xfrm>
            <a:custGeom>
              <a:avLst/>
              <a:gdLst/>
              <a:ahLst/>
              <a:cxnLst/>
              <a:rect l="l" t="t" r="r" b="b"/>
              <a:pathLst>
                <a:path w="338667" h="338667">
                  <a:moveTo>
                    <a:pt x="169333" y="0"/>
                  </a:moveTo>
                  <a:lnTo>
                    <a:pt x="169333" y="0"/>
                  </a:lnTo>
                  <a:cubicBezTo>
                    <a:pt x="262854" y="0"/>
                    <a:pt x="338667" y="75813"/>
                    <a:pt x="338667" y="169333"/>
                  </a:cubicBezTo>
                  <a:lnTo>
                    <a:pt x="338667" y="169333"/>
                  </a:lnTo>
                  <a:cubicBezTo>
                    <a:pt x="338667" y="262854"/>
                    <a:pt x="262854" y="338667"/>
                    <a:pt x="169333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5B677D"/>
            </a:solidFill>
          </p:spPr>
        </p:sp>
        <p:sp>
          <p:nvSpPr>
            <p:cNvPr id="57" name="Text 55"/>
            <p:cNvSpPr/>
            <p:nvPr/>
          </p:nvSpPr>
          <p:spPr>
            <a:xfrm>
              <a:off x="13533" y="12853"/>
              <a:ext cx="667" cy="5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35" b="1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14333" y="12920"/>
              <a:ext cx="4283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模型评估 — 准确率、召回率、F1值</a:t>
              </a:r>
              <a:endParaRPr lang="en-US" sz="160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13400" y="13786"/>
              <a:ext cx="11133" cy="933"/>
            </a:xfrm>
            <a:custGeom>
              <a:avLst/>
              <a:gdLst/>
              <a:ahLst/>
              <a:cxnLst/>
              <a:rect l="l" t="t" r="r" b="b"/>
              <a:pathLst>
                <a:path w="7069667" h="592667">
                  <a:moveTo>
                    <a:pt x="84668" y="0"/>
                  </a:moveTo>
                  <a:lnTo>
                    <a:pt x="6984998" y="0"/>
                  </a:lnTo>
                  <a:cubicBezTo>
                    <a:pt x="7031759" y="0"/>
                    <a:pt x="7069667" y="37907"/>
                    <a:pt x="7069667" y="84668"/>
                  </a:cubicBezTo>
                  <a:lnTo>
                    <a:pt x="7069667" y="507998"/>
                  </a:lnTo>
                  <a:cubicBezTo>
                    <a:pt x="7069667" y="554759"/>
                    <a:pt x="7031759" y="592667"/>
                    <a:pt x="6984998" y="592667"/>
                  </a:cubicBezTo>
                  <a:lnTo>
                    <a:pt x="84668" y="592667"/>
                  </a:lnTo>
                  <a:cubicBezTo>
                    <a:pt x="37907" y="592667"/>
                    <a:pt x="0" y="554759"/>
                    <a:pt x="0" y="507998"/>
                  </a:cubicBezTo>
                  <a:lnTo>
                    <a:pt x="0" y="84668"/>
                  </a:lnTo>
                  <a:cubicBezTo>
                    <a:pt x="0" y="37939"/>
                    <a:pt x="37939" y="0"/>
                    <a:pt x="84668" y="0"/>
                  </a:cubicBezTo>
                  <a:close/>
                </a:path>
              </a:pathLst>
            </a:custGeom>
            <a:solidFill>
              <a:srgbClr val="16A085">
                <a:alpha val="10196"/>
              </a:srgbClr>
            </a:solidFill>
          </p:spPr>
        </p:sp>
        <p:sp>
          <p:nvSpPr>
            <p:cNvPr id="60" name="Shape 58"/>
            <p:cNvSpPr/>
            <p:nvPr/>
          </p:nvSpPr>
          <p:spPr>
            <a:xfrm>
              <a:off x="13600" y="13986"/>
              <a:ext cx="533" cy="533"/>
            </a:xfrm>
            <a:custGeom>
              <a:avLst/>
              <a:gdLst/>
              <a:ahLst/>
              <a:cxnLst/>
              <a:rect l="l" t="t" r="r" b="b"/>
              <a:pathLst>
                <a:path w="338667" h="338667">
                  <a:moveTo>
                    <a:pt x="169333" y="0"/>
                  </a:moveTo>
                  <a:lnTo>
                    <a:pt x="169333" y="0"/>
                  </a:lnTo>
                  <a:cubicBezTo>
                    <a:pt x="262854" y="0"/>
                    <a:pt x="338667" y="75813"/>
                    <a:pt x="338667" y="169333"/>
                  </a:cubicBezTo>
                  <a:lnTo>
                    <a:pt x="338667" y="169333"/>
                  </a:lnTo>
                  <a:cubicBezTo>
                    <a:pt x="338667" y="262854"/>
                    <a:pt x="262854" y="338667"/>
                    <a:pt x="169333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16A085"/>
            </a:solidFill>
          </p:spPr>
        </p:sp>
        <p:sp>
          <p:nvSpPr>
            <p:cNvPr id="61" name="Text 59"/>
            <p:cNvSpPr/>
            <p:nvPr/>
          </p:nvSpPr>
          <p:spPr>
            <a:xfrm>
              <a:off x="13533" y="13986"/>
              <a:ext cx="667" cy="5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35" b="1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14333" y="14053"/>
              <a:ext cx="375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343A4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模型优化 — 调参、防止过拟合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489" y="491489"/>
            <a:ext cx="15371320" cy="294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kern="0" spc="77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LOGISTIC REGRESSION &amp; DECISION TREE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1489" y="884680"/>
            <a:ext cx="15567915" cy="5897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64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分类模型：逻辑回归与决策树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1489" y="1621914"/>
            <a:ext cx="1179574" cy="49149"/>
          </a:xfrm>
          <a:custGeom>
            <a:avLst/>
            <a:gdLst/>
            <a:ahLst/>
            <a:cxnLst/>
            <a:rect l="l" t="t" r="r" b="b"/>
            <a:pathLst>
              <a:path w="1179574" h="49149">
                <a:moveTo>
                  <a:pt x="0" y="0"/>
                </a:moveTo>
                <a:lnTo>
                  <a:pt x="1179574" y="0"/>
                </a:lnTo>
                <a:lnTo>
                  <a:pt x="1179574" y="49149"/>
                </a:lnTo>
                <a:lnTo>
                  <a:pt x="0" y="49149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91489" y="1916807"/>
            <a:ext cx="7482921" cy="6413932"/>
          </a:xfrm>
          <a:custGeom>
            <a:avLst/>
            <a:gdLst/>
            <a:ahLst/>
            <a:cxnLst/>
            <a:rect l="l" t="t" r="r" b="b"/>
            <a:pathLst>
              <a:path w="7482921" h="6413932">
                <a:moveTo>
                  <a:pt x="147456" y="0"/>
                </a:moveTo>
                <a:lnTo>
                  <a:pt x="7335464" y="0"/>
                </a:lnTo>
                <a:cubicBezTo>
                  <a:pt x="7416902" y="0"/>
                  <a:pt x="7482921" y="66018"/>
                  <a:pt x="7482921" y="147456"/>
                </a:cubicBezTo>
                <a:lnTo>
                  <a:pt x="7482921" y="6266476"/>
                </a:lnTo>
                <a:cubicBezTo>
                  <a:pt x="7482921" y="6347914"/>
                  <a:pt x="7416902" y="6413932"/>
                  <a:pt x="7335464" y="6413932"/>
                </a:cubicBezTo>
                <a:lnTo>
                  <a:pt x="147456" y="6413932"/>
                </a:lnTo>
                <a:cubicBezTo>
                  <a:pt x="66018" y="6413932"/>
                  <a:pt x="0" y="6347914"/>
                  <a:pt x="0" y="6266476"/>
                </a:cubicBezTo>
                <a:lnTo>
                  <a:pt x="0" y="147456"/>
                </a:lnTo>
                <a:cubicBezTo>
                  <a:pt x="0" y="66073"/>
                  <a:pt x="66073" y="0"/>
                  <a:pt x="14745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07181" dist="2457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1489" y="1916807"/>
            <a:ext cx="7482921" cy="884680"/>
          </a:xfrm>
          <a:custGeom>
            <a:avLst/>
            <a:gdLst/>
            <a:ahLst/>
            <a:cxnLst/>
            <a:rect l="l" t="t" r="r" b="b"/>
            <a:pathLst>
              <a:path w="7482921" h="884680">
                <a:moveTo>
                  <a:pt x="147450" y="0"/>
                </a:moveTo>
                <a:lnTo>
                  <a:pt x="7335471" y="0"/>
                </a:lnTo>
                <a:cubicBezTo>
                  <a:pt x="7416905" y="0"/>
                  <a:pt x="7482921" y="66015"/>
                  <a:pt x="7482921" y="147450"/>
                </a:cubicBezTo>
                <a:lnTo>
                  <a:pt x="7482921" y="884680"/>
                </a:lnTo>
                <a:lnTo>
                  <a:pt x="0" y="884680"/>
                </a:lnTo>
                <a:lnTo>
                  <a:pt x="0" y="147450"/>
                </a:lnTo>
                <a:cubicBezTo>
                  <a:pt x="0" y="66070"/>
                  <a:pt x="66070" y="0"/>
                  <a:pt x="1474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/>
              </a:gs>
              <a:gs pos="100000">
                <a:srgbClr val="5B677D"/>
              </a:gs>
            </a:gsLst>
            <a:lin ang="0" scaled="1"/>
          </a:gradFill>
        </p:spPr>
      </p:sp>
      <p:sp>
        <p:nvSpPr>
          <p:cNvPr id="7" name="Shape 5"/>
          <p:cNvSpPr/>
          <p:nvPr/>
        </p:nvSpPr>
        <p:spPr>
          <a:xfrm>
            <a:off x="774095" y="2211533"/>
            <a:ext cx="294893" cy="294893"/>
          </a:xfrm>
          <a:custGeom>
            <a:avLst/>
            <a:gdLst/>
            <a:ahLst/>
            <a:cxnLst/>
            <a:rect l="l" t="t" r="r" b="b"/>
            <a:pathLst>
              <a:path w="294893" h="294893">
                <a:moveTo>
                  <a:pt x="36862" y="36862"/>
                </a:moveTo>
                <a:cubicBezTo>
                  <a:pt x="36862" y="26667"/>
                  <a:pt x="28625" y="18431"/>
                  <a:pt x="18431" y="18431"/>
                </a:cubicBezTo>
                <a:cubicBezTo>
                  <a:pt x="8236" y="18431"/>
                  <a:pt x="0" y="26667"/>
                  <a:pt x="0" y="36862"/>
                </a:cubicBezTo>
                <a:lnTo>
                  <a:pt x="0" y="230385"/>
                </a:lnTo>
                <a:cubicBezTo>
                  <a:pt x="0" y="255843"/>
                  <a:pt x="20620" y="276463"/>
                  <a:pt x="46077" y="276463"/>
                </a:cubicBezTo>
                <a:lnTo>
                  <a:pt x="276463" y="276463"/>
                </a:lnTo>
                <a:cubicBezTo>
                  <a:pt x="286657" y="276463"/>
                  <a:pt x="294893" y="268226"/>
                  <a:pt x="294893" y="258032"/>
                </a:cubicBezTo>
                <a:cubicBezTo>
                  <a:pt x="294893" y="247837"/>
                  <a:pt x="286657" y="239601"/>
                  <a:pt x="276463" y="239601"/>
                </a:cubicBezTo>
                <a:lnTo>
                  <a:pt x="46077" y="239601"/>
                </a:lnTo>
                <a:cubicBezTo>
                  <a:pt x="41009" y="239601"/>
                  <a:pt x="36862" y="235454"/>
                  <a:pt x="36862" y="230385"/>
                </a:cubicBezTo>
                <a:lnTo>
                  <a:pt x="36862" y="36862"/>
                </a:lnTo>
                <a:close/>
                <a:moveTo>
                  <a:pt x="271049" y="86740"/>
                </a:moveTo>
                <a:cubicBezTo>
                  <a:pt x="278248" y="79541"/>
                  <a:pt x="278248" y="67849"/>
                  <a:pt x="271049" y="60649"/>
                </a:cubicBezTo>
                <a:cubicBezTo>
                  <a:pt x="263849" y="53449"/>
                  <a:pt x="252157" y="53449"/>
                  <a:pt x="244957" y="60649"/>
                </a:cubicBezTo>
                <a:lnTo>
                  <a:pt x="184308" y="121356"/>
                </a:lnTo>
                <a:lnTo>
                  <a:pt x="151248" y="88353"/>
                </a:lnTo>
                <a:cubicBezTo>
                  <a:pt x="144049" y="81153"/>
                  <a:pt x="132356" y="81153"/>
                  <a:pt x="125157" y="88353"/>
                </a:cubicBezTo>
                <a:lnTo>
                  <a:pt x="69864" y="143645"/>
                </a:lnTo>
                <a:cubicBezTo>
                  <a:pt x="62665" y="150845"/>
                  <a:pt x="62665" y="162537"/>
                  <a:pt x="69864" y="169737"/>
                </a:cubicBezTo>
                <a:cubicBezTo>
                  <a:pt x="77064" y="176936"/>
                  <a:pt x="88756" y="176936"/>
                  <a:pt x="95956" y="169737"/>
                </a:cubicBezTo>
                <a:lnTo>
                  <a:pt x="138231" y="127461"/>
                </a:lnTo>
                <a:lnTo>
                  <a:pt x="171292" y="160521"/>
                </a:lnTo>
                <a:cubicBezTo>
                  <a:pt x="178491" y="167721"/>
                  <a:pt x="190183" y="167721"/>
                  <a:pt x="197383" y="160521"/>
                </a:cubicBezTo>
                <a:lnTo>
                  <a:pt x="271106" y="8679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105850" y="2162552"/>
            <a:ext cx="6770262" cy="3931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逻辑回归（Logistic Regression）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7952" y="3108500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110585" y="221170"/>
                </a:moveTo>
                <a:cubicBezTo>
                  <a:pt x="171619" y="221170"/>
                  <a:pt x="221170" y="171619"/>
                  <a:pt x="221170" y="110585"/>
                </a:cubicBezTo>
                <a:cubicBezTo>
                  <a:pt x="221170" y="49551"/>
                  <a:pt x="171619" y="0"/>
                  <a:pt x="110585" y="0"/>
                </a:cubicBezTo>
                <a:cubicBezTo>
                  <a:pt x="49551" y="0"/>
                  <a:pt x="0" y="49551"/>
                  <a:pt x="0" y="110585"/>
                </a:cubicBezTo>
                <a:cubicBezTo>
                  <a:pt x="0" y="171619"/>
                  <a:pt x="49551" y="221170"/>
                  <a:pt x="110585" y="221170"/>
                </a:cubicBezTo>
                <a:close/>
                <a:moveTo>
                  <a:pt x="96762" y="69116"/>
                </a:moveTo>
                <a:cubicBezTo>
                  <a:pt x="96762" y="61486"/>
                  <a:pt x="102956" y="55293"/>
                  <a:pt x="110585" y="55293"/>
                </a:cubicBezTo>
                <a:cubicBezTo>
                  <a:pt x="118214" y="55293"/>
                  <a:pt x="124408" y="61486"/>
                  <a:pt x="124408" y="69116"/>
                </a:cubicBezTo>
                <a:cubicBezTo>
                  <a:pt x="124408" y="76745"/>
                  <a:pt x="118214" y="82939"/>
                  <a:pt x="110585" y="82939"/>
                </a:cubicBezTo>
                <a:cubicBezTo>
                  <a:pt x="102956" y="82939"/>
                  <a:pt x="96762" y="76745"/>
                  <a:pt x="96762" y="69116"/>
                </a:cubicBezTo>
                <a:close/>
                <a:moveTo>
                  <a:pt x="93306" y="96762"/>
                </a:moveTo>
                <a:lnTo>
                  <a:pt x="114041" y="96762"/>
                </a:lnTo>
                <a:cubicBezTo>
                  <a:pt x="119786" y="96762"/>
                  <a:pt x="124408" y="101384"/>
                  <a:pt x="124408" y="107129"/>
                </a:cubicBezTo>
                <a:lnTo>
                  <a:pt x="124408" y="145143"/>
                </a:lnTo>
                <a:lnTo>
                  <a:pt x="127864" y="145143"/>
                </a:lnTo>
                <a:cubicBezTo>
                  <a:pt x="133609" y="145143"/>
                  <a:pt x="138231" y="149765"/>
                  <a:pt x="138231" y="155510"/>
                </a:cubicBezTo>
                <a:cubicBezTo>
                  <a:pt x="138231" y="161255"/>
                  <a:pt x="133609" y="165878"/>
                  <a:pt x="127864" y="165878"/>
                </a:cubicBezTo>
                <a:lnTo>
                  <a:pt x="93306" y="165878"/>
                </a:lnTo>
                <a:cubicBezTo>
                  <a:pt x="87561" y="165878"/>
                  <a:pt x="82939" y="161255"/>
                  <a:pt x="82939" y="155510"/>
                </a:cubicBezTo>
                <a:cubicBezTo>
                  <a:pt x="82939" y="149765"/>
                  <a:pt x="87561" y="145143"/>
                  <a:pt x="93306" y="145143"/>
                </a:cubicBezTo>
                <a:lnTo>
                  <a:pt x="103673" y="145143"/>
                </a:lnTo>
                <a:lnTo>
                  <a:pt x="103673" y="117497"/>
                </a:lnTo>
                <a:lnTo>
                  <a:pt x="93306" y="117497"/>
                </a:lnTo>
                <a:cubicBezTo>
                  <a:pt x="87561" y="117497"/>
                  <a:pt x="82939" y="112874"/>
                  <a:pt x="82939" y="107129"/>
                </a:cubicBezTo>
                <a:cubicBezTo>
                  <a:pt x="82939" y="101384"/>
                  <a:pt x="87561" y="96762"/>
                  <a:pt x="93306" y="96762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0" name="Text 8"/>
          <p:cNvSpPr/>
          <p:nvPr/>
        </p:nvSpPr>
        <p:spPr>
          <a:xfrm>
            <a:off x="1019840" y="3047064"/>
            <a:ext cx="6819410" cy="3440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7234" y="3489404"/>
            <a:ext cx="7089729" cy="3194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适用于</a:t>
            </a:r>
            <a:r>
              <a:rPr lang="en-US" sz="155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二分类场景</a:t>
            </a:r>
            <a:r>
              <a:rPr lang="en-US" sz="155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。模型简单、训练快、可解释性强。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0305" y="4066904"/>
            <a:ext cx="276463" cy="221170"/>
          </a:xfrm>
          <a:custGeom>
            <a:avLst/>
            <a:gdLst/>
            <a:ahLst/>
            <a:cxnLst/>
            <a:rect l="l" t="t" r="r" b="b"/>
            <a:pathLst>
              <a:path w="276463" h="221170">
                <a:moveTo>
                  <a:pt x="179657" y="90930"/>
                </a:moveTo>
                <a:cubicBezTo>
                  <a:pt x="184928" y="89505"/>
                  <a:pt x="190457" y="92010"/>
                  <a:pt x="192833" y="96891"/>
                </a:cubicBezTo>
                <a:lnTo>
                  <a:pt x="200867" y="113134"/>
                </a:lnTo>
                <a:cubicBezTo>
                  <a:pt x="205317" y="113738"/>
                  <a:pt x="209680" y="114948"/>
                  <a:pt x="213783" y="116633"/>
                </a:cubicBezTo>
                <a:lnTo>
                  <a:pt x="228902" y="106568"/>
                </a:lnTo>
                <a:cubicBezTo>
                  <a:pt x="233438" y="103544"/>
                  <a:pt x="239443" y="104149"/>
                  <a:pt x="243287" y="107993"/>
                </a:cubicBezTo>
                <a:lnTo>
                  <a:pt x="251581" y="116287"/>
                </a:lnTo>
                <a:cubicBezTo>
                  <a:pt x="255426" y="120132"/>
                  <a:pt x="256030" y="126179"/>
                  <a:pt x="253006" y="130672"/>
                </a:cubicBezTo>
                <a:lnTo>
                  <a:pt x="242941" y="145748"/>
                </a:lnTo>
                <a:cubicBezTo>
                  <a:pt x="243762" y="147778"/>
                  <a:pt x="244497" y="149895"/>
                  <a:pt x="245101" y="152098"/>
                </a:cubicBezTo>
                <a:cubicBezTo>
                  <a:pt x="245706" y="154301"/>
                  <a:pt x="246095" y="156461"/>
                  <a:pt x="246397" y="158664"/>
                </a:cubicBezTo>
                <a:lnTo>
                  <a:pt x="262683" y="166698"/>
                </a:lnTo>
                <a:cubicBezTo>
                  <a:pt x="267564" y="169117"/>
                  <a:pt x="270069" y="174647"/>
                  <a:pt x="268644" y="179873"/>
                </a:cubicBezTo>
                <a:lnTo>
                  <a:pt x="265620" y="191191"/>
                </a:lnTo>
                <a:cubicBezTo>
                  <a:pt x="264195" y="196418"/>
                  <a:pt x="259313" y="199960"/>
                  <a:pt x="253870" y="199615"/>
                </a:cubicBezTo>
                <a:lnTo>
                  <a:pt x="235728" y="198448"/>
                </a:lnTo>
                <a:cubicBezTo>
                  <a:pt x="233006" y="201947"/>
                  <a:pt x="229853" y="205187"/>
                  <a:pt x="226267" y="207952"/>
                </a:cubicBezTo>
                <a:lnTo>
                  <a:pt x="227434" y="226051"/>
                </a:lnTo>
                <a:cubicBezTo>
                  <a:pt x="227779" y="231494"/>
                  <a:pt x="224237" y="236419"/>
                  <a:pt x="219010" y="237801"/>
                </a:cubicBezTo>
                <a:lnTo>
                  <a:pt x="207693" y="240825"/>
                </a:lnTo>
                <a:cubicBezTo>
                  <a:pt x="202422" y="242250"/>
                  <a:pt x="196936" y="239745"/>
                  <a:pt x="194517" y="234864"/>
                </a:cubicBezTo>
                <a:lnTo>
                  <a:pt x="186483" y="218621"/>
                </a:lnTo>
                <a:cubicBezTo>
                  <a:pt x="182033" y="218017"/>
                  <a:pt x="177670" y="216807"/>
                  <a:pt x="173567" y="215122"/>
                </a:cubicBezTo>
                <a:lnTo>
                  <a:pt x="158448" y="225187"/>
                </a:lnTo>
                <a:cubicBezTo>
                  <a:pt x="153912" y="228211"/>
                  <a:pt x="147907" y="227606"/>
                  <a:pt x="144063" y="223762"/>
                </a:cubicBezTo>
                <a:lnTo>
                  <a:pt x="135769" y="215468"/>
                </a:lnTo>
                <a:cubicBezTo>
                  <a:pt x="131924" y="211623"/>
                  <a:pt x="131320" y="205619"/>
                  <a:pt x="134344" y="201083"/>
                </a:cubicBezTo>
                <a:lnTo>
                  <a:pt x="144409" y="185964"/>
                </a:lnTo>
                <a:cubicBezTo>
                  <a:pt x="143588" y="183934"/>
                  <a:pt x="142853" y="181817"/>
                  <a:pt x="142249" y="179614"/>
                </a:cubicBezTo>
                <a:cubicBezTo>
                  <a:pt x="141644" y="177411"/>
                  <a:pt x="141255" y="175208"/>
                  <a:pt x="140953" y="173048"/>
                </a:cubicBezTo>
                <a:lnTo>
                  <a:pt x="124667" y="165014"/>
                </a:lnTo>
                <a:cubicBezTo>
                  <a:pt x="119786" y="162595"/>
                  <a:pt x="117324" y="157065"/>
                  <a:pt x="118706" y="151838"/>
                </a:cubicBezTo>
                <a:lnTo>
                  <a:pt x="121730" y="140521"/>
                </a:lnTo>
                <a:cubicBezTo>
                  <a:pt x="123155" y="135294"/>
                  <a:pt x="128037" y="131752"/>
                  <a:pt x="133480" y="132097"/>
                </a:cubicBezTo>
                <a:lnTo>
                  <a:pt x="151579" y="133264"/>
                </a:lnTo>
                <a:cubicBezTo>
                  <a:pt x="154301" y="129765"/>
                  <a:pt x="157454" y="126525"/>
                  <a:pt x="161039" y="123760"/>
                </a:cubicBezTo>
                <a:lnTo>
                  <a:pt x="159873" y="105704"/>
                </a:lnTo>
                <a:cubicBezTo>
                  <a:pt x="159528" y="100261"/>
                  <a:pt x="163070" y="95336"/>
                  <a:pt x="168297" y="93954"/>
                </a:cubicBezTo>
                <a:lnTo>
                  <a:pt x="179614" y="90930"/>
                </a:lnTo>
                <a:close/>
                <a:moveTo>
                  <a:pt x="193697" y="146871"/>
                </a:moveTo>
                <a:cubicBezTo>
                  <a:pt x="183206" y="146883"/>
                  <a:pt x="174699" y="155409"/>
                  <a:pt x="174711" y="165899"/>
                </a:cubicBezTo>
                <a:cubicBezTo>
                  <a:pt x="174723" y="176389"/>
                  <a:pt x="183250" y="184896"/>
                  <a:pt x="193740" y="184884"/>
                </a:cubicBezTo>
                <a:cubicBezTo>
                  <a:pt x="204230" y="184872"/>
                  <a:pt x="212737" y="176346"/>
                  <a:pt x="212725" y="165856"/>
                </a:cubicBezTo>
                <a:cubicBezTo>
                  <a:pt x="212713" y="155366"/>
                  <a:pt x="204187" y="146859"/>
                  <a:pt x="193697" y="146871"/>
                </a:cubicBezTo>
                <a:close/>
                <a:moveTo>
                  <a:pt x="97151" y="-19655"/>
                </a:moveTo>
                <a:lnTo>
                  <a:pt x="108468" y="-16631"/>
                </a:lnTo>
                <a:cubicBezTo>
                  <a:pt x="113695" y="-15205"/>
                  <a:pt x="117237" y="-10281"/>
                  <a:pt x="116892" y="-4881"/>
                </a:cubicBezTo>
                <a:lnTo>
                  <a:pt x="115726" y="13175"/>
                </a:lnTo>
                <a:cubicBezTo>
                  <a:pt x="119311" y="15940"/>
                  <a:pt x="122464" y="19136"/>
                  <a:pt x="125186" y="22679"/>
                </a:cubicBezTo>
                <a:lnTo>
                  <a:pt x="143329" y="21512"/>
                </a:lnTo>
                <a:cubicBezTo>
                  <a:pt x="148728" y="21167"/>
                  <a:pt x="153653" y="24709"/>
                  <a:pt x="155078" y="29936"/>
                </a:cubicBezTo>
                <a:lnTo>
                  <a:pt x="158102" y="41253"/>
                </a:lnTo>
                <a:cubicBezTo>
                  <a:pt x="159484" y="46480"/>
                  <a:pt x="157022" y="52010"/>
                  <a:pt x="152141" y="54429"/>
                </a:cubicBezTo>
                <a:lnTo>
                  <a:pt x="135855" y="62463"/>
                </a:lnTo>
                <a:cubicBezTo>
                  <a:pt x="135553" y="64666"/>
                  <a:pt x="135121" y="66869"/>
                  <a:pt x="134560" y="69029"/>
                </a:cubicBezTo>
                <a:cubicBezTo>
                  <a:pt x="133998" y="71189"/>
                  <a:pt x="133220" y="73349"/>
                  <a:pt x="132400" y="75379"/>
                </a:cubicBezTo>
                <a:lnTo>
                  <a:pt x="142465" y="90498"/>
                </a:lnTo>
                <a:cubicBezTo>
                  <a:pt x="145488" y="95034"/>
                  <a:pt x="144884" y="101038"/>
                  <a:pt x="141039" y="104883"/>
                </a:cubicBezTo>
                <a:lnTo>
                  <a:pt x="132745" y="113177"/>
                </a:lnTo>
                <a:cubicBezTo>
                  <a:pt x="128901" y="117021"/>
                  <a:pt x="122896" y="117626"/>
                  <a:pt x="118361" y="114602"/>
                </a:cubicBezTo>
                <a:lnTo>
                  <a:pt x="103241" y="104537"/>
                </a:lnTo>
                <a:cubicBezTo>
                  <a:pt x="99138" y="106222"/>
                  <a:pt x="94775" y="107432"/>
                  <a:pt x="90326" y="108036"/>
                </a:cubicBezTo>
                <a:lnTo>
                  <a:pt x="82291" y="124279"/>
                </a:lnTo>
                <a:cubicBezTo>
                  <a:pt x="79872" y="129160"/>
                  <a:pt x="74343" y="131622"/>
                  <a:pt x="69116" y="130240"/>
                </a:cubicBezTo>
                <a:lnTo>
                  <a:pt x="57798" y="127216"/>
                </a:lnTo>
                <a:cubicBezTo>
                  <a:pt x="52528" y="125790"/>
                  <a:pt x="49029" y="120866"/>
                  <a:pt x="49374" y="115466"/>
                </a:cubicBezTo>
                <a:lnTo>
                  <a:pt x="50541" y="97367"/>
                </a:lnTo>
                <a:cubicBezTo>
                  <a:pt x="46955" y="94602"/>
                  <a:pt x="43802" y="91405"/>
                  <a:pt x="41081" y="87863"/>
                </a:cubicBezTo>
                <a:lnTo>
                  <a:pt x="22938" y="89030"/>
                </a:lnTo>
                <a:cubicBezTo>
                  <a:pt x="17538" y="89375"/>
                  <a:pt x="12614" y="85833"/>
                  <a:pt x="11188" y="80606"/>
                </a:cubicBezTo>
                <a:lnTo>
                  <a:pt x="8164" y="69288"/>
                </a:lnTo>
                <a:cubicBezTo>
                  <a:pt x="6782" y="64062"/>
                  <a:pt x="9244" y="58532"/>
                  <a:pt x="14126" y="56113"/>
                </a:cubicBezTo>
                <a:lnTo>
                  <a:pt x="30411" y="48079"/>
                </a:lnTo>
                <a:cubicBezTo>
                  <a:pt x="30713" y="45876"/>
                  <a:pt x="31145" y="43716"/>
                  <a:pt x="31707" y="41513"/>
                </a:cubicBezTo>
                <a:cubicBezTo>
                  <a:pt x="32312" y="39310"/>
                  <a:pt x="33003" y="37193"/>
                  <a:pt x="33867" y="35163"/>
                </a:cubicBezTo>
                <a:lnTo>
                  <a:pt x="23802" y="20087"/>
                </a:lnTo>
                <a:cubicBezTo>
                  <a:pt x="20778" y="15551"/>
                  <a:pt x="21383" y="9547"/>
                  <a:pt x="25227" y="5702"/>
                </a:cubicBezTo>
                <a:lnTo>
                  <a:pt x="33521" y="-2592"/>
                </a:lnTo>
                <a:cubicBezTo>
                  <a:pt x="37366" y="-6436"/>
                  <a:pt x="43370" y="-7041"/>
                  <a:pt x="47906" y="-4017"/>
                </a:cubicBezTo>
                <a:lnTo>
                  <a:pt x="63025" y="6048"/>
                </a:lnTo>
                <a:cubicBezTo>
                  <a:pt x="67129" y="4363"/>
                  <a:pt x="71491" y="3153"/>
                  <a:pt x="75941" y="2549"/>
                </a:cubicBezTo>
                <a:lnTo>
                  <a:pt x="83976" y="-13694"/>
                </a:lnTo>
                <a:cubicBezTo>
                  <a:pt x="86395" y="-18575"/>
                  <a:pt x="91881" y="-21037"/>
                  <a:pt x="97151" y="-19655"/>
                </a:cubicBezTo>
                <a:close/>
                <a:moveTo>
                  <a:pt x="83112" y="36286"/>
                </a:moveTo>
                <a:cubicBezTo>
                  <a:pt x="72621" y="36286"/>
                  <a:pt x="64105" y="44802"/>
                  <a:pt x="64105" y="55293"/>
                </a:cubicBezTo>
                <a:cubicBezTo>
                  <a:pt x="64105" y="65783"/>
                  <a:pt x="72621" y="74299"/>
                  <a:pt x="83112" y="74299"/>
                </a:cubicBezTo>
                <a:cubicBezTo>
                  <a:pt x="93602" y="74299"/>
                  <a:pt x="102118" y="65783"/>
                  <a:pt x="102118" y="55293"/>
                </a:cubicBezTo>
                <a:cubicBezTo>
                  <a:pt x="102118" y="44802"/>
                  <a:pt x="93602" y="36286"/>
                  <a:pt x="83112" y="36286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3" name="Text 11"/>
          <p:cNvSpPr/>
          <p:nvPr/>
        </p:nvSpPr>
        <p:spPr>
          <a:xfrm>
            <a:off x="1019840" y="4005468"/>
            <a:ext cx="6819410" cy="3440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7234" y="4447808"/>
            <a:ext cx="6991432" cy="1793935"/>
          </a:xfrm>
          <a:custGeom>
            <a:avLst/>
            <a:gdLst/>
            <a:ahLst/>
            <a:cxnLst/>
            <a:rect l="l" t="t" r="r" b="b"/>
            <a:pathLst>
              <a:path w="6991432" h="1793935">
                <a:moveTo>
                  <a:pt x="98290" y="0"/>
                </a:moveTo>
                <a:lnTo>
                  <a:pt x="6893142" y="0"/>
                </a:lnTo>
                <a:cubicBezTo>
                  <a:pt x="6947389" y="0"/>
                  <a:pt x="6991432" y="44042"/>
                  <a:pt x="6991432" y="98290"/>
                </a:cubicBezTo>
                <a:lnTo>
                  <a:pt x="6991432" y="1695645"/>
                </a:lnTo>
                <a:cubicBezTo>
                  <a:pt x="6991432" y="1749929"/>
                  <a:pt x="6947426" y="1793935"/>
                  <a:pt x="6893142" y="1793935"/>
                </a:cubicBezTo>
                <a:lnTo>
                  <a:pt x="98290" y="1793935"/>
                </a:lnTo>
                <a:cubicBezTo>
                  <a:pt x="44042" y="1793935"/>
                  <a:pt x="0" y="1749893"/>
                  <a:pt x="0" y="1695645"/>
                </a:cubicBezTo>
                <a:lnTo>
                  <a:pt x="0" y="98290"/>
                </a:lnTo>
                <a:cubicBezTo>
                  <a:pt x="0" y="44042"/>
                  <a:pt x="44042" y="0"/>
                  <a:pt x="9829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933829" y="4644403"/>
            <a:ext cx="6696538" cy="638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55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Sigmoid函数</a:t>
            </a:r>
            <a:r>
              <a:rPr lang="en-US" sz="155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将线性回归结果映射到[0,1]区间，得到样本属于某一类别的</a:t>
            </a:r>
            <a:r>
              <a:rPr lang="en-US" sz="155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概率</a:t>
            </a:r>
            <a:r>
              <a:rPr lang="en-US" sz="155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，概率大于阈值则归为该类。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8744" y="5435701"/>
            <a:ext cx="6595783" cy="599617"/>
          </a:xfrm>
          <a:custGeom>
            <a:avLst/>
            <a:gdLst/>
            <a:ahLst/>
            <a:cxnLst/>
            <a:rect l="l" t="t" r="r" b="b"/>
            <a:pathLst>
              <a:path w="6595783" h="599617">
                <a:moveTo>
                  <a:pt x="98295" y="0"/>
                </a:moveTo>
                <a:lnTo>
                  <a:pt x="6497488" y="0"/>
                </a:lnTo>
                <a:cubicBezTo>
                  <a:pt x="6551775" y="0"/>
                  <a:pt x="6595783" y="44008"/>
                  <a:pt x="6595783" y="98295"/>
                </a:cubicBezTo>
                <a:lnTo>
                  <a:pt x="6595783" y="501321"/>
                </a:lnTo>
                <a:cubicBezTo>
                  <a:pt x="6595783" y="555608"/>
                  <a:pt x="6551775" y="599617"/>
                  <a:pt x="6497488" y="599617"/>
                </a:cubicBezTo>
                <a:lnTo>
                  <a:pt x="98295" y="599617"/>
                </a:lnTo>
                <a:cubicBezTo>
                  <a:pt x="44008" y="599617"/>
                  <a:pt x="0" y="555608"/>
                  <a:pt x="0" y="501321"/>
                </a:cubicBezTo>
                <a:lnTo>
                  <a:pt x="0" y="98295"/>
                </a:lnTo>
                <a:cubicBezTo>
                  <a:pt x="0" y="44008"/>
                  <a:pt x="44008" y="0"/>
                  <a:pt x="9829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1957" y="5588072"/>
            <a:ext cx="6389358" cy="294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50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Sigmoid(z) = 1 / (1 + e^(-z))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1808" y="6433419"/>
            <a:ext cx="3403562" cy="884680"/>
          </a:xfrm>
          <a:custGeom>
            <a:avLst/>
            <a:gdLst/>
            <a:ahLst/>
            <a:cxnLst/>
            <a:rect l="l" t="t" r="r" b="b"/>
            <a:pathLst>
              <a:path w="3403562" h="884680">
                <a:moveTo>
                  <a:pt x="49149" y="0"/>
                </a:moveTo>
                <a:lnTo>
                  <a:pt x="3305265" y="0"/>
                </a:lnTo>
                <a:cubicBezTo>
                  <a:pt x="3359553" y="0"/>
                  <a:pt x="3403562" y="44009"/>
                  <a:pt x="3403562" y="98297"/>
                </a:cubicBezTo>
                <a:lnTo>
                  <a:pt x="3403562" y="786383"/>
                </a:lnTo>
                <a:cubicBezTo>
                  <a:pt x="3403562" y="840671"/>
                  <a:pt x="3359553" y="884680"/>
                  <a:pt x="3305265" y="884680"/>
                </a:cubicBezTo>
                <a:lnTo>
                  <a:pt x="49149" y="884680"/>
                </a:lnTo>
                <a:cubicBezTo>
                  <a:pt x="22005" y="884680"/>
                  <a:pt x="0" y="862676"/>
                  <a:pt x="0" y="835531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761808" y="6433419"/>
            <a:ext cx="49149" cy="884680"/>
          </a:xfrm>
          <a:custGeom>
            <a:avLst/>
            <a:gdLst/>
            <a:ahLst/>
            <a:cxnLst/>
            <a:rect l="l" t="t" r="r" b="b"/>
            <a:pathLst>
              <a:path w="49149" h="884680">
                <a:moveTo>
                  <a:pt x="49149" y="0"/>
                </a:moveTo>
                <a:lnTo>
                  <a:pt x="49149" y="0"/>
                </a:lnTo>
                <a:lnTo>
                  <a:pt x="49149" y="884680"/>
                </a:lnTo>
                <a:lnTo>
                  <a:pt x="49149" y="884680"/>
                </a:lnTo>
                <a:cubicBezTo>
                  <a:pt x="22005" y="884680"/>
                  <a:pt x="0" y="862676"/>
                  <a:pt x="0" y="835531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0" name="Text 18"/>
          <p:cNvSpPr/>
          <p:nvPr/>
        </p:nvSpPr>
        <p:spPr>
          <a:xfrm>
            <a:off x="933829" y="6580865"/>
            <a:ext cx="3182392" cy="294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3829" y="6924908"/>
            <a:ext cx="3170104" cy="245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模型简单、训练快、可解释性强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33244" y="6433419"/>
            <a:ext cx="3403562" cy="884680"/>
          </a:xfrm>
          <a:custGeom>
            <a:avLst/>
            <a:gdLst/>
            <a:ahLst/>
            <a:cxnLst/>
            <a:rect l="l" t="t" r="r" b="b"/>
            <a:pathLst>
              <a:path w="3403562" h="884680">
                <a:moveTo>
                  <a:pt x="49149" y="0"/>
                </a:moveTo>
                <a:lnTo>
                  <a:pt x="3305265" y="0"/>
                </a:lnTo>
                <a:cubicBezTo>
                  <a:pt x="3359553" y="0"/>
                  <a:pt x="3403562" y="44009"/>
                  <a:pt x="3403562" y="98297"/>
                </a:cubicBezTo>
                <a:lnTo>
                  <a:pt x="3403562" y="786383"/>
                </a:lnTo>
                <a:cubicBezTo>
                  <a:pt x="3403562" y="840671"/>
                  <a:pt x="3359553" y="884680"/>
                  <a:pt x="3305265" y="884680"/>
                </a:cubicBezTo>
                <a:lnTo>
                  <a:pt x="49149" y="884680"/>
                </a:lnTo>
                <a:cubicBezTo>
                  <a:pt x="22005" y="884680"/>
                  <a:pt x="0" y="862676"/>
                  <a:pt x="0" y="835531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4333244" y="6433419"/>
            <a:ext cx="49149" cy="884680"/>
          </a:xfrm>
          <a:custGeom>
            <a:avLst/>
            <a:gdLst/>
            <a:ahLst/>
            <a:cxnLst/>
            <a:rect l="l" t="t" r="r" b="b"/>
            <a:pathLst>
              <a:path w="49149" h="884680">
                <a:moveTo>
                  <a:pt x="49149" y="0"/>
                </a:moveTo>
                <a:lnTo>
                  <a:pt x="49149" y="0"/>
                </a:lnTo>
                <a:lnTo>
                  <a:pt x="49149" y="884680"/>
                </a:lnTo>
                <a:lnTo>
                  <a:pt x="49149" y="884680"/>
                </a:lnTo>
                <a:cubicBezTo>
                  <a:pt x="22005" y="884680"/>
                  <a:pt x="0" y="862676"/>
                  <a:pt x="0" y="835531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24" name="Text 22"/>
          <p:cNvSpPr/>
          <p:nvPr/>
        </p:nvSpPr>
        <p:spPr>
          <a:xfrm>
            <a:off x="4505265" y="6580865"/>
            <a:ext cx="3182392" cy="294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05265" y="6924908"/>
            <a:ext cx="3170104" cy="245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仅适用于线性可分数据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73297" y="1916807"/>
            <a:ext cx="7482921" cy="6413932"/>
          </a:xfrm>
          <a:custGeom>
            <a:avLst/>
            <a:gdLst/>
            <a:ahLst/>
            <a:cxnLst/>
            <a:rect l="l" t="t" r="r" b="b"/>
            <a:pathLst>
              <a:path w="7482921" h="6413932">
                <a:moveTo>
                  <a:pt x="147456" y="0"/>
                </a:moveTo>
                <a:lnTo>
                  <a:pt x="7335464" y="0"/>
                </a:lnTo>
                <a:cubicBezTo>
                  <a:pt x="7416902" y="0"/>
                  <a:pt x="7482921" y="66018"/>
                  <a:pt x="7482921" y="147456"/>
                </a:cubicBezTo>
                <a:lnTo>
                  <a:pt x="7482921" y="6266476"/>
                </a:lnTo>
                <a:cubicBezTo>
                  <a:pt x="7482921" y="6347914"/>
                  <a:pt x="7416902" y="6413932"/>
                  <a:pt x="7335464" y="6413932"/>
                </a:cubicBezTo>
                <a:lnTo>
                  <a:pt x="147456" y="6413932"/>
                </a:lnTo>
                <a:cubicBezTo>
                  <a:pt x="66018" y="6413932"/>
                  <a:pt x="0" y="6347914"/>
                  <a:pt x="0" y="6266476"/>
                </a:cubicBezTo>
                <a:lnTo>
                  <a:pt x="0" y="147456"/>
                </a:lnTo>
                <a:cubicBezTo>
                  <a:pt x="0" y="66073"/>
                  <a:pt x="66073" y="0"/>
                  <a:pt x="14745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07181" dist="2457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73297" y="1916807"/>
            <a:ext cx="7482921" cy="884680"/>
          </a:xfrm>
          <a:custGeom>
            <a:avLst/>
            <a:gdLst/>
            <a:ahLst/>
            <a:cxnLst/>
            <a:rect l="l" t="t" r="r" b="b"/>
            <a:pathLst>
              <a:path w="7482921" h="884680">
                <a:moveTo>
                  <a:pt x="147450" y="0"/>
                </a:moveTo>
                <a:lnTo>
                  <a:pt x="7335471" y="0"/>
                </a:lnTo>
                <a:cubicBezTo>
                  <a:pt x="7416905" y="0"/>
                  <a:pt x="7482921" y="66015"/>
                  <a:pt x="7482921" y="147450"/>
                </a:cubicBezTo>
                <a:lnTo>
                  <a:pt x="7482921" y="884680"/>
                </a:lnTo>
                <a:lnTo>
                  <a:pt x="0" y="884680"/>
                </a:lnTo>
                <a:lnTo>
                  <a:pt x="0" y="147450"/>
                </a:lnTo>
                <a:cubicBezTo>
                  <a:pt x="0" y="66070"/>
                  <a:pt x="66070" y="0"/>
                  <a:pt x="1474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0" scaled="1"/>
          </a:gradFill>
        </p:spPr>
      </p:sp>
      <p:sp>
        <p:nvSpPr>
          <p:cNvPr id="28" name="Shape 26"/>
          <p:cNvSpPr/>
          <p:nvPr/>
        </p:nvSpPr>
        <p:spPr>
          <a:xfrm>
            <a:off x="8555903" y="2211533"/>
            <a:ext cx="294893" cy="294893"/>
          </a:xfrm>
          <a:custGeom>
            <a:avLst/>
            <a:gdLst/>
            <a:ahLst/>
            <a:cxnLst/>
            <a:rect l="l" t="t" r="r" b="b"/>
            <a:pathLst>
              <a:path w="294893" h="294893">
                <a:moveTo>
                  <a:pt x="110585" y="36862"/>
                </a:moveTo>
                <a:cubicBezTo>
                  <a:pt x="110585" y="26667"/>
                  <a:pt x="118821" y="18431"/>
                  <a:pt x="129016" y="18431"/>
                </a:cubicBezTo>
                <a:lnTo>
                  <a:pt x="165878" y="18431"/>
                </a:lnTo>
                <a:cubicBezTo>
                  <a:pt x="176072" y="18431"/>
                  <a:pt x="184308" y="26667"/>
                  <a:pt x="184308" y="36862"/>
                </a:cubicBezTo>
                <a:lnTo>
                  <a:pt x="184308" y="73723"/>
                </a:lnTo>
                <a:cubicBezTo>
                  <a:pt x="184308" y="83918"/>
                  <a:pt x="176072" y="92154"/>
                  <a:pt x="165878" y="92154"/>
                </a:cubicBezTo>
                <a:lnTo>
                  <a:pt x="161270" y="92154"/>
                </a:lnTo>
                <a:lnTo>
                  <a:pt x="161270" y="129016"/>
                </a:lnTo>
                <a:lnTo>
                  <a:pt x="230385" y="129016"/>
                </a:lnTo>
                <a:cubicBezTo>
                  <a:pt x="253309" y="129016"/>
                  <a:pt x="271855" y="147562"/>
                  <a:pt x="271855" y="170485"/>
                </a:cubicBezTo>
                <a:lnTo>
                  <a:pt x="271855" y="202739"/>
                </a:lnTo>
                <a:lnTo>
                  <a:pt x="276463" y="202739"/>
                </a:lnTo>
                <a:cubicBezTo>
                  <a:pt x="286657" y="202739"/>
                  <a:pt x="294893" y="210976"/>
                  <a:pt x="294893" y="221170"/>
                </a:cubicBezTo>
                <a:lnTo>
                  <a:pt x="294893" y="258032"/>
                </a:lnTo>
                <a:cubicBezTo>
                  <a:pt x="294893" y="268226"/>
                  <a:pt x="286657" y="276463"/>
                  <a:pt x="276463" y="276463"/>
                </a:cubicBezTo>
                <a:lnTo>
                  <a:pt x="239601" y="276463"/>
                </a:lnTo>
                <a:cubicBezTo>
                  <a:pt x="229406" y="276463"/>
                  <a:pt x="221170" y="268226"/>
                  <a:pt x="221170" y="258032"/>
                </a:cubicBezTo>
                <a:lnTo>
                  <a:pt x="221170" y="221170"/>
                </a:lnTo>
                <a:cubicBezTo>
                  <a:pt x="221170" y="210976"/>
                  <a:pt x="229406" y="202739"/>
                  <a:pt x="239601" y="202739"/>
                </a:cubicBezTo>
                <a:lnTo>
                  <a:pt x="244209" y="202739"/>
                </a:lnTo>
                <a:lnTo>
                  <a:pt x="244209" y="170485"/>
                </a:lnTo>
                <a:cubicBezTo>
                  <a:pt x="244209" y="162825"/>
                  <a:pt x="238046" y="156662"/>
                  <a:pt x="230385" y="156662"/>
                </a:cubicBezTo>
                <a:lnTo>
                  <a:pt x="161270" y="156662"/>
                </a:lnTo>
                <a:lnTo>
                  <a:pt x="161270" y="202739"/>
                </a:lnTo>
                <a:lnTo>
                  <a:pt x="165878" y="202739"/>
                </a:lnTo>
                <a:cubicBezTo>
                  <a:pt x="176072" y="202739"/>
                  <a:pt x="184308" y="210976"/>
                  <a:pt x="184308" y="221170"/>
                </a:cubicBezTo>
                <a:lnTo>
                  <a:pt x="184308" y="258032"/>
                </a:lnTo>
                <a:cubicBezTo>
                  <a:pt x="184308" y="268226"/>
                  <a:pt x="176072" y="276463"/>
                  <a:pt x="165878" y="276463"/>
                </a:cubicBezTo>
                <a:lnTo>
                  <a:pt x="129016" y="276463"/>
                </a:lnTo>
                <a:cubicBezTo>
                  <a:pt x="118821" y="276463"/>
                  <a:pt x="110585" y="268226"/>
                  <a:pt x="110585" y="258032"/>
                </a:cubicBezTo>
                <a:lnTo>
                  <a:pt x="110585" y="221170"/>
                </a:lnTo>
                <a:cubicBezTo>
                  <a:pt x="110585" y="210976"/>
                  <a:pt x="118821" y="202739"/>
                  <a:pt x="129016" y="202739"/>
                </a:cubicBezTo>
                <a:lnTo>
                  <a:pt x="133624" y="202739"/>
                </a:lnTo>
                <a:lnTo>
                  <a:pt x="133624" y="156662"/>
                </a:lnTo>
                <a:lnTo>
                  <a:pt x="64508" y="156662"/>
                </a:lnTo>
                <a:cubicBezTo>
                  <a:pt x="56848" y="156662"/>
                  <a:pt x="50685" y="162825"/>
                  <a:pt x="50685" y="170485"/>
                </a:cubicBezTo>
                <a:lnTo>
                  <a:pt x="50685" y="202739"/>
                </a:lnTo>
                <a:lnTo>
                  <a:pt x="55293" y="202739"/>
                </a:lnTo>
                <a:cubicBezTo>
                  <a:pt x="65487" y="202739"/>
                  <a:pt x="73723" y="210976"/>
                  <a:pt x="73723" y="221170"/>
                </a:cubicBezTo>
                <a:lnTo>
                  <a:pt x="73723" y="258032"/>
                </a:lnTo>
                <a:cubicBezTo>
                  <a:pt x="73723" y="268226"/>
                  <a:pt x="65487" y="276463"/>
                  <a:pt x="55293" y="276463"/>
                </a:cubicBezTo>
                <a:lnTo>
                  <a:pt x="18431" y="276463"/>
                </a:lnTo>
                <a:cubicBezTo>
                  <a:pt x="8236" y="276463"/>
                  <a:pt x="0" y="268226"/>
                  <a:pt x="0" y="258032"/>
                </a:cubicBezTo>
                <a:lnTo>
                  <a:pt x="0" y="221170"/>
                </a:lnTo>
                <a:cubicBezTo>
                  <a:pt x="0" y="210976"/>
                  <a:pt x="8236" y="202739"/>
                  <a:pt x="18431" y="202739"/>
                </a:cubicBezTo>
                <a:lnTo>
                  <a:pt x="23039" y="202739"/>
                </a:lnTo>
                <a:lnTo>
                  <a:pt x="23039" y="170485"/>
                </a:lnTo>
                <a:cubicBezTo>
                  <a:pt x="23039" y="147562"/>
                  <a:pt x="41585" y="129016"/>
                  <a:pt x="64508" y="129016"/>
                </a:cubicBezTo>
                <a:lnTo>
                  <a:pt x="133624" y="129016"/>
                </a:lnTo>
                <a:lnTo>
                  <a:pt x="133624" y="92154"/>
                </a:lnTo>
                <a:lnTo>
                  <a:pt x="129016" y="92154"/>
                </a:lnTo>
                <a:cubicBezTo>
                  <a:pt x="118821" y="92154"/>
                  <a:pt x="110585" y="83918"/>
                  <a:pt x="110585" y="73723"/>
                </a:cubicBezTo>
                <a:lnTo>
                  <a:pt x="110585" y="3686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8887658" y="2162552"/>
            <a:ext cx="6770262" cy="3931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决策树（Decision Tree）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49759" y="3108500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110585" y="221170"/>
                </a:moveTo>
                <a:cubicBezTo>
                  <a:pt x="171619" y="221170"/>
                  <a:pt x="221170" y="171619"/>
                  <a:pt x="221170" y="110585"/>
                </a:cubicBezTo>
                <a:cubicBezTo>
                  <a:pt x="221170" y="49551"/>
                  <a:pt x="171619" y="0"/>
                  <a:pt x="110585" y="0"/>
                </a:cubicBezTo>
                <a:cubicBezTo>
                  <a:pt x="49551" y="0"/>
                  <a:pt x="0" y="49551"/>
                  <a:pt x="0" y="110585"/>
                </a:cubicBezTo>
                <a:cubicBezTo>
                  <a:pt x="0" y="171619"/>
                  <a:pt x="49551" y="221170"/>
                  <a:pt x="110585" y="221170"/>
                </a:cubicBezTo>
                <a:close/>
                <a:moveTo>
                  <a:pt x="96762" y="69116"/>
                </a:moveTo>
                <a:cubicBezTo>
                  <a:pt x="96762" y="61486"/>
                  <a:pt x="102956" y="55293"/>
                  <a:pt x="110585" y="55293"/>
                </a:cubicBezTo>
                <a:cubicBezTo>
                  <a:pt x="118214" y="55293"/>
                  <a:pt x="124408" y="61486"/>
                  <a:pt x="124408" y="69116"/>
                </a:cubicBezTo>
                <a:cubicBezTo>
                  <a:pt x="124408" y="76745"/>
                  <a:pt x="118214" y="82939"/>
                  <a:pt x="110585" y="82939"/>
                </a:cubicBezTo>
                <a:cubicBezTo>
                  <a:pt x="102956" y="82939"/>
                  <a:pt x="96762" y="76745"/>
                  <a:pt x="96762" y="69116"/>
                </a:cubicBezTo>
                <a:close/>
                <a:moveTo>
                  <a:pt x="93306" y="96762"/>
                </a:moveTo>
                <a:lnTo>
                  <a:pt x="114041" y="96762"/>
                </a:lnTo>
                <a:cubicBezTo>
                  <a:pt x="119786" y="96762"/>
                  <a:pt x="124408" y="101384"/>
                  <a:pt x="124408" y="107129"/>
                </a:cubicBezTo>
                <a:lnTo>
                  <a:pt x="124408" y="145143"/>
                </a:lnTo>
                <a:lnTo>
                  <a:pt x="127864" y="145143"/>
                </a:lnTo>
                <a:cubicBezTo>
                  <a:pt x="133609" y="145143"/>
                  <a:pt x="138231" y="149765"/>
                  <a:pt x="138231" y="155510"/>
                </a:cubicBezTo>
                <a:cubicBezTo>
                  <a:pt x="138231" y="161255"/>
                  <a:pt x="133609" y="165878"/>
                  <a:pt x="127864" y="165878"/>
                </a:cubicBezTo>
                <a:lnTo>
                  <a:pt x="93306" y="165878"/>
                </a:lnTo>
                <a:cubicBezTo>
                  <a:pt x="87561" y="165878"/>
                  <a:pt x="82939" y="161255"/>
                  <a:pt x="82939" y="155510"/>
                </a:cubicBezTo>
                <a:cubicBezTo>
                  <a:pt x="82939" y="149765"/>
                  <a:pt x="87561" y="145143"/>
                  <a:pt x="93306" y="145143"/>
                </a:cubicBezTo>
                <a:lnTo>
                  <a:pt x="103673" y="145143"/>
                </a:lnTo>
                <a:lnTo>
                  <a:pt x="103673" y="117497"/>
                </a:lnTo>
                <a:lnTo>
                  <a:pt x="93306" y="117497"/>
                </a:lnTo>
                <a:cubicBezTo>
                  <a:pt x="87561" y="117497"/>
                  <a:pt x="82939" y="112874"/>
                  <a:pt x="82939" y="107129"/>
                </a:cubicBezTo>
                <a:cubicBezTo>
                  <a:pt x="82939" y="101384"/>
                  <a:pt x="87561" y="96762"/>
                  <a:pt x="93306" y="96762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31" name="Text 29"/>
          <p:cNvSpPr/>
          <p:nvPr/>
        </p:nvSpPr>
        <p:spPr>
          <a:xfrm>
            <a:off x="8801647" y="3047064"/>
            <a:ext cx="6819410" cy="3440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19041" y="3489404"/>
            <a:ext cx="7089729" cy="3194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适用于</a:t>
            </a:r>
            <a:r>
              <a:rPr lang="en-US" sz="155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二分类和多分类</a:t>
            </a:r>
            <a:r>
              <a:rPr lang="en-US" sz="155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，可解释性极强。无需数据标准化，能处理非线性关系。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49759" y="4066904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0" y="34558"/>
                </a:moveTo>
                <a:cubicBezTo>
                  <a:pt x="0" y="23111"/>
                  <a:pt x="9287" y="13823"/>
                  <a:pt x="20735" y="13823"/>
                </a:cubicBezTo>
                <a:lnTo>
                  <a:pt x="62204" y="13823"/>
                </a:lnTo>
                <a:cubicBezTo>
                  <a:pt x="73651" y="13823"/>
                  <a:pt x="82939" y="23111"/>
                  <a:pt x="82939" y="34558"/>
                </a:cubicBezTo>
                <a:lnTo>
                  <a:pt x="82939" y="41469"/>
                </a:lnTo>
                <a:lnTo>
                  <a:pt x="138231" y="41469"/>
                </a:lnTo>
                <a:lnTo>
                  <a:pt x="138231" y="34558"/>
                </a:lnTo>
                <a:cubicBezTo>
                  <a:pt x="138231" y="23111"/>
                  <a:pt x="147519" y="13823"/>
                  <a:pt x="158966" y="13823"/>
                </a:cubicBezTo>
                <a:lnTo>
                  <a:pt x="200435" y="13823"/>
                </a:lnTo>
                <a:cubicBezTo>
                  <a:pt x="211883" y="13823"/>
                  <a:pt x="221170" y="23111"/>
                  <a:pt x="221170" y="34558"/>
                </a:cubicBezTo>
                <a:lnTo>
                  <a:pt x="221170" y="76027"/>
                </a:lnTo>
                <a:cubicBezTo>
                  <a:pt x="221170" y="87474"/>
                  <a:pt x="211883" y="96762"/>
                  <a:pt x="200435" y="96762"/>
                </a:cubicBezTo>
                <a:lnTo>
                  <a:pt x="158966" y="96762"/>
                </a:lnTo>
                <a:cubicBezTo>
                  <a:pt x="147519" y="96762"/>
                  <a:pt x="138231" y="87474"/>
                  <a:pt x="138231" y="76027"/>
                </a:cubicBezTo>
                <a:lnTo>
                  <a:pt x="138231" y="69116"/>
                </a:lnTo>
                <a:lnTo>
                  <a:pt x="82939" y="69116"/>
                </a:lnTo>
                <a:lnTo>
                  <a:pt x="82939" y="76027"/>
                </a:lnTo>
                <a:cubicBezTo>
                  <a:pt x="82939" y="79181"/>
                  <a:pt x="82204" y="82204"/>
                  <a:pt x="80952" y="84883"/>
                </a:cubicBezTo>
                <a:lnTo>
                  <a:pt x="110585" y="124408"/>
                </a:lnTo>
                <a:lnTo>
                  <a:pt x="145143" y="124408"/>
                </a:lnTo>
                <a:cubicBezTo>
                  <a:pt x="156590" y="124408"/>
                  <a:pt x="165878" y="133696"/>
                  <a:pt x="165878" y="145143"/>
                </a:cubicBezTo>
                <a:lnTo>
                  <a:pt x="165878" y="186612"/>
                </a:lnTo>
                <a:cubicBezTo>
                  <a:pt x="165878" y="198060"/>
                  <a:pt x="156590" y="207347"/>
                  <a:pt x="145143" y="207347"/>
                </a:cubicBezTo>
                <a:lnTo>
                  <a:pt x="103673" y="207347"/>
                </a:lnTo>
                <a:cubicBezTo>
                  <a:pt x="92226" y="207347"/>
                  <a:pt x="82939" y="198060"/>
                  <a:pt x="82939" y="186612"/>
                </a:cubicBezTo>
                <a:lnTo>
                  <a:pt x="82939" y="145143"/>
                </a:lnTo>
                <a:cubicBezTo>
                  <a:pt x="82939" y="141989"/>
                  <a:pt x="83673" y="138966"/>
                  <a:pt x="84926" y="136287"/>
                </a:cubicBezTo>
                <a:lnTo>
                  <a:pt x="55293" y="96762"/>
                </a:lnTo>
                <a:lnTo>
                  <a:pt x="20735" y="96762"/>
                </a:lnTo>
                <a:cubicBezTo>
                  <a:pt x="9287" y="96762"/>
                  <a:pt x="0" y="87474"/>
                  <a:pt x="0" y="76027"/>
                </a:cubicBezTo>
                <a:lnTo>
                  <a:pt x="0" y="34558"/>
                </a:lnTo>
                <a:close/>
              </a:path>
            </a:pathLst>
          </a:custGeom>
          <a:solidFill>
            <a:srgbClr val="212C42"/>
          </a:solidFill>
        </p:spPr>
      </p:sp>
      <p:sp>
        <p:nvSpPr>
          <p:cNvPr id="34" name="Text 32"/>
          <p:cNvSpPr/>
          <p:nvPr/>
        </p:nvSpPr>
        <p:spPr>
          <a:xfrm>
            <a:off x="8801647" y="4005468"/>
            <a:ext cx="6819410" cy="3440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19041" y="4447808"/>
            <a:ext cx="7089729" cy="638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55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递归划分特征空间</a:t>
            </a:r>
            <a:r>
              <a:rPr lang="en-US" sz="155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，以信息增益、Gini系数等为准则选择最优划分特征，构建包含</a:t>
            </a:r>
            <a:r>
              <a:rPr lang="en-US" sz="155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决策节点（特征）</a:t>
            </a:r>
            <a:r>
              <a:rPr lang="en-US" sz="155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55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叶节点（类别）</a:t>
            </a:r>
            <a:r>
              <a:rPr lang="en-US" sz="155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的树结构。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19041" y="5185041"/>
            <a:ext cx="6991432" cy="589787"/>
          </a:xfrm>
          <a:custGeom>
            <a:avLst/>
            <a:gdLst/>
            <a:ahLst/>
            <a:cxnLst/>
            <a:rect l="l" t="t" r="r" b="b"/>
            <a:pathLst>
              <a:path w="6991432" h="589787">
                <a:moveTo>
                  <a:pt x="98300" y="0"/>
                </a:moveTo>
                <a:lnTo>
                  <a:pt x="6893132" y="0"/>
                </a:lnTo>
                <a:cubicBezTo>
                  <a:pt x="6947421" y="0"/>
                  <a:pt x="6991432" y="44010"/>
                  <a:pt x="6991432" y="98300"/>
                </a:cubicBezTo>
                <a:lnTo>
                  <a:pt x="6991432" y="491487"/>
                </a:lnTo>
                <a:cubicBezTo>
                  <a:pt x="6991432" y="545777"/>
                  <a:pt x="6947421" y="589787"/>
                  <a:pt x="6893132" y="589787"/>
                </a:cubicBezTo>
                <a:lnTo>
                  <a:pt x="98300" y="589787"/>
                </a:lnTo>
                <a:cubicBezTo>
                  <a:pt x="44010" y="589787"/>
                  <a:pt x="0" y="545777"/>
                  <a:pt x="0" y="491487"/>
                </a:cubicBezTo>
                <a:lnTo>
                  <a:pt x="0" y="98300"/>
                </a:lnTo>
                <a:cubicBezTo>
                  <a:pt x="0" y="44047"/>
                  <a:pt x="44047" y="0"/>
                  <a:pt x="9830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8666488" y="5342327"/>
            <a:ext cx="3243828" cy="265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样本沿决策路径到达叶节点确定类别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49759" y="6032860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82939" y="110585"/>
                </a:moveTo>
                <a:lnTo>
                  <a:pt x="65876" y="127648"/>
                </a:lnTo>
                <a:cubicBezTo>
                  <a:pt x="60433" y="125531"/>
                  <a:pt x="54558" y="124408"/>
                  <a:pt x="48381" y="124408"/>
                </a:cubicBezTo>
                <a:cubicBezTo>
                  <a:pt x="21642" y="124408"/>
                  <a:pt x="0" y="146050"/>
                  <a:pt x="0" y="172789"/>
                </a:cubicBezTo>
                <a:cubicBezTo>
                  <a:pt x="0" y="199528"/>
                  <a:pt x="21642" y="221170"/>
                  <a:pt x="48381" y="221170"/>
                </a:cubicBezTo>
                <a:cubicBezTo>
                  <a:pt x="75120" y="221170"/>
                  <a:pt x="96762" y="199528"/>
                  <a:pt x="96762" y="172789"/>
                </a:cubicBezTo>
                <a:cubicBezTo>
                  <a:pt x="96762" y="166612"/>
                  <a:pt x="95596" y="160737"/>
                  <a:pt x="93522" y="155294"/>
                </a:cubicBezTo>
                <a:lnTo>
                  <a:pt x="215641" y="33176"/>
                </a:lnTo>
                <a:cubicBezTo>
                  <a:pt x="218708" y="30109"/>
                  <a:pt x="218708" y="25184"/>
                  <a:pt x="215641" y="22117"/>
                </a:cubicBezTo>
                <a:cubicBezTo>
                  <a:pt x="203416" y="9892"/>
                  <a:pt x="183632" y="9892"/>
                  <a:pt x="171407" y="22117"/>
                </a:cubicBezTo>
                <a:lnTo>
                  <a:pt x="110585" y="82939"/>
                </a:lnTo>
                <a:lnTo>
                  <a:pt x="93522" y="65876"/>
                </a:lnTo>
                <a:cubicBezTo>
                  <a:pt x="95639" y="60433"/>
                  <a:pt x="96762" y="54558"/>
                  <a:pt x="96762" y="48381"/>
                </a:cubicBezTo>
                <a:cubicBezTo>
                  <a:pt x="96762" y="21642"/>
                  <a:pt x="75120" y="0"/>
                  <a:pt x="48381" y="0"/>
                </a:cubicBezTo>
                <a:cubicBezTo>
                  <a:pt x="21642" y="0"/>
                  <a:pt x="0" y="21642"/>
                  <a:pt x="0" y="48381"/>
                </a:cubicBezTo>
                <a:cubicBezTo>
                  <a:pt x="0" y="75120"/>
                  <a:pt x="21642" y="96762"/>
                  <a:pt x="48381" y="96762"/>
                </a:cubicBezTo>
                <a:cubicBezTo>
                  <a:pt x="54558" y="96762"/>
                  <a:pt x="60433" y="95596"/>
                  <a:pt x="65876" y="93522"/>
                </a:cubicBezTo>
                <a:lnTo>
                  <a:pt x="82939" y="110585"/>
                </a:lnTo>
                <a:close/>
                <a:moveTo>
                  <a:pt x="125229" y="152875"/>
                </a:moveTo>
                <a:lnTo>
                  <a:pt x="171407" y="199053"/>
                </a:lnTo>
                <a:cubicBezTo>
                  <a:pt x="183632" y="211278"/>
                  <a:pt x="203416" y="211278"/>
                  <a:pt x="215641" y="199053"/>
                </a:cubicBezTo>
                <a:cubicBezTo>
                  <a:pt x="218708" y="195986"/>
                  <a:pt x="218708" y="191062"/>
                  <a:pt x="215641" y="187995"/>
                </a:cubicBezTo>
                <a:lnTo>
                  <a:pt x="152875" y="125229"/>
                </a:lnTo>
                <a:lnTo>
                  <a:pt x="125229" y="152875"/>
                </a:lnTo>
                <a:close/>
                <a:moveTo>
                  <a:pt x="27646" y="48381"/>
                </a:moveTo>
                <a:cubicBezTo>
                  <a:pt x="27646" y="36937"/>
                  <a:pt x="36937" y="27646"/>
                  <a:pt x="48381" y="27646"/>
                </a:cubicBezTo>
                <a:cubicBezTo>
                  <a:pt x="59825" y="27646"/>
                  <a:pt x="69116" y="36937"/>
                  <a:pt x="69116" y="48381"/>
                </a:cubicBezTo>
                <a:cubicBezTo>
                  <a:pt x="69116" y="59825"/>
                  <a:pt x="59825" y="69116"/>
                  <a:pt x="48381" y="69116"/>
                </a:cubicBezTo>
                <a:cubicBezTo>
                  <a:pt x="36937" y="69116"/>
                  <a:pt x="27646" y="59825"/>
                  <a:pt x="27646" y="48381"/>
                </a:cubicBezTo>
                <a:close/>
                <a:moveTo>
                  <a:pt x="48381" y="152054"/>
                </a:moveTo>
                <a:cubicBezTo>
                  <a:pt x="59825" y="152054"/>
                  <a:pt x="69116" y="161345"/>
                  <a:pt x="69116" y="172789"/>
                </a:cubicBezTo>
                <a:cubicBezTo>
                  <a:pt x="69116" y="184233"/>
                  <a:pt x="59825" y="193524"/>
                  <a:pt x="48381" y="193524"/>
                </a:cubicBezTo>
                <a:cubicBezTo>
                  <a:pt x="36937" y="193524"/>
                  <a:pt x="27646" y="184233"/>
                  <a:pt x="27646" y="172789"/>
                </a:cubicBezTo>
                <a:cubicBezTo>
                  <a:pt x="27646" y="161345"/>
                  <a:pt x="36937" y="152054"/>
                  <a:pt x="48381" y="152054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39" name="Text 37"/>
          <p:cNvSpPr/>
          <p:nvPr/>
        </p:nvSpPr>
        <p:spPr>
          <a:xfrm>
            <a:off x="8801647" y="5971424"/>
            <a:ext cx="6819410" cy="3440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关键优化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519041" y="6413764"/>
            <a:ext cx="6991432" cy="589787"/>
          </a:xfrm>
          <a:custGeom>
            <a:avLst/>
            <a:gdLst/>
            <a:ahLst/>
            <a:cxnLst/>
            <a:rect l="l" t="t" r="r" b="b"/>
            <a:pathLst>
              <a:path w="6991432" h="589787">
                <a:moveTo>
                  <a:pt x="98300" y="0"/>
                </a:moveTo>
                <a:lnTo>
                  <a:pt x="6893132" y="0"/>
                </a:lnTo>
                <a:cubicBezTo>
                  <a:pt x="6947421" y="0"/>
                  <a:pt x="6991432" y="44010"/>
                  <a:pt x="6991432" y="98300"/>
                </a:cubicBezTo>
                <a:lnTo>
                  <a:pt x="6991432" y="491487"/>
                </a:lnTo>
                <a:cubicBezTo>
                  <a:pt x="6991432" y="545777"/>
                  <a:pt x="6947421" y="589787"/>
                  <a:pt x="6893132" y="589787"/>
                </a:cubicBezTo>
                <a:lnTo>
                  <a:pt x="98300" y="589787"/>
                </a:lnTo>
                <a:cubicBezTo>
                  <a:pt x="44010" y="589787"/>
                  <a:pt x="0" y="545777"/>
                  <a:pt x="0" y="491487"/>
                </a:cubicBezTo>
                <a:lnTo>
                  <a:pt x="0" y="98300"/>
                </a:lnTo>
                <a:cubicBezTo>
                  <a:pt x="0" y="44047"/>
                  <a:pt x="44047" y="0"/>
                  <a:pt x="9830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8666488" y="6561211"/>
            <a:ext cx="6794836" cy="294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易过拟合，需</a:t>
            </a:r>
            <a:r>
              <a:rPr lang="en-US" sz="155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剪枝优化</a:t>
            </a:r>
            <a:r>
              <a:rPr lang="en-US" sz="155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（预剪枝/后剪枝）控制树深度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43616" y="7200146"/>
            <a:ext cx="3403562" cy="884680"/>
          </a:xfrm>
          <a:custGeom>
            <a:avLst/>
            <a:gdLst/>
            <a:ahLst/>
            <a:cxnLst/>
            <a:rect l="l" t="t" r="r" b="b"/>
            <a:pathLst>
              <a:path w="3403562" h="884680">
                <a:moveTo>
                  <a:pt x="49149" y="0"/>
                </a:moveTo>
                <a:lnTo>
                  <a:pt x="3305265" y="0"/>
                </a:lnTo>
                <a:cubicBezTo>
                  <a:pt x="3359553" y="0"/>
                  <a:pt x="3403562" y="44009"/>
                  <a:pt x="3403562" y="98297"/>
                </a:cubicBezTo>
                <a:lnTo>
                  <a:pt x="3403562" y="786383"/>
                </a:lnTo>
                <a:cubicBezTo>
                  <a:pt x="3403562" y="840671"/>
                  <a:pt x="3359553" y="884680"/>
                  <a:pt x="3305265" y="884680"/>
                </a:cubicBezTo>
                <a:lnTo>
                  <a:pt x="49149" y="884680"/>
                </a:lnTo>
                <a:cubicBezTo>
                  <a:pt x="22005" y="884680"/>
                  <a:pt x="0" y="862676"/>
                  <a:pt x="0" y="835531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8543616" y="7200146"/>
            <a:ext cx="49149" cy="884680"/>
          </a:xfrm>
          <a:custGeom>
            <a:avLst/>
            <a:gdLst/>
            <a:ahLst/>
            <a:cxnLst/>
            <a:rect l="l" t="t" r="r" b="b"/>
            <a:pathLst>
              <a:path w="49149" h="884680">
                <a:moveTo>
                  <a:pt x="49149" y="0"/>
                </a:moveTo>
                <a:lnTo>
                  <a:pt x="49149" y="0"/>
                </a:lnTo>
                <a:lnTo>
                  <a:pt x="49149" y="884680"/>
                </a:lnTo>
                <a:lnTo>
                  <a:pt x="49149" y="884680"/>
                </a:lnTo>
                <a:cubicBezTo>
                  <a:pt x="22005" y="884680"/>
                  <a:pt x="0" y="862676"/>
                  <a:pt x="0" y="835531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4" name="Text 42"/>
          <p:cNvSpPr/>
          <p:nvPr/>
        </p:nvSpPr>
        <p:spPr>
          <a:xfrm>
            <a:off x="8715637" y="7347593"/>
            <a:ext cx="3182392" cy="294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15637" y="7691635"/>
            <a:ext cx="3170104" cy="245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无需标准化，可解释性强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2115051" y="7200146"/>
            <a:ext cx="3403562" cy="884680"/>
          </a:xfrm>
          <a:custGeom>
            <a:avLst/>
            <a:gdLst/>
            <a:ahLst/>
            <a:cxnLst/>
            <a:rect l="l" t="t" r="r" b="b"/>
            <a:pathLst>
              <a:path w="3403562" h="884680">
                <a:moveTo>
                  <a:pt x="49149" y="0"/>
                </a:moveTo>
                <a:lnTo>
                  <a:pt x="3305265" y="0"/>
                </a:lnTo>
                <a:cubicBezTo>
                  <a:pt x="3359553" y="0"/>
                  <a:pt x="3403562" y="44009"/>
                  <a:pt x="3403562" y="98297"/>
                </a:cubicBezTo>
                <a:lnTo>
                  <a:pt x="3403562" y="786383"/>
                </a:lnTo>
                <a:cubicBezTo>
                  <a:pt x="3403562" y="840671"/>
                  <a:pt x="3359553" y="884680"/>
                  <a:pt x="3305265" y="884680"/>
                </a:cubicBezTo>
                <a:lnTo>
                  <a:pt x="49149" y="884680"/>
                </a:lnTo>
                <a:cubicBezTo>
                  <a:pt x="22005" y="884680"/>
                  <a:pt x="0" y="862676"/>
                  <a:pt x="0" y="835531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12115051" y="7200146"/>
            <a:ext cx="49149" cy="884680"/>
          </a:xfrm>
          <a:custGeom>
            <a:avLst/>
            <a:gdLst/>
            <a:ahLst/>
            <a:cxnLst/>
            <a:rect l="l" t="t" r="r" b="b"/>
            <a:pathLst>
              <a:path w="49149" h="884680">
                <a:moveTo>
                  <a:pt x="49149" y="0"/>
                </a:moveTo>
                <a:lnTo>
                  <a:pt x="49149" y="0"/>
                </a:lnTo>
                <a:lnTo>
                  <a:pt x="49149" y="884680"/>
                </a:lnTo>
                <a:lnTo>
                  <a:pt x="49149" y="884680"/>
                </a:lnTo>
                <a:cubicBezTo>
                  <a:pt x="22005" y="884680"/>
                  <a:pt x="0" y="862676"/>
                  <a:pt x="0" y="835531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48" name="Text 46"/>
          <p:cNvSpPr/>
          <p:nvPr/>
        </p:nvSpPr>
        <p:spPr>
          <a:xfrm>
            <a:off x="12287072" y="7347593"/>
            <a:ext cx="3182392" cy="294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2287072" y="7691635"/>
            <a:ext cx="3170104" cy="245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易过拟合，需剪枝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SVM &amp; RANDOM FOREST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分类模型：支持向量机与随机森林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6764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508000" y="1981200"/>
            <a:ext cx="7467600" cy="5816600"/>
          </a:xfrm>
          <a:custGeom>
            <a:avLst/>
            <a:gdLst/>
            <a:ahLst/>
            <a:cxnLst/>
            <a:rect l="l" t="t" r="r" b="b"/>
            <a:pathLst>
              <a:path w="7467600" h="5816600">
                <a:moveTo>
                  <a:pt x="152395" y="0"/>
                </a:moveTo>
                <a:lnTo>
                  <a:pt x="7315205" y="0"/>
                </a:lnTo>
                <a:cubicBezTo>
                  <a:pt x="7399370" y="0"/>
                  <a:pt x="7467600" y="68230"/>
                  <a:pt x="7467600" y="152395"/>
                </a:cubicBezTo>
                <a:lnTo>
                  <a:pt x="7467600" y="5664205"/>
                </a:lnTo>
                <a:cubicBezTo>
                  <a:pt x="7467600" y="5748370"/>
                  <a:pt x="7399370" y="5816600"/>
                  <a:pt x="7315205" y="5816600"/>
                </a:cubicBezTo>
                <a:lnTo>
                  <a:pt x="152395" y="5816600"/>
                </a:lnTo>
                <a:cubicBezTo>
                  <a:pt x="68230" y="5816600"/>
                  <a:pt x="0" y="5748370"/>
                  <a:pt x="0" y="56642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8000" y="1981200"/>
            <a:ext cx="7467600" cy="914400"/>
          </a:xfrm>
          <a:custGeom>
            <a:avLst/>
            <a:gdLst/>
            <a:ahLst/>
            <a:cxnLst/>
            <a:rect l="l" t="t" r="r" b="b"/>
            <a:pathLst>
              <a:path w="7467600" h="914400">
                <a:moveTo>
                  <a:pt x="152403" y="0"/>
                </a:moveTo>
                <a:lnTo>
                  <a:pt x="7315197" y="0"/>
                </a:lnTo>
                <a:cubicBezTo>
                  <a:pt x="7399367" y="0"/>
                  <a:pt x="7467600" y="68233"/>
                  <a:pt x="7467600" y="152403"/>
                </a:cubicBezTo>
                <a:lnTo>
                  <a:pt x="7467600" y="914400"/>
                </a:lnTo>
                <a:lnTo>
                  <a:pt x="0" y="914400"/>
                </a:ln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5B677D"/>
              </a:gs>
              <a:gs pos="100000">
                <a:srgbClr val="212C42"/>
              </a:gs>
            </a:gsLst>
            <a:lin ang="0" scaled="1"/>
          </a:gradFill>
        </p:spPr>
      </p:sp>
      <p:sp>
        <p:nvSpPr>
          <p:cNvPr id="7" name="Shape 5"/>
          <p:cNvSpPr/>
          <p:nvPr/>
        </p:nvSpPr>
        <p:spPr>
          <a:xfrm>
            <a:off x="800100" y="228582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9231" y="136029"/>
                </a:moveTo>
                <a:cubicBezTo>
                  <a:pt x="47149" y="80665"/>
                  <a:pt x="94833" y="38100"/>
                  <a:pt x="152400" y="38100"/>
                </a:cubicBezTo>
                <a:cubicBezTo>
                  <a:pt x="183952" y="38100"/>
                  <a:pt x="212527" y="50899"/>
                  <a:pt x="233243" y="71557"/>
                </a:cubicBezTo>
                <a:cubicBezTo>
                  <a:pt x="233363" y="71676"/>
                  <a:pt x="233482" y="71795"/>
                  <a:pt x="233601" y="71914"/>
                </a:cubicBezTo>
                <a:lnTo>
                  <a:pt x="238125" y="76200"/>
                </a:lnTo>
                <a:lnTo>
                  <a:pt x="209610" y="76200"/>
                </a:lnTo>
                <a:cubicBezTo>
                  <a:pt x="199073" y="76200"/>
                  <a:pt x="190560" y="84713"/>
                  <a:pt x="190560" y="95250"/>
                </a:cubicBezTo>
                <a:cubicBezTo>
                  <a:pt x="190560" y="105787"/>
                  <a:pt x="199073" y="114300"/>
                  <a:pt x="209610" y="114300"/>
                </a:cubicBezTo>
                <a:lnTo>
                  <a:pt x="285810" y="114300"/>
                </a:lnTo>
                <a:cubicBezTo>
                  <a:pt x="296347" y="114300"/>
                  <a:pt x="304860" y="105787"/>
                  <a:pt x="304860" y="95250"/>
                </a:cubicBezTo>
                <a:lnTo>
                  <a:pt x="304860" y="19050"/>
                </a:lnTo>
                <a:cubicBezTo>
                  <a:pt x="304860" y="8513"/>
                  <a:pt x="296347" y="0"/>
                  <a:pt x="285810" y="0"/>
                </a:cubicBezTo>
                <a:cubicBezTo>
                  <a:pt x="275273" y="0"/>
                  <a:pt x="266760" y="8513"/>
                  <a:pt x="266760" y="19050"/>
                </a:cubicBezTo>
                <a:lnTo>
                  <a:pt x="266760" y="50840"/>
                </a:lnTo>
                <a:lnTo>
                  <a:pt x="260033" y="44470"/>
                </a:lnTo>
                <a:cubicBezTo>
                  <a:pt x="232470" y="17026"/>
                  <a:pt x="194370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lose/>
                <a:moveTo>
                  <a:pt x="303252" y="174129"/>
                </a:moveTo>
                <a:cubicBezTo>
                  <a:pt x="304740" y="163711"/>
                  <a:pt x="297478" y="154067"/>
                  <a:pt x="287119" y="152579"/>
                </a:cubicBezTo>
                <a:cubicBezTo>
                  <a:pt x="276761" y="151090"/>
                  <a:pt x="267057" y="158353"/>
                  <a:pt x="265569" y="168712"/>
                </a:cubicBezTo>
                <a:cubicBezTo>
                  <a:pt x="257651" y="224076"/>
                  <a:pt x="209967" y="266640"/>
                  <a:pt x="152400" y="266640"/>
                </a:cubicBezTo>
                <a:cubicBezTo>
                  <a:pt x="120848" y="266640"/>
                  <a:pt x="92273" y="253841"/>
                  <a:pt x="71557" y="233184"/>
                </a:cubicBezTo>
                <a:cubicBezTo>
                  <a:pt x="71437" y="233065"/>
                  <a:pt x="71318" y="232946"/>
                  <a:pt x="71199" y="232827"/>
                </a:cubicBezTo>
                <a:lnTo>
                  <a:pt x="66675" y="228540"/>
                </a:lnTo>
                <a:lnTo>
                  <a:pt x="95190" y="228540"/>
                </a:lnTo>
                <a:cubicBezTo>
                  <a:pt x="105727" y="228540"/>
                  <a:pt x="114240" y="220028"/>
                  <a:pt x="114240" y="209490"/>
                </a:cubicBezTo>
                <a:cubicBezTo>
                  <a:pt x="114240" y="198953"/>
                  <a:pt x="105727" y="190440"/>
                  <a:pt x="95190" y="190440"/>
                </a:cubicBezTo>
                <a:lnTo>
                  <a:pt x="19050" y="190500"/>
                </a:lnTo>
                <a:cubicBezTo>
                  <a:pt x="13990" y="190500"/>
                  <a:pt x="9108" y="192524"/>
                  <a:pt x="5536" y="196155"/>
                </a:cubicBezTo>
                <a:cubicBezTo>
                  <a:pt x="1965" y="199787"/>
                  <a:pt x="-60" y="204609"/>
                  <a:pt x="0" y="209729"/>
                </a:cubicBezTo>
                <a:lnTo>
                  <a:pt x="595" y="285333"/>
                </a:lnTo>
                <a:cubicBezTo>
                  <a:pt x="655" y="295870"/>
                  <a:pt x="9287" y="304324"/>
                  <a:pt x="19824" y="304205"/>
                </a:cubicBezTo>
                <a:cubicBezTo>
                  <a:pt x="30361" y="304086"/>
                  <a:pt x="38814" y="295513"/>
                  <a:pt x="38695" y="284976"/>
                </a:cubicBezTo>
                <a:lnTo>
                  <a:pt x="38457" y="254318"/>
                </a:lnTo>
                <a:lnTo>
                  <a:pt x="44827" y="260330"/>
                </a:lnTo>
                <a:cubicBezTo>
                  <a:pt x="72390" y="287774"/>
                  <a:pt x="110430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143000" y="2235200"/>
            <a:ext cx="6731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支持向量机（SVM）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3750" y="32129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10" name="Text 8"/>
          <p:cNvSpPr/>
          <p:nvPr/>
        </p:nvSpPr>
        <p:spPr>
          <a:xfrm>
            <a:off x="1054100" y="3149426"/>
            <a:ext cx="678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606626"/>
            <a:ext cx="7061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适用于</a:t>
            </a: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二分类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，可扩展至多分类。</a:t>
            </a: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小样本、高维数据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场景表现优异。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3750" y="42035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13" name="Text 11"/>
          <p:cNvSpPr/>
          <p:nvPr/>
        </p:nvSpPr>
        <p:spPr>
          <a:xfrm>
            <a:off x="1054100" y="4140026"/>
            <a:ext cx="678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597226"/>
            <a:ext cx="6959600" cy="635000"/>
          </a:xfrm>
          <a:custGeom>
            <a:avLst/>
            <a:gdLst/>
            <a:ahLst/>
            <a:cxnLst/>
            <a:rect l="l" t="t" r="r" b="b"/>
            <a:pathLst>
              <a:path w="6959600" h="635000">
                <a:moveTo>
                  <a:pt x="101600" y="0"/>
                </a:moveTo>
                <a:lnTo>
                  <a:pt x="6858000" y="0"/>
                </a:lnTo>
                <a:cubicBezTo>
                  <a:pt x="6914075" y="0"/>
                  <a:pt x="6959600" y="45525"/>
                  <a:pt x="6959600" y="101600"/>
                </a:cubicBezTo>
                <a:lnTo>
                  <a:pt x="6959600" y="533400"/>
                </a:lnTo>
                <a:cubicBezTo>
                  <a:pt x="6959600" y="589475"/>
                  <a:pt x="6914075" y="635000"/>
                  <a:pt x="6858000" y="635000"/>
                </a:cubicBezTo>
                <a:lnTo>
                  <a:pt x="101600" y="635000"/>
                </a:lnTo>
                <a:cubicBezTo>
                  <a:pt x="45525" y="635000"/>
                  <a:pt x="0" y="589475"/>
                  <a:pt x="0" y="533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914400" y="4749626"/>
            <a:ext cx="67564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寻找</a:t>
            </a: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最优超平面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，使两类样本间隔最大化，提升泛化能力。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7400" y="5333826"/>
            <a:ext cx="6934200" cy="609600"/>
          </a:xfrm>
          <a:custGeom>
            <a:avLst/>
            <a:gdLst/>
            <a:ahLst/>
            <a:cxnLst/>
            <a:rect l="l" t="t" r="r" b="b"/>
            <a:pathLst>
              <a:path w="6934200" h="609600">
                <a:moveTo>
                  <a:pt x="50800" y="0"/>
                </a:moveTo>
                <a:lnTo>
                  <a:pt x="6832598" y="0"/>
                </a:lnTo>
                <a:cubicBezTo>
                  <a:pt x="6888711" y="0"/>
                  <a:pt x="6934200" y="45489"/>
                  <a:pt x="6934200" y="101602"/>
                </a:cubicBezTo>
                <a:lnTo>
                  <a:pt x="6934200" y="507998"/>
                </a:lnTo>
                <a:cubicBezTo>
                  <a:pt x="6934200" y="564111"/>
                  <a:pt x="6888711" y="609600"/>
                  <a:pt x="6832598" y="609600"/>
                </a:cubicBezTo>
                <a:lnTo>
                  <a:pt x="50800" y="609600"/>
                </a:lnTo>
                <a:cubicBezTo>
                  <a:pt x="22744" y="609600"/>
                  <a:pt x="0" y="586856"/>
                  <a:pt x="0" y="55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787400" y="5333826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5080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50800" y="609600"/>
                </a:lnTo>
                <a:cubicBezTo>
                  <a:pt x="22763" y="609600"/>
                  <a:pt x="0" y="586837"/>
                  <a:pt x="0" y="55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8" name="Text 16"/>
          <p:cNvSpPr/>
          <p:nvPr/>
        </p:nvSpPr>
        <p:spPr>
          <a:xfrm>
            <a:off x="965200" y="5486226"/>
            <a:ext cx="670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核函数技巧</a:t>
            </a:r>
            <a:r>
              <a:rPr lang="en-US" sz="1600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：线性不可分数据可通过核函数映射到高维空间实现线性可分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7400" y="6146626"/>
            <a:ext cx="3378200" cy="914400"/>
          </a:xfrm>
          <a:custGeom>
            <a:avLst/>
            <a:gdLst/>
            <a:ahLst/>
            <a:cxnLst/>
            <a:rect l="l" t="t" r="r" b="b"/>
            <a:pathLst>
              <a:path w="3378200" h="914400">
                <a:moveTo>
                  <a:pt x="50800" y="0"/>
                </a:moveTo>
                <a:lnTo>
                  <a:pt x="3276601" y="0"/>
                </a:lnTo>
                <a:cubicBezTo>
                  <a:pt x="3332713" y="0"/>
                  <a:pt x="3378200" y="45487"/>
                  <a:pt x="3378200" y="101599"/>
                </a:cubicBezTo>
                <a:lnTo>
                  <a:pt x="3378200" y="812801"/>
                </a:lnTo>
                <a:cubicBezTo>
                  <a:pt x="3378200" y="868913"/>
                  <a:pt x="3332713" y="914400"/>
                  <a:pt x="32766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787400" y="6146626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1" name="Text 19"/>
          <p:cNvSpPr/>
          <p:nvPr/>
        </p:nvSpPr>
        <p:spPr>
          <a:xfrm>
            <a:off x="965200" y="6299026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5200" y="6654626"/>
            <a:ext cx="313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泛化能力强、对小样本友好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43400" y="6146626"/>
            <a:ext cx="3378200" cy="914400"/>
          </a:xfrm>
          <a:custGeom>
            <a:avLst/>
            <a:gdLst/>
            <a:ahLst/>
            <a:cxnLst/>
            <a:rect l="l" t="t" r="r" b="b"/>
            <a:pathLst>
              <a:path w="3378200" h="914400">
                <a:moveTo>
                  <a:pt x="50800" y="0"/>
                </a:moveTo>
                <a:lnTo>
                  <a:pt x="3276601" y="0"/>
                </a:lnTo>
                <a:cubicBezTo>
                  <a:pt x="3332713" y="0"/>
                  <a:pt x="3378200" y="45487"/>
                  <a:pt x="3378200" y="101599"/>
                </a:cubicBezTo>
                <a:lnTo>
                  <a:pt x="3378200" y="812801"/>
                </a:lnTo>
                <a:cubicBezTo>
                  <a:pt x="3378200" y="868913"/>
                  <a:pt x="3332713" y="914400"/>
                  <a:pt x="32766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4343400" y="6146626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25" name="Text 23"/>
          <p:cNvSpPr/>
          <p:nvPr/>
        </p:nvSpPr>
        <p:spPr>
          <a:xfrm>
            <a:off x="4521200" y="6299026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21200" y="6654626"/>
            <a:ext cx="313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训练慢、可解释性差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80400" y="1981200"/>
            <a:ext cx="7467600" cy="5816600"/>
          </a:xfrm>
          <a:custGeom>
            <a:avLst/>
            <a:gdLst/>
            <a:ahLst/>
            <a:cxnLst/>
            <a:rect l="l" t="t" r="r" b="b"/>
            <a:pathLst>
              <a:path w="7467600" h="5816600">
                <a:moveTo>
                  <a:pt x="152395" y="0"/>
                </a:moveTo>
                <a:lnTo>
                  <a:pt x="7315205" y="0"/>
                </a:lnTo>
                <a:cubicBezTo>
                  <a:pt x="7399370" y="0"/>
                  <a:pt x="7467600" y="68230"/>
                  <a:pt x="7467600" y="152395"/>
                </a:cubicBezTo>
                <a:lnTo>
                  <a:pt x="7467600" y="5664205"/>
                </a:lnTo>
                <a:cubicBezTo>
                  <a:pt x="7467600" y="5748370"/>
                  <a:pt x="7399370" y="5816600"/>
                  <a:pt x="7315205" y="5816600"/>
                </a:cubicBezTo>
                <a:lnTo>
                  <a:pt x="152395" y="5816600"/>
                </a:lnTo>
                <a:cubicBezTo>
                  <a:pt x="68230" y="5816600"/>
                  <a:pt x="0" y="5748370"/>
                  <a:pt x="0" y="56642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0400" y="1981200"/>
            <a:ext cx="7467600" cy="914400"/>
          </a:xfrm>
          <a:custGeom>
            <a:avLst/>
            <a:gdLst/>
            <a:ahLst/>
            <a:cxnLst/>
            <a:rect l="l" t="t" r="r" b="b"/>
            <a:pathLst>
              <a:path w="7467600" h="914400">
                <a:moveTo>
                  <a:pt x="152403" y="0"/>
                </a:moveTo>
                <a:lnTo>
                  <a:pt x="7315197" y="0"/>
                </a:lnTo>
                <a:cubicBezTo>
                  <a:pt x="7399367" y="0"/>
                  <a:pt x="7467600" y="68233"/>
                  <a:pt x="7467600" y="152403"/>
                </a:cubicBezTo>
                <a:lnTo>
                  <a:pt x="7467600" y="914400"/>
                </a:lnTo>
                <a:lnTo>
                  <a:pt x="0" y="914400"/>
                </a:ln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/>
              </a:gs>
              <a:gs pos="100000">
                <a:srgbClr val="5B677D"/>
              </a:gs>
            </a:gsLst>
            <a:lin ang="0" scaled="1"/>
          </a:gradFill>
        </p:spPr>
      </p:sp>
      <p:sp>
        <p:nvSpPr>
          <p:cNvPr id="29" name="Shape 27"/>
          <p:cNvSpPr/>
          <p:nvPr/>
        </p:nvSpPr>
        <p:spPr>
          <a:xfrm>
            <a:off x="8591550" y="2285826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-19050"/>
                </a:moveTo>
                <a:cubicBezTo>
                  <a:pt x="137517" y="-19050"/>
                  <a:pt x="141506" y="-17205"/>
                  <a:pt x="144244" y="-13990"/>
                </a:cubicBezTo>
                <a:lnTo>
                  <a:pt x="225207" y="81260"/>
                </a:lnTo>
                <a:cubicBezTo>
                  <a:pt x="228838" y="85487"/>
                  <a:pt x="229612" y="91440"/>
                  <a:pt x="227290" y="96500"/>
                </a:cubicBezTo>
                <a:cubicBezTo>
                  <a:pt x="224969" y="101560"/>
                  <a:pt x="219908" y="104775"/>
                  <a:pt x="214313" y="104775"/>
                </a:cubicBezTo>
                <a:lnTo>
                  <a:pt x="199489" y="104775"/>
                </a:lnTo>
                <a:lnTo>
                  <a:pt x="244257" y="157460"/>
                </a:lnTo>
                <a:cubicBezTo>
                  <a:pt x="247888" y="161687"/>
                  <a:pt x="248662" y="167640"/>
                  <a:pt x="246340" y="172700"/>
                </a:cubicBezTo>
                <a:cubicBezTo>
                  <a:pt x="244019" y="177760"/>
                  <a:pt x="238958" y="180975"/>
                  <a:pt x="233363" y="180975"/>
                </a:cubicBezTo>
                <a:lnTo>
                  <a:pt x="210443" y="180975"/>
                </a:lnTo>
                <a:lnTo>
                  <a:pt x="263307" y="243185"/>
                </a:lnTo>
                <a:cubicBezTo>
                  <a:pt x="266938" y="247412"/>
                  <a:pt x="267712" y="253365"/>
                  <a:pt x="265390" y="258425"/>
                </a:cubicBezTo>
                <a:cubicBezTo>
                  <a:pt x="263069" y="263485"/>
                  <a:pt x="258008" y="266700"/>
                  <a:pt x="252413" y="266700"/>
                </a:cubicBezTo>
                <a:lnTo>
                  <a:pt x="152400" y="266700"/>
                </a:lnTo>
                <a:lnTo>
                  <a:pt x="152400" y="304800"/>
                </a:lnTo>
                <a:cubicBezTo>
                  <a:pt x="152400" y="315337"/>
                  <a:pt x="143887" y="323850"/>
                  <a:pt x="133350" y="323850"/>
                </a:cubicBezTo>
                <a:cubicBezTo>
                  <a:pt x="122813" y="323850"/>
                  <a:pt x="114300" y="315337"/>
                  <a:pt x="114300" y="304800"/>
                </a:cubicBezTo>
                <a:lnTo>
                  <a:pt x="114300" y="266700"/>
                </a:lnTo>
                <a:lnTo>
                  <a:pt x="14288" y="266700"/>
                </a:lnTo>
                <a:cubicBezTo>
                  <a:pt x="8692" y="266700"/>
                  <a:pt x="3631" y="263485"/>
                  <a:pt x="1310" y="258425"/>
                </a:cubicBezTo>
                <a:cubicBezTo>
                  <a:pt x="-1012" y="253365"/>
                  <a:pt x="-238" y="247412"/>
                  <a:pt x="3393" y="243185"/>
                </a:cubicBezTo>
                <a:lnTo>
                  <a:pt x="56257" y="180975"/>
                </a:lnTo>
                <a:lnTo>
                  <a:pt x="33338" y="180975"/>
                </a:lnTo>
                <a:cubicBezTo>
                  <a:pt x="27742" y="180975"/>
                  <a:pt x="22681" y="177760"/>
                  <a:pt x="20360" y="172700"/>
                </a:cubicBezTo>
                <a:cubicBezTo>
                  <a:pt x="18038" y="167640"/>
                  <a:pt x="18812" y="161687"/>
                  <a:pt x="22443" y="157460"/>
                </a:cubicBezTo>
                <a:lnTo>
                  <a:pt x="67211" y="104775"/>
                </a:lnTo>
                <a:lnTo>
                  <a:pt x="52388" y="104775"/>
                </a:lnTo>
                <a:cubicBezTo>
                  <a:pt x="46792" y="104775"/>
                  <a:pt x="41731" y="101560"/>
                  <a:pt x="39410" y="96500"/>
                </a:cubicBezTo>
                <a:cubicBezTo>
                  <a:pt x="37088" y="91440"/>
                  <a:pt x="37862" y="85487"/>
                  <a:pt x="41493" y="81260"/>
                </a:cubicBezTo>
                <a:lnTo>
                  <a:pt x="122456" y="-13990"/>
                </a:lnTo>
                <a:cubicBezTo>
                  <a:pt x="125194" y="-17205"/>
                  <a:pt x="129183" y="-19050"/>
                  <a:pt x="133350" y="-190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8915400" y="2235200"/>
            <a:ext cx="6731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随机森林（Random Forest）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66150" y="32129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2" name="Text 30"/>
          <p:cNvSpPr/>
          <p:nvPr/>
        </p:nvSpPr>
        <p:spPr>
          <a:xfrm>
            <a:off x="8826500" y="3149426"/>
            <a:ext cx="678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34400" y="3606626"/>
            <a:ext cx="7061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集成学习方法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，适用于</a:t>
            </a: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多分类、高维度数据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。大样本、复杂数据场景。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37575" y="420352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35" name="Text 33"/>
          <p:cNvSpPr/>
          <p:nvPr/>
        </p:nvSpPr>
        <p:spPr>
          <a:xfrm>
            <a:off x="8826500" y="4140026"/>
            <a:ext cx="678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34400" y="4597226"/>
            <a:ext cx="6959600" cy="965200"/>
          </a:xfrm>
          <a:custGeom>
            <a:avLst/>
            <a:gdLst/>
            <a:ahLst/>
            <a:cxnLst/>
            <a:rect l="l" t="t" r="r" b="b"/>
            <a:pathLst>
              <a:path w="6959600" h="965200">
                <a:moveTo>
                  <a:pt x="101597" y="0"/>
                </a:moveTo>
                <a:lnTo>
                  <a:pt x="6858003" y="0"/>
                </a:lnTo>
                <a:cubicBezTo>
                  <a:pt x="6914113" y="0"/>
                  <a:pt x="6959600" y="45487"/>
                  <a:pt x="6959600" y="101597"/>
                </a:cubicBezTo>
                <a:lnTo>
                  <a:pt x="6959600" y="863603"/>
                </a:lnTo>
                <a:cubicBezTo>
                  <a:pt x="6959600" y="919713"/>
                  <a:pt x="6914113" y="965200"/>
                  <a:pt x="68580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8686800" y="4749626"/>
            <a:ext cx="67564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Bootstrap抽样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构建多棵决策树，每棵树用部分特征训练，最终通过</a:t>
            </a:r>
            <a:r>
              <a:rPr lang="en-US" sz="16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投票</a:t>
            </a:r>
            <a:r>
              <a:rPr lang="en-US" sz="16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确定类别。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34400" y="5664026"/>
            <a:ext cx="3429000" cy="762000"/>
          </a:xfrm>
          <a:custGeom>
            <a:avLst/>
            <a:gdLst/>
            <a:ahLst/>
            <a:cxnLst/>
            <a:rect l="l" t="t" r="r" b="b"/>
            <a:pathLst>
              <a:path w="3429000" h="762000">
                <a:moveTo>
                  <a:pt x="101597" y="0"/>
                </a:moveTo>
                <a:lnTo>
                  <a:pt x="3327403" y="0"/>
                </a:lnTo>
                <a:cubicBezTo>
                  <a:pt x="3383513" y="0"/>
                  <a:pt x="3429000" y="45487"/>
                  <a:pt x="3429000" y="101597"/>
                </a:cubicBezTo>
                <a:lnTo>
                  <a:pt x="3429000" y="660403"/>
                </a:lnTo>
                <a:cubicBezTo>
                  <a:pt x="3429000" y="716513"/>
                  <a:pt x="3383513" y="762000"/>
                  <a:pt x="33274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8636000" y="5765626"/>
            <a:ext cx="3327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Bagging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36000" y="6070426"/>
            <a:ext cx="3314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自助采样聚合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2065000" y="5664026"/>
            <a:ext cx="3429000" cy="762000"/>
          </a:xfrm>
          <a:custGeom>
            <a:avLst/>
            <a:gdLst/>
            <a:ahLst/>
            <a:cxnLst/>
            <a:rect l="l" t="t" r="r" b="b"/>
            <a:pathLst>
              <a:path w="3429000" h="762000">
                <a:moveTo>
                  <a:pt x="101597" y="0"/>
                </a:moveTo>
                <a:lnTo>
                  <a:pt x="3327403" y="0"/>
                </a:lnTo>
                <a:cubicBezTo>
                  <a:pt x="3383513" y="0"/>
                  <a:pt x="3429000" y="45487"/>
                  <a:pt x="3429000" y="101597"/>
                </a:cubicBezTo>
                <a:lnTo>
                  <a:pt x="3429000" y="660403"/>
                </a:lnTo>
                <a:cubicBezTo>
                  <a:pt x="3429000" y="716513"/>
                  <a:pt x="3383513" y="762000"/>
                  <a:pt x="33274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12166600" y="5765626"/>
            <a:ext cx="3327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Feature Random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166600" y="6070426"/>
            <a:ext cx="3314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特征随机选择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559800" y="6629226"/>
            <a:ext cx="3378200" cy="914400"/>
          </a:xfrm>
          <a:custGeom>
            <a:avLst/>
            <a:gdLst/>
            <a:ahLst/>
            <a:cxnLst/>
            <a:rect l="l" t="t" r="r" b="b"/>
            <a:pathLst>
              <a:path w="3378200" h="914400">
                <a:moveTo>
                  <a:pt x="50800" y="0"/>
                </a:moveTo>
                <a:lnTo>
                  <a:pt x="3276601" y="0"/>
                </a:lnTo>
                <a:cubicBezTo>
                  <a:pt x="3332713" y="0"/>
                  <a:pt x="3378200" y="45487"/>
                  <a:pt x="3378200" y="101599"/>
                </a:cubicBezTo>
                <a:lnTo>
                  <a:pt x="3378200" y="812801"/>
                </a:lnTo>
                <a:cubicBezTo>
                  <a:pt x="3378200" y="868913"/>
                  <a:pt x="3332713" y="914400"/>
                  <a:pt x="32766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8559800" y="6629226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6" name="Text 44"/>
          <p:cNvSpPr/>
          <p:nvPr/>
        </p:nvSpPr>
        <p:spPr>
          <a:xfrm>
            <a:off x="8737600" y="6781626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737600" y="7137226"/>
            <a:ext cx="313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抗过拟合、精度高、对噪声不敏感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2115800" y="6629226"/>
            <a:ext cx="3378200" cy="914400"/>
          </a:xfrm>
          <a:custGeom>
            <a:avLst/>
            <a:gdLst/>
            <a:ahLst/>
            <a:cxnLst/>
            <a:rect l="l" t="t" r="r" b="b"/>
            <a:pathLst>
              <a:path w="3378200" h="914400">
                <a:moveTo>
                  <a:pt x="50800" y="0"/>
                </a:moveTo>
                <a:lnTo>
                  <a:pt x="3276601" y="0"/>
                </a:lnTo>
                <a:cubicBezTo>
                  <a:pt x="3332713" y="0"/>
                  <a:pt x="3378200" y="45487"/>
                  <a:pt x="3378200" y="101599"/>
                </a:cubicBezTo>
                <a:lnTo>
                  <a:pt x="3378200" y="812801"/>
                </a:lnTo>
                <a:cubicBezTo>
                  <a:pt x="3378200" y="868913"/>
                  <a:pt x="3332713" y="914400"/>
                  <a:pt x="32766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12115800" y="6629226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50" name="Text 48"/>
          <p:cNvSpPr/>
          <p:nvPr/>
        </p:nvSpPr>
        <p:spPr>
          <a:xfrm>
            <a:off x="12293600" y="6781626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2293600" y="7137226"/>
            <a:ext cx="313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模型复杂、可解释性弱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126" y="464126"/>
            <a:ext cx="15420574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kern="0" spc="73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APPLICATION &amp; KEY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64126" y="835426"/>
            <a:ext cx="15536605" cy="4641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9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分类模型适用场景与建模要点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4126" y="1438789"/>
            <a:ext cx="1113901" cy="46413"/>
          </a:xfrm>
          <a:custGeom>
            <a:avLst/>
            <a:gdLst/>
            <a:ahLst/>
            <a:cxnLst/>
            <a:rect l="l" t="t" r="r" b="b"/>
            <a:pathLst>
              <a:path w="1113901" h="46413">
                <a:moveTo>
                  <a:pt x="0" y="0"/>
                </a:moveTo>
                <a:lnTo>
                  <a:pt x="1113901" y="0"/>
                </a:lnTo>
                <a:lnTo>
                  <a:pt x="1113901" y="46413"/>
                </a:lnTo>
                <a:lnTo>
                  <a:pt x="0" y="46413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64126" y="1717265"/>
            <a:ext cx="7542041" cy="6961884"/>
          </a:xfrm>
          <a:custGeom>
            <a:avLst/>
            <a:gdLst/>
            <a:ahLst/>
            <a:cxnLst/>
            <a:rect l="l" t="t" r="r" b="b"/>
            <a:pathLst>
              <a:path w="7542041" h="6961884">
                <a:moveTo>
                  <a:pt x="139238" y="0"/>
                </a:moveTo>
                <a:lnTo>
                  <a:pt x="7402804" y="0"/>
                </a:lnTo>
                <a:cubicBezTo>
                  <a:pt x="7479703" y="0"/>
                  <a:pt x="7542041" y="62339"/>
                  <a:pt x="7542041" y="139238"/>
                </a:cubicBezTo>
                <a:lnTo>
                  <a:pt x="7542041" y="6822647"/>
                </a:lnTo>
                <a:cubicBezTo>
                  <a:pt x="7542041" y="6899546"/>
                  <a:pt x="7479703" y="6961884"/>
                  <a:pt x="7402804" y="6961884"/>
                </a:cubicBezTo>
                <a:lnTo>
                  <a:pt x="139238" y="6961884"/>
                </a:lnTo>
                <a:cubicBezTo>
                  <a:pt x="62339" y="6961884"/>
                  <a:pt x="0" y="6899546"/>
                  <a:pt x="0" y="6822647"/>
                </a:cubicBezTo>
                <a:lnTo>
                  <a:pt x="0" y="139238"/>
                </a:lnTo>
                <a:cubicBezTo>
                  <a:pt x="0" y="62339"/>
                  <a:pt x="62339" y="0"/>
                  <a:pt x="13923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90079" dist="23206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4126" y="1717265"/>
            <a:ext cx="7542041" cy="742601"/>
          </a:xfrm>
          <a:custGeom>
            <a:avLst/>
            <a:gdLst/>
            <a:ahLst/>
            <a:cxnLst/>
            <a:rect l="l" t="t" r="r" b="b"/>
            <a:pathLst>
              <a:path w="7542041" h="742601">
                <a:moveTo>
                  <a:pt x="139238" y="0"/>
                </a:moveTo>
                <a:lnTo>
                  <a:pt x="7402804" y="0"/>
                </a:lnTo>
                <a:cubicBezTo>
                  <a:pt x="7479703" y="0"/>
                  <a:pt x="7542041" y="62339"/>
                  <a:pt x="7542041" y="139238"/>
                </a:cubicBezTo>
                <a:lnTo>
                  <a:pt x="7542041" y="742601"/>
                </a:lnTo>
                <a:lnTo>
                  <a:pt x="0" y="742601"/>
                </a:lnTo>
                <a:lnTo>
                  <a:pt x="0" y="139238"/>
                </a:lnTo>
                <a:cubicBezTo>
                  <a:pt x="0" y="62339"/>
                  <a:pt x="62339" y="0"/>
                  <a:pt x="139238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/>
              </a:gs>
              <a:gs pos="100000">
                <a:srgbClr val="212C42"/>
              </a:gs>
            </a:gsLst>
            <a:lin ang="0" scaled="1"/>
          </a:gradFill>
        </p:spPr>
      </p:sp>
      <p:sp>
        <p:nvSpPr>
          <p:cNvPr id="7" name="Shape 5"/>
          <p:cNvSpPr/>
          <p:nvPr/>
        </p:nvSpPr>
        <p:spPr>
          <a:xfrm>
            <a:off x="684585" y="1949169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139455" y="0"/>
                </a:moveTo>
                <a:cubicBezTo>
                  <a:pt x="129828" y="0"/>
                  <a:pt x="122051" y="7778"/>
                  <a:pt x="122051" y="17405"/>
                </a:cubicBezTo>
                <a:lnTo>
                  <a:pt x="122051" y="34809"/>
                </a:lnTo>
                <a:lnTo>
                  <a:pt x="35027" y="34809"/>
                </a:lnTo>
                <a:cubicBezTo>
                  <a:pt x="25400" y="34809"/>
                  <a:pt x="17622" y="42587"/>
                  <a:pt x="17622" y="52214"/>
                </a:cubicBezTo>
                <a:lnTo>
                  <a:pt x="17622" y="87024"/>
                </a:lnTo>
                <a:cubicBezTo>
                  <a:pt x="17622" y="96651"/>
                  <a:pt x="25400" y="104428"/>
                  <a:pt x="35027" y="104428"/>
                </a:cubicBezTo>
                <a:lnTo>
                  <a:pt x="122051" y="104428"/>
                </a:lnTo>
                <a:lnTo>
                  <a:pt x="122051" y="139238"/>
                </a:lnTo>
                <a:lnTo>
                  <a:pt x="38617" y="139238"/>
                </a:lnTo>
                <a:cubicBezTo>
                  <a:pt x="36332" y="139238"/>
                  <a:pt x="34102" y="140162"/>
                  <a:pt x="32471" y="141794"/>
                </a:cubicBezTo>
                <a:lnTo>
                  <a:pt x="6364" y="167901"/>
                </a:lnTo>
                <a:cubicBezTo>
                  <a:pt x="2991" y="171273"/>
                  <a:pt x="2991" y="176821"/>
                  <a:pt x="6364" y="180193"/>
                </a:cubicBezTo>
                <a:lnTo>
                  <a:pt x="32471" y="206300"/>
                </a:lnTo>
                <a:cubicBezTo>
                  <a:pt x="34102" y="207932"/>
                  <a:pt x="36332" y="208857"/>
                  <a:pt x="38617" y="208857"/>
                </a:cubicBezTo>
                <a:lnTo>
                  <a:pt x="122051" y="208857"/>
                </a:lnTo>
                <a:lnTo>
                  <a:pt x="122051" y="261071"/>
                </a:lnTo>
                <a:cubicBezTo>
                  <a:pt x="122051" y="270698"/>
                  <a:pt x="129828" y="278475"/>
                  <a:pt x="139455" y="278475"/>
                </a:cubicBezTo>
                <a:cubicBezTo>
                  <a:pt x="149082" y="278475"/>
                  <a:pt x="156860" y="270698"/>
                  <a:pt x="156860" y="261071"/>
                </a:cubicBezTo>
                <a:lnTo>
                  <a:pt x="156860" y="208857"/>
                </a:lnTo>
                <a:lnTo>
                  <a:pt x="243884" y="208857"/>
                </a:lnTo>
                <a:cubicBezTo>
                  <a:pt x="253510" y="208857"/>
                  <a:pt x="261288" y="201079"/>
                  <a:pt x="261288" y="191452"/>
                </a:cubicBezTo>
                <a:lnTo>
                  <a:pt x="261288" y="156642"/>
                </a:lnTo>
                <a:cubicBezTo>
                  <a:pt x="261288" y="147015"/>
                  <a:pt x="253510" y="139238"/>
                  <a:pt x="243884" y="139238"/>
                </a:cubicBezTo>
                <a:lnTo>
                  <a:pt x="156860" y="139238"/>
                </a:lnTo>
                <a:lnTo>
                  <a:pt x="156860" y="104428"/>
                </a:lnTo>
                <a:lnTo>
                  <a:pt x="240294" y="104428"/>
                </a:lnTo>
                <a:cubicBezTo>
                  <a:pt x="242578" y="104428"/>
                  <a:pt x="244808" y="103504"/>
                  <a:pt x="246440" y="101872"/>
                </a:cubicBezTo>
                <a:lnTo>
                  <a:pt x="272547" y="75765"/>
                </a:lnTo>
                <a:cubicBezTo>
                  <a:pt x="275919" y="72393"/>
                  <a:pt x="275919" y="66845"/>
                  <a:pt x="272547" y="63473"/>
                </a:cubicBezTo>
                <a:lnTo>
                  <a:pt x="246440" y="37366"/>
                </a:lnTo>
                <a:cubicBezTo>
                  <a:pt x="244808" y="35734"/>
                  <a:pt x="242578" y="34809"/>
                  <a:pt x="240294" y="34809"/>
                </a:cubicBezTo>
                <a:lnTo>
                  <a:pt x="156860" y="34809"/>
                </a:lnTo>
                <a:lnTo>
                  <a:pt x="156860" y="17405"/>
                </a:lnTo>
                <a:cubicBezTo>
                  <a:pt x="156860" y="7778"/>
                  <a:pt x="149082" y="0"/>
                  <a:pt x="139455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997870" y="1902915"/>
            <a:ext cx="6961884" cy="371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95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适用场景决策指南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2982" y="2645357"/>
            <a:ext cx="7147535" cy="858632"/>
          </a:xfrm>
          <a:custGeom>
            <a:avLst/>
            <a:gdLst/>
            <a:ahLst/>
            <a:cxnLst/>
            <a:rect l="l" t="t" r="r" b="b"/>
            <a:pathLst>
              <a:path w="7147535" h="858632">
                <a:moveTo>
                  <a:pt x="46413" y="0"/>
                </a:moveTo>
                <a:lnTo>
                  <a:pt x="7054708" y="0"/>
                </a:lnTo>
                <a:cubicBezTo>
                  <a:pt x="7105975" y="0"/>
                  <a:pt x="7147535" y="41560"/>
                  <a:pt x="7147535" y="92827"/>
                </a:cubicBezTo>
                <a:lnTo>
                  <a:pt x="7147535" y="765806"/>
                </a:lnTo>
                <a:cubicBezTo>
                  <a:pt x="7147535" y="817072"/>
                  <a:pt x="7105975" y="858632"/>
                  <a:pt x="7054708" y="858632"/>
                </a:cubicBezTo>
                <a:lnTo>
                  <a:pt x="46413" y="858632"/>
                </a:lnTo>
                <a:cubicBezTo>
                  <a:pt x="20780" y="858632"/>
                  <a:pt x="0" y="837853"/>
                  <a:pt x="0" y="812220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72982" y="2645357"/>
            <a:ext cx="46413" cy="858632"/>
          </a:xfrm>
          <a:custGeom>
            <a:avLst/>
            <a:gdLst/>
            <a:ahLst/>
            <a:cxnLst/>
            <a:rect l="l" t="t" r="r" b="b"/>
            <a:pathLst>
              <a:path w="46413" h="858632">
                <a:moveTo>
                  <a:pt x="46413" y="0"/>
                </a:moveTo>
                <a:lnTo>
                  <a:pt x="46413" y="0"/>
                </a:lnTo>
                <a:lnTo>
                  <a:pt x="46413" y="858632"/>
                </a:lnTo>
                <a:lnTo>
                  <a:pt x="46413" y="858632"/>
                </a:lnTo>
                <a:cubicBezTo>
                  <a:pt x="20780" y="858632"/>
                  <a:pt x="0" y="837853"/>
                  <a:pt x="0" y="812220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1" name="Shape 9"/>
          <p:cNvSpPr/>
          <p:nvPr/>
        </p:nvSpPr>
        <p:spPr>
          <a:xfrm>
            <a:off x="851380" y="2819405"/>
            <a:ext cx="234964" cy="208857"/>
          </a:xfrm>
          <a:custGeom>
            <a:avLst/>
            <a:gdLst/>
            <a:ahLst/>
            <a:cxnLst/>
            <a:rect l="l" t="t" r="r" b="b"/>
            <a:pathLst>
              <a:path w="234964" h="208857">
                <a:moveTo>
                  <a:pt x="78321" y="26107"/>
                </a:moveTo>
                <a:cubicBezTo>
                  <a:pt x="35081" y="26107"/>
                  <a:pt x="0" y="61188"/>
                  <a:pt x="0" y="104428"/>
                </a:cubicBezTo>
                <a:cubicBezTo>
                  <a:pt x="0" y="147668"/>
                  <a:pt x="35081" y="182749"/>
                  <a:pt x="78321" y="182749"/>
                </a:cubicBezTo>
                <a:lnTo>
                  <a:pt x="156642" y="182749"/>
                </a:lnTo>
                <a:cubicBezTo>
                  <a:pt x="199882" y="182749"/>
                  <a:pt x="234964" y="147668"/>
                  <a:pt x="234964" y="104428"/>
                </a:cubicBezTo>
                <a:cubicBezTo>
                  <a:pt x="234964" y="61188"/>
                  <a:pt x="199882" y="26107"/>
                  <a:pt x="156642" y="26107"/>
                </a:cubicBezTo>
                <a:lnTo>
                  <a:pt x="78321" y="26107"/>
                </a:lnTo>
                <a:close/>
                <a:moveTo>
                  <a:pt x="156642" y="65268"/>
                </a:moveTo>
                <a:cubicBezTo>
                  <a:pt x="178256" y="65268"/>
                  <a:pt x="195803" y="82815"/>
                  <a:pt x="195803" y="104428"/>
                </a:cubicBezTo>
                <a:cubicBezTo>
                  <a:pt x="195803" y="126042"/>
                  <a:pt x="178256" y="143589"/>
                  <a:pt x="156642" y="143589"/>
                </a:cubicBezTo>
                <a:cubicBezTo>
                  <a:pt x="135029" y="143589"/>
                  <a:pt x="117482" y="126042"/>
                  <a:pt x="117482" y="104428"/>
                </a:cubicBezTo>
                <a:cubicBezTo>
                  <a:pt x="117482" y="82815"/>
                  <a:pt x="135029" y="65268"/>
                  <a:pt x="156642" y="65268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2" name="Text 10"/>
          <p:cNvSpPr/>
          <p:nvPr/>
        </p:nvSpPr>
        <p:spPr>
          <a:xfrm>
            <a:off x="1189322" y="2784595"/>
            <a:ext cx="3248879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二分类、数据线性可分、需强可解释性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5426" y="3109483"/>
            <a:ext cx="6938678" cy="255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6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46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逻辑回归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2982" y="3596815"/>
            <a:ext cx="7147535" cy="858632"/>
          </a:xfrm>
          <a:custGeom>
            <a:avLst/>
            <a:gdLst/>
            <a:ahLst/>
            <a:cxnLst/>
            <a:rect l="l" t="t" r="r" b="b"/>
            <a:pathLst>
              <a:path w="7147535" h="858632">
                <a:moveTo>
                  <a:pt x="46413" y="0"/>
                </a:moveTo>
                <a:lnTo>
                  <a:pt x="7054708" y="0"/>
                </a:lnTo>
                <a:cubicBezTo>
                  <a:pt x="7105975" y="0"/>
                  <a:pt x="7147535" y="41560"/>
                  <a:pt x="7147535" y="92827"/>
                </a:cubicBezTo>
                <a:lnTo>
                  <a:pt x="7147535" y="765806"/>
                </a:lnTo>
                <a:cubicBezTo>
                  <a:pt x="7147535" y="817072"/>
                  <a:pt x="7105975" y="858632"/>
                  <a:pt x="7054708" y="858632"/>
                </a:cubicBezTo>
                <a:lnTo>
                  <a:pt x="46413" y="858632"/>
                </a:lnTo>
                <a:cubicBezTo>
                  <a:pt x="20780" y="858632"/>
                  <a:pt x="0" y="837853"/>
                  <a:pt x="0" y="812220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72982" y="3596815"/>
            <a:ext cx="46413" cy="858632"/>
          </a:xfrm>
          <a:custGeom>
            <a:avLst/>
            <a:gdLst/>
            <a:ahLst/>
            <a:cxnLst/>
            <a:rect l="l" t="t" r="r" b="b"/>
            <a:pathLst>
              <a:path w="46413" h="858632">
                <a:moveTo>
                  <a:pt x="46413" y="0"/>
                </a:moveTo>
                <a:lnTo>
                  <a:pt x="46413" y="0"/>
                </a:lnTo>
                <a:lnTo>
                  <a:pt x="46413" y="858632"/>
                </a:lnTo>
                <a:lnTo>
                  <a:pt x="46413" y="858632"/>
                </a:lnTo>
                <a:cubicBezTo>
                  <a:pt x="20780" y="858632"/>
                  <a:pt x="0" y="837853"/>
                  <a:pt x="0" y="812220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16" name="Shape 14"/>
          <p:cNvSpPr/>
          <p:nvPr/>
        </p:nvSpPr>
        <p:spPr>
          <a:xfrm>
            <a:off x="864434" y="3770862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0" y="32634"/>
                </a:moveTo>
                <a:cubicBezTo>
                  <a:pt x="0" y="21824"/>
                  <a:pt x="8770" y="13054"/>
                  <a:pt x="19580" y="13054"/>
                </a:cubicBezTo>
                <a:lnTo>
                  <a:pt x="58741" y="13054"/>
                </a:lnTo>
                <a:cubicBezTo>
                  <a:pt x="69551" y="13054"/>
                  <a:pt x="78321" y="21824"/>
                  <a:pt x="78321" y="32634"/>
                </a:cubicBezTo>
                <a:lnTo>
                  <a:pt x="78321" y="39161"/>
                </a:lnTo>
                <a:lnTo>
                  <a:pt x="130535" y="39161"/>
                </a:lnTo>
                <a:lnTo>
                  <a:pt x="130535" y="32634"/>
                </a:lnTo>
                <a:cubicBezTo>
                  <a:pt x="130535" y="21824"/>
                  <a:pt x="139306" y="13054"/>
                  <a:pt x="150116" y="13054"/>
                </a:cubicBezTo>
                <a:lnTo>
                  <a:pt x="189276" y="13054"/>
                </a:lnTo>
                <a:cubicBezTo>
                  <a:pt x="200086" y="13054"/>
                  <a:pt x="208857" y="21824"/>
                  <a:pt x="208857" y="32634"/>
                </a:cubicBezTo>
                <a:lnTo>
                  <a:pt x="208857" y="71794"/>
                </a:lnTo>
                <a:cubicBezTo>
                  <a:pt x="208857" y="82604"/>
                  <a:pt x="200086" y="91375"/>
                  <a:pt x="189276" y="91375"/>
                </a:cubicBezTo>
                <a:lnTo>
                  <a:pt x="150116" y="91375"/>
                </a:lnTo>
                <a:cubicBezTo>
                  <a:pt x="139306" y="91375"/>
                  <a:pt x="130535" y="82604"/>
                  <a:pt x="130535" y="71794"/>
                </a:cubicBezTo>
                <a:lnTo>
                  <a:pt x="130535" y="65268"/>
                </a:lnTo>
                <a:lnTo>
                  <a:pt x="78321" y="65268"/>
                </a:lnTo>
                <a:lnTo>
                  <a:pt x="78321" y="71794"/>
                </a:lnTo>
                <a:cubicBezTo>
                  <a:pt x="78321" y="74772"/>
                  <a:pt x="77628" y="77628"/>
                  <a:pt x="76445" y="80157"/>
                </a:cubicBezTo>
                <a:lnTo>
                  <a:pt x="104428" y="117482"/>
                </a:lnTo>
                <a:lnTo>
                  <a:pt x="137062" y="117482"/>
                </a:lnTo>
                <a:cubicBezTo>
                  <a:pt x="147872" y="117482"/>
                  <a:pt x="156642" y="126252"/>
                  <a:pt x="156642" y="137062"/>
                </a:cubicBezTo>
                <a:lnTo>
                  <a:pt x="156642" y="176223"/>
                </a:lnTo>
                <a:cubicBezTo>
                  <a:pt x="156642" y="187033"/>
                  <a:pt x="147872" y="195803"/>
                  <a:pt x="137062" y="195803"/>
                </a:cubicBezTo>
                <a:lnTo>
                  <a:pt x="97901" y="195803"/>
                </a:lnTo>
                <a:cubicBezTo>
                  <a:pt x="87092" y="195803"/>
                  <a:pt x="78321" y="187033"/>
                  <a:pt x="78321" y="176223"/>
                </a:cubicBezTo>
                <a:lnTo>
                  <a:pt x="78321" y="137062"/>
                </a:lnTo>
                <a:cubicBezTo>
                  <a:pt x="78321" y="134084"/>
                  <a:pt x="79015" y="131229"/>
                  <a:pt x="80198" y="128700"/>
                </a:cubicBezTo>
                <a:lnTo>
                  <a:pt x="52214" y="91375"/>
                </a:lnTo>
                <a:lnTo>
                  <a:pt x="19580" y="91375"/>
                </a:lnTo>
                <a:cubicBezTo>
                  <a:pt x="8770" y="91375"/>
                  <a:pt x="0" y="82604"/>
                  <a:pt x="0" y="71794"/>
                </a:cubicBezTo>
                <a:lnTo>
                  <a:pt x="0" y="32634"/>
                </a:lnTo>
                <a:close/>
              </a:path>
            </a:pathLst>
          </a:custGeom>
          <a:solidFill>
            <a:srgbClr val="212C42"/>
          </a:solidFill>
        </p:spPr>
      </p:sp>
      <p:sp>
        <p:nvSpPr>
          <p:cNvPr id="17" name="Text 15"/>
          <p:cNvSpPr/>
          <p:nvPr/>
        </p:nvSpPr>
        <p:spPr>
          <a:xfrm>
            <a:off x="1189322" y="3736053"/>
            <a:ext cx="3063229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需明确决策逻辑、数据含非线性关系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5426" y="4060941"/>
            <a:ext cx="6938678" cy="255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6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46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决策树进行剪枝优化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2982" y="4548272"/>
            <a:ext cx="7147535" cy="858632"/>
          </a:xfrm>
          <a:custGeom>
            <a:avLst/>
            <a:gdLst/>
            <a:ahLst/>
            <a:cxnLst/>
            <a:rect l="l" t="t" r="r" b="b"/>
            <a:pathLst>
              <a:path w="7147535" h="858632">
                <a:moveTo>
                  <a:pt x="46413" y="0"/>
                </a:moveTo>
                <a:lnTo>
                  <a:pt x="7054708" y="0"/>
                </a:lnTo>
                <a:cubicBezTo>
                  <a:pt x="7105975" y="0"/>
                  <a:pt x="7147535" y="41560"/>
                  <a:pt x="7147535" y="92827"/>
                </a:cubicBezTo>
                <a:lnTo>
                  <a:pt x="7147535" y="765806"/>
                </a:lnTo>
                <a:cubicBezTo>
                  <a:pt x="7147535" y="817072"/>
                  <a:pt x="7105975" y="858632"/>
                  <a:pt x="7054708" y="858632"/>
                </a:cubicBezTo>
                <a:lnTo>
                  <a:pt x="46413" y="858632"/>
                </a:lnTo>
                <a:cubicBezTo>
                  <a:pt x="20780" y="858632"/>
                  <a:pt x="0" y="837853"/>
                  <a:pt x="0" y="812220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672982" y="4548272"/>
            <a:ext cx="46413" cy="858632"/>
          </a:xfrm>
          <a:custGeom>
            <a:avLst/>
            <a:gdLst/>
            <a:ahLst/>
            <a:cxnLst/>
            <a:rect l="l" t="t" r="r" b="b"/>
            <a:pathLst>
              <a:path w="46413" h="858632">
                <a:moveTo>
                  <a:pt x="46413" y="0"/>
                </a:moveTo>
                <a:lnTo>
                  <a:pt x="46413" y="0"/>
                </a:lnTo>
                <a:lnTo>
                  <a:pt x="46413" y="858632"/>
                </a:lnTo>
                <a:lnTo>
                  <a:pt x="46413" y="858632"/>
                </a:lnTo>
                <a:cubicBezTo>
                  <a:pt x="20780" y="858632"/>
                  <a:pt x="0" y="837853"/>
                  <a:pt x="0" y="812220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21" name="Shape 19"/>
          <p:cNvSpPr/>
          <p:nvPr/>
        </p:nvSpPr>
        <p:spPr>
          <a:xfrm>
            <a:off x="864434" y="4722320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26882" y="93210"/>
                </a:moveTo>
                <a:cubicBezTo>
                  <a:pt x="32307" y="55274"/>
                  <a:pt x="64982" y="26107"/>
                  <a:pt x="104428" y="26107"/>
                </a:cubicBezTo>
                <a:cubicBezTo>
                  <a:pt x="126048" y="26107"/>
                  <a:pt x="145628" y="34877"/>
                  <a:pt x="159824" y="49032"/>
                </a:cubicBezTo>
                <a:cubicBezTo>
                  <a:pt x="159906" y="49114"/>
                  <a:pt x="159987" y="49196"/>
                  <a:pt x="160069" y="49277"/>
                </a:cubicBezTo>
                <a:lnTo>
                  <a:pt x="163169" y="52214"/>
                </a:lnTo>
                <a:lnTo>
                  <a:pt x="143630" y="52214"/>
                </a:lnTo>
                <a:cubicBezTo>
                  <a:pt x="136409" y="52214"/>
                  <a:pt x="130576" y="58047"/>
                  <a:pt x="130576" y="65268"/>
                </a:cubicBezTo>
                <a:cubicBezTo>
                  <a:pt x="130576" y="72488"/>
                  <a:pt x="136409" y="78321"/>
                  <a:pt x="143630" y="78321"/>
                </a:cubicBezTo>
                <a:lnTo>
                  <a:pt x="195844" y="78321"/>
                </a:lnTo>
                <a:cubicBezTo>
                  <a:pt x="203064" y="78321"/>
                  <a:pt x="208897" y="72488"/>
                  <a:pt x="208897" y="65268"/>
                </a:cubicBezTo>
                <a:lnTo>
                  <a:pt x="208897" y="13054"/>
                </a:lnTo>
                <a:cubicBezTo>
                  <a:pt x="208897" y="5833"/>
                  <a:pt x="203064" y="0"/>
                  <a:pt x="195844" y="0"/>
                </a:cubicBezTo>
                <a:cubicBezTo>
                  <a:pt x="188624" y="0"/>
                  <a:pt x="182790" y="5833"/>
                  <a:pt x="182790" y="13054"/>
                </a:cubicBezTo>
                <a:lnTo>
                  <a:pt x="182790" y="34837"/>
                </a:lnTo>
                <a:lnTo>
                  <a:pt x="178181" y="30472"/>
                </a:lnTo>
                <a:cubicBezTo>
                  <a:pt x="159294" y="11667"/>
                  <a:pt x="133187" y="0"/>
                  <a:pt x="104428" y="0"/>
                </a:cubicBezTo>
                <a:cubicBezTo>
                  <a:pt x="51806" y="0"/>
                  <a:pt x="8281" y="38916"/>
                  <a:pt x="1061" y="89539"/>
                </a:cubicBezTo>
                <a:cubicBezTo>
                  <a:pt x="41" y="96678"/>
                  <a:pt x="4977" y="103286"/>
                  <a:pt x="12115" y="104306"/>
                </a:cubicBezTo>
                <a:cubicBezTo>
                  <a:pt x="19254" y="105326"/>
                  <a:pt x="25862" y="100349"/>
                  <a:pt x="26882" y="93251"/>
                </a:cubicBezTo>
                <a:close/>
                <a:moveTo>
                  <a:pt x="207796" y="119317"/>
                </a:moveTo>
                <a:cubicBezTo>
                  <a:pt x="208816" y="112179"/>
                  <a:pt x="203839" y="105570"/>
                  <a:pt x="196741" y="104551"/>
                </a:cubicBezTo>
                <a:cubicBezTo>
                  <a:pt x="189643" y="103531"/>
                  <a:pt x="182994" y="108507"/>
                  <a:pt x="181974" y="115605"/>
                </a:cubicBezTo>
                <a:cubicBezTo>
                  <a:pt x="176549" y="153542"/>
                  <a:pt x="143874" y="182709"/>
                  <a:pt x="104428" y="182709"/>
                </a:cubicBezTo>
                <a:cubicBezTo>
                  <a:pt x="82808" y="182709"/>
                  <a:pt x="63228" y="173938"/>
                  <a:pt x="49032" y="159783"/>
                </a:cubicBezTo>
                <a:cubicBezTo>
                  <a:pt x="48951" y="159702"/>
                  <a:pt x="48869" y="159620"/>
                  <a:pt x="48788" y="159539"/>
                </a:cubicBezTo>
                <a:lnTo>
                  <a:pt x="45687" y="156602"/>
                </a:lnTo>
                <a:lnTo>
                  <a:pt x="65227" y="156602"/>
                </a:lnTo>
                <a:cubicBezTo>
                  <a:pt x="72447" y="156602"/>
                  <a:pt x="78280" y="150768"/>
                  <a:pt x="78280" y="143548"/>
                </a:cubicBezTo>
                <a:cubicBezTo>
                  <a:pt x="78280" y="136328"/>
                  <a:pt x="72447" y="130495"/>
                  <a:pt x="65227" y="130495"/>
                </a:cubicBezTo>
                <a:lnTo>
                  <a:pt x="13054" y="130535"/>
                </a:lnTo>
                <a:cubicBezTo>
                  <a:pt x="9586" y="130535"/>
                  <a:pt x="6241" y="131922"/>
                  <a:pt x="3794" y="134411"/>
                </a:cubicBezTo>
                <a:cubicBezTo>
                  <a:pt x="1346" y="136899"/>
                  <a:pt x="-41" y="140203"/>
                  <a:pt x="0" y="143711"/>
                </a:cubicBezTo>
                <a:lnTo>
                  <a:pt x="408" y="195517"/>
                </a:lnTo>
                <a:cubicBezTo>
                  <a:pt x="449" y="202738"/>
                  <a:pt x="6364" y="208530"/>
                  <a:pt x="13584" y="208449"/>
                </a:cubicBezTo>
                <a:cubicBezTo>
                  <a:pt x="20804" y="208367"/>
                  <a:pt x="26597" y="202493"/>
                  <a:pt x="26515" y="195273"/>
                </a:cubicBezTo>
                <a:lnTo>
                  <a:pt x="26352" y="174265"/>
                </a:lnTo>
                <a:lnTo>
                  <a:pt x="30717" y="178385"/>
                </a:lnTo>
                <a:cubicBezTo>
                  <a:pt x="49603" y="197190"/>
                  <a:pt x="75670" y="208857"/>
                  <a:pt x="104428" y="208857"/>
                </a:cubicBezTo>
                <a:cubicBezTo>
                  <a:pt x="157050" y="208857"/>
                  <a:pt x="200576" y="169941"/>
                  <a:pt x="207796" y="119317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22" name="Text 20"/>
          <p:cNvSpPr/>
          <p:nvPr/>
        </p:nvSpPr>
        <p:spPr>
          <a:xfrm>
            <a:off x="1189322" y="4687510"/>
            <a:ext cx="2877579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小样本、高维数据、追求泛化能力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5426" y="5012398"/>
            <a:ext cx="6938678" cy="255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6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46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支持向量机（SVM）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2982" y="5499730"/>
            <a:ext cx="7147535" cy="858632"/>
          </a:xfrm>
          <a:custGeom>
            <a:avLst/>
            <a:gdLst/>
            <a:ahLst/>
            <a:cxnLst/>
            <a:rect l="l" t="t" r="r" b="b"/>
            <a:pathLst>
              <a:path w="7147535" h="858632">
                <a:moveTo>
                  <a:pt x="46413" y="0"/>
                </a:moveTo>
                <a:lnTo>
                  <a:pt x="7054708" y="0"/>
                </a:lnTo>
                <a:cubicBezTo>
                  <a:pt x="7105975" y="0"/>
                  <a:pt x="7147535" y="41560"/>
                  <a:pt x="7147535" y="92827"/>
                </a:cubicBezTo>
                <a:lnTo>
                  <a:pt x="7147535" y="765806"/>
                </a:lnTo>
                <a:cubicBezTo>
                  <a:pt x="7147535" y="817072"/>
                  <a:pt x="7105975" y="858632"/>
                  <a:pt x="7054708" y="858632"/>
                </a:cubicBezTo>
                <a:lnTo>
                  <a:pt x="46413" y="858632"/>
                </a:lnTo>
                <a:cubicBezTo>
                  <a:pt x="20780" y="858632"/>
                  <a:pt x="0" y="837853"/>
                  <a:pt x="0" y="812220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>
                  <a:alpha val="20000"/>
                </a:srgbClr>
              </a:gs>
              <a:gs pos="100000">
                <a:srgbClr val="212C42">
                  <a:alpha val="20000"/>
                </a:srgbClr>
              </a:gs>
            </a:gsLst>
            <a:lin ang="0" scaled="1"/>
          </a:gradFill>
        </p:spPr>
      </p:sp>
      <p:sp>
        <p:nvSpPr>
          <p:cNvPr id="25" name="Shape 23"/>
          <p:cNvSpPr/>
          <p:nvPr/>
        </p:nvSpPr>
        <p:spPr>
          <a:xfrm>
            <a:off x="672982" y="5499730"/>
            <a:ext cx="46413" cy="858632"/>
          </a:xfrm>
          <a:custGeom>
            <a:avLst/>
            <a:gdLst/>
            <a:ahLst/>
            <a:cxnLst/>
            <a:rect l="l" t="t" r="r" b="b"/>
            <a:pathLst>
              <a:path w="46413" h="858632">
                <a:moveTo>
                  <a:pt x="46413" y="0"/>
                </a:moveTo>
                <a:lnTo>
                  <a:pt x="46413" y="0"/>
                </a:lnTo>
                <a:lnTo>
                  <a:pt x="46413" y="858632"/>
                </a:lnTo>
                <a:lnTo>
                  <a:pt x="46413" y="858632"/>
                </a:lnTo>
                <a:cubicBezTo>
                  <a:pt x="20780" y="858632"/>
                  <a:pt x="0" y="837853"/>
                  <a:pt x="0" y="812220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6" name="Shape 24"/>
          <p:cNvSpPr/>
          <p:nvPr/>
        </p:nvSpPr>
        <p:spPr>
          <a:xfrm>
            <a:off x="877488" y="5673777"/>
            <a:ext cx="182749" cy="208857"/>
          </a:xfrm>
          <a:custGeom>
            <a:avLst/>
            <a:gdLst/>
            <a:ahLst/>
            <a:cxnLst/>
            <a:rect l="l" t="t" r="r" b="b"/>
            <a:pathLst>
              <a:path w="182749" h="208857">
                <a:moveTo>
                  <a:pt x="91375" y="-13054"/>
                </a:moveTo>
                <a:cubicBezTo>
                  <a:pt x="94230" y="-13054"/>
                  <a:pt x="96963" y="-11789"/>
                  <a:pt x="98840" y="-9586"/>
                </a:cubicBezTo>
                <a:lnTo>
                  <a:pt x="154317" y="55681"/>
                </a:lnTo>
                <a:cubicBezTo>
                  <a:pt x="156806" y="58578"/>
                  <a:pt x="157336" y="62657"/>
                  <a:pt x="155745" y="66124"/>
                </a:cubicBezTo>
                <a:cubicBezTo>
                  <a:pt x="154154" y="69592"/>
                  <a:pt x="150687" y="71794"/>
                  <a:pt x="146852" y="71794"/>
                </a:cubicBezTo>
                <a:lnTo>
                  <a:pt x="136695" y="71794"/>
                </a:lnTo>
                <a:lnTo>
                  <a:pt x="167371" y="107896"/>
                </a:lnTo>
                <a:cubicBezTo>
                  <a:pt x="169859" y="110792"/>
                  <a:pt x="170389" y="114871"/>
                  <a:pt x="168799" y="118338"/>
                </a:cubicBezTo>
                <a:cubicBezTo>
                  <a:pt x="167208" y="121806"/>
                  <a:pt x="163740" y="124009"/>
                  <a:pt x="159906" y="124009"/>
                </a:cubicBezTo>
                <a:lnTo>
                  <a:pt x="144201" y="124009"/>
                </a:lnTo>
                <a:lnTo>
                  <a:pt x="180424" y="166637"/>
                </a:lnTo>
                <a:cubicBezTo>
                  <a:pt x="182913" y="169533"/>
                  <a:pt x="183443" y="173612"/>
                  <a:pt x="181852" y="177079"/>
                </a:cubicBezTo>
                <a:cubicBezTo>
                  <a:pt x="180261" y="180547"/>
                  <a:pt x="176794" y="182749"/>
                  <a:pt x="172959" y="182749"/>
                </a:cubicBezTo>
                <a:lnTo>
                  <a:pt x="104428" y="182749"/>
                </a:lnTo>
                <a:lnTo>
                  <a:pt x="104428" y="208857"/>
                </a:lnTo>
                <a:cubicBezTo>
                  <a:pt x="104428" y="216077"/>
                  <a:pt x="98595" y="221910"/>
                  <a:pt x="91375" y="221910"/>
                </a:cubicBezTo>
                <a:cubicBezTo>
                  <a:pt x="84154" y="221910"/>
                  <a:pt x="78321" y="216077"/>
                  <a:pt x="78321" y="208857"/>
                </a:cubicBezTo>
                <a:lnTo>
                  <a:pt x="78321" y="182749"/>
                </a:lnTo>
                <a:lnTo>
                  <a:pt x="9790" y="182749"/>
                </a:lnTo>
                <a:cubicBezTo>
                  <a:pt x="5956" y="182749"/>
                  <a:pt x="2488" y="180547"/>
                  <a:pt x="897" y="177079"/>
                </a:cubicBezTo>
                <a:cubicBezTo>
                  <a:pt x="-693" y="173612"/>
                  <a:pt x="-163" y="169533"/>
                  <a:pt x="2325" y="166637"/>
                </a:cubicBezTo>
                <a:lnTo>
                  <a:pt x="38549" y="124009"/>
                </a:lnTo>
                <a:lnTo>
                  <a:pt x="22844" y="124009"/>
                </a:lnTo>
                <a:cubicBezTo>
                  <a:pt x="19009" y="124009"/>
                  <a:pt x="15542" y="121806"/>
                  <a:pt x="13951" y="118338"/>
                </a:cubicBezTo>
                <a:cubicBezTo>
                  <a:pt x="12360" y="114871"/>
                  <a:pt x="12890" y="110792"/>
                  <a:pt x="15379" y="107896"/>
                </a:cubicBezTo>
                <a:lnTo>
                  <a:pt x="46054" y="71794"/>
                </a:lnTo>
                <a:lnTo>
                  <a:pt x="35897" y="71794"/>
                </a:lnTo>
                <a:cubicBezTo>
                  <a:pt x="32063" y="71794"/>
                  <a:pt x="28595" y="69592"/>
                  <a:pt x="27004" y="66124"/>
                </a:cubicBezTo>
                <a:cubicBezTo>
                  <a:pt x="25414" y="62657"/>
                  <a:pt x="25944" y="58578"/>
                  <a:pt x="28432" y="55681"/>
                </a:cubicBezTo>
                <a:lnTo>
                  <a:pt x="83910" y="-9586"/>
                </a:lnTo>
                <a:cubicBezTo>
                  <a:pt x="85786" y="-11789"/>
                  <a:pt x="88519" y="-13054"/>
                  <a:pt x="91375" y="-13054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7" name="Text 25"/>
          <p:cNvSpPr/>
          <p:nvPr/>
        </p:nvSpPr>
        <p:spPr>
          <a:xfrm>
            <a:off x="1189322" y="5638968"/>
            <a:ext cx="2691929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大样本、复杂数据、追求高精度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5426" y="5963856"/>
            <a:ext cx="6938678" cy="255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6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46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随机森林、XGBoost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43306" y="1717265"/>
            <a:ext cx="7542041" cy="4594844"/>
          </a:xfrm>
          <a:custGeom>
            <a:avLst/>
            <a:gdLst/>
            <a:ahLst/>
            <a:cxnLst/>
            <a:rect l="l" t="t" r="r" b="b"/>
            <a:pathLst>
              <a:path w="7542041" h="4594844">
                <a:moveTo>
                  <a:pt x="139224" y="0"/>
                </a:moveTo>
                <a:lnTo>
                  <a:pt x="7402818" y="0"/>
                </a:lnTo>
                <a:cubicBezTo>
                  <a:pt x="7479709" y="0"/>
                  <a:pt x="7542041" y="62333"/>
                  <a:pt x="7542041" y="139224"/>
                </a:cubicBezTo>
                <a:lnTo>
                  <a:pt x="7542041" y="4455620"/>
                </a:lnTo>
                <a:cubicBezTo>
                  <a:pt x="7542041" y="4532511"/>
                  <a:pt x="7479709" y="4594844"/>
                  <a:pt x="7402818" y="4594844"/>
                </a:cubicBezTo>
                <a:lnTo>
                  <a:pt x="139224" y="4594844"/>
                </a:lnTo>
                <a:cubicBezTo>
                  <a:pt x="62333" y="4594844"/>
                  <a:pt x="0" y="4532511"/>
                  <a:pt x="0" y="4455620"/>
                </a:cubicBezTo>
                <a:lnTo>
                  <a:pt x="0" y="139224"/>
                </a:lnTo>
                <a:cubicBezTo>
                  <a:pt x="0" y="62384"/>
                  <a:pt x="62384" y="0"/>
                  <a:pt x="139224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2700000" scaled="1"/>
          </a:gradFill>
          <a:effectLst>
            <a:outerShdw blurRad="290079" dist="23206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63766" y="1949169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182749" y="191452"/>
                </a:moveTo>
                <a:cubicBezTo>
                  <a:pt x="235616" y="191452"/>
                  <a:pt x="278475" y="148593"/>
                  <a:pt x="278475" y="95726"/>
                </a:cubicBezTo>
                <a:cubicBezTo>
                  <a:pt x="278475" y="42859"/>
                  <a:pt x="235616" y="0"/>
                  <a:pt x="182749" y="0"/>
                </a:cubicBezTo>
                <a:cubicBezTo>
                  <a:pt x="129883" y="0"/>
                  <a:pt x="87024" y="42859"/>
                  <a:pt x="87024" y="95726"/>
                </a:cubicBezTo>
                <a:cubicBezTo>
                  <a:pt x="87024" y="105897"/>
                  <a:pt x="88601" y="115741"/>
                  <a:pt x="91538" y="124933"/>
                </a:cubicBezTo>
                <a:lnTo>
                  <a:pt x="3807" y="212664"/>
                </a:lnTo>
                <a:cubicBezTo>
                  <a:pt x="1360" y="215111"/>
                  <a:pt x="0" y="218429"/>
                  <a:pt x="0" y="221910"/>
                </a:cubicBezTo>
                <a:lnTo>
                  <a:pt x="0" y="265422"/>
                </a:lnTo>
                <a:cubicBezTo>
                  <a:pt x="0" y="272656"/>
                  <a:pt x="5820" y="278475"/>
                  <a:pt x="13054" y="278475"/>
                </a:cubicBezTo>
                <a:lnTo>
                  <a:pt x="56565" y="278475"/>
                </a:lnTo>
                <a:cubicBezTo>
                  <a:pt x="63799" y="278475"/>
                  <a:pt x="69619" y="272656"/>
                  <a:pt x="69619" y="265422"/>
                </a:cubicBezTo>
                <a:lnTo>
                  <a:pt x="69619" y="243666"/>
                </a:lnTo>
                <a:lnTo>
                  <a:pt x="91375" y="243666"/>
                </a:lnTo>
                <a:cubicBezTo>
                  <a:pt x="98609" y="243666"/>
                  <a:pt x="104428" y="237846"/>
                  <a:pt x="104428" y="230612"/>
                </a:cubicBezTo>
                <a:lnTo>
                  <a:pt x="104428" y="208857"/>
                </a:lnTo>
                <a:lnTo>
                  <a:pt x="126184" y="208857"/>
                </a:lnTo>
                <a:cubicBezTo>
                  <a:pt x="129665" y="208857"/>
                  <a:pt x="132983" y="207497"/>
                  <a:pt x="135430" y="205049"/>
                </a:cubicBezTo>
                <a:lnTo>
                  <a:pt x="153542" y="186937"/>
                </a:lnTo>
                <a:cubicBezTo>
                  <a:pt x="162734" y="189875"/>
                  <a:pt x="172579" y="191452"/>
                  <a:pt x="182749" y="191452"/>
                </a:cubicBezTo>
                <a:close/>
                <a:moveTo>
                  <a:pt x="204505" y="52214"/>
                </a:moveTo>
                <a:cubicBezTo>
                  <a:pt x="216513" y="52214"/>
                  <a:pt x="226261" y="61963"/>
                  <a:pt x="226261" y="73970"/>
                </a:cubicBezTo>
                <a:cubicBezTo>
                  <a:pt x="226261" y="85977"/>
                  <a:pt x="216513" y="95726"/>
                  <a:pt x="204505" y="95726"/>
                </a:cubicBezTo>
                <a:cubicBezTo>
                  <a:pt x="192498" y="95726"/>
                  <a:pt x="182749" y="85977"/>
                  <a:pt x="182749" y="73970"/>
                </a:cubicBezTo>
                <a:cubicBezTo>
                  <a:pt x="182749" y="61963"/>
                  <a:pt x="192498" y="52214"/>
                  <a:pt x="204505" y="52214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1" name="Text 29"/>
          <p:cNvSpPr/>
          <p:nvPr/>
        </p:nvSpPr>
        <p:spPr>
          <a:xfrm>
            <a:off x="8777051" y="1902915"/>
            <a:ext cx="6961884" cy="371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95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建模关键要点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33598" y="2417936"/>
            <a:ext cx="7168420" cy="833105"/>
          </a:xfrm>
          <a:custGeom>
            <a:avLst/>
            <a:gdLst/>
            <a:ahLst/>
            <a:cxnLst/>
            <a:rect l="l" t="t" r="r" b="b"/>
            <a:pathLst>
              <a:path w="7168420" h="833105">
                <a:moveTo>
                  <a:pt x="92825" y="0"/>
                </a:moveTo>
                <a:lnTo>
                  <a:pt x="7075596" y="0"/>
                </a:lnTo>
                <a:cubicBezTo>
                  <a:pt x="7126861" y="0"/>
                  <a:pt x="7168420" y="41559"/>
                  <a:pt x="7168420" y="92825"/>
                </a:cubicBezTo>
                <a:lnTo>
                  <a:pt x="7168420" y="740281"/>
                </a:lnTo>
                <a:cubicBezTo>
                  <a:pt x="7168420" y="791547"/>
                  <a:pt x="7126861" y="833105"/>
                  <a:pt x="7075596" y="833105"/>
                </a:cubicBezTo>
                <a:lnTo>
                  <a:pt x="92825" y="833105"/>
                </a:lnTo>
                <a:cubicBezTo>
                  <a:pt x="41593" y="833105"/>
                  <a:pt x="0" y="791512"/>
                  <a:pt x="0" y="740281"/>
                </a:cubicBezTo>
                <a:lnTo>
                  <a:pt x="0" y="92825"/>
                </a:lnTo>
                <a:cubicBezTo>
                  <a:pt x="0" y="41559"/>
                  <a:pt x="41559" y="0"/>
                  <a:pt x="9282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93431" y="2596633"/>
            <a:ext cx="234964" cy="208857"/>
          </a:xfrm>
          <a:custGeom>
            <a:avLst/>
            <a:gdLst/>
            <a:ahLst/>
            <a:cxnLst/>
            <a:rect l="l" t="t" r="r" b="b"/>
            <a:pathLst>
              <a:path w="234964" h="208857">
                <a:moveTo>
                  <a:pt x="207796" y="40221"/>
                </a:moveTo>
                <a:cubicBezTo>
                  <a:pt x="210896" y="37121"/>
                  <a:pt x="216077" y="37896"/>
                  <a:pt x="217627" y="41975"/>
                </a:cubicBezTo>
                <a:cubicBezTo>
                  <a:pt x="220401" y="49196"/>
                  <a:pt x="221910" y="57068"/>
                  <a:pt x="221910" y="65268"/>
                </a:cubicBezTo>
                <a:cubicBezTo>
                  <a:pt x="221910" y="101328"/>
                  <a:pt x="192703" y="130535"/>
                  <a:pt x="156642" y="130535"/>
                </a:cubicBezTo>
                <a:cubicBezTo>
                  <a:pt x="149504" y="130535"/>
                  <a:pt x="142610" y="129393"/>
                  <a:pt x="136165" y="127272"/>
                </a:cubicBezTo>
                <a:lnTo>
                  <a:pt x="59924" y="203513"/>
                </a:lnTo>
                <a:cubicBezTo>
                  <a:pt x="48461" y="214975"/>
                  <a:pt x="29860" y="214975"/>
                  <a:pt x="18397" y="203513"/>
                </a:cubicBezTo>
                <a:cubicBezTo>
                  <a:pt x="6935" y="192050"/>
                  <a:pt x="6935" y="173449"/>
                  <a:pt x="18397" y="161986"/>
                </a:cubicBezTo>
                <a:lnTo>
                  <a:pt x="94638" y="85745"/>
                </a:lnTo>
                <a:cubicBezTo>
                  <a:pt x="92517" y="79300"/>
                  <a:pt x="91375" y="72447"/>
                  <a:pt x="91375" y="65268"/>
                </a:cubicBezTo>
                <a:cubicBezTo>
                  <a:pt x="91375" y="29207"/>
                  <a:pt x="120582" y="0"/>
                  <a:pt x="156642" y="0"/>
                </a:cubicBezTo>
                <a:cubicBezTo>
                  <a:pt x="164842" y="0"/>
                  <a:pt x="172715" y="1509"/>
                  <a:pt x="179935" y="4283"/>
                </a:cubicBezTo>
                <a:cubicBezTo>
                  <a:pt x="184014" y="5833"/>
                  <a:pt x="184748" y="11014"/>
                  <a:pt x="181689" y="14114"/>
                </a:cubicBezTo>
                <a:lnTo>
                  <a:pt x="145506" y="50297"/>
                </a:lnTo>
                <a:cubicBezTo>
                  <a:pt x="144282" y="51521"/>
                  <a:pt x="143589" y="53193"/>
                  <a:pt x="143589" y="54906"/>
                </a:cubicBezTo>
                <a:lnTo>
                  <a:pt x="143589" y="71794"/>
                </a:lnTo>
                <a:cubicBezTo>
                  <a:pt x="143589" y="75384"/>
                  <a:pt x="146526" y="78321"/>
                  <a:pt x="150116" y="78321"/>
                </a:cubicBezTo>
                <a:lnTo>
                  <a:pt x="167004" y="78321"/>
                </a:lnTo>
                <a:cubicBezTo>
                  <a:pt x="168717" y="78321"/>
                  <a:pt x="170389" y="77628"/>
                  <a:pt x="171613" y="76404"/>
                </a:cubicBezTo>
                <a:lnTo>
                  <a:pt x="207796" y="40221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34" name="Text 32"/>
          <p:cNvSpPr/>
          <p:nvPr/>
        </p:nvSpPr>
        <p:spPr>
          <a:xfrm>
            <a:off x="8931372" y="2561824"/>
            <a:ext cx="835426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特征工程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77477" y="2886712"/>
            <a:ext cx="6961884" cy="220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8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特征筛选、转换、降维，决定模型性能上限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33598" y="3356045"/>
            <a:ext cx="7168420" cy="891121"/>
          </a:xfrm>
          <a:custGeom>
            <a:avLst/>
            <a:gdLst/>
            <a:ahLst/>
            <a:cxnLst/>
            <a:rect l="l" t="t" r="r" b="b"/>
            <a:pathLst>
              <a:path w="7168420" h="891121">
                <a:moveTo>
                  <a:pt x="92828" y="0"/>
                </a:moveTo>
                <a:lnTo>
                  <a:pt x="7075592" y="0"/>
                </a:lnTo>
                <a:cubicBezTo>
                  <a:pt x="7126860" y="0"/>
                  <a:pt x="7168420" y="41561"/>
                  <a:pt x="7168420" y="92828"/>
                </a:cubicBezTo>
                <a:lnTo>
                  <a:pt x="7168420" y="798293"/>
                </a:lnTo>
                <a:cubicBezTo>
                  <a:pt x="7168420" y="849561"/>
                  <a:pt x="7126860" y="891121"/>
                  <a:pt x="7075592" y="891121"/>
                </a:cubicBezTo>
                <a:lnTo>
                  <a:pt x="92828" y="891121"/>
                </a:lnTo>
                <a:cubicBezTo>
                  <a:pt x="41561" y="891121"/>
                  <a:pt x="0" y="849561"/>
                  <a:pt x="0" y="798293"/>
                </a:cubicBezTo>
                <a:lnTo>
                  <a:pt x="0" y="92828"/>
                </a:lnTo>
                <a:cubicBezTo>
                  <a:pt x="0" y="41561"/>
                  <a:pt x="41561" y="0"/>
                  <a:pt x="9282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06484" y="3534743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13054" y="13054"/>
                </a:moveTo>
                <a:cubicBezTo>
                  <a:pt x="20274" y="13054"/>
                  <a:pt x="26107" y="18887"/>
                  <a:pt x="26107" y="26107"/>
                </a:cubicBezTo>
                <a:lnTo>
                  <a:pt x="26107" y="163169"/>
                </a:lnTo>
                <a:cubicBezTo>
                  <a:pt x="26107" y="166759"/>
                  <a:pt x="29044" y="169696"/>
                  <a:pt x="32634" y="169696"/>
                </a:cubicBezTo>
                <a:lnTo>
                  <a:pt x="195803" y="169696"/>
                </a:lnTo>
                <a:cubicBezTo>
                  <a:pt x="203023" y="169696"/>
                  <a:pt x="208857" y="175529"/>
                  <a:pt x="208857" y="182749"/>
                </a:cubicBezTo>
                <a:cubicBezTo>
                  <a:pt x="208857" y="189970"/>
                  <a:pt x="203023" y="195803"/>
                  <a:pt x="195803" y="195803"/>
                </a:cubicBezTo>
                <a:lnTo>
                  <a:pt x="32634" y="195803"/>
                </a:lnTo>
                <a:cubicBezTo>
                  <a:pt x="14604" y="195803"/>
                  <a:pt x="0" y="181199"/>
                  <a:pt x="0" y="163169"/>
                </a:cubicBezTo>
                <a:lnTo>
                  <a:pt x="0" y="26107"/>
                </a:lnTo>
                <a:cubicBezTo>
                  <a:pt x="0" y="18887"/>
                  <a:pt x="5833" y="13054"/>
                  <a:pt x="13054" y="13054"/>
                </a:cubicBezTo>
                <a:close/>
                <a:moveTo>
                  <a:pt x="52214" y="39161"/>
                </a:moveTo>
                <a:cubicBezTo>
                  <a:pt x="52214" y="31940"/>
                  <a:pt x="58047" y="26107"/>
                  <a:pt x="65268" y="26107"/>
                </a:cubicBezTo>
                <a:lnTo>
                  <a:pt x="143589" y="26107"/>
                </a:lnTo>
                <a:cubicBezTo>
                  <a:pt x="150809" y="26107"/>
                  <a:pt x="156642" y="31940"/>
                  <a:pt x="156642" y="39161"/>
                </a:cubicBezTo>
                <a:cubicBezTo>
                  <a:pt x="156642" y="46381"/>
                  <a:pt x="150809" y="52214"/>
                  <a:pt x="143589" y="52214"/>
                </a:cubicBezTo>
                <a:lnTo>
                  <a:pt x="65268" y="52214"/>
                </a:lnTo>
                <a:cubicBezTo>
                  <a:pt x="58047" y="52214"/>
                  <a:pt x="52214" y="46381"/>
                  <a:pt x="52214" y="39161"/>
                </a:cubicBezTo>
                <a:close/>
                <a:moveTo>
                  <a:pt x="65268" y="71794"/>
                </a:moveTo>
                <a:lnTo>
                  <a:pt x="117482" y="71794"/>
                </a:lnTo>
                <a:cubicBezTo>
                  <a:pt x="124702" y="71794"/>
                  <a:pt x="130535" y="77628"/>
                  <a:pt x="130535" y="84848"/>
                </a:cubicBezTo>
                <a:cubicBezTo>
                  <a:pt x="130535" y="92068"/>
                  <a:pt x="124702" y="97901"/>
                  <a:pt x="117482" y="97901"/>
                </a:cubicBezTo>
                <a:lnTo>
                  <a:pt x="65268" y="97901"/>
                </a:lnTo>
                <a:cubicBezTo>
                  <a:pt x="58047" y="97901"/>
                  <a:pt x="52214" y="92068"/>
                  <a:pt x="52214" y="84848"/>
                </a:cubicBezTo>
                <a:cubicBezTo>
                  <a:pt x="52214" y="77628"/>
                  <a:pt x="58047" y="71794"/>
                  <a:pt x="65268" y="71794"/>
                </a:cubicBezTo>
                <a:close/>
                <a:moveTo>
                  <a:pt x="65268" y="117482"/>
                </a:moveTo>
                <a:lnTo>
                  <a:pt x="169696" y="117482"/>
                </a:lnTo>
                <a:cubicBezTo>
                  <a:pt x="176916" y="117482"/>
                  <a:pt x="182749" y="123315"/>
                  <a:pt x="182749" y="130535"/>
                </a:cubicBezTo>
                <a:cubicBezTo>
                  <a:pt x="182749" y="137756"/>
                  <a:pt x="176916" y="143589"/>
                  <a:pt x="169696" y="143589"/>
                </a:cubicBezTo>
                <a:lnTo>
                  <a:pt x="65268" y="143589"/>
                </a:lnTo>
                <a:cubicBezTo>
                  <a:pt x="58047" y="143589"/>
                  <a:pt x="52214" y="137756"/>
                  <a:pt x="52214" y="130535"/>
                </a:cubicBezTo>
                <a:cubicBezTo>
                  <a:pt x="52214" y="123315"/>
                  <a:pt x="58047" y="117482"/>
                  <a:pt x="65268" y="117482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8" name="Text 36"/>
          <p:cNvSpPr/>
          <p:nvPr/>
        </p:nvSpPr>
        <p:spPr>
          <a:xfrm>
            <a:off x="8931372" y="3499933"/>
            <a:ext cx="1206727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模型评估指标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77477" y="3824821"/>
            <a:ext cx="1682455" cy="278475"/>
          </a:xfrm>
          <a:custGeom>
            <a:avLst/>
            <a:gdLst/>
            <a:ahLst/>
            <a:cxnLst/>
            <a:rect l="l" t="t" r="r" b="b"/>
            <a:pathLst>
              <a:path w="1682455" h="278475">
                <a:moveTo>
                  <a:pt x="46413" y="0"/>
                </a:moveTo>
                <a:lnTo>
                  <a:pt x="1636042" y="0"/>
                </a:lnTo>
                <a:cubicBezTo>
                  <a:pt x="1661675" y="0"/>
                  <a:pt x="1682455" y="20780"/>
                  <a:pt x="1682455" y="46413"/>
                </a:cubicBezTo>
                <a:lnTo>
                  <a:pt x="1682455" y="232062"/>
                </a:lnTo>
                <a:cubicBezTo>
                  <a:pt x="1682455" y="257695"/>
                  <a:pt x="1661675" y="278475"/>
                  <a:pt x="1636042" y="278475"/>
                </a:cubicBezTo>
                <a:lnTo>
                  <a:pt x="46413" y="278475"/>
                </a:lnTo>
                <a:cubicBezTo>
                  <a:pt x="20780" y="278475"/>
                  <a:pt x="0" y="257695"/>
                  <a:pt x="0" y="232062"/>
                </a:cubicBezTo>
                <a:lnTo>
                  <a:pt x="0" y="46413"/>
                </a:lnTo>
                <a:cubicBezTo>
                  <a:pt x="0" y="20780"/>
                  <a:pt x="20780" y="0"/>
                  <a:pt x="4641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8589080" y="3871234"/>
            <a:ext cx="1659249" cy="185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准确率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308810" y="3824821"/>
            <a:ext cx="1682455" cy="278475"/>
          </a:xfrm>
          <a:custGeom>
            <a:avLst/>
            <a:gdLst/>
            <a:ahLst/>
            <a:cxnLst/>
            <a:rect l="l" t="t" r="r" b="b"/>
            <a:pathLst>
              <a:path w="1682455" h="278475">
                <a:moveTo>
                  <a:pt x="46413" y="0"/>
                </a:moveTo>
                <a:lnTo>
                  <a:pt x="1636042" y="0"/>
                </a:lnTo>
                <a:cubicBezTo>
                  <a:pt x="1661675" y="0"/>
                  <a:pt x="1682455" y="20780"/>
                  <a:pt x="1682455" y="46413"/>
                </a:cubicBezTo>
                <a:lnTo>
                  <a:pt x="1682455" y="232062"/>
                </a:lnTo>
                <a:cubicBezTo>
                  <a:pt x="1682455" y="257695"/>
                  <a:pt x="1661675" y="278475"/>
                  <a:pt x="1636042" y="278475"/>
                </a:cubicBezTo>
                <a:lnTo>
                  <a:pt x="46413" y="278475"/>
                </a:lnTo>
                <a:cubicBezTo>
                  <a:pt x="20780" y="278475"/>
                  <a:pt x="0" y="257695"/>
                  <a:pt x="0" y="232062"/>
                </a:cubicBezTo>
                <a:lnTo>
                  <a:pt x="0" y="46413"/>
                </a:lnTo>
                <a:cubicBezTo>
                  <a:pt x="0" y="20780"/>
                  <a:pt x="20780" y="0"/>
                  <a:pt x="4641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10320414" y="3871234"/>
            <a:ext cx="1659249" cy="185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召回率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2040144" y="3824821"/>
            <a:ext cx="1682455" cy="278475"/>
          </a:xfrm>
          <a:custGeom>
            <a:avLst/>
            <a:gdLst/>
            <a:ahLst/>
            <a:cxnLst/>
            <a:rect l="l" t="t" r="r" b="b"/>
            <a:pathLst>
              <a:path w="1682455" h="278475">
                <a:moveTo>
                  <a:pt x="46413" y="0"/>
                </a:moveTo>
                <a:lnTo>
                  <a:pt x="1636042" y="0"/>
                </a:lnTo>
                <a:cubicBezTo>
                  <a:pt x="1661675" y="0"/>
                  <a:pt x="1682455" y="20780"/>
                  <a:pt x="1682455" y="46413"/>
                </a:cubicBezTo>
                <a:lnTo>
                  <a:pt x="1682455" y="232062"/>
                </a:lnTo>
                <a:cubicBezTo>
                  <a:pt x="1682455" y="257695"/>
                  <a:pt x="1661675" y="278475"/>
                  <a:pt x="1636042" y="278475"/>
                </a:cubicBezTo>
                <a:lnTo>
                  <a:pt x="46413" y="278475"/>
                </a:lnTo>
                <a:cubicBezTo>
                  <a:pt x="20780" y="278475"/>
                  <a:pt x="0" y="257695"/>
                  <a:pt x="0" y="232062"/>
                </a:cubicBezTo>
                <a:lnTo>
                  <a:pt x="0" y="46413"/>
                </a:lnTo>
                <a:cubicBezTo>
                  <a:pt x="0" y="20780"/>
                  <a:pt x="20780" y="0"/>
                  <a:pt x="4641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12051747" y="3871234"/>
            <a:ext cx="1659249" cy="185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F1值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3771478" y="3824821"/>
            <a:ext cx="1682455" cy="278475"/>
          </a:xfrm>
          <a:custGeom>
            <a:avLst/>
            <a:gdLst/>
            <a:ahLst/>
            <a:cxnLst/>
            <a:rect l="l" t="t" r="r" b="b"/>
            <a:pathLst>
              <a:path w="1682455" h="278475">
                <a:moveTo>
                  <a:pt x="46413" y="0"/>
                </a:moveTo>
                <a:lnTo>
                  <a:pt x="1636042" y="0"/>
                </a:lnTo>
                <a:cubicBezTo>
                  <a:pt x="1661675" y="0"/>
                  <a:pt x="1682455" y="20780"/>
                  <a:pt x="1682455" y="46413"/>
                </a:cubicBezTo>
                <a:lnTo>
                  <a:pt x="1682455" y="232062"/>
                </a:lnTo>
                <a:cubicBezTo>
                  <a:pt x="1682455" y="257695"/>
                  <a:pt x="1661675" y="278475"/>
                  <a:pt x="1636042" y="278475"/>
                </a:cubicBezTo>
                <a:lnTo>
                  <a:pt x="46413" y="278475"/>
                </a:lnTo>
                <a:cubicBezTo>
                  <a:pt x="20780" y="278475"/>
                  <a:pt x="0" y="257695"/>
                  <a:pt x="0" y="232062"/>
                </a:cubicBezTo>
                <a:lnTo>
                  <a:pt x="0" y="46413"/>
                </a:lnTo>
                <a:cubicBezTo>
                  <a:pt x="0" y="20780"/>
                  <a:pt x="20780" y="0"/>
                  <a:pt x="4641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13783081" y="3871234"/>
            <a:ext cx="1659249" cy="185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AUC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33598" y="4349134"/>
            <a:ext cx="7168420" cy="833105"/>
          </a:xfrm>
          <a:custGeom>
            <a:avLst/>
            <a:gdLst/>
            <a:ahLst/>
            <a:cxnLst/>
            <a:rect l="l" t="t" r="r" b="b"/>
            <a:pathLst>
              <a:path w="7168420" h="833105">
                <a:moveTo>
                  <a:pt x="92825" y="0"/>
                </a:moveTo>
                <a:lnTo>
                  <a:pt x="7075596" y="0"/>
                </a:lnTo>
                <a:cubicBezTo>
                  <a:pt x="7126861" y="0"/>
                  <a:pt x="7168420" y="41559"/>
                  <a:pt x="7168420" y="92825"/>
                </a:cubicBezTo>
                <a:lnTo>
                  <a:pt x="7168420" y="740281"/>
                </a:lnTo>
                <a:cubicBezTo>
                  <a:pt x="7168420" y="791547"/>
                  <a:pt x="7126861" y="833105"/>
                  <a:pt x="7075596" y="833105"/>
                </a:cubicBezTo>
                <a:lnTo>
                  <a:pt x="92825" y="833105"/>
                </a:lnTo>
                <a:cubicBezTo>
                  <a:pt x="41593" y="833105"/>
                  <a:pt x="0" y="791512"/>
                  <a:pt x="0" y="740281"/>
                </a:cubicBezTo>
                <a:lnTo>
                  <a:pt x="0" y="92825"/>
                </a:lnTo>
                <a:cubicBezTo>
                  <a:pt x="0" y="41559"/>
                  <a:pt x="41559" y="0"/>
                  <a:pt x="9282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06484" y="4527831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104428" y="0"/>
                </a:moveTo>
                <a:cubicBezTo>
                  <a:pt x="106305" y="0"/>
                  <a:pt x="108181" y="408"/>
                  <a:pt x="109894" y="1183"/>
                </a:cubicBezTo>
                <a:lnTo>
                  <a:pt x="186747" y="33776"/>
                </a:lnTo>
                <a:cubicBezTo>
                  <a:pt x="195721" y="37570"/>
                  <a:pt x="202411" y="46422"/>
                  <a:pt x="202371" y="57109"/>
                </a:cubicBezTo>
                <a:cubicBezTo>
                  <a:pt x="202167" y="97575"/>
                  <a:pt x="185523" y="171613"/>
                  <a:pt x="115238" y="205267"/>
                </a:cubicBezTo>
                <a:cubicBezTo>
                  <a:pt x="108426" y="208530"/>
                  <a:pt x="100512" y="208530"/>
                  <a:pt x="93700" y="205267"/>
                </a:cubicBezTo>
                <a:cubicBezTo>
                  <a:pt x="23374" y="171613"/>
                  <a:pt x="6772" y="97575"/>
                  <a:pt x="6568" y="57109"/>
                </a:cubicBezTo>
                <a:cubicBezTo>
                  <a:pt x="6527" y="46422"/>
                  <a:pt x="13217" y="37570"/>
                  <a:pt x="22191" y="33776"/>
                </a:cubicBezTo>
                <a:lnTo>
                  <a:pt x="99003" y="1183"/>
                </a:lnTo>
                <a:cubicBezTo>
                  <a:pt x="100716" y="408"/>
                  <a:pt x="102552" y="0"/>
                  <a:pt x="104428" y="0"/>
                </a:cubicBezTo>
                <a:close/>
                <a:moveTo>
                  <a:pt x="104428" y="27249"/>
                </a:moveTo>
                <a:lnTo>
                  <a:pt x="104428" y="181485"/>
                </a:lnTo>
                <a:cubicBezTo>
                  <a:pt x="160722" y="154236"/>
                  <a:pt x="175856" y="93863"/>
                  <a:pt x="176223" y="57721"/>
                </a:cubicBezTo>
                <a:lnTo>
                  <a:pt x="104428" y="27290"/>
                </a:lnTo>
                <a:lnTo>
                  <a:pt x="104428" y="2729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49" name="Text 47"/>
          <p:cNvSpPr/>
          <p:nvPr/>
        </p:nvSpPr>
        <p:spPr>
          <a:xfrm>
            <a:off x="8931372" y="4493022"/>
            <a:ext cx="1021076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避免过拟合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77477" y="4817910"/>
            <a:ext cx="6961884" cy="220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8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交叉验证、正则化、剪枝等策略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33598" y="5287243"/>
            <a:ext cx="7168420" cy="833105"/>
          </a:xfrm>
          <a:custGeom>
            <a:avLst/>
            <a:gdLst/>
            <a:ahLst/>
            <a:cxnLst/>
            <a:rect l="l" t="t" r="r" b="b"/>
            <a:pathLst>
              <a:path w="7168420" h="833105">
                <a:moveTo>
                  <a:pt x="92825" y="0"/>
                </a:moveTo>
                <a:lnTo>
                  <a:pt x="7075596" y="0"/>
                </a:lnTo>
                <a:cubicBezTo>
                  <a:pt x="7126861" y="0"/>
                  <a:pt x="7168420" y="41559"/>
                  <a:pt x="7168420" y="92825"/>
                </a:cubicBezTo>
                <a:lnTo>
                  <a:pt x="7168420" y="740281"/>
                </a:lnTo>
                <a:cubicBezTo>
                  <a:pt x="7168420" y="791547"/>
                  <a:pt x="7126861" y="833105"/>
                  <a:pt x="7075596" y="833105"/>
                </a:cubicBezTo>
                <a:lnTo>
                  <a:pt x="92825" y="833105"/>
                </a:lnTo>
                <a:cubicBezTo>
                  <a:pt x="41593" y="833105"/>
                  <a:pt x="0" y="791512"/>
                  <a:pt x="0" y="740281"/>
                </a:cubicBezTo>
                <a:lnTo>
                  <a:pt x="0" y="92825"/>
                </a:lnTo>
                <a:cubicBezTo>
                  <a:pt x="0" y="41559"/>
                  <a:pt x="41559" y="0"/>
                  <a:pt x="9282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80377" y="5465940"/>
            <a:ext cx="261071" cy="208857"/>
          </a:xfrm>
          <a:custGeom>
            <a:avLst/>
            <a:gdLst/>
            <a:ahLst/>
            <a:cxnLst/>
            <a:rect l="l" t="t" r="r" b="b"/>
            <a:pathLst>
              <a:path w="261071" h="208857">
                <a:moveTo>
                  <a:pt x="156642" y="13054"/>
                </a:moveTo>
                <a:lnTo>
                  <a:pt x="208857" y="13054"/>
                </a:lnTo>
                <a:cubicBezTo>
                  <a:pt x="216077" y="13054"/>
                  <a:pt x="221910" y="18887"/>
                  <a:pt x="221910" y="26107"/>
                </a:cubicBezTo>
                <a:cubicBezTo>
                  <a:pt x="221910" y="33327"/>
                  <a:pt x="216077" y="39161"/>
                  <a:pt x="208857" y="39161"/>
                </a:cubicBezTo>
                <a:lnTo>
                  <a:pt x="162516" y="39161"/>
                </a:lnTo>
                <a:cubicBezTo>
                  <a:pt x="160395" y="49685"/>
                  <a:pt x="153175" y="58374"/>
                  <a:pt x="143589" y="62535"/>
                </a:cubicBezTo>
                <a:lnTo>
                  <a:pt x="143589" y="182749"/>
                </a:lnTo>
                <a:lnTo>
                  <a:pt x="208857" y="182749"/>
                </a:lnTo>
                <a:cubicBezTo>
                  <a:pt x="216077" y="182749"/>
                  <a:pt x="221910" y="188583"/>
                  <a:pt x="221910" y="195803"/>
                </a:cubicBezTo>
                <a:cubicBezTo>
                  <a:pt x="221910" y="203023"/>
                  <a:pt x="216077" y="208857"/>
                  <a:pt x="208857" y="208857"/>
                </a:cubicBezTo>
                <a:lnTo>
                  <a:pt x="52214" y="208857"/>
                </a:lnTo>
                <a:cubicBezTo>
                  <a:pt x="44994" y="208857"/>
                  <a:pt x="39161" y="203023"/>
                  <a:pt x="39161" y="195803"/>
                </a:cubicBezTo>
                <a:cubicBezTo>
                  <a:pt x="39161" y="188583"/>
                  <a:pt x="44994" y="182749"/>
                  <a:pt x="52214" y="182749"/>
                </a:cubicBezTo>
                <a:lnTo>
                  <a:pt x="117482" y="182749"/>
                </a:lnTo>
                <a:lnTo>
                  <a:pt x="117482" y="62535"/>
                </a:lnTo>
                <a:cubicBezTo>
                  <a:pt x="107896" y="58333"/>
                  <a:pt x="100675" y="49644"/>
                  <a:pt x="98554" y="39161"/>
                </a:cubicBezTo>
                <a:lnTo>
                  <a:pt x="52214" y="39161"/>
                </a:lnTo>
                <a:cubicBezTo>
                  <a:pt x="44994" y="39161"/>
                  <a:pt x="39161" y="33327"/>
                  <a:pt x="39161" y="26107"/>
                </a:cubicBezTo>
                <a:cubicBezTo>
                  <a:pt x="39161" y="18887"/>
                  <a:pt x="44994" y="13054"/>
                  <a:pt x="52214" y="13054"/>
                </a:cubicBezTo>
                <a:lnTo>
                  <a:pt x="104428" y="13054"/>
                </a:lnTo>
                <a:cubicBezTo>
                  <a:pt x="110384" y="5140"/>
                  <a:pt x="119848" y="0"/>
                  <a:pt x="130535" y="0"/>
                </a:cubicBezTo>
                <a:cubicBezTo>
                  <a:pt x="141223" y="0"/>
                  <a:pt x="150687" y="5140"/>
                  <a:pt x="156642" y="13054"/>
                </a:cubicBezTo>
                <a:close/>
                <a:moveTo>
                  <a:pt x="179323" y="130535"/>
                </a:moveTo>
                <a:lnTo>
                  <a:pt x="238390" y="130535"/>
                </a:lnTo>
                <a:lnTo>
                  <a:pt x="208857" y="79871"/>
                </a:lnTo>
                <a:lnTo>
                  <a:pt x="179323" y="130535"/>
                </a:lnTo>
                <a:close/>
                <a:moveTo>
                  <a:pt x="208857" y="169696"/>
                </a:moveTo>
                <a:cubicBezTo>
                  <a:pt x="183198" y="169696"/>
                  <a:pt x="161864" y="155827"/>
                  <a:pt x="157458" y="137511"/>
                </a:cubicBezTo>
                <a:cubicBezTo>
                  <a:pt x="156398" y="133024"/>
                  <a:pt x="157866" y="128414"/>
                  <a:pt x="160191" y="124416"/>
                </a:cubicBezTo>
                <a:lnTo>
                  <a:pt x="199026" y="57843"/>
                </a:lnTo>
                <a:cubicBezTo>
                  <a:pt x="201065" y="54335"/>
                  <a:pt x="204818" y="52214"/>
                  <a:pt x="208857" y="52214"/>
                </a:cubicBezTo>
                <a:cubicBezTo>
                  <a:pt x="212895" y="52214"/>
                  <a:pt x="216648" y="54376"/>
                  <a:pt x="218687" y="57843"/>
                </a:cubicBezTo>
                <a:lnTo>
                  <a:pt x="257522" y="124416"/>
                </a:lnTo>
                <a:cubicBezTo>
                  <a:pt x="259847" y="128414"/>
                  <a:pt x="261315" y="133024"/>
                  <a:pt x="260255" y="137511"/>
                </a:cubicBezTo>
                <a:cubicBezTo>
                  <a:pt x="255849" y="155786"/>
                  <a:pt x="234515" y="169696"/>
                  <a:pt x="208857" y="169696"/>
                </a:cubicBezTo>
                <a:close/>
                <a:moveTo>
                  <a:pt x="51725" y="79871"/>
                </a:moveTo>
                <a:lnTo>
                  <a:pt x="22191" y="130535"/>
                </a:lnTo>
                <a:lnTo>
                  <a:pt x="81299" y="130535"/>
                </a:lnTo>
                <a:lnTo>
                  <a:pt x="51725" y="79871"/>
                </a:lnTo>
                <a:close/>
                <a:moveTo>
                  <a:pt x="367" y="137511"/>
                </a:moveTo>
                <a:cubicBezTo>
                  <a:pt x="-693" y="133024"/>
                  <a:pt x="775" y="128414"/>
                  <a:pt x="3100" y="124416"/>
                </a:cubicBezTo>
                <a:lnTo>
                  <a:pt x="41934" y="57843"/>
                </a:lnTo>
                <a:cubicBezTo>
                  <a:pt x="43974" y="54335"/>
                  <a:pt x="47727" y="52214"/>
                  <a:pt x="51765" y="52214"/>
                </a:cubicBezTo>
                <a:cubicBezTo>
                  <a:pt x="55804" y="52214"/>
                  <a:pt x="59557" y="54376"/>
                  <a:pt x="61596" y="57843"/>
                </a:cubicBezTo>
                <a:lnTo>
                  <a:pt x="100431" y="124416"/>
                </a:lnTo>
                <a:cubicBezTo>
                  <a:pt x="102756" y="128414"/>
                  <a:pt x="104224" y="133024"/>
                  <a:pt x="103164" y="137511"/>
                </a:cubicBezTo>
                <a:cubicBezTo>
                  <a:pt x="98758" y="155786"/>
                  <a:pt x="77424" y="169696"/>
                  <a:pt x="51765" y="169696"/>
                </a:cubicBezTo>
                <a:cubicBezTo>
                  <a:pt x="26107" y="169696"/>
                  <a:pt x="4773" y="155827"/>
                  <a:pt x="367" y="137511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3" name="Text 51"/>
          <p:cNvSpPr/>
          <p:nvPr/>
        </p:nvSpPr>
        <p:spPr>
          <a:xfrm>
            <a:off x="8931372" y="5431131"/>
            <a:ext cx="1206727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数据平衡处理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77477" y="5756019"/>
            <a:ext cx="6961884" cy="220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8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不平衡数据可通过过采样、欠采样处理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43306" y="6452797"/>
            <a:ext cx="7542041" cy="2227803"/>
          </a:xfrm>
          <a:custGeom>
            <a:avLst/>
            <a:gdLst/>
            <a:ahLst/>
            <a:cxnLst/>
            <a:rect l="l" t="t" r="r" b="b"/>
            <a:pathLst>
              <a:path w="7542041" h="2227803">
                <a:moveTo>
                  <a:pt x="139238" y="0"/>
                </a:moveTo>
                <a:lnTo>
                  <a:pt x="7402804" y="0"/>
                </a:lnTo>
                <a:cubicBezTo>
                  <a:pt x="7479703" y="0"/>
                  <a:pt x="7542041" y="62339"/>
                  <a:pt x="7542041" y="139238"/>
                </a:cubicBezTo>
                <a:lnTo>
                  <a:pt x="7542041" y="2088565"/>
                </a:lnTo>
                <a:cubicBezTo>
                  <a:pt x="7542041" y="2165464"/>
                  <a:pt x="7479703" y="2227803"/>
                  <a:pt x="7402804" y="2227803"/>
                </a:cubicBezTo>
                <a:lnTo>
                  <a:pt x="139238" y="2227803"/>
                </a:lnTo>
                <a:cubicBezTo>
                  <a:pt x="62390" y="2227803"/>
                  <a:pt x="0" y="2165413"/>
                  <a:pt x="0" y="2088565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4047" dist="11603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411552" y="6650050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104428" y="0"/>
                </a:moveTo>
                <a:cubicBezTo>
                  <a:pt x="110425" y="0"/>
                  <a:pt x="115932" y="3304"/>
                  <a:pt x="118787" y="8566"/>
                </a:cubicBezTo>
                <a:lnTo>
                  <a:pt x="206899" y="171736"/>
                </a:lnTo>
                <a:cubicBezTo>
                  <a:pt x="209632" y="176794"/>
                  <a:pt x="209509" y="182913"/>
                  <a:pt x="206572" y="187849"/>
                </a:cubicBezTo>
                <a:cubicBezTo>
                  <a:pt x="203635" y="192784"/>
                  <a:pt x="198291" y="195803"/>
                  <a:pt x="192540" y="195803"/>
                </a:cubicBezTo>
                <a:lnTo>
                  <a:pt x="16317" y="195803"/>
                </a:lnTo>
                <a:cubicBezTo>
                  <a:pt x="10565" y="195803"/>
                  <a:pt x="5262" y="192784"/>
                  <a:pt x="2284" y="187849"/>
                </a:cubicBezTo>
                <a:cubicBezTo>
                  <a:pt x="-693" y="182913"/>
                  <a:pt x="-775" y="176794"/>
                  <a:pt x="1958" y="171736"/>
                </a:cubicBezTo>
                <a:lnTo>
                  <a:pt x="90069" y="8566"/>
                </a:lnTo>
                <a:cubicBezTo>
                  <a:pt x="92925" y="3304"/>
                  <a:pt x="98432" y="0"/>
                  <a:pt x="104428" y="0"/>
                </a:cubicBezTo>
                <a:close/>
                <a:moveTo>
                  <a:pt x="104428" y="68531"/>
                </a:moveTo>
                <a:cubicBezTo>
                  <a:pt x="99003" y="68531"/>
                  <a:pt x="94638" y="72896"/>
                  <a:pt x="94638" y="78321"/>
                </a:cubicBezTo>
                <a:lnTo>
                  <a:pt x="94638" y="124009"/>
                </a:lnTo>
                <a:cubicBezTo>
                  <a:pt x="94638" y="129434"/>
                  <a:pt x="99003" y="133799"/>
                  <a:pt x="104428" y="133799"/>
                </a:cubicBezTo>
                <a:cubicBezTo>
                  <a:pt x="109854" y="133799"/>
                  <a:pt x="114218" y="129434"/>
                  <a:pt x="114218" y="124009"/>
                </a:cubicBezTo>
                <a:lnTo>
                  <a:pt x="114218" y="78321"/>
                </a:lnTo>
                <a:cubicBezTo>
                  <a:pt x="114218" y="72896"/>
                  <a:pt x="109854" y="68531"/>
                  <a:pt x="104428" y="68531"/>
                </a:cubicBezTo>
                <a:close/>
                <a:moveTo>
                  <a:pt x="115320" y="156642"/>
                </a:moveTo>
                <a:cubicBezTo>
                  <a:pt x="115568" y="152600"/>
                  <a:pt x="113551" y="148753"/>
                  <a:pt x="110086" y="146657"/>
                </a:cubicBezTo>
                <a:cubicBezTo>
                  <a:pt x="106620" y="144561"/>
                  <a:pt x="102277" y="144561"/>
                  <a:pt x="98812" y="146657"/>
                </a:cubicBezTo>
                <a:cubicBezTo>
                  <a:pt x="95346" y="148753"/>
                  <a:pt x="93330" y="152600"/>
                  <a:pt x="93578" y="156642"/>
                </a:cubicBezTo>
                <a:cubicBezTo>
                  <a:pt x="93330" y="160685"/>
                  <a:pt x="95346" y="164532"/>
                  <a:pt x="98812" y="166628"/>
                </a:cubicBezTo>
                <a:cubicBezTo>
                  <a:pt x="102277" y="168724"/>
                  <a:pt x="106620" y="168724"/>
                  <a:pt x="110086" y="166628"/>
                </a:cubicBezTo>
                <a:cubicBezTo>
                  <a:pt x="113551" y="164532"/>
                  <a:pt x="115568" y="160685"/>
                  <a:pt x="115320" y="156642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7" name="Text 55"/>
          <p:cNvSpPr/>
          <p:nvPr/>
        </p:nvSpPr>
        <p:spPr>
          <a:xfrm>
            <a:off x="8649416" y="6592034"/>
            <a:ext cx="7101122" cy="324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常见问题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05750" y="7009747"/>
            <a:ext cx="7240360" cy="742601"/>
          </a:xfrm>
          <a:custGeom>
            <a:avLst/>
            <a:gdLst/>
            <a:ahLst/>
            <a:cxnLst/>
            <a:rect l="l" t="t" r="r" b="b"/>
            <a:pathLst>
              <a:path w="7240360" h="742601">
                <a:moveTo>
                  <a:pt x="46413" y="0"/>
                </a:moveTo>
                <a:lnTo>
                  <a:pt x="7147535" y="0"/>
                </a:lnTo>
                <a:cubicBezTo>
                  <a:pt x="7198801" y="0"/>
                  <a:pt x="7240360" y="41559"/>
                  <a:pt x="7240360" y="92825"/>
                </a:cubicBezTo>
                <a:lnTo>
                  <a:pt x="7240360" y="649776"/>
                </a:lnTo>
                <a:cubicBezTo>
                  <a:pt x="7240360" y="701042"/>
                  <a:pt x="7198801" y="742601"/>
                  <a:pt x="7147535" y="742601"/>
                </a:cubicBezTo>
                <a:lnTo>
                  <a:pt x="46413" y="742601"/>
                </a:lnTo>
                <a:cubicBezTo>
                  <a:pt x="20780" y="742601"/>
                  <a:pt x="0" y="721821"/>
                  <a:pt x="0" y="696188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8405750" y="7009747"/>
            <a:ext cx="46413" cy="742601"/>
          </a:xfrm>
          <a:custGeom>
            <a:avLst/>
            <a:gdLst/>
            <a:ahLst/>
            <a:cxnLst/>
            <a:rect l="l" t="t" r="r" b="b"/>
            <a:pathLst>
              <a:path w="46413" h="742601">
                <a:moveTo>
                  <a:pt x="46413" y="0"/>
                </a:moveTo>
                <a:lnTo>
                  <a:pt x="46413" y="0"/>
                </a:lnTo>
                <a:lnTo>
                  <a:pt x="46413" y="742601"/>
                </a:lnTo>
                <a:lnTo>
                  <a:pt x="46413" y="742601"/>
                </a:lnTo>
                <a:cubicBezTo>
                  <a:pt x="20780" y="742601"/>
                  <a:pt x="0" y="721821"/>
                  <a:pt x="0" y="696188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60" name="Text 58"/>
          <p:cNvSpPr/>
          <p:nvPr/>
        </p:nvSpPr>
        <p:spPr>
          <a:xfrm>
            <a:off x="8521782" y="7102572"/>
            <a:ext cx="7124328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过拟合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521782" y="7427460"/>
            <a:ext cx="7112725" cy="232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模型在训练集表现好，测试集表现差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05750" y="7798761"/>
            <a:ext cx="7240360" cy="742601"/>
          </a:xfrm>
          <a:custGeom>
            <a:avLst/>
            <a:gdLst/>
            <a:ahLst/>
            <a:cxnLst/>
            <a:rect l="l" t="t" r="r" b="b"/>
            <a:pathLst>
              <a:path w="7240360" h="742601">
                <a:moveTo>
                  <a:pt x="46413" y="0"/>
                </a:moveTo>
                <a:lnTo>
                  <a:pt x="7147535" y="0"/>
                </a:lnTo>
                <a:cubicBezTo>
                  <a:pt x="7198801" y="0"/>
                  <a:pt x="7240360" y="41559"/>
                  <a:pt x="7240360" y="92825"/>
                </a:cubicBezTo>
                <a:lnTo>
                  <a:pt x="7240360" y="649776"/>
                </a:lnTo>
                <a:cubicBezTo>
                  <a:pt x="7240360" y="701042"/>
                  <a:pt x="7198801" y="742601"/>
                  <a:pt x="7147535" y="742601"/>
                </a:cubicBezTo>
                <a:lnTo>
                  <a:pt x="46413" y="742601"/>
                </a:lnTo>
                <a:cubicBezTo>
                  <a:pt x="20780" y="742601"/>
                  <a:pt x="0" y="721821"/>
                  <a:pt x="0" y="696188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63" name="Shape 61"/>
          <p:cNvSpPr/>
          <p:nvPr/>
        </p:nvSpPr>
        <p:spPr>
          <a:xfrm>
            <a:off x="8405750" y="7798761"/>
            <a:ext cx="46413" cy="742601"/>
          </a:xfrm>
          <a:custGeom>
            <a:avLst/>
            <a:gdLst/>
            <a:ahLst/>
            <a:cxnLst/>
            <a:rect l="l" t="t" r="r" b="b"/>
            <a:pathLst>
              <a:path w="46413" h="742601">
                <a:moveTo>
                  <a:pt x="46413" y="0"/>
                </a:moveTo>
                <a:lnTo>
                  <a:pt x="46413" y="0"/>
                </a:lnTo>
                <a:lnTo>
                  <a:pt x="46413" y="742601"/>
                </a:lnTo>
                <a:lnTo>
                  <a:pt x="46413" y="742601"/>
                </a:lnTo>
                <a:cubicBezTo>
                  <a:pt x="20780" y="742601"/>
                  <a:pt x="0" y="721821"/>
                  <a:pt x="0" y="696188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64" name="Text 62"/>
          <p:cNvSpPr/>
          <p:nvPr/>
        </p:nvSpPr>
        <p:spPr>
          <a:xfrm>
            <a:off x="8521782" y="7891586"/>
            <a:ext cx="7124328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数据不平衡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521782" y="8216474"/>
            <a:ext cx="7112725" cy="232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某类样本远多于其他类，导致偏向多数类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2.51cto.com/65df91bad3d8e825712ffeb08b81fc987e1fa755.png"/>
          <p:cNvPicPr>
            <a:picLocks noChangeAspect="1"/>
          </p:cNvPicPr>
          <p:nvPr/>
        </p:nvPicPr>
        <p:blipFill>
          <a:blip r:embed="rId1">
            <a:alphaModFix amt="20000"/>
          </a:blip>
          <a:srcRect t="6848" b="6848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12C42">
                  <a:alpha val="95000"/>
                </a:srgbClr>
              </a:gs>
              <a:gs pos="50000">
                <a:srgbClr val="212C42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08000" y="1526530"/>
            <a:ext cx="2159000" cy="558800"/>
          </a:xfrm>
          <a:custGeom>
            <a:avLst/>
            <a:gdLst/>
            <a:ahLst/>
            <a:cxnLst/>
            <a:rect l="l" t="t" r="r" b="b"/>
            <a:pathLst>
              <a:path w="2159000" h="558800">
                <a:moveTo>
                  <a:pt x="101601" y="0"/>
                </a:moveTo>
                <a:lnTo>
                  <a:pt x="2057399" y="0"/>
                </a:lnTo>
                <a:cubicBezTo>
                  <a:pt x="2113512" y="0"/>
                  <a:pt x="2159000" y="45488"/>
                  <a:pt x="2159000" y="101601"/>
                </a:cubicBezTo>
                <a:lnTo>
                  <a:pt x="2159000" y="457199"/>
                </a:lnTo>
                <a:cubicBezTo>
                  <a:pt x="2159000" y="513312"/>
                  <a:pt x="2113512" y="558800"/>
                  <a:pt x="2057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Text 2"/>
          <p:cNvSpPr/>
          <p:nvPr/>
        </p:nvSpPr>
        <p:spPr>
          <a:xfrm>
            <a:off x="762000" y="1628130"/>
            <a:ext cx="1778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491730"/>
            <a:ext cx="158496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8F9FA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关联模型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422130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8" name="Text 5"/>
          <p:cNvSpPr/>
          <p:nvPr/>
        </p:nvSpPr>
        <p:spPr>
          <a:xfrm>
            <a:off x="508000" y="500633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F8F9FA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找关联——挖掘变量间的潜在共存规律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3080" y="6129010"/>
            <a:ext cx="4899660" cy="1483360"/>
          </a:xfrm>
          <a:custGeom>
            <a:avLst/>
            <a:gdLst/>
            <a:ahLst/>
            <a:cxnLst/>
            <a:rect l="l" t="t" r="r" b="b"/>
            <a:pathLst>
              <a:path w="4899660" h="1483360">
                <a:moveTo>
                  <a:pt x="101595" y="0"/>
                </a:moveTo>
                <a:lnTo>
                  <a:pt x="4798065" y="0"/>
                </a:lnTo>
                <a:cubicBezTo>
                  <a:pt x="4854174" y="0"/>
                  <a:pt x="4899660" y="45486"/>
                  <a:pt x="4899660" y="101595"/>
                </a:cubicBezTo>
                <a:lnTo>
                  <a:pt x="4899660" y="1381765"/>
                </a:lnTo>
                <a:cubicBezTo>
                  <a:pt x="4899660" y="1437874"/>
                  <a:pt x="4854174" y="1483360"/>
                  <a:pt x="47980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9310" y="6388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5738" y="314325"/>
                </a:moveTo>
                <a:cubicBezTo>
                  <a:pt x="256707" y="314325"/>
                  <a:pt x="314325" y="256707"/>
                  <a:pt x="314325" y="185738"/>
                </a:cubicBezTo>
                <a:cubicBezTo>
                  <a:pt x="314325" y="114768"/>
                  <a:pt x="256707" y="57150"/>
                  <a:pt x="185738" y="57150"/>
                </a:cubicBezTo>
                <a:cubicBezTo>
                  <a:pt x="114768" y="57150"/>
                  <a:pt x="57150" y="114768"/>
                  <a:pt x="57150" y="185737"/>
                </a:cubicBezTo>
                <a:cubicBezTo>
                  <a:pt x="57150" y="256707"/>
                  <a:pt x="114768" y="314325"/>
                  <a:pt x="185737" y="314325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1" name="Text 8"/>
          <p:cNvSpPr/>
          <p:nvPr/>
        </p:nvSpPr>
        <p:spPr>
          <a:xfrm>
            <a:off x="772160" y="6997700"/>
            <a:ext cx="450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Apriori算法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77694" y="6129010"/>
            <a:ext cx="4899660" cy="1483360"/>
          </a:xfrm>
          <a:custGeom>
            <a:avLst/>
            <a:gdLst/>
            <a:ahLst/>
            <a:cxnLst/>
            <a:rect l="l" t="t" r="r" b="b"/>
            <a:pathLst>
              <a:path w="4899660" h="1483360">
                <a:moveTo>
                  <a:pt x="101595" y="0"/>
                </a:moveTo>
                <a:lnTo>
                  <a:pt x="4798065" y="0"/>
                </a:lnTo>
                <a:cubicBezTo>
                  <a:pt x="4854174" y="0"/>
                  <a:pt x="4899660" y="45486"/>
                  <a:pt x="4899660" y="101595"/>
                </a:cubicBezTo>
                <a:lnTo>
                  <a:pt x="4899660" y="1381765"/>
                </a:lnTo>
                <a:cubicBezTo>
                  <a:pt x="4899660" y="1437874"/>
                  <a:pt x="4854174" y="1483360"/>
                  <a:pt x="47980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93924" y="6388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71438"/>
                </a:moveTo>
                <a:cubicBezTo>
                  <a:pt x="0" y="47774"/>
                  <a:pt x="19199" y="28575"/>
                  <a:pt x="42863" y="28575"/>
                </a:cubicBezTo>
                <a:lnTo>
                  <a:pt x="128588" y="28575"/>
                </a:lnTo>
                <a:cubicBezTo>
                  <a:pt x="152251" y="28575"/>
                  <a:pt x="171450" y="47774"/>
                  <a:pt x="171450" y="71438"/>
                </a:cubicBezTo>
                <a:lnTo>
                  <a:pt x="171450" y="85725"/>
                </a:lnTo>
                <a:lnTo>
                  <a:pt x="285750" y="85725"/>
                </a:lnTo>
                <a:lnTo>
                  <a:pt x="285750" y="71438"/>
                </a:lnTo>
                <a:cubicBezTo>
                  <a:pt x="285750" y="47774"/>
                  <a:pt x="304949" y="28575"/>
                  <a:pt x="328613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157163"/>
                </a:lnTo>
                <a:cubicBezTo>
                  <a:pt x="457200" y="180826"/>
                  <a:pt x="438001" y="200025"/>
                  <a:pt x="414338" y="200025"/>
                </a:cubicBezTo>
                <a:lnTo>
                  <a:pt x="328613" y="200025"/>
                </a:lnTo>
                <a:cubicBezTo>
                  <a:pt x="304949" y="200025"/>
                  <a:pt x="285750" y="180826"/>
                  <a:pt x="285750" y="157163"/>
                </a:cubicBezTo>
                <a:lnTo>
                  <a:pt x="285750" y="142875"/>
                </a:lnTo>
                <a:lnTo>
                  <a:pt x="171450" y="142875"/>
                </a:lnTo>
                <a:lnTo>
                  <a:pt x="171450" y="157163"/>
                </a:lnTo>
                <a:cubicBezTo>
                  <a:pt x="171450" y="163681"/>
                  <a:pt x="169932" y="169932"/>
                  <a:pt x="167342" y="175468"/>
                </a:cubicBezTo>
                <a:lnTo>
                  <a:pt x="228600" y="257175"/>
                </a:lnTo>
                <a:lnTo>
                  <a:pt x="300038" y="257175"/>
                </a:lnTo>
                <a:cubicBezTo>
                  <a:pt x="323701" y="257175"/>
                  <a:pt x="342900" y="276374"/>
                  <a:pt x="342900" y="300038"/>
                </a:cubicBezTo>
                <a:lnTo>
                  <a:pt x="342900" y="385763"/>
                </a:lnTo>
                <a:cubicBezTo>
                  <a:pt x="342900" y="409426"/>
                  <a:pt x="323701" y="428625"/>
                  <a:pt x="300038" y="428625"/>
                </a:cubicBezTo>
                <a:lnTo>
                  <a:pt x="214313" y="428625"/>
                </a:lnTo>
                <a:cubicBezTo>
                  <a:pt x="190649" y="428625"/>
                  <a:pt x="171450" y="409426"/>
                  <a:pt x="171450" y="385763"/>
                </a:cubicBezTo>
                <a:lnTo>
                  <a:pt x="171450" y="300038"/>
                </a:lnTo>
                <a:cubicBezTo>
                  <a:pt x="171450" y="293519"/>
                  <a:pt x="172968" y="287268"/>
                  <a:pt x="175558" y="281732"/>
                </a:cubicBezTo>
                <a:lnTo>
                  <a:pt x="114300" y="200025"/>
                </a:lnTo>
                <a:lnTo>
                  <a:pt x="42863" y="200025"/>
                </a:lnTo>
                <a:cubicBezTo>
                  <a:pt x="19199" y="200025"/>
                  <a:pt x="0" y="180826"/>
                  <a:pt x="0" y="157163"/>
                </a:cubicBezTo>
                <a:lnTo>
                  <a:pt x="0" y="71438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4" name="Text 11"/>
          <p:cNvSpPr/>
          <p:nvPr/>
        </p:nvSpPr>
        <p:spPr>
          <a:xfrm>
            <a:off x="5936774" y="6997700"/>
            <a:ext cx="450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FP-Growth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842308" y="6129010"/>
            <a:ext cx="4899660" cy="1483360"/>
          </a:xfrm>
          <a:custGeom>
            <a:avLst/>
            <a:gdLst/>
            <a:ahLst/>
            <a:cxnLst/>
            <a:rect l="l" t="t" r="r" b="b"/>
            <a:pathLst>
              <a:path w="4899660" h="1483360">
                <a:moveTo>
                  <a:pt x="101595" y="0"/>
                </a:moveTo>
                <a:lnTo>
                  <a:pt x="4798065" y="0"/>
                </a:lnTo>
                <a:cubicBezTo>
                  <a:pt x="4854174" y="0"/>
                  <a:pt x="4899660" y="45486"/>
                  <a:pt x="4899660" y="101595"/>
                </a:cubicBezTo>
                <a:lnTo>
                  <a:pt x="4899660" y="1381765"/>
                </a:lnTo>
                <a:cubicBezTo>
                  <a:pt x="4899660" y="1437874"/>
                  <a:pt x="4854174" y="1483360"/>
                  <a:pt x="4798065" y="1483360"/>
                </a:cubicBezTo>
                <a:lnTo>
                  <a:pt x="101595" y="1483360"/>
                </a:lnTo>
                <a:cubicBezTo>
                  <a:pt x="45486" y="1483360"/>
                  <a:pt x="0" y="1437874"/>
                  <a:pt x="0" y="138176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8538" y="6388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7" name="Text 14"/>
          <p:cNvSpPr/>
          <p:nvPr/>
        </p:nvSpPr>
        <p:spPr>
          <a:xfrm>
            <a:off x="11101388" y="6997700"/>
            <a:ext cx="450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相关性分析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132" y="448132"/>
            <a:ext cx="15449362" cy="2688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0" b="1" kern="0" spc="71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ASSOCIATION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8132" y="806638"/>
            <a:ext cx="15628615" cy="537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3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关联模型核心概念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8132" y="1478837"/>
            <a:ext cx="1075518" cy="44813"/>
          </a:xfrm>
          <a:custGeom>
            <a:avLst/>
            <a:gdLst/>
            <a:ahLst/>
            <a:cxnLst/>
            <a:rect l="l" t="t" r="r" b="b"/>
            <a:pathLst>
              <a:path w="1075518" h="44813">
                <a:moveTo>
                  <a:pt x="0" y="0"/>
                </a:moveTo>
                <a:lnTo>
                  <a:pt x="1075518" y="0"/>
                </a:lnTo>
                <a:lnTo>
                  <a:pt x="1075518" y="44813"/>
                </a:lnTo>
                <a:lnTo>
                  <a:pt x="0" y="44813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70539" y="1792529"/>
            <a:ext cx="7517420" cy="1658090"/>
          </a:xfrm>
          <a:custGeom>
            <a:avLst/>
            <a:gdLst/>
            <a:ahLst/>
            <a:cxnLst/>
            <a:rect l="l" t="t" r="r" b="b"/>
            <a:pathLst>
              <a:path w="7517420" h="1658090">
                <a:moveTo>
                  <a:pt x="44813" y="0"/>
                </a:moveTo>
                <a:lnTo>
                  <a:pt x="7382982" y="0"/>
                </a:lnTo>
                <a:cubicBezTo>
                  <a:pt x="7457230" y="0"/>
                  <a:pt x="7517420" y="60190"/>
                  <a:pt x="7517420" y="134438"/>
                </a:cubicBezTo>
                <a:lnTo>
                  <a:pt x="7517420" y="1523652"/>
                </a:lnTo>
                <a:cubicBezTo>
                  <a:pt x="7517420" y="1597900"/>
                  <a:pt x="7457230" y="1658090"/>
                  <a:pt x="7382982" y="1658090"/>
                </a:cubicBezTo>
                <a:lnTo>
                  <a:pt x="44813" y="1658090"/>
                </a:lnTo>
                <a:cubicBezTo>
                  <a:pt x="20064" y="1658090"/>
                  <a:pt x="0" y="1638026"/>
                  <a:pt x="0" y="1613276"/>
                </a:cubicBezTo>
                <a:lnTo>
                  <a:pt x="0" y="44813"/>
                </a:lnTo>
                <a:cubicBezTo>
                  <a:pt x="0" y="20080"/>
                  <a:pt x="20080" y="0"/>
                  <a:pt x="4481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68050" dist="1120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0539" y="1792529"/>
            <a:ext cx="44813" cy="1658090"/>
          </a:xfrm>
          <a:custGeom>
            <a:avLst/>
            <a:gdLst/>
            <a:ahLst/>
            <a:cxnLst/>
            <a:rect l="l" t="t" r="r" b="b"/>
            <a:pathLst>
              <a:path w="44813" h="1658090">
                <a:moveTo>
                  <a:pt x="44813" y="0"/>
                </a:moveTo>
                <a:lnTo>
                  <a:pt x="44813" y="0"/>
                </a:lnTo>
                <a:lnTo>
                  <a:pt x="44813" y="1658090"/>
                </a:lnTo>
                <a:lnTo>
                  <a:pt x="44813" y="1658090"/>
                </a:lnTo>
                <a:cubicBezTo>
                  <a:pt x="20064" y="1658090"/>
                  <a:pt x="0" y="1638026"/>
                  <a:pt x="0" y="1613276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7" name="Shape 5"/>
          <p:cNvSpPr/>
          <p:nvPr/>
        </p:nvSpPr>
        <p:spPr>
          <a:xfrm>
            <a:off x="806638" y="2072459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294087" y="168050"/>
                </a:moveTo>
                <a:cubicBezTo>
                  <a:pt x="294087" y="98488"/>
                  <a:pt x="237611" y="42012"/>
                  <a:pt x="168050" y="42012"/>
                </a:cubicBezTo>
                <a:cubicBezTo>
                  <a:pt x="98488" y="42012"/>
                  <a:pt x="42012" y="98488"/>
                  <a:pt x="42012" y="168050"/>
                </a:cubicBezTo>
                <a:cubicBezTo>
                  <a:pt x="42012" y="237611"/>
                  <a:pt x="98488" y="294087"/>
                  <a:pt x="168050" y="294087"/>
                </a:cubicBezTo>
                <a:cubicBezTo>
                  <a:pt x="237611" y="294087"/>
                  <a:pt x="294087" y="237611"/>
                  <a:pt x="294087" y="168050"/>
                </a:cubicBezTo>
                <a:close/>
                <a:moveTo>
                  <a:pt x="0" y="168050"/>
                </a:moveTo>
                <a:cubicBezTo>
                  <a:pt x="0" y="75301"/>
                  <a:pt x="75301" y="0"/>
                  <a:pt x="168050" y="0"/>
                </a:cubicBezTo>
                <a:cubicBezTo>
                  <a:pt x="260799" y="0"/>
                  <a:pt x="336099" y="75301"/>
                  <a:pt x="336099" y="168050"/>
                </a:cubicBezTo>
                <a:cubicBezTo>
                  <a:pt x="336099" y="260799"/>
                  <a:pt x="260799" y="336099"/>
                  <a:pt x="168050" y="336099"/>
                </a:cubicBezTo>
                <a:cubicBezTo>
                  <a:pt x="75301" y="336099"/>
                  <a:pt x="0" y="260799"/>
                  <a:pt x="0" y="168050"/>
                </a:cubicBezTo>
                <a:close/>
                <a:moveTo>
                  <a:pt x="168050" y="220565"/>
                </a:moveTo>
                <a:cubicBezTo>
                  <a:pt x="197034" y="220565"/>
                  <a:pt x="220565" y="197034"/>
                  <a:pt x="220565" y="168050"/>
                </a:cubicBezTo>
                <a:cubicBezTo>
                  <a:pt x="220565" y="139066"/>
                  <a:pt x="197034" y="115534"/>
                  <a:pt x="168050" y="115534"/>
                </a:cubicBezTo>
                <a:cubicBezTo>
                  <a:pt x="139066" y="115534"/>
                  <a:pt x="115534" y="139066"/>
                  <a:pt x="115534" y="168050"/>
                </a:cubicBezTo>
                <a:cubicBezTo>
                  <a:pt x="115534" y="197034"/>
                  <a:pt x="139066" y="220565"/>
                  <a:pt x="168050" y="220565"/>
                </a:cubicBezTo>
                <a:close/>
                <a:moveTo>
                  <a:pt x="168050" y="73522"/>
                </a:moveTo>
                <a:cubicBezTo>
                  <a:pt x="220221" y="73522"/>
                  <a:pt x="262578" y="115878"/>
                  <a:pt x="262578" y="168050"/>
                </a:cubicBezTo>
                <a:cubicBezTo>
                  <a:pt x="262578" y="220221"/>
                  <a:pt x="220221" y="262578"/>
                  <a:pt x="168050" y="262578"/>
                </a:cubicBezTo>
                <a:cubicBezTo>
                  <a:pt x="115878" y="262578"/>
                  <a:pt x="73522" y="220221"/>
                  <a:pt x="73522" y="168050"/>
                </a:cubicBezTo>
                <a:cubicBezTo>
                  <a:pt x="73522" y="115878"/>
                  <a:pt x="115878" y="73522"/>
                  <a:pt x="168050" y="73522"/>
                </a:cubicBezTo>
                <a:close/>
                <a:moveTo>
                  <a:pt x="147043" y="168050"/>
                </a:moveTo>
                <a:cubicBezTo>
                  <a:pt x="147043" y="156456"/>
                  <a:pt x="156456" y="147043"/>
                  <a:pt x="168050" y="147043"/>
                </a:cubicBezTo>
                <a:cubicBezTo>
                  <a:pt x="179643" y="147043"/>
                  <a:pt x="189056" y="156456"/>
                  <a:pt x="189056" y="168050"/>
                </a:cubicBezTo>
                <a:cubicBezTo>
                  <a:pt x="189056" y="179643"/>
                  <a:pt x="179643" y="189056"/>
                  <a:pt x="168050" y="189056"/>
                </a:cubicBezTo>
                <a:cubicBezTo>
                  <a:pt x="156456" y="189056"/>
                  <a:pt x="147043" y="179643"/>
                  <a:pt x="147043" y="16805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8" name="Text 6"/>
          <p:cNvSpPr/>
          <p:nvPr/>
        </p:nvSpPr>
        <p:spPr>
          <a:xfrm>
            <a:off x="1316389" y="2061409"/>
            <a:ext cx="1209957" cy="358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1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核心定义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1825" y="2599014"/>
            <a:ext cx="7046881" cy="5825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从大量数据中挖掘变量之间的</a:t>
            </a:r>
            <a:r>
              <a:rPr lang="en-US" sz="141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潜在关联关系</a:t>
            </a:r>
            <a:r>
              <a:rPr lang="en-US" sz="141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41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不关注因果关系</a:t>
            </a:r>
            <a:r>
              <a:rPr lang="en-US" sz="141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，仅聚焦变量间的共存规律或统计关联。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095" y="3683495"/>
            <a:ext cx="7524142" cy="1788048"/>
          </a:xfrm>
          <a:custGeom>
            <a:avLst/>
            <a:gdLst/>
            <a:ahLst/>
            <a:cxnLst/>
            <a:rect l="l" t="t" r="r" b="b"/>
            <a:pathLst>
              <a:path w="7524142" h="1788048">
                <a:moveTo>
                  <a:pt x="134443" y="0"/>
                </a:moveTo>
                <a:lnTo>
                  <a:pt x="7389698" y="0"/>
                </a:lnTo>
                <a:cubicBezTo>
                  <a:pt x="7463900" y="0"/>
                  <a:pt x="7524142" y="60242"/>
                  <a:pt x="7524142" y="134443"/>
                </a:cubicBezTo>
                <a:lnTo>
                  <a:pt x="7524142" y="1653605"/>
                </a:lnTo>
                <a:cubicBezTo>
                  <a:pt x="7524142" y="1727856"/>
                  <a:pt x="7463949" y="1788048"/>
                  <a:pt x="7389698" y="1788048"/>
                </a:cubicBezTo>
                <a:lnTo>
                  <a:pt x="134443" y="1788048"/>
                </a:lnTo>
                <a:cubicBezTo>
                  <a:pt x="60242" y="1788048"/>
                  <a:pt x="0" y="1727806"/>
                  <a:pt x="0" y="1653605"/>
                </a:cubicBezTo>
                <a:lnTo>
                  <a:pt x="0" y="134443"/>
                </a:lnTo>
                <a:cubicBezTo>
                  <a:pt x="0" y="60242"/>
                  <a:pt x="60242" y="0"/>
                  <a:pt x="134443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3734" y="3938947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134440" y="0"/>
                </a:moveTo>
                <a:cubicBezTo>
                  <a:pt x="142159" y="0"/>
                  <a:pt x="149249" y="4254"/>
                  <a:pt x="152925" y="11028"/>
                </a:cubicBezTo>
                <a:lnTo>
                  <a:pt x="266359" y="221090"/>
                </a:lnTo>
                <a:cubicBezTo>
                  <a:pt x="269877" y="227602"/>
                  <a:pt x="269720" y="235480"/>
                  <a:pt x="265939" y="241834"/>
                </a:cubicBezTo>
                <a:cubicBezTo>
                  <a:pt x="262157" y="248188"/>
                  <a:pt x="255278" y="252074"/>
                  <a:pt x="247873" y="252074"/>
                </a:cubicBezTo>
                <a:lnTo>
                  <a:pt x="21006" y="252074"/>
                </a:lnTo>
                <a:cubicBezTo>
                  <a:pt x="13602" y="252074"/>
                  <a:pt x="6775" y="248188"/>
                  <a:pt x="2941" y="241834"/>
                </a:cubicBezTo>
                <a:cubicBezTo>
                  <a:pt x="-893" y="235480"/>
                  <a:pt x="-998" y="227602"/>
                  <a:pt x="2521" y="221090"/>
                </a:cubicBezTo>
                <a:lnTo>
                  <a:pt x="115954" y="11028"/>
                </a:lnTo>
                <a:cubicBezTo>
                  <a:pt x="119630" y="4254"/>
                  <a:pt x="126720" y="0"/>
                  <a:pt x="134440" y="0"/>
                </a:cubicBezTo>
                <a:close/>
                <a:moveTo>
                  <a:pt x="134440" y="88226"/>
                </a:moveTo>
                <a:cubicBezTo>
                  <a:pt x="127455" y="88226"/>
                  <a:pt x="121836" y="93845"/>
                  <a:pt x="121836" y="100830"/>
                </a:cubicBezTo>
                <a:lnTo>
                  <a:pt x="121836" y="159647"/>
                </a:lnTo>
                <a:cubicBezTo>
                  <a:pt x="121836" y="166632"/>
                  <a:pt x="127455" y="172251"/>
                  <a:pt x="134440" y="172251"/>
                </a:cubicBezTo>
                <a:cubicBezTo>
                  <a:pt x="141424" y="172251"/>
                  <a:pt x="147043" y="166632"/>
                  <a:pt x="147043" y="159647"/>
                </a:cubicBezTo>
                <a:lnTo>
                  <a:pt x="147043" y="100830"/>
                </a:lnTo>
                <a:cubicBezTo>
                  <a:pt x="147043" y="93845"/>
                  <a:pt x="141424" y="88226"/>
                  <a:pt x="134440" y="88226"/>
                </a:cubicBezTo>
                <a:close/>
                <a:moveTo>
                  <a:pt x="148461" y="201660"/>
                </a:moveTo>
                <a:cubicBezTo>
                  <a:pt x="148780" y="196455"/>
                  <a:pt x="146185" y="191503"/>
                  <a:pt x="141723" y="188804"/>
                </a:cubicBezTo>
                <a:cubicBezTo>
                  <a:pt x="137261" y="186105"/>
                  <a:pt x="131671" y="186105"/>
                  <a:pt x="127209" y="188804"/>
                </a:cubicBezTo>
                <a:cubicBezTo>
                  <a:pt x="122747" y="191503"/>
                  <a:pt x="120152" y="196455"/>
                  <a:pt x="120471" y="201660"/>
                </a:cubicBezTo>
                <a:cubicBezTo>
                  <a:pt x="120152" y="206864"/>
                  <a:pt x="122747" y="211816"/>
                  <a:pt x="127209" y="214515"/>
                </a:cubicBezTo>
                <a:cubicBezTo>
                  <a:pt x="131671" y="217214"/>
                  <a:pt x="137261" y="217214"/>
                  <a:pt x="141723" y="214515"/>
                </a:cubicBezTo>
                <a:cubicBezTo>
                  <a:pt x="146185" y="211816"/>
                  <a:pt x="148780" y="206864"/>
                  <a:pt x="148461" y="20166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2" name="Text 10"/>
          <p:cNvSpPr/>
          <p:nvPr/>
        </p:nvSpPr>
        <p:spPr>
          <a:xfrm>
            <a:off x="1160663" y="3916541"/>
            <a:ext cx="1008298" cy="313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重要警示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124" y="4364673"/>
            <a:ext cx="7147711" cy="8738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相关性 ≠ 因果性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1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关联规则"A→B"只表示A和B经常一起出现，</a:t>
            </a:r>
            <a:r>
              <a:rPr lang="en-US" sz="141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不表示A导致B</a:t>
            </a:r>
            <a:r>
              <a:rPr lang="en-US" sz="141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。避免误将关联关系当作因果关系。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8132" y="5704584"/>
            <a:ext cx="7539826" cy="2083815"/>
          </a:xfrm>
          <a:custGeom>
            <a:avLst/>
            <a:gdLst/>
            <a:ahLst/>
            <a:cxnLst/>
            <a:rect l="l" t="t" r="r" b="b"/>
            <a:pathLst>
              <a:path w="7539826" h="2083815">
                <a:moveTo>
                  <a:pt x="134448" y="0"/>
                </a:moveTo>
                <a:lnTo>
                  <a:pt x="7405379" y="0"/>
                </a:lnTo>
                <a:cubicBezTo>
                  <a:pt x="7479632" y="0"/>
                  <a:pt x="7539826" y="60194"/>
                  <a:pt x="7539826" y="134448"/>
                </a:cubicBezTo>
                <a:lnTo>
                  <a:pt x="7539826" y="1949368"/>
                </a:lnTo>
                <a:cubicBezTo>
                  <a:pt x="7539826" y="2023621"/>
                  <a:pt x="7479632" y="2083815"/>
                  <a:pt x="7405379" y="2083815"/>
                </a:cubicBezTo>
                <a:lnTo>
                  <a:pt x="134448" y="2083815"/>
                </a:lnTo>
                <a:cubicBezTo>
                  <a:pt x="60194" y="2083815"/>
                  <a:pt x="0" y="2023621"/>
                  <a:pt x="0" y="1949368"/>
                </a:cubicBezTo>
                <a:lnTo>
                  <a:pt x="0" y="134448"/>
                </a:lnTo>
                <a:cubicBezTo>
                  <a:pt x="0" y="60194"/>
                  <a:pt x="60194" y="0"/>
                  <a:pt x="13444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68050" dist="1120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3817" y="6018124"/>
            <a:ext cx="302489" cy="268879"/>
          </a:xfrm>
          <a:custGeom>
            <a:avLst/>
            <a:gdLst/>
            <a:ahLst/>
            <a:cxnLst/>
            <a:rect l="l" t="t" r="r" b="b"/>
            <a:pathLst>
              <a:path w="302489" h="268879">
                <a:moveTo>
                  <a:pt x="151245" y="0"/>
                </a:moveTo>
                <a:cubicBezTo>
                  <a:pt x="154711" y="0"/>
                  <a:pt x="158019" y="1418"/>
                  <a:pt x="160382" y="3939"/>
                </a:cubicBezTo>
                <a:lnTo>
                  <a:pt x="236005" y="83762"/>
                </a:lnTo>
                <a:lnTo>
                  <a:pt x="236267" y="84025"/>
                </a:lnTo>
                <a:lnTo>
                  <a:pt x="277282" y="84025"/>
                </a:lnTo>
                <a:cubicBezTo>
                  <a:pt x="286577" y="84025"/>
                  <a:pt x="294087" y="91535"/>
                  <a:pt x="294087" y="100830"/>
                </a:cubicBezTo>
                <a:cubicBezTo>
                  <a:pt x="294087" y="108445"/>
                  <a:pt x="289045" y="114851"/>
                  <a:pt x="282113" y="116952"/>
                </a:cubicBezTo>
                <a:lnTo>
                  <a:pt x="257904" y="225764"/>
                </a:lnTo>
                <a:cubicBezTo>
                  <a:pt x="254490" y="241151"/>
                  <a:pt x="240836" y="252074"/>
                  <a:pt x="225081" y="252074"/>
                </a:cubicBezTo>
                <a:lnTo>
                  <a:pt x="77355" y="252074"/>
                </a:lnTo>
                <a:cubicBezTo>
                  <a:pt x="61601" y="252074"/>
                  <a:pt x="47947" y="241151"/>
                  <a:pt x="44533" y="225764"/>
                </a:cubicBezTo>
                <a:lnTo>
                  <a:pt x="20376" y="116952"/>
                </a:lnTo>
                <a:cubicBezTo>
                  <a:pt x="13444" y="114904"/>
                  <a:pt x="8402" y="108445"/>
                  <a:pt x="8402" y="100830"/>
                </a:cubicBezTo>
                <a:cubicBezTo>
                  <a:pt x="8402" y="91535"/>
                  <a:pt x="15912" y="84025"/>
                  <a:pt x="25207" y="84025"/>
                </a:cubicBezTo>
                <a:lnTo>
                  <a:pt x="66222" y="84025"/>
                </a:lnTo>
                <a:lnTo>
                  <a:pt x="66485" y="83762"/>
                </a:lnTo>
                <a:lnTo>
                  <a:pt x="142107" y="3939"/>
                </a:lnTo>
                <a:cubicBezTo>
                  <a:pt x="144470" y="1418"/>
                  <a:pt x="147779" y="0"/>
                  <a:pt x="151245" y="0"/>
                </a:cubicBezTo>
                <a:close/>
                <a:moveTo>
                  <a:pt x="151245" y="30932"/>
                </a:moveTo>
                <a:lnTo>
                  <a:pt x="100935" y="84025"/>
                </a:lnTo>
                <a:lnTo>
                  <a:pt x="201555" y="84025"/>
                </a:lnTo>
                <a:lnTo>
                  <a:pt x="151245" y="30932"/>
                </a:lnTo>
                <a:close/>
                <a:moveTo>
                  <a:pt x="109232" y="138641"/>
                </a:moveTo>
                <a:cubicBezTo>
                  <a:pt x="109232" y="131656"/>
                  <a:pt x="103613" y="126037"/>
                  <a:pt x="96629" y="126037"/>
                </a:cubicBezTo>
                <a:cubicBezTo>
                  <a:pt x="89644" y="126037"/>
                  <a:pt x="84025" y="131656"/>
                  <a:pt x="84025" y="138641"/>
                </a:cubicBezTo>
                <a:lnTo>
                  <a:pt x="84025" y="197458"/>
                </a:lnTo>
                <a:cubicBezTo>
                  <a:pt x="84025" y="204443"/>
                  <a:pt x="89644" y="210062"/>
                  <a:pt x="96629" y="210062"/>
                </a:cubicBezTo>
                <a:cubicBezTo>
                  <a:pt x="103613" y="210062"/>
                  <a:pt x="109232" y="204443"/>
                  <a:pt x="109232" y="197458"/>
                </a:cubicBezTo>
                <a:lnTo>
                  <a:pt x="109232" y="138641"/>
                </a:lnTo>
                <a:close/>
                <a:moveTo>
                  <a:pt x="151245" y="126037"/>
                </a:moveTo>
                <a:cubicBezTo>
                  <a:pt x="144260" y="126037"/>
                  <a:pt x="138641" y="131656"/>
                  <a:pt x="138641" y="138641"/>
                </a:cubicBezTo>
                <a:lnTo>
                  <a:pt x="138641" y="197458"/>
                </a:lnTo>
                <a:cubicBezTo>
                  <a:pt x="138641" y="204443"/>
                  <a:pt x="144260" y="210062"/>
                  <a:pt x="151245" y="210062"/>
                </a:cubicBezTo>
                <a:cubicBezTo>
                  <a:pt x="158229" y="210062"/>
                  <a:pt x="163848" y="204443"/>
                  <a:pt x="163848" y="197458"/>
                </a:cubicBezTo>
                <a:lnTo>
                  <a:pt x="163848" y="138641"/>
                </a:lnTo>
                <a:cubicBezTo>
                  <a:pt x="163848" y="131656"/>
                  <a:pt x="158229" y="126037"/>
                  <a:pt x="151245" y="126037"/>
                </a:cubicBezTo>
                <a:close/>
                <a:moveTo>
                  <a:pt x="218465" y="138641"/>
                </a:moveTo>
                <a:cubicBezTo>
                  <a:pt x="218465" y="131656"/>
                  <a:pt x="212845" y="126037"/>
                  <a:pt x="205861" y="126037"/>
                </a:cubicBezTo>
                <a:cubicBezTo>
                  <a:pt x="198876" y="126037"/>
                  <a:pt x="193257" y="131656"/>
                  <a:pt x="193257" y="138641"/>
                </a:cubicBezTo>
                <a:lnTo>
                  <a:pt x="193257" y="197458"/>
                </a:lnTo>
                <a:cubicBezTo>
                  <a:pt x="193257" y="204443"/>
                  <a:pt x="198876" y="210062"/>
                  <a:pt x="205861" y="210062"/>
                </a:cubicBezTo>
                <a:cubicBezTo>
                  <a:pt x="212845" y="210062"/>
                  <a:pt x="218465" y="204443"/>
                  <a:pt x="218465" y="197458"/>
                </a:cubicBezTo>
                <a:lnTo>
                  <a:pt x="218465" y="138641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6" name="Text 14"/>
          <p:cNvSpPr/>
          <p:nvPr/>
        </p:nvSpPr>
        <p:spPr>
          <a:xfrm>
            <a:off x="1053111" y="5973464"/>
            <a:ext cx="6800408" cy="358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1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购物篮分析经典案例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9418" y="6511069"/>
            <a:ext cx="6979661" cy="1008298"/>
          </a:xfrm>
          <a:custGeom>
            <a:avLst/>
            <a:gdLst/>
            <a:ahLst/>
            <a:cxnLst/>
            <a:rect l="l" t="t" r="r" b="b"/>
            <a:pathLst>
              <a:path w="6979661" h="1008298">
                <a:moveTo>
                  <a:pt x="44813" y="0"/>
                </a:moveTo>
                <a:lnTo>
                  <a:pt x="6890033" y="0"/>
                </a:lnTo>
                <a:cubicBezTo>
                  <a:pt x="6939533" y="0"/>
                  <a:pt x="6979661" y="40128"/>
                  <a:pt x="6979661" y="89628"/>
                </a:cubicBezTo>
                <a:lnTo>
                  <a:pt x="6979661" y="918670"/>
                </a:lnTo>
                <a:cubicBezTo>
                  <a:pt x="6979661" y="968170"/>
                  <a:pt x="6939533" y="1008298"/>
                  <a:pt x="6890033" y="1008298"/>
                </a:cubicBezTo>
                <a:lnTo>
                  <a:pt x="44813" y="1008298"/>
                </a:lnTo>
                <a:cubicBezTo>
                  <a:pt x="20064" y="1008298"/>
                  <a:pt x="0" y="988234"/>
                  <a:pt x="0" y="963484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739418" y="6511069"/>
            <a:ext cx="44813" cy="1008298"/>
          </a:xfrm>
          <a:custGeom>
            <a:avLst/>
            <a:gdLst/>
            <a:ahLst/>
            <a:cxnLst/>
            <a:rect l="l" t="t" r="r" b="b"/>
            <a:pathLst>
              <a:path w="44813" h="1008298">
                <a:moveTo>
                  <a:pt x="44813" y="0"/>
                </a:moveTo>
                <a:lnTo>
                  <a:pt x="44813" y="0"/>
                </a:lnTo>
                <a:lnTo>
                  <a:pt x="44813" y="1008298"/>
                </a:lnTo>
                <a:lnTo>
                  <a:pt x="44813" y="1008298"/>
                </a:lnTo>
                <a:cubicBezTo>
                  <a:pt x="20064" y="1008298"/>
                  <a:pt x="0" y="988234"/>
                  <a:pt x="0" y="963484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9" name="Text 17"/>
          <p:cNvSpPr/>
          <p:nvPr/>
        </p:nvSpPr>
        <p:spPr>
          <a:xfrm>
            <a:off x="941078" y="6699294"/>
            <a:ext cx="2234640" cy="241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经典规则：{啤酒} → {尿布}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078" y="7048828"/>
            <a:ext cx="6688375" cy="291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发现年轻父亲在购买尿布时常顺便买啤酒。超市将两者相邻摆放，</a:t>
            </a:r>
            <a:r>
              <a:rPr lang="en-US" sz="1410" b="1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销量双双提升</a:t>
            </a:r>
            <a:r>
              <a:rPr lang="en-US" sz="141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60479" y="1792529"/>
            <a:ext cx="7539826" cy="4156427"/>
          </a:xfrm>
          <a:custGeom>
            <a:avLst/>
            <a:gdLst/>
            <a:ahLst/>
            <a:cxnLst/>
            <a:rect l="l" t="t" r="r" b="b"/>
            <a:pathLst>
              <a:path w="7539826" h="4156427">
                <a:moveTo>
                  <a:pt x="134460" y="0"/>
                </a:moveTo>
                <a:lnTo>
                  <a:pt x="7405366" y="0"/>
                </a:lnTo>
                <a:cubicBezTo>
                  <a:pt x="7479626" y="0"/>
                  <a:pt x="7539826" y="60200"/>
                  <a:pt x="7539826" y="134460"/>
                </a:cubicBezTo>
                <a:lnTo>
                  <a:pt x="7539826" y="4021967"/>
                </a:lnTo>
                <a:cubicBezTo>
                  <a:pt x="7539826" y="4096227"/>
                  <a:pt x="7479626" y="4156427"/>
                  <a:pt x="7405366" y="4156427"/>
                </a:cubicBezTo>
                <a:lnTo>
                  <a:pt x="134460" y="4156427"/>
                </a:lnTo>
                <a:cubicBezTo>
                  <a:pt x="60200" y="4156427"/>
                  <a:pt x="0" y="4096227"/>
                  <a:pt x="0" y="4021967"/>
                </a:cubicBezTo>
                <a:lnTo>
                  <a:pt x="0" y="134460"/>
                </a:lnTo>
                <a:cubicBezTo>
                  <a:pt x="0" y="60200"/>
                  <a:pt x="60200" y="0"/>
                  <a:pt x="134460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2700000" scaled="1"/>
          </a:gradFill>
          <a:effectLst>
            <a:outerShdw blurRad="280083" dist="22406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62969" y="2106069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67220" y="168050"/>
                </a:moveTo>
                <a:lnTo>
                  <a:pt x="12866" y="168050"/>
                </a:lnTo>
                <a:cubicBezTo>
                  <a:pt x="-210" y="168050"/>
                  <a:pt x="-8245" y="153818"/>
                  <a:pt x="-1523" y="142580"/>
                </a:cubicBezTo>
                <a:lnTo>
                  <a:pt x="26258" y="96261"/>
                </a:lnTo>
                <a:cubicBezTo>
                  <a:pt x="30827" y="88646"/>
                  <a:pt x="39019" y="84025"/>
                  <a:pt x="47894" y="84025"/>
                </a:cubicBezTo>
                <a:lnTo>
                  <a:pt x="97784" y="84025"/>
                </a:lnTo>
                <a:cubicBezTo>
                  <a:pt x="137748" y="16332"/>
                  <a:pt x="197353" y="12919"/>
                  <a:pt x="237213" y="18748"/>
                </a:cubicBezTo>
                <a:cubicBezTo>
                  <a:pt x="243935" y="19746"/>
                  <a:pt x="249186" y="24997"/>
                  <a:pt x="250131" y="31667"/>
                </a:cubicBezTo>
                <a:cubicBezTo>
                  <a:pt x="255961" y="71526"/>
                  <a:pt x="252547" y="131131"/>
                  <a:pt x="184855" y="171096"/>
                </a:cubicBezTo>
                <a:lnTo>
                  <a:pt x="184855" y="220985"/>
                </a:lnTo>
                <a:cubicBezTo>
                  <a:pt x="184855" y="229860"/>
                  <a:pt x="180233" y="238053"/>
                  <a:pt x="172618" y="242622"/>
                </a:cubicBezTo>
                <a:lnTo>
                  <a:pt x="126300" y="270402"/>
                </a:lnTo>
                <a:cubicBezTo>
                  <a:pt x="115114" y="277124"/>
                  <a:pt x="100830" y="269037"/>
                  <a:pt x="100830" y="256013"/>
                </a:cubicBezTo>
                <a:lnTo>
                  <a:pt x="100830" y="201660"/>
                </a:lnTo>
                <a:cubicBezTo>
                  <a:pt x="100830" y="183122"/>
                  <a:pt x="85758" y="168050"/>
                  <a:pt x="67220" y="168050"/>
                </a:cubicBezTo>
                <a:lnTo>
                  <a:pt x="67167" y="168050"/>
                </a:lnTo>
                <a:close/>
                <a:moveTo>
                  <a:pt x="210062" y="84025"/>
                </a:moveTo>
                <a:cubicBezTo>
                  <a:pt x="210062" y="70112"/>
                  <a:pt x="198767" y="58817"/>
                  <a:pt x="184855" y="58817"/>
                </a:cubicBezTo>
                <a:cubicBezTo>
                  <a:pt x="170942" y="58817"/>
                  <a:pt x="159647" y="70112"/>
                  <a:pt x="159647" y="84025"/>
                </a:cubicBezTo>
                <a:cubicBezTo>
                  <a:pt x="159647" y="97937"/>
                  <a:pt x="170942" y="109232"/>
                  <a:pt x="184855" y="109232"/>
                </a:cubicBezTo>
                <a:cubicBezTo>
                  <a:pt x="198767" y="109232"/>
                  <a:pt x="210062" y="97937"/>
                  <a:pt x="210062" y="84025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3" name="Text 21"/>
          <p:cNvSpPr/>
          <p:nvPr/>
        </p:nvSpPr>
        <p:spPr>
          <a:xfrm>
            <a:off x="8865458" y="2061409"/>
            <a:ext cx="6800408" cy="358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15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广泛应用场景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33840" y="2648309"/>
            <a:ext cx="3403565" cy="1420579"/>
          </a:xfrm>
          <a:custGeom>
            <a:avLst/>
            <a:gdLst/>
            <a:ahLst/>
            <a:cxnLst/>
            <a:rect l="l" t="t" r="r" b="b"/>
            <a:pathLst>
              <a:path w="3403565" h="1420579">
                <a:moveTo>
                  <a:pt x="89624" y="0"/>
                </a:moveTo>
                <a:lnTo>
                  <a:pt x="3313941" y="0"/>
                </a:lnTo>
                <a:cubicBezTo>
                  <a:pt x="3363439" y="0"/>
                  <a:pt x="3403565" y="40126"/>
                  <a:pt x="3403565" y="89624"/>
                </a:cubicBezTo>
                <a:lnTo>
                  <a:pt x="3403565" y="1330955"/>
                </a:lnTo>
                <a:cubicBezTo>
                  <a:pt x="3403565" y="1380453"/>
                  <a:pt x="3363439" y="1420579"/>
                  <a:pt x="3313941" y="1420579"/>
                </a:cubicBezTo>
                <a:lnTo>
                  <a:pt x="89624" y="1420579"/>
                </a:lnTo>
                <a:cubicBezTo>
                  <a:pt x="40126" y="1420579"/>
                  <a:pt x="0" y="1380453"/>
                  <a:pt x="0" y="1330955"/>
                </a:cubicBezTo>
                <a:lnTo>
                  <a:pt x="0" y="89624"/>
                </a:lnTo>
                <a:cubicBezTo>
                  <a:pt x="0" y="40159"/>
                  <a:pt x="40159" y="0"/>
                  <a:pt x="8962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20375" y="2832052"/>
            <a:ext cx="420124" cy="336099"/>
          </a:xfrm>
          <a:custGeom>
            <a:avLst/>
            <a:gdLst/>
            <a:ahLst/>
            <a:cxnLst/>
            <a:rect l="l" t="t" r="r" b="b"/>
            <a:pathLst>
              <a:path w="420124" h="336099">
                <a:moveTo>
                  <a:pt x="15755" y="-10503"/>
                </a:moveTo>
                <a:cubicBezTo>
                  <a:pt x="7024" y="-10503"/>
                  <a:pt x="0" y="-3479"/>
                  <a:pt x="0" y="5252"/>
                </a:cubicBezTo>
                <a:cubicBezTo>
                  <a:pt x="0" y="13982"/>
                  <a:pt x="7024" y="21006"/>
                  <a:pt x="15755" y="21006"/>
                </a:cubicBezTo>
                <a:lnTo>
                  <a:pt x="45492" y="21006"/>
                </a:lnTo>
                <a:cubicBezTo>
                  <a:pt x="48052" y="21006"/>
                  <a:pt x="50218" y="22844"/>
                  <a:pt x="50677" y="25339"/>
                </a:cubicBezTo>
                <a:lnTo>
                  <a:pt x="84878" y="213279"/>
                </a:lnTo>
                <a:cubicBezTo>
                  <a:pt x="88948" y="235729"/>
                  <a:pt x="108510" y="252074"/>
                  <a:pt x="131354" y="252074"/>
                </a:cubicBezTo>
                <a:lnTo>
                  <a:pt x="299338" y="252074"/>
                </a:lnTo>
                <a:cubicBezTo>
                  <a:pt x="308069" y="252074"/>
                  <a:pt x="315093" y="245050"/>
                  <a:pt x="315093" y="236320"/>
                </a:cubicBezTo>
                <a:cubicBezTo>
                  <a:pt x="315093" y="227589"/>
                  <a:pt x="308069" y="220565"/>
                  <a:pt x="299338" y="220565"/>
                </a:cubicBezTo>
                <a:lnTo>
                  <a:pt x="131354" y="220565"/>
                </a:lnTo>
                <a:cubicBezTo>
                  <a:pt x="123740" y="220565"/>
                  <a:pt x="117241" y="215117"/>
                  <a:pt x="115862" y="207633"/>
                </a:cubicBezTo>
                <a:lnTo>
                  <a:pt x="112514" y="189056"/>
                </a:lnTo>
                <a:lnTo>
                  <a:pt x="311811" y="189056"/>
                </a:lnTo>
                <a:cubicBezTo>
                  <a:pt x="332029" y="189056"/>
                  <a:pt x="349359" y="174680"/>
                  <a:pt x="353101" y="154789"/>
                </a:cubicBezTo>
                <a:lnTo>
                  <a:pt x="373451" y="45885"/>
                </a:lnTo>
                <a:cubicBezTo>
                  <a:pt x="375880" y="32953"/>
                  <a:pt x="365967" y="21006"/>
                  <a:pt x="352773" y="21006"/>
                </a:cubicBezTo>
                <a:lnTo>
                  <a:pt x="81859" y="21006"/>
                </a:lnTo>
                <a:lnTo>
                  <a:pt x="81596" y="19693"/>
                </a:lnTo>
                <a:cubicBezTo>
                  <a:pt x="78445" y="2232"/>
                  <a:pt x="63216" y="-10503"/>
                  <a:pt x="45426" y="-10503"/>
                </a:cubicBezTo>
                <a:lnTo>
                  <a:pt x="15755" y="-10503"/>
                </a:lnTo>
                <a:close/>
                <a:moveTo>
                  <a:pt x="136540" y="336099"/>
                </a:moveTo>
                <a:cubicBezTo>
                  <a:pt x="153931" y="336099"/>
                  <a:pt x="168050" y="321980"/>
                  <a:pt x="168050" y="304590"/>
                </a:cubicBezTo>
                <a:cubicBezTo>
                  <a:pt x="168050" y="287199"/>
                  <a:pt x="153931" y="273081"/>
                  <a:pt x="136540" y="273081"/>
                </a:cubicBezTo>
                <a:cubicBezTo>
                  <a:pt x="119150" y="273081"/>
                  <a:pt x="105031" y="287199"/>
                  <a:pt x="105031" y="304590"/>
                </a:cubicBezTo>
                <a:cubicBezTo>
                  <a:pt x="105031" y="321980"/>
                  <a:pt x="119150" y="336099"/>
                  <a:pt x="136540" y="336099"/>
                </a:cubicBezTo>
                <a:close/>
                <a:moveTo>
                  <a:pt x="283584" y="336099"/>
                </a:moveTo>
                <a:cubicBezTo>
                  <a:pt x="300974" y="336099"/>
                  <a:pt x="315093" y="321980"/>
                  <a:pt x="315093" y="304590"/>
                </a:cubicBezTo>
                <a:cubicBezTo>
                  <a:pt x="315093" y="287199"/>
                  <a:pt x="300974" y="273081"/>
                  <a:pt x="283584" y="273081"/>
                </a:cubicBezTo>
                <a:cubicBezTo>
                  <a:pt x="266193" y="273081"/>
                  <a:pt x="252074" y="287199"/>
                  <a:pt x="252074" y="304590"/>
                </a:cubicBezTo>
                <a:cubicBezTo>
                  <a:pt x="252074" y="321980"/>
                  <a:pt x="266193" y="336099"/>
                  <a:pt x="283584" y="336099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6" name="Text 24"/>
          <p:cNvSpPr/>
          <p:nvPr/>
        </p:nvSpPr>
        <p:spPr>
          <a:xfrm>
            <a:off x="8717574" y="3257778"/>
            <a:ext cx="3136926" cy="313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购物篮分析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17574" y="3616283"/>
            <a:ext cx="3125723" cy="2688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商品组合优化、交叉销售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126321" y="2648309"/>
            <a:ext cx="3403565" cy="1420579"/>
          </a:xfrm>
          <a:custGeom>
            <a:avLst/>
            <a:gdLst/>
            <a:ahLst/>
            <a:cxnLst/>
            <a:rect l="l" t="t" r="r" b="b"/>
            <a:pathLst>
              <a:path w="3403565" h="1420579">
                <a:moveTo>
                  <a:pt x="89624" y="0"/>
                </a:moveTo>
                <a:lnTo>
                  <a:pt x="3313941" y="0"/>
                </a:lnTo>
                <a:cubicBezTo>
                  <a:pt x="3363439" y="0"/>
                  <a:pt x="3403565" y="40126"/>
                  <a:pt x="3403565" y="89624"/>
                </a:cubicBezTo>
                <a:lnTo>
                  <a:pt x="3403565" y="1330955"/>
                </a:lnTo>
                <a:cubicBezTo>
                  <a:pt x="3403565" y="1380453"/>
                  <a:pt x="3363439" y="1420579"/>
                  <a:pt x="3313941" y="1420579"/>
                </a:cubicBezTo>
                <a:lnTo>
                  <a:pt x="89624" y="1420579"/>
                </a:lnTo>
                <a:cubicBezTo>
                  <a:pt x="40126" y="1420579"/>
                  <a:pt x="0" y="1380453"/>
                  <a:pt x="0" y="1330955"/>
                </a:cubicBezTo>
                <a:lnTo>
                  <a:pt x="0" y="89624"/>
                </a:lnTo>
                <a:cubicBezTo>
                  <a:pt x="0" y="40159"/>
                  <a:pt x="40159" y="0"/>
                  <a:pt x="8962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312855" y="2832052"/>
            <a:ext cx="420124" cy="336099"/>
          </a:xfrm>
          <a:custGeom>
            <a:avLst/>
            <a:gdLst/>
            <a:ahLst/>
            <a:cxnLst/>
            <a:rect l="l" t="t" r="r" b="b"/>
            <a:pathLst>
              <a:path w="420124" h="336099">
                <a:moveTo>
                  <a:pt x="89276" y="84025"/>
                </a:moveTo>
                <a:cubicBezTo>
                  <a:pt x="89276" y="40549"/>
                  <a:pt x="124573" y="5252"/>
                  <a:pt x="168050" y="5252"/>
                </a:cubicBezTo>
                <a:cubicBezTo>
                  <a:pt x="211526" y="5252"/>
                  <a:pt x="246823" y="40549"/>
                  <a:pt x="246823" y="84025"/>
                </a:cubicBezTo>
                <a:cubicBezTo>
                  <a:pt x="246823" y="127501"/>
                  <a:pt x="211526" y="162798"/>
                  <a:pt x="168050" y="162798"/>
                </a:cubicBezTo>
                <a:cubicBezTo>
                  <a:pt x="124573" y="162798"/>
                  <a:pt x="89276" y="127501"/>
                  <a:pt x="89276" y="84025"/>
                </a:cubicBezTo>
                <a:close/>
                <a:moveTo>
                  <a:pt x="31509" y="316603"/>
                </a:moveTo>
                <a:cubicBezTo>
                  <a:pt x="31509" y="251943"/>
                  <a:pt x="83894" y="199559"/>
                  <a:pt x="148553" y="199559"/>
                </a:cubicBezTo>
                <a:lnTo>
                  <a:pt x="187546" y="199559"/>
                </a:lnTo>
                <a:cubicBezTo>
                  <a:pt x="252206" y="199559"/>
                  <a:pt x="304590" y="251943"/>
                  <a:pt x="304590" y="316603"/>
                </a:cubicBezTo>
                <a:cubicBezTo>
                  <a:pt x="304590" y="327369"/>
                  <a:pt x="295859" y="336099"/>
                  <a:pt x="285094" y="336099"/>
                </a:cubicBezTo>
                <a:lnTo>
                  <a:pt x="51006" y="336099"/>
                </a:lnTo>
                <a:cubicBezTo>
                  <a:pt x="40240" y="336099"/>
                  <a:pt x="31509" y="327369"/>
                  <a:pt x="31509" y="316603"/>
                </a:cubicBezTo>
                <a:close/>
                <a:moveTo>
                  <a:pt x="402006" y="87110"/>
                </a:moveTo>
                <a:lnTo>
                  <a:pt x="349491" y="171135"/>
                </a:lnTo>
                <a:cubicBezTo>
                  <a:pt x="346734" y="175533"/>
                  <a:pt x="342007" y="178290"/>
                  <a:pt x="336821" y="178553"/>
                </a:cubicBezTo>
                <a:cubicBezTo>
                  <a:pt x="331635" y="178815"/>
                  <a:pt x="326646" y="176452"/>
                  <a:pt x="323561" y="172251"/>
                </a:cubicBezTo>
                <a:lnTo>
                  <a:pt x="292052" y="130238"/>
                </a:lnTo>
                <a:cubicBezTo>
                  <a:pt x="286800" y="123280"/>
                  <a:pt x="288244" y="113433"/>
                  <a:pt x="295203" y="108182"/>
                </a:cubicBezTo>
                <a:cubicBezTo>
                  <a:pt x="302161" y="102930"/>
                  <a:pt x="312008" y="104375"/>
                  <a:pt x="317259" y="111333"/>
                </a:cubicBezTo>
                <a:lnTo>
                  <a:pt x="334983" y="134965"/>
                </a:lnTo>
                <a:lnTo>
                  <a:pt x="375289" y="70436"/>
                </a:lnTo>
                <a:cubicBezTo>
                  <a:pt x="379884" y="63084"/>
                  <a:pt x="389599" y="60787"/>
                  <a:pt x="397017" y="65447"/>
                </a:cubicBezTo>
                <a:cubicBezTo>
                  <a:pt x="404435" y="70108"/>
                  <a:pt x="406667" y="79758"/>
                  <a:pt x="402006" y="87176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0" name="Text 28"/>
          <p:cNvSpPr/>
          <p:nvPr/>
        </p:nvSpPr>
        <p:spPr>
          <a:xfrm>
            <a:off x="12310055" y="3257778"/>
            <a:ext cx="3136926" cy="313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行为分析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310055" y="3616283"/>
            <a:ext cx="3125723" cy="2688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用户行为模式挖掘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33840" y="4257121"/>
            <a:ext cx="3403565" cy="1420579"/>
          </a:xfrm>
          <a:custGeom>
            <a:avLst/>
            <a:gdLst/>
            <a:ahLst/>
            <a:cxnLst/>
            <a:rect l="l" t="t" r="r" b="b"/>
            <a:pathLst>
              <a:path w="3403565" h="1420579">
                <a:moveTo>
                  <a:pt x="89624" y="0"/>
                </a:moveTo>
                <a:lnTo>
                  <a:pt x="3313941" y="0"/>
                </a:lnTo>
                <a:cubicBezTo>
                  <a:pt x="3363439" y="0"/>
                  <a:pt x="3403565" y="40126"/>
                  <a:pt x="3403565" y="89624"/>
                </a:cubicBezTo>
                <a:lnTo>
                  <a:pt x="3403565" y="1330955"/>
                </a:lnTo>
                <a:cubicBezTo>
                  <a:pt x="3403565" y="1380453"/>
                  <a:pt x="3363439" y="1420579"/>
                  <a:pt x="3313941" y="1420579"/>
                </a:cubicBezTo>
                <a:lnTo>
                  <a:pt x="89624" y="1420579"/>
                </a:lnTo>
                <a:cubicBezTo>
                  <a:pt x="40126" y="1420579"/>
                  <a:pt x="0" y="1380453"/>
                  <a:pt x="0" y="1330955"/>
                </a:cubicBezTo>
                <a:lnTo>
                  <a:pt x="0" y="89624"/>
                </a:lnTo>
                <a:cubicBezTo>
                  <a:pt x="0" y="40159"/>
                  <a:pt x="40159" y="0"/>
                  <a:pt x="8962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62387" y="4440843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168050" y="0"/>
                </a:moveTo>
                <a:cubicBezTo>
                  <a:pt x="177699" y="0"/>
                  <a:pt x="186561" y="5317"/>
                  <a:pt x="191156" y="13785"/>
                </a:cubicBezTo>
                <a:lnTo>
                  <a:pt x="332948" y="276363"/>
                </a:lnTo>
                <a:cubicBezTo>
                  <a:pt x="337346" y="284503"/>
                  <a:pt x="337150" y="294349"/>
                  <a:pt x="332423" y="302292"/>
                </a:cubicBezTo>
                <a:cubicBezTo>
                  <a:pt x="327697" y="310235"/>
                  <a:pt x="319097" y="315093"/>
                  <a:pt x="309841" y="315093"/>
                </a:cubicBezTo>
                <a:lnTo>
                  <a:pt x="26258" y="315093"/>
                </a:lnTo>
                <a:cubicBezTo>
                  <a:pt x="17002" y="315093"/>
                  <a:pt x="8468" y="310235"/>
                  <a:pt x="3676" y="302292"/>
                </a:cubicBezTo>
                <a:cubicBezTo>
                  <a:pt x="-1116" y="294349"/>
                  <a:pt x="-1247" y="284503"/>
                  <a:pt x="3151" y="276363"/>
                </a:cubicBezTo>
                <a:lnTo>
                  <a:pt x="144943" y="13785"/>
                </a:lnTo>
                <a:cubicBezTo>
                  <a:pt x="149538" y="5317"/>
                  <a:pt x="158400" y="0"/>
                  <a:pt x="168050" y="0"/>
                </a:cubicBezTo>
                <a:close/>
                <a:moveTo>
                  <a:pt x="168050" y="110283"/>
                </a:moveTo>
                <a:cubicBezTo>
                  <a:pt x="159319" y="110283"/>
                  <a:pt x="152295" y="117307"/>
                  <a:pt x="152295" y="126037"/>
                </a:cubicBezTo>
                <a:lnTo>
                  <a:pt x="152295" y="199559"/>
                </a:lnTo>
                <a:cubicBezTo>
                  <a:pt x="152295" y="208290"/>
                  <a:pt x="159319" y="215314"/>
                  <a:pt x="168050" y="215314"/>
                </a:cubicBezTo>
                <a:cubicBezTo>
                  <a:pt x="176780" y="215314"/>
                  <a:pt x="183804" y="208290"/>
                  <a:pt x="183804" y="199559"/>
                </a:cubicBezTo>
                <a:lnTo>
                  <a:pt x="183804" y="126037"/>
                </a:lnTo>
                <a:cubicBezTo>
                  <a:pt x="183804" y="117307"/>
                  <a:pt x="176780" y="110283"/>
                  <a:pt x="168050" y="110283"/>
                </a:cubicBezTo>
                <a:close/>
                <a:moveTo>
                  <a:pt x="185577" y="252074"/>
                </a:moveTo>
                <a:cubicBezTo>
                  <a:pt x="185975" y="245569"/>
                  <a:pt x="182731" y="239379"/>
                  <a:pt x="177154" y="236005"/>
                </a:cubicBezTo>
                <a:cubicBezTo>
                  <a:pt x="171577" y="232632"/>
                  <a:pt x="164588" y="232632"/>
                  <a:pt x="159011" y="236005"/>
                </a:cubicBezTo>
                <a:cubicBezTo>
                  <a:pt x="153434" y="239379"/>
                  <a:pt x="150190" y="245569"/>
                  <a:pt x="150588" y="252074"/>
                </a:cubicBezTo>
                <a:cubicBezTo>
                  <a:pt x="150190" y="258580"/>
                  <a:pt x="153434" y="264770"/>
                  <a:pt x="159011" y="268143"/>
                </a:cubicBezTo>
                <a:cubicBezTo>
                  <a:pt x="164588" y="271517"/>
                  <a:pt x="171577" y="271517"/>
                  <a:pt x="177154" y="268143"/>
                </a:cubicBezTo>
                <a:cubicBezTo>
                  <a:pt x="182731" y="264770"/>
                  <a:pt x="185975" y="258580"/>
                  <a:pt x="185577" y="252074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4" name="Text 32"/>
          <p:cNvSpPr/>
          <p:nvPr/>
        </p:nvSpPr>
        <p:spPr>
          <a:xfrm>
            <a:off x="8717574" y="4866568"/>
            <a:ext cx="3136926" cy="313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风险关联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17574" y="5225074"/>
            <a:ext cx="3125723" cy="2688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风险因素识别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126321" y="4257121"/>
            <a:ext cx="3403565" cy="1420579"/>
          </a:xfrm>
          <a:custGeom>
            <a:avLst/>
            <a:gdLst/>
            <a:ahLst/>
            <a:cxnLst/>
            <a:rect l="l" t="t" r="r" b="b"/>
            <a:pathLst>
              <a:path w="3403565" h="1420579">
                <a:moveTo>
                  <a:pt x="89624" y="0"/>
                </a:moveTo>
                <a:lnTo>
                  <a:pt x="3313941" y="0"/>
                </a:lnTo>
                <a:cubicBezTo>
                  <a:pt x="3363439" y="0"/>
                  <a:pt x="3403565" y="40126"/>
                  <a:pt x="3403565" y="89624"/>
                </a:cubicBezTo>
                <a:lnTo>
                  <a:pt x="3403565" y="1330955"/>
                </a:lnTo>
                <a:cubicBezTo>
                  <a:pt x="3403565" y="1380453"/>
                  <a:pt x="3363439" y="1420579"/>
                  <a:pt x="3313941" y="1420579"/>
                </a:cubicBezTo>
                <a:lnTo>
                  <a:pt x="89624" y="1420579"/>
                </a:lnTo>
                <a:cubicBezTo>
                  <a:pt x="40126" y="1420579"/>
                  <a:pt x="0" y="1380453"/>
                  <a:pt x="0" y="1330955"/>
                </a:cubicBezTo>
                <a:lnTo>
                  <a:pt x="0" y="89624"/>
                </a:lnTo>
                <a:cubicBezTo>
                  <a:pt x="0" y="40159"/>
                  <a:pt x="40159" y="0"/>
                  <a:pt x="8962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354868" y="4440843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42012" y="73522"/>
                </a:moveTo>
                <a:cubicBezTo>
                  <a:pt x="42012" y="56126"/>
                  <a:pt x="56126" y="42012"/>
                  <a:pt x="73522" y="42012"/>
                </a:cubicBezTo>
                <a:cubicBezTo>
                  <a:pt x="90917" y="42012"/>
                  <a:pt x="105031" y="56126"/>
                  <a:pt x="105031" y="73522"/>
                </a:cubicBezTo>
                <a:lnTo>
                  <a:pt x="105031" y="147043"/>
                </a:lnTo>
                <a:lnTo>
                  <a:pt x="42012" y="147043"/>
                </a:lnTo>
                <a:lnTo>
                  <a:pt x="42012" y="73522"/>
                </a:lnTo>
                <a:close/>
                <a:moveTo>
                  <a:pt x="115534" y="241571"/>
                </a:moveTo>
                <a:cubicBezTo>
                  <a:pt x="115534" y="209603"/>
                  <a:pt x="127416" y="180391"/>
                  <a:pt x="147043" y="158203"/>
                </a:cubicBezTo>
                <a:lnTo>
                  <a:pt x="147043" y="73522"/>
                </a:lnTo>
                <a:cubicBezTo>
                  <a:pt x="147043" y="32888"/>
                  <a:pt x="114156" y="0"/>
                  <a:pt x="73522" y="0"/>
                </a:cubicBezTo>
                <a:cubicBezTo>
                  <a:pt x="32888" y="0"/>
                  <a:pt x="0" y="32888"/>
                  <a:pt x="0" y="73522"/>
                </a:cubicBezTo>
                <a:lnTo>
                  <a:pt x="0" y="262578"/>
                </a:lnTo>
                <a:cubicBezTo>
                  <a:pt x="0" y="303211"/>
                  <a:pt x="32888" y="336099"/>
                  <a:pt x="73522" y="336099"/>
                </a:cubicBezTo>
                <a:cubicBezTo>
                  <a:pt x="98007" y="336099"/>
                  <a:pt x="119670" y="324152"/>
                  <a:pt x="133061" y="305706"/>
                </a:cubicBezTo>
                <a:cubicBezTo>
                  <a:pt x="121902" y="286932"/>
                  <a:pt x="115534" y="265006"/>
                  <a:pt x="115534" y="241571"/>
                </a:cubicBezTo>
                <a:close/>
                <a:moveTo>
                  <a:pt x="158006" y="285816"/>
                </a:moveTo>
                <a:cubicBezTo>
                  <a:pt x="161026" y="291527"/>
                  <a:pt x="168706" y="292183"/>
                  <a:pt x="173301" y="287588"/>
                </a:cubicBezTo>
                <a:lnTo>
                  <a:pt x="287588" y="173301"/>
                </a:lnTo>
                <a:cubicBezTo>
                  <a:pt x="292183" y="168706"/>
                  <a:pt x="291527" y="161026"/>
                  <a:pt x="285816" y="158006"/>
                </a:cubicBezTo>
                <a:cubicBezTo>
                  <a:pt x="272621" y="150982"/>
                  <a:pt x="257589" y="147043"/>
                  <a:pt x="241571" y="147043"/>
                </a:cubicBezTo>
                <a:cubicBezTo>
                  <a:pt x="189384" y="147043"/>
                  <a:pt x="147043" y="189384"/>
                  <a:pt x="147043" y="241571"/>
                </a:cubicBezTo>
                <a:cubicBezTo>
                  <a:pt x="147043" y="257523"/>
                  <a:pt x="150982" y="272621"/>
                  <a:pt x="158006" y="285816"/>
                </a:cubicBezTo>
                <a:close/>
                <a:moveTo>
                  <a:pt x="195555" y="309841"/>
                </a:moveTo>
                <a:cubicBezTo>
                  <a:pt x="190960" y="314437"/>
                  <a:pt x="191616" y="322117"/>
                  <a:pt x="197327" y="325137"/>
                </a:cubicBezTo>
                <a:cubicBezTo>
                  <a:pt x="210522" y="332161"/>
                  <a:pt x="225554" y="336099"/>
                  <a:pt x="241571" y="336099"/>
                </a:cubicBezTo>
                <a:cubicBezTo>
                  <a:pt x="293759" y="336099"/>
                  <a:pt x="336099" y="293759"/>
                  <a:pt x="336099" y="241571"/>
                </a:cubicBezTo>
                <a:cubicBezTo>
                  <a:pt x="336099" y="225620"/>
                  <a:pt x="332161" y="210522"/>
                  <a:pt x="325137" y="197327"/>
                </a:cubicBezTo>
                <a:cubicBezTo>
                  <a:pt x="322117" y="191616"/>
                  <a:pt x="314437" y="190960"/>
                  <a:pt x="309841" y="195555"/>
                </a:cubicBezTo>
                <a:lnTo>
                  <a:pt x="195555" y="309841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38" name="Text 36"/>
          <p:cNvSpPr/>
          <p:nvPr/>
        </p:nvSpPr>
        <p:spPr>
          <a:xfrm>
            <a:off x="12310055" y="4866568"/>
            <a:ext cx="3136926" cy="313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药物相互作用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310055" y="5225074"/>
            <a:ext cx="3125723" cy="2688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药物组合副作用研究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60479" y="6175123"/>
            <a:ext cx="7539826" cy="2520744"/>
          </a:xfrm>
          <a:custGeom>
            <a:avLst/>
            <a:gdLst/>
            <a:ahLst/>
            <a:cxnLst/>
            <a:rect l="l" t="t" r="r" b="b"/>
            <a:pathLst>
              <a:path w="7539826" h="2520744">
                <a:moveTo>
                  <a:pt x="134431" y="0"/>
                </a:moveTo>
                <a:lnTo>
                  <a:pt x="7405395" y="0"/>
                </a:lnTo>
                <a:cubicBezTo>
                  <a:pt x="7479639" y="0"/>
                  <a:pt x="7539826" y="60187"/>
                  <a:pt x="7539826" y="134431"/>
                </a:cubicBezTo>
                <a:lnTo>
                  <a:pt x="7539826" y="2386313"/>
                </a:lnTo>
                <a:cubicBezTo>
                  <a:pt x="7539826" y="2460557"/>
                  <a:pt x="7479639" y="2520744"/>
                  <a:pt x="7405395" y="2520744"/>
                </a:cubicBezTo>
                <a:lnTo>
                  <a:pt x="134431" y="2520744"/>
                </a:lnTo>
                <a:cubicBezTo>
                  <a:pt x="60187" y="2520744"/>
                  <a:pt x="0" y="2460557"/>
                  <a:pt x="0" y="2386313"/>
                </a:cubicBezTo>
                <a:lnTo>
                  <a:pt x="0" y="134431"/>
                </a:lnTo>
                <a:cubicBezTo>
                  <a:pt x="0" y="60187"/>
                  <a:pt x="60187" y="0"/>
                  <a:pt x="13443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68050" dist="1120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562969" y="6488663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176452" y="184855"/>
                </a:moveTo>
                <a:cubicBezTo>
                  <a:pt x="227497" y="184855"/>
                  <a:pt x="268879" y="143472"/>
                  <a:pt x="268879" y="92427"/>
                </a:cubicBezTo>
                <a:cubicBezTo>
                  <a:pt x="268879" y="41382"/>
                  <a:pt x="227497" y="0"/>
                  <a:pt x="176452" y="0"/>
                </a:cubicBezTo>
                <a:cubicBezTo>
                  <a:pt x="125407" y="0"/>
                  <a:pt x="84025" y="41382"/>
                  <a:pt x="84025" y="92427"/>
                </a:cubicBezTo>
                <a:cubicBezTo>
                  <a:pt x="84025" y="102248"/>
                  <a:pt x="85548" y="111753"/>
                  <a:pt x="88384" y="120628"/>
                </a:cubicBezTo>
                <a:lnTo>
                  <a:pt x="3676" y="205336"/>
                </a:lnTo>
                <a:cubicBezTo>
                  <a:pt x="1313" y="207699"/>
                  <a:pt x="0" y="210902"/>
                  <a:pt x="0" y="214263"/>
                </a:cubicBezTo>
                <a:lnTo>
                  <a:pt x="0" y="256276"/>
                </a:lnTo>
                <a:cubicBezTo>
                  <a:pt x="0" y="263260"/>
                  <a:pt x="5619" y="268879"/>
                  <a:pt x="12604" y="268879"/>
                </a:cubicBezTo>
                <a:lnTo>
                  <a:pt x="54616" y="268879"/>
                </a:lnTo>
                <a:cubicBezTo>
                  <a:pt x="61601" y="268879"/>
                  <a:pt x="67220" y="263260"/>
                  <a:pt x="67220" y="256276"/>
                </a:cubicBezTo>
                <a:lnTo>
                  <a:pt x="67220" y="235269"/>
                </a:lnTo>
                <a:lnTo>
                  <a:pt x="88226" y="235269"/>
                </a:lnTo>
                <a:cubicBezTo>
                  <a:pt x="95211" y="235269"/>
                  <a:pt x="100830" y="229650"/>
                  <a:pt x="100830" y="222666"/>
                </a:cubicBezTo>
                <a:lnTo>
                  <a:pt x="100830" y="201660"/>
                </a:lnTo>
                <a:lnTo>
                  <a:pt x="121836" y="201660"/>
                </a:lnTo>
                <a:cubicBezTo>
                  <a:pt x="125197" y="201660"/>
                  <a:pt x="128400" y="200347"/>
                  <a:pt x="130764" y="197983"/>
                </a:cubicBezTo>
                <a:lnTo>
                  <a:pt x="148251" y="180496"/>
                </a:lnTo>
                <a:cubicBezTo>
                  <a:pt x="157126" y="183332"/>
                  <a:pt x="166632" y="184855"/>
                  <a:pt x="176452" y="184855"/>
                </a:cubicBezTo>
                <a:close/>
                <a:moveTo>
                  <a:pt x="197458" y="50415"/>
                </a:moveTo>
                <a:cubicBezTo>
                  <a:pt x="209052" y="50415"/>
                  <a:pt x="218465" y="59827"/>
                  <a:pt x="218465" y="71421"/>
                </a:cubicBezTo>
                <a:cubicBezTo>
                  <a:pt x="218465" y="83015"/>
                  <a:pt x="209052" y="92427"/>
                  <a:pt x="197458" y="92427"/>
                </a:cubicBezTo>
                <a:cubicBezTo>
                  <a:pt x="185865" y="92427"/>
                  <a:pt x="176452" y="83015"/>
                  <a:pt x="176452" y="71421"/>
                </a:cubicBezTo>
                <a:cubicBezTo>
                  <a:pt x="176452" y="59827"/>
                  <a:pt x="185865" y="50415"/>
                  <a:pt x="197458" y="50415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2" name="Text 40"/>
          <p:cNvSpPr/>
          <p:nvPr/>
        </p:nvSpPr>
        <p:spPr>
          <a:xfrm>
            <a:off x="8865458" y="6444003"/>
            <a:ext cx="6800408" cy="358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1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核心评价指标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38321" y="6990571"/>
            <a:ext cx="3390121" cy="1429542"/>
          </a:xfrm>
          <a:custGeom>
            <a:avLst/>
            <a:gdLst/>
            <a:ahLst/>
            <a:cxnLst/>
            <a:rect l="l" t="t" r="r" b="b"/>
            <a:pathLst>
              <a:path w="3390121" h="1429542">
                <a:moveTo>
                  <a:pt x="89632" y="0"/>
                </a:moveTo>
                <a:lnTo>
                  <a:pt x="3300489" y="0"/>
                </a:lnTo>
                <a:cubicBezTo>
                  <a:pt x="3349991" y="0"/>
                  <a:pt x="3390121" y="40130"/>
                  <a:pt x="3390121" y="89632"/>
                </a:cubicBezTo>
                <a:lnTo>
                  <a:pt x="3390121" y="1339910"/>
                </a:lnTo>
                <a:cubicBezTo>
                  <a:pt x="3390121" y="1389412"/>
                  <a:pt x="3349991" y="1429542"/>
                  <a:pt x="3300489" y="1429542"/>
                </a:cubicBezTo>
                <a:lnTo>
                  <a:pt x="89632" y="1429542"/>
                </a:lnTo>
                <a:cubicBezTo>
                  <a:pt x="40130" y="1429542"/>
                  <a:pt x="0" y="1389412"/>
                  <a:pt x="0" y="1339910"/>
                </a:cubicBezTo>
                <a:lnTo>
                  <a:pt x="0" y="89632"/>
                </a:lnTo>
                <a:cubicBezTo>
                  <a:pt x="0" y="40163"/>
                  <a:pt x="40163" y="0"/>
                  <a:pt x="89632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49648" y="7178804"/>
            <a:ext cx="378112" cy="336099"/>
          </a:xfrm>
          <a:custGeom>
            <a:avLst/>
            <a:gdLst/>
            <a:ahLst/>
            <a:cxnLst/>
            <a:rect l="l" t="t" r="r" b="b"/>
            <a:pathLst>
              <a:path w="378112" h="336099">
                <a:moveTo>
                  <a:pt x="336362" y="157547"/>
                </a:moveTo>
                <a:lnTo>
                  <a:pt x="220828" y="157547"/>
                </a:lnTo>
                <a:cubicBezTo>
                  <a:pt x="209209" y="157547"/>
                  <a:pt x="199822" y="148159"/>
                  <a:pt x="199822" y="136540"/>
                </a:cubicBezTo>
                <a:lnTo>
                  <a:pt x="199822" y="21006"/>
                </a:lnTo>
                <a:cubicBezTo>
                  <a:pt x="199822" y="9387"/>
                  <a:pt x="209274" y="-131"/>
                  <a:pt x="220762" y="1379"/>
                </a:cubicBezTo>
                <a:cubicBezTo>
                  <a:pt x="291002" y="10700"/>
                  <a:pt x="346668" y="66366"/>
                  <a:pt x="355989" y="136606"/>
                </a:cubicBezTo>
                <a:cubicBezTo>
                  <a:pt x="357499" y="148094"/>
                  <a:pt x="347981" y="157547"/>
                  <a:pt x="336362" y="157547"/>
                </a:cubicBezTo>
                <a:close/>
                <a:moveTo>
                  <a:pt x="146124" y="24420"/>
                </a:moveTo>
                <a:cubicBezTo>
                  <a:pt x="158006" y="21925"/>
                  <a:pt x="168312" y="31641"/>
                  <a:pt x="168312" y="43785"/>
                </a:cubicBezTo>
                <a:lnTo>
                  <a:pt x="168312" y="173301"/>
                </a:lnTo>
                <a:cubicBezTo>
                  <a:pt x="168312" y="176977"/>
                  <a:pt x="169625" y="180522"/>
                  <a:pt x="171923" y="183345"/>
                </a:cubicBezTo>
                <a:lnTo>
                  <a:pt x="258639" y="287982"/>
                </a:lnTo>
                <a:cubicBezTo>
                  <a:pt x="266319" y="297238"/>
                  <a:pt x="264678" y="311220"/>
                  <a:pt x="254109" y="316931"/>
                </a:cubicBezTo>
                <a:cubicBezTo>
                  <a:pt x="231725" y="329141"/>
                  <a:pt x="206058" y="336099"/>
                  <a:pt x="178815" y="336099"/>
                </a:cubicBezTo>
                <a:cubicBezTo>
                  <a:pt x="91836" y="336099"/>
                  <a:pt x="21269" y="265532"/>
                  <a:pt x="21269" y="178553"/>
                </a:cubicBezTo>
                <a:cubicBezTo>
                  <a:pt x="21269" y="102733"/>
                  <a:pt x="74769" y="39452"/>
                  <a:pt x="146124" y="24420"/>
                </a:cubicBezTo>
                <a:close/>
                <a:moveTo>
                  <a:pt x="313649" y="189056"/>
                </a:moveTo>
                <a:lnTo>
                  <a:pt x="355661" y="189056"/>
                </a:lnTo>
                <a:cubicBezTo>
                  <a:pt x="367805" y="189056"/>
                  <a:pt x="377521" y="199362"/>
                  <a:pt x="375026" y="211244"/>
                </a:cubicBezTo>
                <a:cubicBezTo>
                  <a:pt x="368331" y="243016"/>
                  <a:pt x="352051" y="271243"/>
                  <a:pt x="329338" y="292774"/>
                </a:cubicBezTo>
                <a:cubicBezTo>
                  <a:pt x="321264" y="300454"/>
                  <a:pt x="308594" y="298813"/>
                  <a:pt x="301505" y="290214"/>
                </a:cubicBezTo>
                <a:lnTo>
                  <a:pt x="246101" y="223453"/>
                </a:lnTo>
                <a:cubicBezTo>
                  <a:pt x="234744" y="209734"/>
                  <a:pt x="244525" y="189056"/>
                  <a:pt x="262249" y="189056"/>
                </a:cubicBezTo>
                <a:lnTo>
                  <a:pt x="313583" y="189056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45" name="Text 43"/>
          <p:cNvSpPr/>
          <p:nvPr/>
        </p:nvSpPr>
        <p:spPr>
          <a:xfrm>
            <a:off x="8670520" y="7604530"/>
            <a:ext cx="3125723" cy="313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6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支持度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81723" y="7963036"/>
            <a:ext cx="3103316" cy="2688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1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A和B同时出现的频率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2130802" y="6990571"/>
            <a:ext cx="3390121" cy="1429542"/>
          </a:xfrm>
          <a:custGeom>
            <a:avLst/>
            <a:gdLst/>
            <a:ahLst/>
            <a:cxnLst/>
            <a:rect l="l" t="t" r="r" b="b"/>
            <a:pathLst>
              <a:path w="3390121" h="1429542">
                <a:moveTo>
                  <a:pt x="89632" y="0"/>
                </a:moveTo>
                <a:lnTo>
                  <a:pt x="3300489" y="0"/>
                </a:lnTo>
                <a:cubicBezTo>
                  <a:pt x="3349991" y="0"/>
                  <a:pt x="3390121" y="40130"/>
                  <a:pt x="3390121" y="89632"/>
                </a:cubicBezTo>
                <a:lnTo>
                  <a:pt x="3390121" y="1339910"/>
                </a:lnTo>
                <a:cubicBezTo>
                  <a:pt x="3390121" y="1389412"/>
                  <a:pt x="3349991" y="1429542"/>
                  <a:pt x="3300489" y="1429542"/>
                </a:cubicBezTo>
                <a:lnTo>
                  <a:pt x="89632" y="1429542"/>
                </a:lnTo>
                <a:cubicBezTo>
                  <a:pt x="40130" y="1429542"/>
                  <a:pt x="0" y="1389412"/>
                  <a:pt x="0" y="1339910"/>
                </a:cubicBezTo>
                <a:lnTo>
                  <a:pt x="0" y="89632"/>
                </a:lnTo>
                <a:cubicBezTo>
                  <a:pt x="0" y="40163"/>
                  <a:pt x="40163" y="0"/>
                  <a:pt x="89632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  <a:ln w="20320">
            <a:solidFill>
              <a:srgbClr val="212C42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663275" y="7178804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329929" y="182885"/>
                </a:moveTo>
                <a:cubicBezTo>
                  <a:pt x="338134" y="174680"/>
                  <a:pt x="338134" y="161354"/>
                  <a:pt x="329929" y="153148"/>
                </a:cubicBezTo>
                <a:lnTo>
                  <a:pt x="224898" y="48117"/>
                </a:lnTo>
                <a:cubicBezTo>
                  <a:pt x="216692" y="39912"/>
                  <a:pt x="203366" y="39912"/>
                  <a:pt x="195161" y="48117"/>
                </a:cubicBezTo>
                <a:cubicBezTo>
                  <a:pt x="186955" y="56323"/>
                  <a:pt x="186955" y="69649"/>
                  <a:pt x="195161" y="77854"/>
                </a:cubicBezTo>
                <a:lnTo>
                  <a:pt x="264350" y="147043"/>
                </a:lnTo>
                <a:lnTo>
                  <a:pt x="21006" y="147043"/>
                </a:lnTo>
                <a:cubicBezTo>
                  <a:pt x="9387" y="147043"/>
                  <a:pt x="0" y="156431"/>
                  <a:pt x="0" y="168050"/>
                </a:cubicBezTo>
                <a:cubicBezTo>
                  <a:pt x="0" y="179669"/>
                  <a:pt x="9387" y="189056"/>
                  <a:pt x="21006" y="189056"/>
                </a:cubicBezTo>
                <a:lnTo>
                  <a:pt x="264350" y="189056"/>
                </a:lnTo>
                <a:lnTo>
                  <a:pt x="195161" y="258245"/>
                </a:lnTo>
                <a:cubicBezTo>
                  <a:pt x="186955" y="266451"/>
                  <a:pt x="186955" y="279776"/>
                  <a:pt x="195161" y="287982"/>
                </a:cubicBezTo>
                <a:cubicBezTo>
                  <a:pt x="203366" y="296187"/>
                  <a:pt x="216692" y="296187"/>
                  <a:pt x="224898" y="287982"/>
                </a:cubicBezTo>
                <a:lnTo>
                  <a:pt x="329929" y="182951"/>
                </a:lnTo>
                <a:close/>
              </a:path>
            </a:pathLst>
          </a:custGeom>
          <a:solidFill>
            <a:srgbClr val="212C42"/>
          </a:solidFill>
        </p:spPr>
      </p:sp>
      <p:sp>
        <p:nvSpPr>
          <p:cNvPr id="49" name="Text 47"/>
          <p:cNvSpPr/>
          <p:nvPr/>
        </p:nvSpPr>
        <p:spPr>
          <a:xfrm>
            <a:off x="12263001" y="7604530"/>
            <a:ext cx="3125723" cy="313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6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置信度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2274205" y="7963036"/>
            <a:ext cx="3103316" cy="2688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1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出现A时也出现B的概率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4439" y="424439"/>
            <a:ext cx="15492010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APRIORI &amp; FP-GROWTH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4439" y="763990"/>
            <a:ext cx="15661786" cy="5093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1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关联模型：Apriori算法与FP-Growth算法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4439" y="1400648"/>
            <a:ext cx="1018653" cy="42444"/>
          </a:xfrm>
          <a:custGeom>
            <a:avLst/>
            <a:gdLst/>
            <a:ahLst/>
            <a:cxnLst/>
            <a:rect l="l" t="t" r="r" b="b"/>
            <a:pathLst>
              <a:path w="1018653" h="42444">
                <a:moveTo>
                  <a:pt x="0" y="0"/>
                </a:moveTo>
                <a:lnTo>
                  <a:pt x="1018653" y="0"/>
                </a:lnTo>
                <a:lnTo>
                  <a:pt x="1018653" y="42444"/>
                </a:lnTo>
                <a:lnTo>
                  <a:pt x="0" y="42444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24439" y="1655311"/>
            <a:ext cx="7576230" cy="6791018"/>
          </a:xfrm>
          <a:custGeom>
            <a:avLst/>
            <a:gdLst/>
            <a:ahLst/>
            <a:cxnLst/>
            <a:rect l="l" t="t" r="r" b="b"/>
            <a:pathLst>
              <a:path w="7576230" h="6791018">
                <a:moveTo>
                  <a:pt x="127332" y="0"/>
                </a:moveTo>
                <a:lnTo>
                  <a:pt x="7448898" y="0"/>
                </a:lnTo>
                <a:cubicBezTo>
                  <a:pt x="7519221" y="0"/>
                  <a:pt x="7576230" y="57008"/>
                  <a:pt x="7576230" y="127332"/>
                </a:cubicBezTo>
                <a:lnTo>
                  <a:pt x="7576230" y="6663687"/>
                </a:lnTo>
                <a:cubicBezTo>
                  <a:pt x="7576230" y="6734010"/>
                  <a:pt x="7519221" y="6791018"/>
                  <a:pt x="7448898" y="6791018"/>
                </a:cubicBezTo>
                <a:lnTo>
                  <a:pt x="127332" y="6791018"/>
                </a:lnTo>
                <a:cubicBezTo>
                  <a:pt x="57008" y="6791018"/>
                  <a:pt x="0" y="6734010"/>
                  <a:pt x="0" y="6663687"/>
                </a:cubicBezTo>
                <a:lnTo>
                  <a:pt x="0" y="127332"/>
                </a:lnTo>
                <a:cubicBezTo>
                  <a:pt x="0" y="57008"/>
                  <a:pt x="57008" y="0"/>
                  <a:pt x="12733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5274" dist="2122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4439" y="1655311"/>
            <a:ext cx="7576230" cy="763990"/>
          </a:xfrm>
          <a:custGeom>
            <a:avLst/>
            <a:gdLst/>
            <a:ahLst/>
            <a:cxnLst/>
            <a:rect l="l" t="t" r="r" b="b"/>
            <a:pathLst>
              <a:path w="7576230" h="763990">
                <a:moveTo>
                  <a:pt x="127334" y="0"/>
                </a:moveTo>
                <a:lnTo>
                  <a:pt x="7448896" y="0"/>
                </a:lnTo>
                <a:cubicBezTo>
                  <a:pt x="7519220" y="0"/>
                  <a:pt x="7576230" y="57009"/>
                  <a:pt x="7576230" y="127334"/>
                </a:cubicBezTo>
                <a:lnTo>
                  <a:pt x="7576230" y="763990"/>
                </a:lnTo>
                <a:lnTo>
                  <a:pt x="0" y="763990"/>
                </a:lnTo>
                <a:lnTo>
                  <a:pt x="0" y="127334"/>
                </a:lnTo>
                <a:cubicBezTo>
                  <a:pt x="0" y="57057"/>
                  <a:pt x="57057" y="0"/>
                  <a:pt x="127334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/>
              </a:gs>
              <a:gs pos="100000">
                <a:srgbClr val="5B677D"/>
              </a:gs>
            </a:gsLst>
            <a:lin ang="0" scaled="1"/>
          </a:gradFill>
        </p:spPr>
      </p:sp>
      <p:sp>
        <p:nvSpPr>
          <p:cNvPr id="7" name="Shape 5"/>
          <p:cNvSpPr/>
          <p:nvPr/>
        </p:nvSpPr>
        <p:spPr>
          <a:xfrm>
            <a:off x="668491" y="1909850"/>
            <a:ext cx="254663" cy="254663"/>
          </a:xfrm>
          <a:custGeom>
            <a:avLst/>
            <a:gdLst/>
            <a:ahLst/>
            <a:cxnLst/>
            <a:rect l="l" t="t" r="r" b="b"/>
            <a:pathLst>
              <a:path w="254663" h="254663">
                <a:moveTo>
                  <a:pt x="206914" y="103457"/>
                </a:moveTo>
                <a:cubicBezTo>
                  <a:pt x="206914" y="126287"/>
                  <a:pt x="199503" y="147376"/>
                  <a:pt x="187018" y="164487"/>
                </a:cubicBezTo>
                <a:lnTo>
                  <a:pt x="249988" y="227506"/>
                </a:lnTo>
                <a:cubicBezTo>
                  <a:pt x="256205" y="233723"/>
                  <a:pt x="256205" y="243820"/>
                  <a:pt x="249988" y="250037"/>
                </a:cubicBezTo>
                <a:cubicBezTo>
                  <a:pt x="243770" y="256255"/>
                  <a:pt x="233673" y="256255"/>
                  <a:pt x="227456" y="250037"/>
                </a:cubicBezTo>
                <a:lnTo>
                  <a:pt x="164487" y="187018"/>
                </a:lnTo>
                <a:cubicBezTo>
                  <a:pt x="147376" y="199503"/>
                  <a:pt x="126287" y="206914"/>
                  <a:pt x="103457" y="206914"/>
                </a:cubicBezTo>
                <a:cubicBezTo>
                  <a:pt x="46307" y="206914"/>
                  <a:pt x="0" y="160607"/>
                  <a:pt x="0" y="103457"/>
                </a:cubicBezTo>
                <a:cubicBezTo>
                  <a:pt x="0" y="46307"/>
                  <a:pt x="46307" y="0"/>
                  <a:pt x="103457" y="0"/>
                </a:cubicBezTo>
                <a:cubicBezTo>
                  <a:pt x="160607" y="0"/>
                  <a:pt x="206914" y="46307"/>
                  <a:pt x="206914" y="103457"/>
                </a:cubicBezTo>
                <a:close/>
                <a:moveTo>
                  <a:pt x="103457" y="175081"/>
                </a:moveTo>
                <a:cubicBezTo>
                  <a:pt x="142987" y="175081"/>
                  <a:pt x="175081" y="142987"/>
                  <a:pt x="175081" y="103457"/>
                </a:cubicBezTo>
                <a:cubicBezTo>
                  <a:pt x="175081" y="63927"/>
                  <a:pt x="142987" y="31833"/>
                  <a:pt x="103457" y="31833"/>
                </a:cubicBezTo>
                <a:cubicBezTo>
                  <a:pt x="63927" y="31833"/>
                  <a:pt x="31833" y="63927"/>
                  <a:pt x="31833" y="103457"/>
                </a:cubicBezTo>
                <a:cubicBezTo>
                  <a:pt x="31833" y="142987"/>
                  <a:pt x="63927" y="175081"/>
                  <a:pt x="103457" y="17508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954987" y="1867530"/>
            <a:ext cx="6960794" cy="3395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5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Apriori算法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3185" y="2684450"/>
            <a:ext cx="190997" cy="190997"/>
          </a:xfrm>
          <a:custGeom>
            <a:avLst/>
            <a:gdLst/>
            <a:ahLst/>
            <a:cxnLst/>
            <a:rect l="l" t="t" r="r" b="b"/>
            <a:pathLst>
              <a:path w="190997" h="190997">
                <a:moveTo>
                  <a:pt x="95499" y="190997"/>
                </a:moveTo>
                <a:cubicBezTo>
                  <a:pt x="148206" y="190997"/>
                  <a:pt x="190997" y="148206"/>
                  <a:pt x="190997" y="95499"/>
                </a:cubicBezTo>
                <a:cubicBezTo>
                  <a:pt x="190997" y="42792"/>
                  <a:pt x="148206" y="0"/>
                  <a:pt x="95499" y="0"/>
                </a:cubicBezTo>
                <a:cubicBezTo>
                  <a:pt x="42792" y="0"/>
                  <a:pt x="0" y="42792"/>
                  <a:pt x="0" y="95499"/>
                </a:cubicBezTo>
                <a:cubicBezTo>
                  <a:pt x="0" y="148206"/>
                  <a:pt x="42792" y="190997"/>
                  <a:pt x="95499" y="190997"/>
                </a:cubicBezTo>
                <a:close/>
                <a:moveTo>
                  <a:pt x="83561" y="59687"/>
                </a:moveTo>
                <a:cubicBezTo>
                  <a:pt x="83561" y="53098"/>
                  <a:pt x="88910" y="47749"/>
                  <a:pt x="95499" y="47749"/>
                </a:cubicBezTo>
                <a:cubicBezTo>
                  <a:pt x="102087" y="47749"/>
                  <a:pt x="107436" y="53098"/>
                  <a:pt x="107436" y="59687"/>
                </a:cubicBezTo>
                <a:cubicBezTo>
                  <a:pt x="107436" y="66275"/>
                  <a:pt x="102087" y="71624"/>
                  <a:pt x="95499" y="71624"/>
                </a:cubicBezTo>
                <a:cubicBezTo>
                  <a:pt x="88910" y="71624"/>
                  <a:pt x="83561" y="66275"/>
                  <a:pt x="83561" y="59687"/>
                </a:cubicBezTo>
                <a:close/>
                <a:moveTo>
                  <a:pt x="80577" y="83561"/>
                </a:moveTo>
                <a:lnTo>
                  <a:pt x="98483" y="83561"/>
                </a:lnTo>
                <a:cubicBezTo>
                  <a:pt x="103444" y="83561"/>
                  <a:pt x="107436" y="87553"/>
                  <a:pt x="107436" y="92514"/>
                </a:cubicBezTo>
                <a:lnTo>
                  <a:pt x="107436" y="125342"/>
                </a:lnTo>
                <a:lnTo>
                  <a:pt x="110420" y="125342"/>
                </a:lnTo>
                <a:cubicBezTo>
                  <a:pt x="115382" y="125342"/>
                  <a:pt x="119373" y="129334"/>
                  <a:pt x="119373" y="134295"/>
                </a:cubicBezTo>
                <a:cubicBezTo>
                  <a:pt x="119373" y="139256"/>
                  <a:pt x="115382" y="143248"/>
                  <a:pt x="110420" y="143248"/>
                </a:cubicBezTo>
                <a:lnTo>
                  <a:pt x="80577" y="143248"/>
                </a:lnTo>
                <a:cubicBezTo>
                  <a:pt x="75616" y="143248"/>
                  <a:pt x="71624" y="139256"/>
                  <a:pt x="71624" y="134295"/>
                </a:cubicBezTo>
                <a:cubicBezTo>
                  <a:pt x="71624" y="129334"/>
                  <a:pt x="75616" y="125342"/>
                  <a:pt x="80577" y="125342"/>
                </a:cubicBezTo>
                <a:lnTo>
                  <a:pt x="89530" y="125342"/>
                </a:lnTo>
                <a:lnTo>
                  <a:pt x="89530" y="101467"/>
                </a:lnTo>
                <a:lnTo>
                  <a:pt x="80577" y="101467"/>
                </a:lnTo>
                <a:cubicBezTo>
                  <a:pt x="75616" y="101467"/>
                  <a:pt x="71624" y="97476"/>
                  <a:pt x="71624" y="92514"/>
                </a:cubicBezTo>
                <a:cubicBezTo>
                  <a:pt x="71624" y="87553"/>
                  <a:pt x="75616" y="83561"/>
                  <a:pt x="80577" y="83561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0" name="Text 8"/>
          <p:cNvSpPr/>
          <p:nvPr/>
        </p:nvSpPr>
        <p:spPr>
          <a:xfrm>
            <a:off x="880710" y="2631395"/>
            <a:ext cx="7003238" cy="297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6658" y="3013390"/>
            <a:ext cx="7236679" cy="275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适用于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离散型数据的关联规则挖掘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（如购物篮数据、用户行为标签）。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3185" y="3512105"/>
            <a:ext cx="190997" cy="190997"/>
          </a:xfrm>
          <a:custGeom>
            <a:avLst/>
            <a:gdLst/>
            <a:ahLst/>
            <a:cxnLst/>
            <a:rect l="l" t="t" r="r" b="b"/>
            <a:pathLst>
              <a:path w="190997" h="190997">
                <a:moveTo>
                  <a:pt x="44765" y="20890"/>
                </a:moveTo>
                <a:cubicBezTo>
                  <a:pt x="44765" y="9363"/>
                  <a:pt x="54128" y="0"/>
                  <a:pt x="65655" y="0"/>
                </a:cubicBezTo>
                <a:lnTo>
                  <a:pt x="74608" y="0"/>
                </a:lnTo>
                <a:cubicBezTo>
                  <a:pt x="81211" y="0"/>
                  <a:pt x="86546" y="5334"/>
                  <a:pt x="86546" y="11937"/>
                </a:cubicBezTo>
                <a:lnTo>
                  <a:pt x="86546" y="179060"/>
                </a:lnTo>
                <a:cubicBezTo>
                  <a:pt x="86546" y="185663"/>
                  <a:pt x="81211" y="190997"/>
                  <a:pt x="74608" y="190997"/>
                </a:cubicBezTo>
                <a:lnTo>
                  <a:pt x="62671" y="190997"/>
                </a:lnTo>
                <a:cubicBezTo>
                  <a:pt x="51554" y="190997"/>
                  <a:pt x="42191" y="183387"/>
                  <a:pt x="39542" y="173091"/>
                </a:cubicBezTo>
                <a:cubicBezTo>
                  <a:pt x="39281" y="173091"/>
                  <a:pt x="39057" y="173091"/>
                  <a:pt x="38796" y="173091"/>
                </a:cubicBezTo>
                <a:cubicBezTo>
                  <a:pt x="22308" y="173091"/>
                  <a:pt x="8953" y="159736"/>
                  <a:pt x="8953" y="143248"/>
                </a:cubicBezTo>
                <a:cubicBezTo>
                  <a:pt x="8953" y="136533"/>
                  <a:pt x="11191" y="130341"/>
                  <a:pt x="14922" y="125342"/>
                </a:cubicBezTo>
                <a:cubicBezTo>
                  <a:pt x="7685" y="119896"/>
                  <a:pt x="2984" y="111241"/>
                  <a:pt x="2984" y="101467"/>
                </a:cubicBezTo>
                <a:cubicBezTo>
                  <a:pt x="2984" y="89940"/>
                  <a:pt x="9550" y="79906"/>
                  <a:pt x="19100" y="74944"/>
                </a:cubicBezTo>
                <a:cubicBezTo>
                  <a:pt x="16451" y="70468"/>
                  <a:pt x="14922" y="65245"/>
                  <a:pt x="14922" y="59687"/>
                </a:cubicBezTo>
                <a:cubicBezTo>
                  <a:pt x="14922" y="43198"/>
                  <a:pt x="28277" y="29843"/>
                  <a:pt x="44765" y="29843"/>
                </a:cubicBezTo>
                <a:lnTo>
                  <a:pt x="44765" y="20890"/>
                </a:lnTo>
                <a:close/>
                <a:moveTo>
                  <a:pt x="146232" y="20890"/>
                </a:moveTo>
                <a:lnTo>
                  <a:pt x="146232" y="29843"/>
                </a:lnTo>
                <a:cubicBezTo>
                  <a:pt x="162721" y="29843"/>
                  <a:pt x="176076" y="43198"/>
                  <a:pt x="176076" y="59687"/>
                </a:cubicBezTo>
                <a:cubicBezTo>
                  <a:pt x="176076" y="65282"/>
                  <a:pt x="174546" y="70505"/>
                  <a:pt x="171898" y="74944"/>
                </a:cubicBezTo>
                <a:cubicBezTo>
                  <a:pt x="181485" y="79906"/>
                  <a:pt x="188013" y="89903"/>
                  <a:pt x="188013" y="101467"/>
                </a:cubicBezTo>
                <a:cubicBezTo>
                  <a:pt x="188013" y="111241"/>
                  <a:pt x="183313" y="119896"/>
                  <a:pt x="176076" y="125342"/>
                </a:cubicBezTo>
                <a:cubicBezTo>
                  <a:pt x="179806" y="130341"/>
                  <a:pt x="182044" y="136533"/>
                  <a:pt x="182044" y="143248"/>
                </a:cubicBezTo>
                <a:cubicBezTo>
                  <a:pt x="182044" y="159736"/>
                  <a:pt x="168689" y="173091"/>
                  <a:pt x="152201" y="173091"/>
                </a:cubicBezTo>
                <a:cubicBezTo>
                  <a:pt x="151940" y="173091"/>
                  <a:pt x="151716" y="173091"/>
                  <a:pt x="151455" y="173091"/>
                </a:cubicBezTo>
                <a:cubicBezTo>
                  <a:pt x="148806" y="183387"/>
                  <a:pt x="139443" y="190997"/>
                  <a:pt x="128326" y="190997"/>
                </a:cubicBezTo>
                <a:lnTo>
                  <a:pt x="116389" y="190997"/>
                </a:lnTo>
                <a:cubicBezTo>
                  <a:pt x="109786" y="190997"/>
                  <a:pt x="104452" y="185663"/>
                  <a:pt x="104452" y="179060"/>
                </a:cubicBezTo>
                <a:lnTo>
                  <a:pt x="104452" y="11937"/>
                </a:lnTo>
                <a:cubicBezTo>
                  <a:pt x="104452" y="5334"/>
                  <a:pt x="109786" y="0"/>
                  <a:pt x="116389" y="0"/>
                </a:cubicBezTo>
                <a:lnTo>
                  <a:pt x="125342" y="0"/>
                </a:lnTo>
                <a:cubicBezTo>
                  <a:pt x="136869" y="0"/>
                  <a:pt x="146232" y="9363"/>
                  <a:pt x="146232" y="2089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3" name="Text 11"/>
          <p:cNvSpPr/>
          <p:nvPr/>
        </p:nvSpPr>
        <p:spPr>
          <a:xfrm>
            <a:off x="880710" y="3459051"/>
            <a:ext cx="7003238" cy="297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7880" y="3841045"/>
            <a:ext cx="7130569" cy="954987"/>
          </a:xfrm>
          <a:custGeom>
            <a:avLst/>
            <a:gdLst/>
            <a:ahLst/>
            <a:cxnLst/>
            <a:rect l="l" t="t" r="r" b="b"/>
            <a:pathLst>
              <a:path w="7130569" h="954987">
                <a:moveTo>
                  <a:pt x="42444" y="0"/>
                </a:moveTo>
                <a:lnTo>
                  <a:pt x="7045680" y="0"/>
                </a:lnTo>
                <a:cubicBezTo>
                  <a:pt x="7092563" y="0"/>
                  <a:pt x="7130569" y="38006"/>
                  <a:pt x="7130569" y="84889"/>
                </a:cubicBezTo>
                <a:lnTo>
                  <a:pt x="7130569" y="870098"/>
                </a:lnTo>
                <a:cubicBezTo>
                  <a:pt x="7130569" y="916981"/>
                  <a:pt x="7092563" y="954987"/>
                  <a:pt x="7045680" y="954987"/>
                </a:cubicBezTo>
                <a:lnTo>
                  <a:pt x="42444" y="954987"/>
                </a:lnTo>
                <a:cubicBezTo>
                  <a:pt x="19003" y="954987"/>
                  <a:pt x="0" y="935984"/>
                  <a:pt x="0" y="912543"/>
                </a:cubicBezTo>
                <a:lnTo>
                  <a:pt x="0" y="42444"/>
                </a:lnTo>
                <a:cubicBezTo>
                  <a:pt x="0" y="19018"/>
                  <a:pt x="19018" y="0"/>
                  <a:pt x="42444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57880" y="3841045"/>
            <a:ext cx="42444" cy="954987"/>
          </a:xfrm>
          <a:custGeom>
            <a:avLst/>
            <a:gdLst/>
            <a:ahLst/>
            <a:cxnLst/>
            <a:rect l="l" t="t" r="r" b="b"/>
            <a:pathLst>
              <a:path w="42444" h="954987">
                <a:moveTo>
                  <a:pt x="42444" y="0"/>
                </a:moveTo>
                <a:lnTo>
                  <a:pt x="42444" y="0"/>
                </a:lnTo>
                <a:lnTo>
                  <a:pt x="42444" y="954987"/>
                </a:lnTo>
                <a:lnTo>
                  <a:pt x="42444" y="954987"/>
                </a:lnTo>
                <a:cubicBezTo>
                  <a:pt x="19003" y="954987"/>
                  <a:pt x="0" y="935984"/>
                  <a:pt x="0" y="912543"/>
                </a:cubicBezTo>
                <a:lnTo>
                  <a:pt x="0" y="42444"/>
                </a:lnTo>
                <a:cubicBezTo>
                  <a:pt x="0" y="19018"/>
                  <a:pt x="19018" y="0"/>
                  <a:pt x="42444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6" name="Text 14"/>
          <p:cNvSpPr/>
          <p:nvPr/>
        </p:nvSpPr>
        <p:spPr>
          <a:xfrm>
            <a:off x="848877" y="4010821"/>
            <a:ext cx="6854684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核心原理："频繁项集的所有子集都是频繁项集"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8877" y="4350372"/>
            <a:ext cx="6854684" cy="275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迭代搜索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：筛选频繁项集（支持度≥阈值），生成满足置信度阈值的关联规则。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3185" y="5018863"/>
            <a:ext cx="190997" cy="190997"/>
          </a:xfrm>
          <a:custGeom>
            <a:avLst/>
            <a:gdLst/>
            <a:ahLst/>
            <a:cxnLst/>
            <a:rect l="l" t="t" r="r" b="b"/>
            <a:pathLst>
              <a:path w="190997" h="190997">
                <a:moveTo>
                  <a:pt x="49913" y="13541"/>
                </a:moveTo>
                <a:cubicBezTo>
                  <a:pt x="53979" y="16377"/>
                  <a:pt x="54949" y="21972"/>
                  <a:pt x="52114" y="26001"/>
                </a:cubicBezTo>
                <a:lnTo>
                  <a:pt x="31224" y="55844"/>
                </a:lnTo>
                <a:cubicBezTo>
                  <a:pt x="29694" y="58008"/>
                  <a:pt x="27307" y="59388"/>
                  <a:pt x="24658" y="59612"/>
                </a:cubicBezTo>
                <a:cubicBezTo>
                  <a:pt x="22009" y="59836"/>
                  <a:pt x="19398" y="58941"/>
                  <a:pt x="17533" y="57075"/>
                </a:cubicBezTo>
                <a:lnTo>
                  <a:pt x="2611" y="42154"/>
                </a:lnTo>
                <a:cubicBezTo>
                  <a:pt x="-858" y="38647"/>
                  <a:pt x="-858" y="32977"/>
                  <a:pt x="2611" y="29470"/>
                </a:cubicBezTo>
                <a:cubicBezTo>
                  <a:pt x="6081" y="25964"/>
                  <a:pt x="11788" y="26001"/>
                  <a:pt x="15295" y="29470"/>
                </a:cubicBezTo>
                <a:lnTo>
                  <a:pt x="22681" y="36857"/>
                </a:lnTo>
                <a:lnTo>
                  <a:pt x="37453" y="15742"/>
                </a:lnTo>
                <a:cubicBezTo>
                  <a:pt x="40289" y="11676"/>
                  <a:pt x="45884" y="10706"/>
                  <a:pt x="49913" y="13541"/>
                </a:cubicBezTo>
                <a:close/>
                <a:moveTo>
                  <a:pt x="49913" y="73228"/>
                </a:moveTo>
                <a:cubicBezTo>
                  <a:pt x="53979" y="76063"/>
                  <a:pt x="54949" y="81659"/>
                  <a:pt x="52114" y="85688"/>
                </a:cubicBezTo>
                <a:lnTo>
                  <a:pt x="31224" y="115531"/>
                </a:lnTo>
                <a:cubicBezTo>
                  <a:pt x="29694" y="117695"/>
                  <a:pt x="27307" y="119075"/>
                  <a:pt x="24658" y="119299"/>
                </a:cubicBezTo>
                <a:cubicBezTo>
                  <a:pt x="22009" y="119523"/>
                  <a:pt x="19398" y="118627"/>
                  <a:pt x="17533" y="116762"/>
                </a:cubicBezTo>
                <a:lnTo>
                  <a:pt x="2611" y="101840"/>
                </a:lnTo>
                <a:cubicBezTo>
                  <a:pt x="-895" y="98334"/>
                  <a:pt x="-895" y="92664"/>
                  <a:pt x="2611" y="89194"/>
                </a:cubicBezTo>
                <a:cubicBezTo>
                  <a:pt x="6118" y="85725"/>
                  <a:pt x="11788" y="85688"/>
                  <a:pt x="15257" y="89194"/>
                </a:cubicBezTo>
                <a:lnTo>
                  <a:pt x="22644" y="96581"/>
                </a:lnTo>
                <a:lnTo>
                  <a:pt x="37416" y="75466"/>
                </a:lnTo>
                <a:cubicBezTo>
                  <a:pt x="40251" y="71400"/>
                  <a:pt x="45847" y="70430"/>
                  <a:pt x="49876" y="73265"/>
                </a:cubicBezTo>
                <a:close/>
                <a:moveTo>
                  <a:pt x="83561" y="35812"/>
                </a:moveTo>
                <a:cubicBezTo>
                  <a:pt x="83561" y="29209"/>
                  <a:pt x="88896" y="23875"/>
                  <a:pt x="95499" y="23875"/>
                </a:cubicBezTo>
                <a:lnTo>
                  <a:pt x="179060" y="23875"/>
                </a:lnTo>
                <a:cubicBezTo>
                  <a:pt x="185663" y="23875"/>
                  <a:pt x="190997" y="29209"/>
                  <a:pt x="190997" y="35812"/>
                </a:cubicBezTo>
                <a:cubicBezTo>
                  <a:pt x="190997" y="42415"/>
                  <a:pt x="185663" y="47749"/>
                  <a:pt x="179060" y="47749"/>
                </a:cubicBezTo>
                <a:lnTo>
                  <a:pt x="95499" y="47749"/>
                </a:lnTo>
                <a:cubicBezTo>
                  <a:pt x="88896" y="47749"/>
                  <a:pt x="83561" y="42415"/>
                  <a:pt x="83561" y="35812"/>
                </a:cubicBezTo>
                <a:close/>
                <a:moveTo>
                  <a:pt x="83561" y="95499"/>
                </a:moveTo>
                <a:cubicBezTo>
                  <a:pt x="83561" y="88896"/>
                  <a:pt x="88896" y="83561"/>
                  <a:pt x="95499" y="83561"/>
                </a:cubicBezTo>
                <a:lnTo>
                  <a:pt x="179060" y="83561"/>
                </a:lnTo>
                <a:cubicBezTo>
                  <a:pt x="185663" y="83561"/>
                  <a:pt x="190997" y="88896"/>
                  <a:pt x="190997" y="95499"/>
                </a:cubicBezTo>
                <a:cubicBezTo>
                  <a:pt x="190997" y="102102"/>
                  <a:pt x="185663" y="107436"/>
                  <a:pt x="179060" y="107436"/>
                </a:cubicBezTo>
                <a:lnTo>
                  <a:pt x="95499" y="107436"/>
                </a:lnTo>
                <a:cubicBezTo>
                  <a:pt x="88896" y="107436"/>
                  <a:pt x="83561" y="102102"/>
                  <a:pt x="83561" y="95499"/>
                </a:cubicBezTo>
                <a:close/>
                <a:moveTo>
                  <a:pt x="59687" y="155185"/>
                </a:moveTo>
                <a:cubicBezTo>
                  <a:pt x="59687" y="148583"/>
                  <a:pt x="65021" y="143248"/>
                  <a:pt x="71624" y="143248"/>
                </a:cubicBezTo>
                <a:lnTo>
                  <a:pt x="179060" y="143248"/>
                </a:lnTo>
                <a:cubicBezTo>
                  <a:pt x="185663" y="143248"/>
                  <a:pt x="190997" y="148583"/>
                  <a:pt x="190997" y="155185"/>
                </a:cubicBezTo>
                <a:cubicBezTo>
                  <a:pt x="190997" y="161788"/>
                  <a:pt x="185663" y="167123"/>
                  <a:pt x="179060" y="167123"/>
                </a:cubicBezTo>
                <a:lnTo>
                  <a:pt x="71624" y="167123"/>
                </a:lnTo>
                <a:cubicBezTo>
                  <a:pt x="65021" y="167123"/>
                  <a:pt x="59687" y="161788"/>
                  <a:pt x="59687" y="155185"/>
                </a:cubicBezTo>
                <a:close/>
                <a:moveTo>
                  <a:pt x="23875" y="140264"/>
                </a:moveTo>
                <a:cubicBezTo>
                  <a:pt x="32110" y="140264"/>
                  <a:pt x="38796" y="146950"/>
                  <a:pt x="38796" y="155185"/>
                </a:cubicBezTo>
                <a:cubicBezTo>
                  <a:pt x="38796" y="163421"/>
                  <a:pt x="32110" y="170107"/>
                  <a:pt x="23875" y="170107"/>
                </a:cubicBezTo>
                <a:cubicBezTo>
                  <a:pt x="15639" y="170107"/>
                  <a:pt x="8953" y="163421"/>
                  <a:pt x="8953" y="155185"/>
                </a:cubicBezTo>
                <a:cubicBezTo>
                  <a:pt x="8953" y="146950"/>
                  <a:pt x="15639" y="140264"/>
                  <a:pt x="23875" y="140264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9" name="Text 17"/>
          <p:cNvSpPr/>
          <p:nvPr/>
        </p:nvSpPr>
        <p:spPr>
          <a:xfrm>
            <a:off x="880710" y="4965808"/>
            <a:ext cx="7003238" cy="297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算法流程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6658" y="5347803"/>
            <a:ext cx="7151791" cy="424439"/>
          </a:xfrm>
          <a:custGeom>
            <a:avLst/>
            <a:gdLst/>
            <a:ahLst/>
            <a:cxnLst/>
            <a:rect l="l" t="t" r="r" b="b"/>
            <a:pathLst>
              <a:path w="7151791" h="424439">
                <a:moveTo>
                  <a:pt x="84888" y="0"/>
                </a:moveTo>
                <a:lnTo>
                  <a:pt x="7066903" y="0"/>
                </a:lnTo>
                <a:cubicBezTo>
                  <a:pt x="7113786" y="0"/>
                  <a:pt x="7151791" y="38006"/>
                  <a:pt x="7151791" y="84888"/>
                </a:cubicBezTo>
                <a:lnTo>
                  <a:pt x="7151791" y="339551"/>
                </a:lnTo>
                <a:cubicBezTo>
                  <a:pt x="7151791" y="386433"/>
                  <a:pt x="7113786" y="424439"/>
                  <a:pt x="7066903" y="424439"/>
                </a:cubicBezTo>
                <a:lnTo>
                  <a:pt x="84888" y="424439"/>
                </a:lnTo>
                <a:cubicBezTo>
                  <a:pt x="38006" y="424439"/>
                  <a:pt x="0" y="386433"/>
                  <a:pt x="0" y="339551"/>
                </a:cubicBezTo>
                <a:lnTo>
                  <a:pt x="0" y="84888"/>
                </a:lnTo>
                <a:cubicBezTo>
                  <a:pt x="0" y="38006"/>
                  <a:pt x="38006" y="0"/>
                  <a:pt x="84888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721546" y="5432690"/>
            <a:ext cx="254663" cy="254663"/>
          </a:xfrm>
          <a:custGeom>
            <a:avLst/>
            <a:gdLst/>
            <a:ahLst/>
            <a:cxnLst/>
            <a:rect l="l" t="t" r="r" b="b"/>
            <a:pathLst>
              <a:path w="254663" h="254663">
                <a:moveTo>
                  <a:pt x="127332" y="0"/>
                </a:moveTo>
                <a:lnTo>
                  <a:pt x="127332" y="0"/>
                </a:lnTo>
                <a:cubicBezTo>
                  <a:pt x="197655" y="0"/>
                  <a:pt x="254663" y="57008"/>
                  <a:pt x="254663" y="127332"/>
                </a:cubicBezTo>
                <a:lnTo>
                  <a:pt x="254663" y="127332"/>
                </a:lnTo>
                <a:cubicBezTo>
                  <a:pt x="254663" y="197655"/>
                  <a:pt x="197655" y="254663"/>
                  <a:pt x="127332" y="254663"/>
                </a:cubicBezTo>
                <a:lnTo>
                  <a:pt x="127332" y="254663"/>
                </a:lnTo>
                <a:cubicBezTo>
                  <a:pt x="57008" y="254663"/>
                  <a:pt x="0" y="197655"/>
                  <a:pt x="0" y="127332"/>
                </a:cubicBezTo>
                <a:lnTo>
                  <a:pt x="0" y="127332"/>
                </a:lnTo>
                <a:cubicBezTo>
                  <a:pt x="0" y="57008"/>
                  <a:pt x="57008" y="0"/>
                  <a:pt x="127332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2" name="Text 20"/>
          <p:cNvSpPr/>
          <p:nvPr/>
        </p:nvSpPr>
        <p:spPr>
          <a:xfrm>
            <a:off x="689713" y="5432690"/>
            <a:ext cx="318329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1097" y="5432690"/>
            <a:ext cx="2801295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找出支持度≥最小支持度的频繁1项集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658" y="5857129"/>
            <a:ext cx="7151791" cy="424439"/>
          </a:xfrm>
          <a:custGeom>
            <a:avLst/>
            <a:gdLst/>
            <a:ahLst/>
            <a:cxnLst/>
            <a:rect l="l" t="t" r="r" b="b"/>
            <a:pathLst>
              <a:path w="7151791" h="424439">
                <a:moveTo>
                  <a:pt x="84888" y="0"/>
                </a:moveTo>
                <a:lnTo>
                  <a:pt x="7066903" y="0"/>
                </a:lnTo>
                <a:cubicBezTo>
                  <a:pt x="7113786" y="0"/>
                  <a:pt x="7151791" y="38006"/>
                  <a:pt x="7151791" y="84888"/>
                </a:cubicBezTo>
                <a:lnTo>
                  <a:pt x="7151791" y="339551"/>
                </a:lnTo>
                <a:cubicBezTo>
                  <a:pt x="7151791" y="386433"/>
                  <a:pt x="7113786" y="424439"/>
                  <a:pt x="7066903" y="424439"/>
                </a:cubicBezTo>
                <a:lnTo>
                  <a:pt x="84888" y="424439"/>
                </a:lnTo>
                <a:cubicBezTo>
                  <a:pt x="38006" y="424439"/>
                  <a:pt x="0" y="386433"/>
                  <a:pt x="0" y="339551"/>
                </a:cubicBezTo>
                <a:lnTo>
                  <a:pt x="0" y="84888"/>
                </a:lnTo>
                <a:cubicBezTo>
                  <a:pt x="0" y="38006"/>
                  <a:pt x="38006" y="0"/>
                  <a:pt x="84888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721546" y="5942017"/>
            <a:ext cx="254663" cy="254663"/>
          </a:xfrm>
          <a:custGeom>
            <a:avLst/>
            <a:gdLst/>
            <a:ahLst/>
            <a:cxnLst/>
            <a:rect l="l" t="t" r="r" b="b"/>
            <a:pathLst>
              <a:path w="254663" h="254663">
                <a:moveTo>
                  <a:pt x="127332" y="0"/>
                </a:moveTo>
                <a:lnTo>
                  <a:pt x="127332" y="0"/>
                </a:lnTo>
                <a:cubicBezTo>
                  <a:pt x="197655" y="0"/>
                  <a:pt x="254663" y="57008"/>
                  <a:pt x="254663" y="127332"/>
                </a:cubicBezTo>
                <a:lnTo>
                  <a:pt x="254663" y="127332"/>
                </a:lnTo>
                <a:cubicBezTo>
                  <a:pt x="254663" y="197655"/>
                  <a:pt x="197655" y="254663"/>
                  <a:pt x="127332" y="254663"/>
                </a:cubicBezTo>
                <a:lnTo>
                  <a:pt x="127332" y="254663"/>
                </a:lnTo>
                <a:cubicBezTo>
                  <a:pt x="57008" y="254663"/>
                  <a:pt x="0" y="197655"/>
                  <a:pt x="0" y="127332"/>
                </a:cubicBezTo>
                <a:lnTo>
                  <a:pt x="0" y="127332"/>
                </a:lnTo>
                <a:cubicBezTo>
                  <a:pt x="0" y="57008"/>
                  <a:pt x="57008" y="0"/>
                  <a:pt x="127332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6" name="Text 24"/>
          <p:cNvSpPr/>
          <p:nvPr/>
        </p:nvSpPr>
        <p:spPr>
          <a:xfrm>
            <a:off x="689713" y="5942017"/>
            <a:ext cx="318329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61097" y="5942017"/>
            <a:ext cx="2398078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从频繁k项集生成候选(k+1)项集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658" y="6366455"/>
            <a:ext cx="7151791" cy="424439"/>
          </a:xfrm>
          <a:custGeom>
            <a:avLst/>
            <a:gdLst/>
            <a:ahLst/>
            <a:cxnLst/>
            <a:rect l="l" t="t" r="r" b="b"/>
            <a:pathLst>
              <a:path w="7151791" h="424439">
                <a:moveTo>
                  <a:pt x="84888" y="0"/>
                </a:moveTo>
                <a:lnTo>
                  <a:pt x="7066903" y="0"/>
                </a:lnTo>
                <a:cubicBezTo>
                  <a:pt x="7113786" y="0"/>
                  <a:pt x="7151791" y="38006"/>
                  <a:pt x="7151791" y="84888"/>
                </a:cubicBezTo>
                <a:lnTo>
                  <a:pt x="7151791" y="339551"/>
                </a:lnTo>
                <a:cubicBezTo>
                  <a:pt x="7151791" y="386433"/>
                  <a:pt x="7113786" y="424439"/>
                  <a:pt x="7066903" y="424439"/>
                </a:cubicBezTo>
                <a:lnTo>
                  <a:pt x="84888" y="424439"/>
                </a:lnTo>
                <a:cubicBezTo>
                  <a:pt x="38006" y="424439"/>
                  <a:pt x="0" y="386433"/>
                  <a:pt x="0" y="339551"/>
                </a:cubicBezTo>
                <a:lnTo>
                  <a:pt x="0" y="84888"/>
                </a:lnTo>
                <a:cubicBezTo>
                  <a:pt x="0" y="38006"/>
                  <a:pt x="38006" y="0"/>
                  <a:pt x="84888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721546" y="6451343"/>
            <a:ext cx="254663" cy="254663"/>
          </a:xfrm>
          <a:custGeom>
            <a:avLst/>
            <a:gdLst/>
            <a:ahLst/>
            <a:cxnLst/>
            <a:rect l="l" t="t" r="r" b="b"/>
            <a:pathLst>
              <a:path w="254663" h="254663">
                <a:moveTo>
                  <a:pt x="127332" y="0"/>
                </a:moveTo>
                <a:lnTo>
                  <a:pt x="127332" y="0"/>
                </a:lnTo>
                <a:cubicBezTo>
                  <a:pt x="197655" y="0"/>
                  <a:pt x="254663" y="57008"/>
                  <a:pt x="254663" y="127332"/>
                </a:cubicBezTo>
                <a:lnTo>
                  <a:pt x="254663" y="127332"/>
                </a:lnTo>
                <a:cubicBezTo>
                  <a:pt x="254663" y="197655"/>
                  <a:pt x="197655" y="254663"/>
                  <a:pt x="127332" y="254663"/>
                </a:cubicBezTo>
                <a:lnTo>
                  <a:pt x="127332" y="254663"/>
                </a:lnTo>
                <a:cubicBezTo>
                  <a:pt x="57008" y="254663"/>
                  <a:pt x="0" y="197655"/>
                  <a:pt x="0" y="127332"/>
                </a:cubicBezTo>
                <a:lnTo>
                  <a:pt x="0" y="127332"/>
                </a:lnTo>
                <a:cubicBezTo>
                  <a:pt x="0" y="57008"/>
                  <a:pt x="57008" y="0"/>
                  <a:pt x="127332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0" name="Text 28"/>
          <p:cNvSpPr/>
          <p:nvPr/>
        </p:nvSpPr>
        <p:spPr>
          <a:xfrm>
            <a:off x="689713" y="6451343"/>
            <a:ext cx="318329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61097" y="6451343"/>
            <a:ext cx="3077180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剪枝：删除支持度&lt;最小支持度的候选项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6658" y="6875782"/>
            <a:ext cx="7151791" cy="424439"/>
          </a:xfrm>
          <a:custGeom>
            <a:avLst/>
            <a:gdLst/>
            <a:ahLst/>
            <a:cxnLst/>
            <a:rect l="l" t="t" r="r" b="b"/>
            <a:pathLst>
              <a:path w="7151791" h="424439">
                <a:moveTo>
                  <a:pt x="84888" y="0"/>
                </a:moveTo>
                <a:lnTo>
                  <a:pt x="7066903" y="0"/>
                </a:lnTo>
                <a:cubicBezTo>
                  <a:pt x="7113786" y="0"/>
                  <a:pt x="7151791" y="38006"/>
                  <a:pt x="7151791" y="84888"/>
                </a:cubicBezTo>
                <a:lnTo>
                  <a:pt x="7151791" y="339551"/>
                </a:lnTo>
                <a:cubicBezTo>
                  <a:pt x="7151791" y="386433"/>
                  <a:pt x="7113786" y="424439"/>
                  <a:pt x="7066903" y="424439"/>
                </a:cubicBezTo>
                <a:lnTo>
                  <a:pt x="84888" y="424439"/>
                </a:lnTo>
                <a:cubicBezTo>
                  <a:pt x="38006" y="424439"/>
                  <a:pt x="0" y="386433"/>
                  <a:pt x="0" y="339551"/>
                </a:cubicBezTo>
                <a:lnTo>
                  <a:pt x="0" y="84888"/>
                </a:lnTo>
                <a:cubicBezTo>
                  <a:pt x="0" y="38006"/>
                  <a:pt x="38006" y="0"/>
                  <a:pt x="84888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721546" y="6960669"/>
            <a:ext cx="254663" cy="254663"/>
          </a:xfrm>
          <a:custGeom>
            <a:avLst/>
            <a:gdLst/>
            <a:ahLst/>
            <a:cxnLst/>
            <a:rect l="l" t="t" r="r" b="b"/>
            <a:pathLst>
              <a:path w="254663" h="254663">
                <a:moveTo>
                  <a:pt x="127332" y="0"/>
                </a:moveTo>
                <a:lnTo>
                  <a:pt x="127332" y="0"/>
                </a:lnTo>
                <a:cubicBezTo>
                  <a:pt x="197655" y="0"/>
                  <a:pt x="254663" y="57008"/>
                  <a:pt x="254663" y="127332"/>
                </a:cubicBezTo>
                <a:lnTo>
                  <a:pt x="254663" y="127332"/>
                </a:lnTo>
                <a:cubicBezTo>
                  <a:pt x="254663" y="197655"/>
                  <a:pt x="197655" y="254663"/>
                  <a:pt x="127332" y="254663"/>
                </a:cubicBezTo>
                <a:lnTo>
                  <a:pt x="127332" y="254663"/>
                </a:lnTo>
                <a:cubicBezTo>
                  <a:pt x="57008" y="254663"/>
                  <a:pt x="0" y="197655"/>
                  <a:pt x="0" y="127332"/>
                </a:cubicBezTo>
                <a:lnTo>
                  <a:pt x="0" y="127332"/>
                </a:lnTo>
                <a:cubicBezTo>
                  <a:pt x="0" y="57008"/>
                  <a:pt x="57008" y="0"/>
                  <a:pt x="127332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4" name="Text 32"/>
          <p:cNvSpPr/>
          <p:nvPr/>
        </p:nvSpPr>
        <p:spPr>
          <a:xfrm>
            <a:off x="689713" y="6960669"/>
            <a:ext cx="318329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61097" y="6960669"/>
            <a:ext cx="2631520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重复直到无法找到更大的频繁项集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7880" y="7469996"/>
            <a:ext cx="3491008" cy="763990"/>
          </a:xfrm>
          <a:custGeom>
            <a:avLst/>
            <a:gdLst/>
            <a:ahLst/>
            <a:cxnLst/>
            <a:rect l="l" t="t" r="r" b="b"/>
            <a:pathLst>
              <a:path w="3491008" h="763990">
                <a:moveTo>
                  <a:pt x="42444" y="0"/>
                </a:moveTo>
                <a:lnTo>
                  <a:pt x="3406121" y="0"/>
                </a:lnTo>
                <a:cubicBezTo>
                  <a:pt x="3453003" y="0"/>
                  <a:pt x="3491008" y="38005"/>
                  <a:pt x="3491008" y="84887"/>
                </a:cubicBezTo>
                <a:lnTo>
                  <a:pt x="3491008" y="679103"/>
                </a:lnTo>
                <a:cubicBezTo>
                  <a:pt x="3491008" y="725984"/>
                  <a:pt x="3453003" y="763990"/>
                  <a:pt x="3406121" y="763990"/>
                </a:cubicBezTo>
                <a:lnTo>
                  <a:pt x="42444" y="763990"/>
                </a:lnTo>
                <a:cubicBezTo>
                  <a:pt x="19003" y="763990"/>
                  <a:pt x="0" y="744987"/>
                  <a:pt x="0" y="721546"/>
                </a:cubicBezTo>
                <a:lnTo>
                  <a:pt x="0" y="42444"/>
                </a:lnTo>
                <a:cubicBezTo>
                  <a:pt x="0" y="19018"/>
                  <a:pt x="19018" y="0"/>
                  <a:pt x="42444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57880" y="7469996"/>
            <a:ext cx="42444" cy="763990"/>
          </a:xfrm>
          <a:custGeom>
            <a:avLst/>
            <a:gdLst/>
            <a:ahLst/>
            <a:cxnLst/>
            <a:rect l="l" t="t" r="r" b="b"/>
            <a:pathLst>
              <a:path w="42444" h="763990">
                <a:moveTo>
                  <a:pt x="42444" y="0"/>
                </a:moveTo>
                <a:lnTo>
                  <a:pt x="42444" y="0"/>
                </a:lnTo>
                <a:lnTo>
                  <a:pt x="42444" y="763990"/>
                </a:lnTo>
                <a:lnTo>
                  <a:pt x="42444" y="763990"/>
                </a:lnTo>
                <a:cubicBezTo>
                  <a:pt x="19003" y="763990"/>
                  <a:pt x="0" y="744987"/>
                  <a:pt x="0" y="721546"/>
                </a:cubicBezTo>
                <a:lnTo>
                  <a:pt x="0" y="42444"/>
                </a:lnTo>
                <a:cubicBezTo>
                  <a:pt x="0" y="19018"/>
                  <a:pt x="19018" y="0"/>
                  <a:pt x="42444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8" name="Text 36"/>
          <p:cNvSpPr/>
          <p:nvPr/>
        </p:nvSpPr>
        <p:spPr>
          <a:xfrm>
            <a:off x="806433" y="7597327"/>
            <a:ext cx="3300010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6433" y="7894434"/>
            <a:ext cx="3289399" cy="212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原理简单、易于理解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98502" y="7469996"/>
            <a:ext cx="3491008" cy="763990"/>
          </a:xfrm>
          <a:custGeom>
            <a:avLst/>
            <a:gdLst/>
            <a:ahLst/>
            <a:cxnLst/>
            <a:rect l="l" t="t" r="r" b="b"/>
            <a:pathLst>
              <a:path w="3491008" h="763990">
                <a:moveTo>
                  <a:pt x="42444" y="0"/>
                </a:moveTo>
                <a:lnTo>
                  <a:pt x="3406121" y="0"/>
                </a:lnTo>
                <a:cubicBezTo>
                  <a:pt x="3453003" y="0"/>
                  <a:pt x="3491008" y="38005"/>
                  <a:pt x="3491008" y="84887"/>
                </a:cubicBezTo>
                <a:lnTo>
                  <a:pt x="3491008" y="679103"/>
                </a:lnTo>
                <a:cubicBezTo>
                  <a:pt x="3491008" y="725984"/>
                  <a:pt x="3453003" y="763990"/>
                  <a:pt x="3406121" y="763990"/>
                </a:cubicBezTo>
                <a:lnTo>
                  <a:pt x="42444" y="763990"/>
                </a:lnTo>
                <a:cubicBezTo>
                  <a:pt x="19003" y="763990"/>
                  <a:pt x="0" y="744987"/>
                  <a:pt x="0" y="721546"/>
                </a:cubicBezTo>
                <a:lnTo>
                  <a:pt x="0" y="42444"/>
                </a:lnTo>
                <a:cubicBezTo>
                  <a:pt x="0" y="19018"/>
                  <a:pt x="19018" y="0"/>
                  <a:pt x="42444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4298502" y="7469996"/>
            <a:ext cx="42444" cy="763990"/>
          </a:xfrm>
          <a:custGeom>
            <a:avLst/>
            <a:gdLst/>
            <a:ahLst/>
            <a:cxnLst/>
            <a:rect l="l" t="t" r="r" b="b"/>
            <a:pathLst>
              <a:path w="42444" h="763990">
                <a:moveTo>
                  <a:pt x="42444" y="0"/>
                </a:moveTo>
                <a:lnTo>
                  <a:pt x="42444" y="0"/>
                </a:lnTo>
                <a:lnTo>
                  <a:pt x="42444" y="763990"/>
                </a:lnTo>
                <a:lnTo>
                  <a:pt x="42444" y="763990"/>
                </a:lnTo>
                <a:cubicBezTo>
                  <a:pt x="19003" y="763990"/>
                  <a:pt x="0" y="744987"/>
                  <a:pt x="0" y="721546"/>
                </a:cubicBezTo>
                <a:lnTo>
                  <a:pt x="0" y="42444"/>
                </a:lnTo>
                <a:cubicBezTo>
                  <a:pt x="0" y="19018"/>
                  <a:pt x="19018" y="0"/>
                  <a:pt x="42444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42" name="Text 40"/>
          <p:cNvSpPr/>
          <p:nvPr/>
        </p:nvSpPr>
        <p:spPr>
          <a:xfrm>
            <a:off x="4447056" y="7597327"/>
            <a:ext cx="3300010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47056" y="7894434"/>
            <a:ext cx="3289399" cy="212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效率低，需多次扫描数据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57587" y="1655311"/>
            <a:ext cx="7576230" cy="6791018"/>
          </a:xfrm>
          <a:custGeom>
            <a:avLst/>
            <a:gdLst/>
            <a:ahLst/>
            <a:cxnLst/>
            <a:rect l="l" t="t" r="r" b="b"/>
            <a:pathLst>
              <a:path w="7576230" h="6791018">
                <a:moveTo>
                  <a:pt x="127332" y="0"/>
                </a:moveTo>
                <a:lnTo>
                  <a:pt x="7448898" y="0"/>
                </a:lnTo>
                <a:cubicBezTo>
                  <a:pt x="7519221" y="0"/>
                  <a:pt x="7576230" y="57008"/>
                  <a:pt x="7576230" y="127332"/>
                </a:cubicBezTo>
                <a:lnTo>
                  <a:pt x="7576230" y="6663687"/>
                </a:lnTo>
                <a:cubicBezTo>
                  <a:pt x="7576230" y="6734010"/>
                  <a:pt x="7519221" y="6791018"/>
                  <a:pt x="7448898" y="6791018"/>
                </a:cubicBezTo>
                <a:lnTo>
                  <a:pt x="127332" y="6791018"/>
                </a:lnTo>
                <a:cubicBezTo>
                  <a:pt x="57008" y="6791018"/>
                  <a:pt x="0" y="6734010"/>
                  <a:pt x="0" y="6663687"/>
                </a:cubicBezTo>
                <a:lnTo>
                  <a:pt x="0" y="127332"/>
                </a:lnTo>
                <a:cubicBezTo>
                  <a:pt x="0" y="57008"/>
                  <a:pt x="57008" y="0"/>
                  <a:pt x="12733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5274" dist="2122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57587" y="1655311"/>
            <a:ext cx="7576230" cy="763990"/>
          </a:xfrm>
          <a:custGeom>
            <a:avLst/>
            <a:gdLst/>
            <a:ahLst/>
            <a:cxnLst/>
            <a:rect l="l" t="t" r="r" b="b"/>
            <a:pathLst>
              <a:path w="7576230" h="763990">
                <a:moveTo>
                  <a:pt x="127334" y="0"/>
                </a:moveTo>
                <a:lnTo>
                  <a:pt x="7448896" y="0"/>
                </a:lnTo>
                <a:cubicBezTo>
                  <a:pt x="7519220" y="0"/>
                  <a:pt x="7576230" y="57009"/>
                  <a:pt x="7576230" y="127334"/>
                </a:cubicBezTo>
                <a:lnTo>
                  <a:pt x="7576230" y="763990"/>
                </a:lnTo>
                <a:lnTo>
                  <a:pt x="0" y="763990"/>
                </a:lnTo>
                <a:lnTo>
                  <a:pt x="0" y="127334"/>
                </a:lnTo>
                <a:cubicBezTo>
                  <a:pt x="0" y="57057"/>
                  <a:pt x="57057" y="0"/>
                  <a:pt x="127334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0" scaled="1"/>
          </a:gradFill>
        </p:spPr>
      </p:sp>
      <p:sp>
        <p:nvSpPr>
          <p:cNvPr id="46" name="Shape 44"/>
          <p:cNvSpPr/>
          <p:nvPr/>
        </p:nvSpPr>
        <p:spPr>
          <a:xfrm>
            <a:off x="8501639" y="1909850"/>
            <a:ext cx="254663" cy="254663"/>
          </a:xfrm>
          <a:custGeom>
            <a:avLst/>
            <a:gdLst/>
            <a:ahLst/>
            <a:cxnLst/>
            <a:rect l="l" t="t" r="r" b="b"/>
            <a:pathLst>
              <a:path w="254663" h="254663">
                <a:moveTo>
                  <a:pt x="0" y="39791"/>
                </a:moveTo>
                <a:cubicBezTo>
                  <a:pt x="0" y="26610"/>
                  <a:pt x="10694" y="15916"/>
                  <a:pt x="23875" y="15916"/>
                </a:cubicBezTo>
                <a:lnTo>
                  <a:pt x="71624" y="15916"/>
                </a:lnTo>
                <a:cubicBezTo>
                  <a:pt x="84805" y="15916"/>
                  <a:pt x="95499" y="26610"/>
                  <a:pt x="95499" y="39791"/>
                </a:cubicBezTo>
                <a:lnTo>
                  <a:pt x="95499" y="47749"/>
                </a:lnTo>
                <a:lnTo>
                  <a:pt x="159164" y="47749"/>
                </a:lnTo>
                <a:lnTo>
                  <a:pt x="159164" y="39791"/>
                </a:lnTo>
                <a:cubicBezTo>
                  <a:pt x="159164" y="26610"/>
                  <a:pt x="169858" y="15916"/>
                  <a:pt x="183039" y="15916"/>
                </a:cubicBezTo>
                <a:lnTo>
                  <a:pt x="230789" y="15916"/>
                </a:lnTo>
                <a:cubicBezTo>
                  <a:pt x="243969" y="15916"/>
                  <a:pt x="254663" y="26610"/>
                  <a:pt x="254663" y="39791"/>
                </a:cubicBezTo>
                <a:lnTo>
                  <a:pt x="254663" y="87540"/>
                </a:lnTo>
                <a:cubicBezTo>
                  <a:pt x="254663" y="100721"/>
                  <a:pt x="243969" y="111415"/>
                  <a:pt x="230789" y="111415"/>
                </a:cubicBezTo>
                <a:lnTo>
                  <a:pt x="183039" y="111415"/>
                </a:lnTo>
                <a:cubicBezTo>
                  <a:pt x="169858" y="111415"/>
                  <a:pt x="159164" y="100721"/>
                  <a:pt x="159164" y="87540"/>
                </a:cubicBezTo>
                <a:lnTo>
                  <a:pt x="159164" y="79582"/>
                </a:lnTo>
                <a:lnTo>
                  <a:pt x="95499" y="79582"/>
                </a:lnTo>
                <a:lnTo>
                  <a:pt x="95499" y="87540"/>
                </a:lnTo>
                <a:cubicBezTo>
                  <a:pt x="95499" y="91171"/>
                  <a:pt x="94653" y="94653"/>
                  <a:pt x="93211" y="97737"/>
                </a:cubicBezTo>
                <a:lnTo>
                  <a:pt x="127332" y="143248"/>
                </a:lnTo>
                <a:lnTo>
                  <a:pt x="167123" y="143248"/>
                </a:lnTo>
                <a:cubicBezTo>
                  <a:pt x="180304" y="143248"/>
                  <a:pt x="190997" y="153942"/>
                  <a:pt x="190997" y="167123"/>
                </a:cubicBezTo>
                <a:lnTo>
                  <a:pt x="190997" y="214872"/>
                </a:lnTo>
                <a:cubicBezTo>
                  <a:pt x="190997" y="228053"/>
                  <a:pt x="180304" y="238747"/>
                  <a:pt x="167123" y="238747"/>
                </a:cubicBezTo>
                <a:lnTo>
                  <a:pt x="119373" y="238747"/>
                </a:lnTo>
                <a:cubicBezTo>
                  <a:pt x="106193" y="238747"/>
                  <a:pt x="95499" y="228053"/>
                  <a:pt x="95499" y="214872"/>
                </a:cubicBezTo>
                <a:lnTo>
                  <a:pt x="95499" y="167123"/>
                </a:lnTo>
                <a:cubicBezTo>
                  <a:pt x="95499" y="163492"/>
                  <a:pt x="96344" y="160010"/>
                  <a:pt x="97787" y="156926"/>
                </a:cubicBezTo>
                <a:lnTo>
                  <a:pt x="63666" y="111415"/>
                </a:lnTo>
                <a:lnTo>
                  <a:pt x="23875" y="111415"/>
                </a:lnTo>
                <a:cubicBezTo>
                  <a:pt x="10694" y="111415"/>
                  <a:pt x="0" y="100721"/>
                  <a:pt x="0" y="87540"/>
                </a:cubicBezTo>
                <a:lnTo>
                  <a:pt x="0" y="3979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7" name="Text 45"/>
          <p:cNvSpPr/>
          <p:nvPr/>
        </p:nvSpPr>
        <p:spPr>
          <a:xfrm>
            <a:off x="8788135" y="1867530"/>
            <a:ext cx="6960794" cy="3395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5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FP-Growth算法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96333" y="2684450"/>
            <a:ext cx="190997" cy="190997"/>
          </a:xfrm>
          <a:custGeom>
            <a:avLst/>
            <a:gdLst/>
            <a:ahLst/>
            <a:cxnLst/>
            <a:rect l="l" t="t" r="r" b="b"/>
            <a:pathLst>
              <a:path w="190997" h="190997">
                <a:moveTo>
                  <a:pt x="95499" y="190997"/>
                </a:moveTo>
                <a:cubicBezTo>
                  <a:pt x="148206" y="190997"/>
                  <a:pt x="190997" y="148206"/>
                  <a:pt x="190997" y="95499"/>
                </a:cubicBezTo>
                <a:cubicBezTo>
                  <a:pt x="190997" y="42792"/>
                  <a:pt x="148206" y="0"/>
                  <a:pt x="95499" y="0"/>
                </a:cubicBezTo>
                <a:cubicBezTo>
                  <a:pt x="42792" y="0"/>
                  <a:pt x="0" y="42792"/>
                  <a:pt x="0" y="95499"/>
                </a:cubicBezTo>
                <a:cubicBezTo>
                  <a:pt x="0" y="148206"/>
                  <a:pt x="42792" y="190997"/>
                  <a:pt x="95499" y="190997"/>
                </a:cubicBezTo>
                <a:close/>
                <a:moveTo>
                  <a:pt x="83561" y="59687"/>
                </a:moveTo>
                <a:cubicBezTo>
                  <a:pt x="83561" y="53098"/>
                  <a:pt x="88910" y="47749"/>
                  <a:pt x="95499" y="47749"/>
                </a:cubicBezTo>
                <a:cubicBezTo>
                  <a:pt x="102087" y="47749"/>
                  <a:pt x="107436" y="53098"/>
                  <a:pt x="107436" y="59687"/>
                </a:cubicBezTo>
                <a:cubicBezTo>
                  <a:pt x="107436" y="66275"/>
                  <a:pt x="102087" y="71624"/>
                  <a:pt x="95499" y="71624"/>
                </a:cubicBezTo>
                <a:cubicBezTo>
                  <a:pt x="88910" y="71624"/>
                  <a:pt x="83561" y="66275"/>
                  <a:pt x="83561" y="59687"/>
                </a:cubicBezTo>
                <a:close/>
                <a:moveTo>
                  <a:pt x="80577" y="83561"/>
                </a:moveTo>
                <a:lnTo>
                  <a:pt x="98483" y="83561"/>
                </a:lnTo>
                <a:cubicBezTo>
                  <a:pt x="103444" y="83561"/>
                  <a:pt x="107436" y="87553"/>
                  <a:pt x="107436" y="92514"/>
                </a:cubicBezTo>
                <a:lnTo>
                  <a:pt x="107436" y="125342"/>
                </a:lnTo>
                <a:lnTo>
                  <a:pt x="110420" y="125342"/>
                </a:lnTo>
                <a:cubicBezTo>
                  <a:pt x="115382" y="125342"/>
                  <a:pt x="119373" y="129334"/>
                  <a:pt x="119373" y="134295"/>
                </a:cubicBezTo>
                <a:cubicBezTo>
                  <a:pt x="119373" y="139256"/>
                  <a:pt x="115382" y="143248"/>
                  <a:pt x="110420" y="143248"/>
                </a:cubicBezTo>
                <a:lnTo>
                  <a:pt x="80577" y="143248"/>
                </a:lnTo>
                <a:cubicBezTo>
                  <a:pt x="75616" y="143248"/>
                  <a:pt x="71624" y="139256"/>
                  <a:pt x="71624" y="134295"/>
                </a:cubicBezTo>
                <a:cubicBezTo>
                  <a:pt x="71624" y="129334"/>
                  <a:pt x="75616" y="125342"/>
                  <a:pt x="80577" y="125342"/>
                </a:cubicBezTo>
                <a:lnTo>
                  <a:pt x="89530" y="125342"/>
                </a:lnTo>
                <a:lnTo>
                  <a:pt x="89530" y="101467"/>
                </a:lnTo>
                <a:lnTo>
                  <a:pt x="80577" y="101467"/>
                </a:lnTo>
                <a:cubicBezTo>
                  <a:pt x="75616" y="101467"/>
                  <a:pt x="71624" y="97476"/>
                  <a:pt x="71624" y="92514"/>
                </a:cubicBezTo>
                <a:cubicBezTo>
                  <a:pt x="71624" y="87553"/>
                  <a:pt x="75616" y="83561"/>
                  <a:pt x="80577" y="83561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49" name="Text 47"/>
          <p:cNvSpPr/>
          <p:nvPr/>
        </p:nvSpPr>
        <p:spPr>
          <a:xfrm>
            <a:off x="8713858" y="2631395"/>
            <a:ext cx="7003238" cy="297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69806" y="3013390"/>
            <a:ext cx="7236679" cy="275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优化的关联规则挖掘方法，适用于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大规模离散数据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72459" y="3512105"/>
            <a:ext cx="238747" cy="190997"/>
          </a:xfrm>
          <a:custGeom>
            <a:avLst/>
            <a:gdLst/>
            <a:ahLst/>
            <a:cxnLst/>
            <a:rect l="l" t="t" r="r" b="b"/>
            <a:pathLst>
              <a:path w="238747" h="190997">
                <a:moveTo>
                  <a:pt x="155148" y="78525"/>
                </a:moveTo>
                <a:cubicBezTo>
                  <a:pt x="159699" y="77294"/>
                  <a:pt x="164474" y="79458"/>
                  <a:pt x="166526" y="83673"/>
                </a:cubicBezTo>
                <a:lnTo>
                  <a:pt x="173464" y="97700"/>
                </a:lnTo>
                <a:cubicBezTo>
                  <a:pt x="177307" y="98222"/>
                  <a:pt x="181074" y="99266"/>
                  <a:pt x="184618" y="100721"/>
                </a:cubicBezTo>
                <a:lnTo>
                  <a:pt x="197675" y="92029"/>
                </a:lnTo>
                <a:cubicBezTo>
                  <a:pt x="201592" y="89418"/>
                  <a:pt x="206777" y="89940"/>
                  <a:pt x="210097" y="93260"/>
                </a:cubicBezTo>
                <a:lnTo>
                  <a:pt x="217260" y="100423"/>
                </a:lnTo>
                <a:cubicBezTo>
                  <a:pt x="220580" y="103743"/>
                  <a:pt x="221102" y="108966"/>
                  <a:pt x="218491" y="112845"/>
                </a:cubicBezTo>
                <a:lnTo>
                  <a:pt x="209799" y="125864"/>
                </a:lnTo>
                <a:cubicBezTo>
                  <a:pt x="210507" y="127618"/>
                  <a:pt x="211142" y="129445"/>
                  <a:pt x="211664" y="131348"/>
                </a:cubicBezTo>
                <a:cubicBezTo>
                  <a:pt x="212186" y="133251"/>
                  <a:pt x="212522" y="135116"/>
                  <a:pt x="212783" y="137018"/>
                </a:cubicBezTo>
                <a:lnTo>
                  <a:pt x="226847" y="143957"/>
                </a:lnTo>
                <a:cubicBezTo>
                  <a:pt x="231062" y="146046"/>
                  <a:pt x="233226" y="150821"/>
                  <a:pt x="231995" y="155335"/>
                </a:cubicBezTo>
                <a:lnTo>
                  <a:pt x="229383" y="165108"/>
                </a:lnTo>
                <a:cubicBezTo>
                  <a:pt x="228152" y="169622"/>
                  <a:pt x="223937" y="172681"/>
                  <a:pt x="219237" y="172383"/>
                </a:cubicBezTo>
                <a:lnTo>
                  <a:pt x="203569" y="171375"/>
                </a:lnTo>
                <a:cubicBezTo>
                  <a:pt x="201219" y="174397"/>
                  <a:pt x="198496" y="177195"/>
                  <a:pt x="195399" y="179582"/>
                </a:cubicBezTo>
                <a:lnTo>
                  <a:pt x="196406" y="195213"/>
                </a:lnTo>
                <a:cubicBezTo>
                  <a:pt x="196705" y="199913"/>
                  <a:pt x="193646" y="204166"/>
                  <a:pt x="189132" y="205359"/>
                </a:cubicBezTo>
                <a:lnTo>
                  <a:pt x="179358" y="207971"/>
                </a:lnTo>
                <a:cubicBezTo>
                  <a:pt x="174807" y="209202"/>
                  <a:pt x="170070" y="207038"/>
                  <a:pt x="167981" y="202823"/>
                </a:cubicBezTo>
                <a:lnTo>
                  <a:pt x="161042" y="188796"/>
                </a:lnTo>
                <a:cubicBezTo>
                  <a:pt x="157200" y="188274"/>
                  <a:pt x="153432" y="187230"/>
                  <a:pt x="149888" y="185775"/>
                </a:cubicBezTo>
                <a:lnTo>
                  <a:pt x="136832" y="194467"/>
                </a:lnTo>
                <a:cubicBezTo>
                  <a:pt x="132915" y="197078"/>
                  <a:pt x="127730" y="196556"/>
                  <a:pt x="124409" y="193236"/>
                </a:cubicBezTo>
                <a:lnTo>
                  <a:pt x="117247" y="186073"/>
                </a:lnTo>
                <a:cubicBezTo>
                  <a:pt x="113927" y="182753"/>
                  <a:pt x="113405" y="177568"/>
                  <a:pt x="116016" y="173651"/>
                </a:cubicBezTo>
                <a:lnTo>
                  <a:pt x="124708" y="160594"/>
                </a:lnTo>
                <a:cubicBezTo>
                  <a:pt x="123999" y="158841"/>
                  <a:pt x="123365" y="157013"/>
                  <a:pt x="122843" y="155111"/>
                </a:cubicBezTo>
                <a:cubicBezTo>
                  <a:pt x="122320" y="153208"/>
                  <a:pt x="121985" y="151306"/>
                  <a:pt x="121724" y="149441"/>
                </a:cubicBezTo>
                <a:lnTo>
                  <a:pt x="107660" y="142502"/>
                </a:lnTo>
                <a:cubicBezTo>
                  <a:pt x="103444" y="140413"/>
                  <a:pt x="101318" y="135638"/>
                  <a:pt x="102512" y="131124"/>
                </a:cubicBezTo>
                <a:lnTo>
                  <a:pt x="105123" y="121350"/>
                </a:lnTo>
                <a:cubicBezTo>
                  <a:pt x="106354" y="116837"/>
                  <a:pt x="110570" y="113778"/>
                  <a:pt x="115270" y="114076"/>
                </a:cubicBezTo>
                <a:lnTo>
                  <a:pt x="130900" y="115083"/>
                </a:lnTo>
                <a:cubicBezTo>
                  <a:pt x="133251" y="112062"/>
                  <a:pt x="135974" y="109264"/>
                  <a:pt x="139070" y="106876"/>
                </a:cubicBezTo>
                <a:lnTo>
                  <a:pt x="138063" y="91283"/>
                </a:lnTo>
                <a:cubicBezTo>
                  <a:pt x="137764" y="86583"/>
                  <a:pt x="140823" y="82330"/>
                  <a:pt x="145337" y="81137"/>
                </a:cubicBezTo>
                <a:lnTo>
                  <a:pt x="155111" y="78525"/>
                </a:lnTo>
                <a:close/>
                <a:moveTo>
                  <a:pt x="167272" y="126834"/>
                </a:moveTo>
                <a:cubicBezTo>
                  <a:pt x="158213" y="126844"/>
                  <a:pt x="150866" y="134208"/>
                  <a:pt x="150877" y="143267"/>
                </a:cubicBezTo>
                <a:cubicBezTo>
                  <a:pt x="150887" y="152326"/>
                  <a:pt x="158250" y="159672"/>
                  <a:pt x="167309" y="159662"/>
                </a:cubicBezTo>
                <a:cubicBezTo>
                  <a:pt x="176368" y="159652"/>
                  <a:pt x="183715" y="152288"/>
                  <a:pt x="183704" y="143229"/>
                </a:cubicBezTo>
                <a:cubicBezTo>
                  <a:pt x="183694" y="134170"/>
                  <a:pt x="176331" y="126824"/>
                  <a:pt x="167272" y="126834"/>
                </a:cubicBezTo>
                <a:close/>
                <a:moveTo>
                  <a:pt x="83897" y="-16973"/>
                </a:moveTo>
                <a:lnTo>
                  <a:pt x="93671" y="-14362"/>
                </a:lnTo>
                <a:cubicBezTo>
                  <a:pt x="98185" y="-13131"/>
                  <a:pt x="101244" y="-8878"/>
                  <a:pt x="100945" y="-4215"/>
                </a:cubicBezTo>
                <a:lnTo>
                  <a:pt x="99938" y="11378"/>
                </a:lnTo>
                <a:cubicBezTo>
                  <a:pt x="103034" y="13765"/>
                  <a:pt x="105757" y="16526"/>
                  <a:pt x="108108" y="19585"/>
                </a:cubicBezTo>
                <a:lnTo>
                  <a:pt x="123775" y="18577"/>
                </a:lnTo>
                <a:cubicBezTo>
                  <a:pt x="128438" y="18279"/>
                  <a:pt x="132691" y="21338"/>
                  <a:pt x="133922" y="25852"/>
                </a:cubicBezTo>
                <a:lnTo>
                  <a:pt x="136533" y="35625"/>
                </a:lnTo>
                <a:cubicBezTo>
                  <a:pt x="137727" y="40139"/>
                  <a:pt x="135601" y="44914"/>
                  <a:pt x="131385" y="47003"/>
                </a:cubicBezTo>
                <a:lnTo>
                  <a:pt x="117322" y="53942"/>
                </a:lnTo>
                <a:cubicBezTo>
                  <a:pt x="117061" y="55844"/>
                  <a:pt x="116687" y="57747"/>
                  <a:pt x="116203" y="59612"/>
                </a:cubicBezTo>
                <a:cubicBezTo>
                  <a:pt x="115718" y="61477"/>
                  <a:pt x="115046" y="63342"/>
                  <a:pt x="114337" y="65096"/>
                </a:cubicBezTo>
                <a:lnTo>
                  <a:pt x="123029" y="78152"/>
                </a:lnTo>
                <a:cubicBezTo>
                  <a:pt x="125640" y="82069"/>
                  <a:pt x="125118" y="87254"/>
                  <a:pt x="121798" y="90575"/>
                </a:cubicBezTo>
                <a:lnTo>
                  <a:pt x="114636" y="97737"/>
                </a:lnTo>
                <a:cubicBezTo>
                  <a:pt x="111316" y="101057"/>
                  <a:pt x="106130" y="101579"/>
                  <a:pt x="102213" y="98968"/>
                </a:cubicBezTo>
                <a:lnTo>
                  <a:pt x="89157" y="90276"/>
                </a:lnTo>
                <a:cubicBezTo>
                  <a:pt x="85613" y="91731"/>
                  <a:pt x="81845" y="92775"/>
                  <a:pt x="78003" y="93298"/>
                </a:cubicBezTo>
                <a:lnTo>
                  <a:pt x="71064" y="107324"/>
                </a:lnTo>
                <a:cubicBezTo>
                  <a:pt x="68975" y="111539"/>
                  <a:pt x="64200" y="113666"/>
                  <a:pt x="59687" y="112472"/>
                </a:cubicBezTo>
                <a:lnTo>
                  <a:pt x="49913" y="109861"/>
                </a:lnTo>
                <a:cubicBezTo>
                  <a:pt x="45362" y="108630"/>
                  <a:pt x="42340" y="104377"/>
                  <a:pt x="42639" y="99714"/>
                </a:cubicBezTo>
                <a:lnTo>
                  <a:pt x="43646" y="84084"/>
                </a:lnTo>
                <a:cubicBezTo>
                  <a:pt x="40550" y="81696"/>
                  <a:pt x="37826" y="78936"/>
                  <a:pt x="35476" y="75877"/>
                </a:cubicBezTo>
                <a:lnTo>
                  <a:pt x="19809" y="76884"/>
                </a:lnTo>
                <a:cubicBezTo>
                  <a:pt x="15145" y="77182"/>
                  <a:pt x="10893" y="74123"/>
                  <a:pt x="9662" y="69610"/>
                </a:cubicBezTo>
                <a:lnTo>
                  <a:pt x="7050" y="59836"/>
                </a:lnTo>
                <a:cubicBezTo>
                  <a:pt x="5857" y="55322"/>
                  <a:pt x="7983" y="50547"/>
                  <a:pt x="12198" y="48458"/>
                </a:cubicBezTo>
                <a:lnTo>
                  <a:pt x="26262" y="41520"/>
                </a:lnTo>
                <a:cubicBezTo>
                  <a:pt x="26523" y="39617"/>
                  <a:pt x="26896" y="37752"/>
                  <a:pt x="27381" y="35849"/>
                </a:cubicBezTo>
                <a:cubicBezTo>
                  <a:pt x="27904" y="33947"/>
                  <a:pt x="28500" y="32119"/>
                  <a:pt x="29246" y="30366"/>
                </a:cubicBezTo>
                <a:lnTo>
                  <a:pt x="20555" y="17346"/>
                </a:lnTo>
                <a:cubicBezTo>
                  <a:pt x="17943" y="13430"/>
                  <a:pt x="18466" y="8244"/>
                  <a:pt x="21786" y="4924"/>
                </a:cubicBezTo>
                <a:lnTo>
                  <a:pt x="28948" y="-2238"/>
                </a:lnTo>
                <a:cubicBezTo>
                  <a:pt x="32268" y="-5558"/>
                  <a:pt x="37453" y="-6081"/>
                  <a:pt x="41370" y="-3469"/>
                </a:cubicBezTo>
                <a:lnTo>
                  <a:pt x="54427" y="5223"/>
                </a:lnTo>
                <a:cubicBezTo>
                  <a:pt x="57971" y="3768"/>
                  <a:pt x="61738" y="2723"/>
                  <a:pt x="65581" y="2201"/>
                </a:cubicBezTo>
                <a:lnTo>
                  <a:pt x="72519" y="-11825"/>
                </a:lnTo>
                <a:cubicBezTo>
                  <a:pt x="74608" y="-16041"/>
                  <a:pt x="79346" y="-18167"/>
                  <a:pt x="83897" y="-16973"/>
                </a:cubicBezTo>
                <a:close/>
                <a:moveTo>
                  <a:pt x="71773" y="31336"/>
                </a:moveTo>
                <a:cubicBezTo>
                  <a:pt x="62714" y="31336"/>
                  <a:pt x="55359" y="38690"/>
                  <a:pt x="55359" y="47749"/>
                </a:cubicBezTo>
                <a:cubicBezTo>
                  <a:pt x="55359" y="56808"/>
                  <a:pt x="62714" y="64163"/>
                  <a:pt x="71773" y="64163"/>
                </a:cubicBezTo>
                <a:cubicBezTo>
                  <a:pt x="80832" y="64163"/>
                  <a:pt x="88187" y="56808"/>
                  <a:pt x="88187" y="47749"/>
                </a:cubicBezTo>
                <a:cubicBezTo>
                  <a:pt x="88187" y="38690"/>
                  <a:pt x="80832" y="31336"/>
                  <a:pt x="71773" y="31336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52" name="Text 50"/>
          <p:cNvSpPr/>
          <p:nvPr/>
        </p:nvSpPr>
        <p:spPr>
          <a:xfrm>
            <a:off x="8713858" y="3459051"/>
            <a:ext cx="7003238" cy="297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69806" y="3841045"/>
            <a:ext cx="7151791" cy="530548"/>
          </a:xfrm>
          <a:custGeom>
            <a:avLst/>
            <a:gdLst/>
            <a:ahLst/>
            <a:cxnLst/>
            <a:rect l="l" t="t" r="r" b="b"/>
            <a:pathLst>
              <a:path w="7151791" h="530548">
                <a:moveTo>
                  <a:pt x="84888" y="0"/>
                </a:moveTo>
                <a:lnTo>
                  <a:pt x="7066903" y="0"/>
                </a:lnTo>
                <a:cubicBezTo>
                  <a:pt x="7113786" y="0"/>
                  <a:pt x="7151791" y="38006"/>
                  <a:pt x="7151791" y="84888"/>
                </a:cubicBezTo>
                <a:lnTo>
                  <a:pt x="7151791" y="445661"/>
                </a:lnTo>
                <a:cubicBezTo>
                  <a:pt x="7151791" y="492543"/>
                  <a:pt x="7113786" y="530548"/>
                  <a:pt x="7066903" y="530548"/>
                </a:cubicBezTo>
                <a:lnTo>
                  <a:pt x="84888" y="530548"/>
                </a:lnTo>
                <a:cubicBezTo>
                  <a:pt x="38006" y="530548"/>
                  <a:pt x="0" y="492543"/>
                  <a:pt x="0" y="445661"/>
                </a:cubicBezTo>
                <a:lnTo>
                  <a:pt x="0" y="84888"/>
                </a:lnTo>
                <a:cubicBezTo>
                  <a:pt x="0" y="38037"/>
                  <a:pt x="38037" y="0"/>
                  <a:pt x="84888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8597138" y="3968377"/>
            <a:ext cx="6982016" cy="275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FP树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（频繁模式树）压缩存储数据，无需生成候选项集，直接从树中挖掘频繁项集。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91028" y="4456481"/>
            <a:ext cx="7130569" cy="509326"/>
          </a:xfrm>
          <a:custGeom>
            <a:avLst/>
            <a:gdLst/>
            <a:ahLst/>
            <a:cxnLst/>
            <a:rect l="l" t="t" r="r" b="b"/>
            <a:pathLst>
              <a:path w="7130569" h="509326">
                <a:moveTo>
                  <a:pt x="42444" y="0"/>
                </a:moveTo>
                <a:lnTo>
                  <a:pt x="7045680" y="0"/>
                </a:lnTo>
                <a:cubicBezTo>
                  <a:pt x="7092563" y="0"/>
                  <a:pt x="7130569" y="38006"/>
                  <a:pt x="7130569" y="84889"/>
                </a:cubicBezTo>
                <a:lnTo>
                  <a:pt x="7130569" y="424437"/>
                </a:lnTo>
                <a:cubicBezTo>
                  <a:pt x="7130569" y="471320"/>
                  <a:pt x="7092563" y="509326"/>
                  <a:pt x="7045680" y="509326"/>
                </a:cubicBezTo>
                <a:lnTo>
                  <a:pt x="42444" y="509326"/>
                </a:lnTo>
                <a:cubicBezTo>
                  <a:pt x="19003" y="509326"/>
                  <a:pt x="0" y="490324"/>
                  <a:pt x="0" y="466883"/>
                </a:cubicBezTo>
                <a:lnTo>
                  <a:pt x="0" y="42444"/>
                </a:lnTo>
                <a:cubicBezTo>
                  <a:pt x="0" y="19018"/>
                  <a:pt x="19018" y="0"/>
                  <a:pt x="42444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8491028" y="4456481"/>
            <a:ext cx="42444" cy="509326"/>
          </a:xfrm>
          <a:custGeom>
            <a:avLst/>
            <a:gdLst/>
            <a:ahLst/>
            <a:cxnLst/>
            <a:rect l="l" t="t" r="r" b="b"/>
            <a:pathLst>
              <a:path w="42444" h="509326">
                <a:moveTo>
                  <a:pt x="42444" y="0"/>
                </a:moveTo>
                <a:lnTo>
                  <a:pt x="42444" y="0"/>
                </a:lnTo>
                <a:lnTo>
                  <a:pt x="42444" y="509326"/>
                </a:lnTo>
                <a:lnTo>
                  <a:pt x="42444" y="509326"/>
                </a:lnTo>
                <a:cubicBezTo>
                  <a:pt x="19003" y="509326"/>
                  <a:pt x="0" y="490324"/>
                  <a:pt x="0" y="466883"/>
                </a:cubicBezTo>
                <a:lnTo>
                  <a:pt x="0" y="42444"/>
                </a:lnTo>
                <a:cubicBezTo>
                  <a:pt x="0" y="19018"/>
                  <a:pt x="19018" y="0"/>
                  <a:pt x="42444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7" name="Text 55"/>
          <p:cNvSpPr/>
          <p:nvPr/>
        </p:nvSpPr>
        <p:spPr>
          <a:xfrm>
            <a:off x="8639581" y="4583813"/>
            <a:ext cx="6939572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仅需扫描数据两次</a:t>
            </a:r>
            <a:r>
              <a:rPr lang="en-US" sz="1335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：第一次统计频率，第二次构建FP树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96333" y="5188638"/>
            <a:ext cx="190997" cy="190997"/>
          </a:xfrm>
          <a:custGeom>
            <a:avLst/>
            <a:gdLst/>
            <a:ahLst/>
            <a:cxnLst/>
            <a:rect l="l" t="t" r="r" b="b"/>
            <a:pathLst>
              <a:path w="190997" h="190997">
                <a:moveTo>
                  <a:pt x="11937" y="11937"/>
                </a:moveTo>
                <a:cubicBezTo>
                  <a:pt x="18540" y="11937"/>
                  <a:pt x="23875" y="17272"/>
                  <a:pt x="23875" y="23875"/>
                </a:cubicBezTo>
                <a:lnTo>
                  <a:pt x="23875" y="149217"/>
                </a:lnTo>
                <a:cubicBezTo>
                  <a:pt x="23875" y="152499"/>
                  <a:pt x="26561" y="155185"/>
                  <a:pt x="29843" y="155185"/>
                </a:cubicBezTo>
                <a:lnTo>
                  <a:pt x="179060" y="155185"/>
                </a:lnTo>
                <a:cubicBezTo>
                  <a:pt x="185663" y="155185"/>
                  <a:pt x="190997" y="160520"/>
                  <a:pt x="190997" y="167123"/>
                </a:cubicBezTo>
                <a:cubicBezTo>
                  <a:pt x="190997" y="173726"/>
                  <a:pt x="185663" y="179060"/>
                  <a:pt x="179060" y="179060"/>
                </a:cubicBezTo>
                <a:lnTo>
                  <a:pt x="29843" y="179060"/>
                </a:lnTo>
                <a:cubicBezTo>
                  <a:pt x="13355" y="179060"/>
                  <a:pt x="0" y="165705"/>
                  <a:pt x="0" y="149217"/>
                </a:cubicBezTo>
                <a:lnTo>
                  <a:pt x="0" y="23875"/>
                </a:lnTo>
                <a:cubicBezTo>
                  <a:pt x="0" y="17272"/>
                  <a:pt x="5334" y="11937"/>
                  <a:pt x="11937" y="11937"/>
                </a:cubicBezTo>
                <a:close/>
                <a:moveTo>
                  <a:pt x="47749" y="35812"/>
                </a:moveTo>
                <a:cubicBezTo>
                  <a:pt x="47749" y="29209"/>
                  <a:pt x="53084" y="23875"/>
                  <a:pt x="59687" y="23875"/>
                </a:cubicBezTo>
                <a:lnTo>
                  <a:pt x="131311" y="23875"/>
                </a:lnTo>
                <a:cubicBezTo>
                  <a:pt x="137914" y="23875"/>
                  <a:pt x="143248" y="29209"/>
                  <a:pt x="143248" y="35812"/>
                </a:cubicBezTo>
                <a:cubicBezTo>
                  <a:pt x="143248" y="42415"/>
                  <a:pt x="137914" y="47749"/>
                  <a:pt x="131311" y="47749"/>
                </a:cubicBezTo>
                <a:lnTo>
                  <a:pt x="59687" y="47749"/>
                </a:lnTo>
                <a:cubicBezTo>
                  <a:pt x="53084" y="47749"/>
                  <a:pt x="47749" y="42415"/>
                  <a:pt x="47749" y="35812"/>
                </a:cubicBezTo>
                <a:close/>
                <a:moveTo>
                  <a:pt x="59687" y="65655"/>
                </a:moveTo>
                <a:lnTo>
                  <a:pt x="107436" y="65655"/>
                </a:lnTo>
                <a:cubicBezTo>
                  <a:pt x="114039" y="65655"/>
                  <a:pt x="119373" y="70990"/>
                  <a:pt x="119373" y="77593"/>
                </a:cubicBezTo>
                <a:cubicBezTo>
                  <a:pt x="119373" y="84196"/>
                  <a:pt x="114039" y="89530"/>
                  <a:pt x="107436" y="89530"/>
                </a:cubicBezTo>
                <a:lnTo>
                  <a:pt x="59687" y="89530"/>
                </a:lnTo>
                <a:cubicBezTo>
                  <a:pt x="53084" y="89530"/>
                  <a:pt x="47749" y="84196"/>
                  <a:pt x="47749" y="77593"/>
                </a:cubicBezTo>
                <a:cubicBezTo>
                  <a:pt x="47749" y="70990"/>
                  <a:pt x="53084" y="65655"/>
                  <a:pt x="59687" y="65655"/>
                </a:cubicBezTo>
                <a:close/>
                <a:moveTo>
                  <a:pt x="59687" y="107436"/>
                </a:moveTo>
                <a:lnTo>
                  <a:pt x="155185" y="107436"/>
                </a:lnTo>
                <a:cubicBezTo>
                  <a:pt x="161788" y="107436"/>
                  <a:pt x="167123" y="112771"/>
                  <a:pt x="167123" y="119373"/>
                </a:cubicBezTo>
                <a:cubicBezTo>
                  <a:pt x="167123" y="125976"/>
                  <a:pt x="161788" y="131311"/>
                  <a:pt x="155185" y="131311"/>
                </a:cubicBezTo>
                <a:lnTo>
                  <a:pt x="59687" y="131311"/>
                </a:lnTo>
                <a:cubicBezTo>
                  <a:pt x="53084" y="131311"/>
                  <a:pt x="47749" y="125976"/>
                  <a:pt x="47749" y="119373"/>
                </a:cubicBezTo>
                <a:cubicBezTo>
                  <a:pt x="47749" y="112771"/>
                  <a:pt x="53084" y="107436"/>
                  <a:pt x="59687" y="107436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59" name="Text 57"/>
          <p:cNvSpPr/>
          <p:nvPr/>
        </p:nvSpPr>
        <p:spPr>
          <a:xfrm>
            <a:off x="8713858" y="5135583"/>
            <a:ext cx="7003238" cy="297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性能优势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469806" y="5517578"/>
            <a:ext cx="7151791" cy="509326"/>
          </a:xfrm>
          <a:custGeom>
            <a:avLst/>
            <a:gdLst/>
            <a:ahLst/>
            <a:cxnLst/>
            <a:rect l="l" t="t" r="r" b="b"/>
            <a:pathLst>
              <a:path w="7151791" h="509326">
                <a:moveTo>
                  <a:pt x="84889" y="0"/>
                </a:moveTo>
                <a:lnTo>
                  <a:pt x="7066902" y="0"/>
                </a:lnTo>
                <a:cubicBezTo>
                  <a:pt x="7113785" y="0"/>
                  <a:pt x="7151791" y="38006"/>
                  <a:pt x="7151791" y="84889"/>
                </a:cubicBezTo>
                <a:lnTo>
                  <a:pt x="7151791" y="424437"/>
                </a:lnTo>
                <a:cubicBezTo>
                  <a:pt x="7151791" y="471320"/>
                  <a:pt x="7113785" y="509326"/>
                  <a:pt x="7066902" y="509326"/>
                </a:cubicBezTo>
                <a:lnTo>
                  <a:pt x="84889" y="509326"/>
                </a:lnTo>
                <a:cubicBezTo>
                  <a:pt x="38006" y="509326"/>
                  <a:pt x="0" y="471320"/>
                  <a:pt x="0" y="424437"/>
                </a:cubicBezTo>
                <a:lnTo>
                  <a:pt x="0" y="84889"/>
                </a:lnTo>
                <a:cubicBezTo>
                  <a:pt x="0" y="38006"/>
                  <a:pt x="38006" y="0"/>
                  <a:pt x="84889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61" name="Text 59"/>
          <p:cNvSpPr/>
          <p:nvPr/>
        </p:nvSpPr>
        <p:spPr>
          <a:xfrm>
            <a:off x="8597138" y="5644910"/>
            <a:ext cx="6982016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远高于Apriori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，尤其在稠密数据集上表现优异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91028" y="6196680"/>
            <a:ext cx="3491008" cy="763990"/>
          </a:xfrm>
          <a:custGeom>
            <a:avLst/>
            <a:gdLst/>
            <a:ahLst/>
            <a:cxnLst/>
            <a:rect l="l" t="t" r="r" b="b"/>
            <a:pathLst>
              <a:path w="3491008" h="763990">
                <a:moveTo>
                  <a:pt x="42444" y="0"/>
                </a:moveTo>
                <a:lnTo>
                  <a:pt x="3406121" y="0"/>
                </a:lnTo>
                <a:cubicBezTo>
                  <a:pt x="3453003" y="0"/>
                  <a:pt x="3491008" y="38005"/>
                  <a:pt x="3491008" y="84887"/>
                </a:cubicBezTo>
                <a:lnTo>
                  <a:pt x="3491008" y="679103"/>
                </a:lnTo>
                <a:cubicBezTo>
                  <a:pt x="3491008" y="725984"/>
                  <a:pt x="3453003" y="763990"/>
                  <a:pt x="3406121" y="763990"/>
                </a:cubicBezTo>
                <a:lnTo>
                  <a:pt x="42444" y="763990"/>
                </a:lnTo>
                <a:cubicBezTo>
                  <a:pt x="19003" y="763990"/>
                  <a:pt x="0" y="744987"/>
                  <a:pt x="0" y="721546"/>
                </a:cubicBezTo>
                <a:lnTo>
                  <a:pt x="0" y="42444"/>
                </a:lnTo>
                <a:cubicBezTo>
                  <a:pt x="0" y="19018"/>
                  <a:pt x="19018" y="0"/>
                  <a:pt x="42444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63" name="Shape 61"/>
          <p:cNvSpPr/>
          <p:nvPr/>
        </p:nvSpPr>
        <p:spPr>
          <a:xfrm>
            <a:off x="8491028" y="6196680"/>
            <a:ext cx="42444" cy="763990"/>
          </a:xfrm>
          <a:custGeom>
            <a:avLst/>
            <a:gdLst/>
            <a:ahLst/>
            <a:cxnLst/>
            <a:rect l="l" t="t" r="r" b="b"/>
            <a:pathLst>
              <a:path w="42444" h="763990">
                <a:moveTo>
                  <a:pt x="42444" y="0"/>
                </a:moveTo>
                <a:lnTo>
                  <a:pt x="42444" y="0"/>
                </a:lnTo>
                <a:lnTo>
                  <a:pt x="42444" y="763990"/>
                </a:lnTo>
                <a:lnTo>
                  <a:pt x="42444" y="763990"/>
                </a:lnTo>
                <a:cubicBezTo>
                  <a:pt x="19003" y="763990"/>
                  <a:pt x="0" y="744987"/>
                  <a:pt x="0" y="721546"/>
                </a:cubicBezTo>
                <a:lnTo>
                  <a:pt x="0" y="42444"/>
                </a:lnTo>
                <a:cubicBezTo>
                  <a:pt x="0" y="19018"/>
                  <a:pt x="19018" y="0"/>
                  <a:pt x="42444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64" name="Text 62"/>
          <p:cNvSpPr/>
          <p:nvPr/>
        </p:nvSpPr>
        <p:spPr>
          <a:xfrm>
            <a:off x="8639581" y="6324011"/>
            <a:ext cx="3300010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639581" y="6621118"/>
            <a:ext cx="3289399" cy="212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效率远高于Apriori，仅需扫描两次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2131784" y="6196680"/>
            <a:ext cx="3491008" cy="763990"/>
          </a:xfrm>
          <a:custGeom>
            <a:avLst/>
            <a:gdLst/>
            <a:ahLst/>
            <a:cxnLst/>
            <a:rect l="l" t="t" r="r" b="b"/>
            <a:pathLst>
              <a:path w="3491008" h="763990">
                <a:moveTo>
                  <a:pt x="42444" y="0"/>
                </a:moveTo>
                <a:lnTo>
                  <a:pt x="3406121" y="0"/>
                </a:lnTo>
                <a:cubicBezTo>
                  <a:pt x="3453003" y="0"/>
                  <a:pt x="3491008" y="38005"/>
                  <a:pt x="3491008" y="84887"/>
                </a:cubicBezTo>
                <a:lnTo>
                  <a:pt x="3491008" y="679103"/>
                </a:lnTo>
                <a:cubicBezTo>
                  <a:pt x="3491008" y="725984"/>
                  <a:pt x="3453003" y="763990"/>
                  <a:pt x="3406121" y="763990"/>
                </a:cubicBezTo>
                <a:lnTo>
                  <a:pt x="42444" y="763990"/>
                </a:lnTo>
                <a:cubicBezTo>
                  <a:pt x="19003" y="763990"/>
                  <a:pt x="0" y="744987"/>
                  <a:pt x="0" y="721546"/>
                </a:cubicBezTo>
                <a:lnTo>
                  <a:pt x="0" y="42444"/>
                </a:lnTo>
                <a:cubicBezTo>
                  <a:pt x="0" y="19018"/>
                  <a:pt x="19018" y="0"/>
                  <a:pt x="42444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67" name="Shape 65"/>
          <p:cNvSpPr/>
          <p:nvPr/>
        </p:nvSpPr>
        <p:spPr>
          <a:xfrm>
            <a:off x="12131784" y="6196680"/>
            <a:ext cx="42444" cy="763990"/>
          </a:xfrm>
          <a:custGeom>
            <a:avLst/>
            <a:gdLst/>
            <a:ahLst/>
            <a:cxnLst/>
            <a:rect l="l" t="t" r="r" b="b"/>
            <a:pathLst>
              <a:path w="42444" h="763990">
                <a:moveTo>
                  <a:pt x="42444" y="0"/>
                </a:moveTo>
                <a:lnTo>
                  <a:pt x="42444" y="0"/>
                </a:lnTo>
                <a:lnTo>
                  <a:pt x="42444" y="763990"/>
                </a:lnTo>
                <a:lnTo>
                  <a:pt x="42444" y="763990"/>
                </a:lnTo>
                <a:cubicBezTo>
                  <a:pt x="19003" y="763990"/>
                  <a:pt x="0" y="744987"/>
                  <a:pt x="0" y="721546"/>
                </a:cubicBezTo>
                <a:lnTo>
                  <a:pt x="0" y="42444"/>
                </a:lnTo>
                <a:cubicBezTo>
                  <a:pt x="0" y="19018"/>
                  <a:pt x="19018" y="0"/>
                  <a:pt x="42444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68" name="Text 66"/>
          <p:cNvSpPr/>
          <p:nvPr/>
        </p:nvSpPr>
        <p:spPr>
          <a:xfrm>
            <a:off x="12280337" y="6324011"/>
            <a:ext cx="3300010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2280337" y="6621118"/>
            <a:ext cx="3289399" cy="212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树的构建与维护较复杂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57" y="444457"/>
            <a:ext cx="15455978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kern="0" spc="70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CORRELATION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4457" y="800022"/>
            <a:ext cx="15633761" cy="5333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关联模型：相关性分析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457" y="1466707"/>
            <a:ext cx="1066696" cy="44446"/>
          </a:xfrm>
          <a:custGeom>
            <a:avLst/>
            <a:gdLst/>
            <a:ahLst/>
            <a:cxnLst/>
            <a:rect l="l" t="t" r="r" b="b"/>
            <a:pathLst>
              <a:path w="1066696" h="44446">
                <a:moveTo>
                  <a:pt x="0" y="0"/>
                </a:moveTo>
                <a:lnTo>
                  <a:pt x="1066696" y="0"/>
                </a:lnTo>
                <a:lnTo>
                  <a:pt x="1066696" y="44446"/>
                </a:lnTo>
                <a:lnTo>
                  <a:pt x="0" y="44446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44457" y="1733381"/>
            <a:ext cx="7555762" cy="5644599"/>
          </a:xfrm>
          <a:custGeom>
            <a:avLst/>
            <a:gdLst/>
            <a:ahLst/>
            <a:cxnLst/>
            <a:rect l="l" t="t" r="r" b="b"/>
            <a:pathLst>
              <a:path w="7555762" h="5644599">
                <a:moveTo>
                  <a:pt x="133325" y="0"/>
                </a:moveTo>
                <a:lnTo>
                  <a:pt x="7422437" y="0"/>
                </a:lnTo>
                <a:cubicBezTo>
                  <a:pt x="7496070" y="0"/>
                  <a:pt x="7555762" y="59692"/>
                  <a:pt x="7555762" y="133325"/>
                </a:cubicBezTo>
                <a:lnTo>
                  <a:pt x="7555762" y="5511273"/>
                </a:lnTo>
                <a:cubicBezTo>
                  <a:pt x="7555762" y="5584907"/>
                  <a:pt x="7496070" y="5644599"/>
                  <a:pt x="7422437" y="5644599"/>
                </a:cubicBezTo>
                <a:lnTo>
                  <a:pt x="133325" y="5644599"/>
                </a:lnTo>
                <a:cubicBezTo>
                  <a:pt x="59692" y="5644599"/>
                  <a:pt x="0" y="5584907"/>
                  <a:pt x="0" y="5511273"/>
                </a:cubicBezTo>
                <a:lnTo>
                  <a:pt x="0" y="133325"/>
                </a:lnTo>
                <a:cubicBezTo>
                  <a:pt x="0" y="59741"/>
                  <a:pt x="59741" y="0"/>
                  <a:pt x="13332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7785" dist="22222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4457" y="1733381"/>
            <a:ext cx="7555762" cy="800022"/>
          </a:xfrm>
          <a:custGeom>
            <a:avLst/>
            <a:gdLst/>
            <a:ahLst/>
            <a:cxnLst/>
            <a:rect l="l" t="t" r="r" b="b"/>
            <a:pathLst>
              <a:path w="7555762" h="800022">
                <a:moveTo>
                  <a:pt x="133340" y="0"/>
                </a:moveTo>
                <a:lnTo>
                  <a:pt x="7422422" y="0"/>
                </a:lnTo>
                <a:cubicBezTo>
                  <a:pt x="7496064" y="0"/>
                  <a:pt x="7555762" y="59698"/>
                  <a:pt x="7555762" y="133340"/>
                </a:cubicBezTo>
                <a:lnTo>
                  <a:pt x="7555762" y="800022"/>
                </a:lnTo>
                <a:lnTo>
                  <a:pt x="0" y="800022"/>
                </a:lnTo>
                <a:lnTo>
                  <a:pt x="0" y="133340"/>
                </a:lnTo>
                <a:cubicBezTo>
                  <a:pt x="0" y="59747"/>
                  <a:pt x="59747" y="0"/>
                  <a:pt x="13334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/>
              </a:gs>
              <a:gs pos="100000">
                <a:srgbClr val="5B677D"/>
              </a:gs>
            </a:gsLst>
            <a:lin ang="0" scaled="1"/>
          </a:gradFill>
        </p:spPr>
      </p:sp>
      <p:sp>
        <p:nvSpPr>
          <p:cNvPr id="7" name="Shape 5"/>
          <p:cNvSpPr/>
          <p:nvPr/>
        </p:nvSpPr>
        <p:spPr>
          <a:xfrm>
            <a:off x="700019" y="1999924"/>
            <a:ext cx="266674" cy="266674"/>
          </a:xfrm>
          <a:custGeom>
            <a:avLst/>
            <a:gdLst/>
            <a:ahLst/>
            <a:cxnLst/>
            <a:rect l="l" t="t" r="r" b="b"/>
            <a:pathLst>
              <a:path w="266674" h="266674">
                <a:moveTo>
                  <a:pt x="33334" y="33334"/>
                </a:moveTo>
                <a:cubicBezTo>
                  <a:pt x="33334" y="24115"/>
                  <a:pt x="25886" y="16667"/>
                  <a:pt x="16667" y="16667"/>
                </a:cubicBezTo>
                <a:cubicBezTo>
                  <a:pt x="7448" y="16667"/>
                  <a:pt x="0" y="24115"/>
                  <a:pt x="0" y="33334"/>
                </a:cubicBezTo>
                <a:lnTo>
                  <a:pt x="0" y="208339"/>
                </a:lnTo>
                <a:cubicBezTo>
                  <a:pt x="0" y="231360"/>
                  <a:pt x="18646" y="250007"/>
                  <a:pt x="41668" y="250007"/>
                </a:cubicBezTo>
                <a:lnTo>
                  <a:pt x="250007" y="250007"/>
                </a:lnTo>
                <a:cubicBezTo>
                  <a:pt x="259226" y="250007"/>
                  <a:pt x="266674" y="242559"/>
                  <a:pt x="266674" y="233340"/>
                </a:cubicBezTo>
                <a:cubicBezTo>
                  <a:pt x="266674" y="224121"/>
                  <a:pt x="259226" y="216673"/>
                  <a:pt x="250007" y="216673"/>
                </a:cubicBezTo>
                <a:lnTo>
                  <a:pt x="41668" y="216673"/>
                </a:lnTo>
                <a:cubicBezTo>
                  <a:pt x="37084" y="216673"/>
                  <a:pt x="33334" y="212922"/>
                  <a:pt x="33334" y="208339"/>
                </a:cubicBezTo>
                <a:lnTo>
                  <a:pt x="33334" y="33334"/>
                </a:lnTo>
                <a:close/>
                <a:moveTo>
                  <a:pt x="245111" y="78440"/>
                </a:moveTo>
                <a:cubicBezTo>
                  <a:pt x="251621" y="71929"/>
                  <a:pt x="251621" y="61356"/>
                  <a:pt x="245111" y="54845"/>
                </a:cubicBezTo>
                <a:cubicBezTo>
                  <a:pt x="238600" y="48335"/>
                  <a:pt x="228027" y="48335"/>
                  <a:pt x="221516" y="54845"/>
                </a:cubicBezTo>
                <a:lnTo>
                  <a:pt x="166671" y="109743"/>
                </a:lnTo>
                <a:lnTo>
                  <a:pt x="136775" y="79898"/>
                </a:lnTo>
                <a:cubicBezTo>
                  <a:pt x="130264" y="73387"/>
                  <a:pt x="119691" y="73387"/>
                  <a:pt x="113180" y="79898"/>
                </a:cubicBezTo>
                <a:lnTo>
                  <a:pt x="63179" y="129899"/>
                </a:lnTo>
                <a:cubicBezTo>
                  <a:pt x="56668" y="136410"/>
                  <a:pt x="56668" y="146983"/>
                  <a:pt x="63179" y="153494"/>
                </a:cubicBezTo>
                <a:cubicBezTo>
                  <a:pt x="69689" y="160004"/>
                  <a:pt x="80263" y="160004"/>
                  <a:pt x="86773" y="153494"/>
                </a:cubicBezTo>
                <a:lnTo>
                  <a:pt x="125003" y="115264"/>
                </a:lnTo>
                <a:lnTo>
                  <a:pt x="154900" y="145160"/>
                </a:lnTo>
                <a:cubicBezTo>
                  <a:pt x="161411" y="151671"/>
                  <a:pt x="171984" y="151671"/>
                  <a:pt x="178494" y="145160"/>
                </a:cubicBezTo>
                <a:lnTo>
                  <a:pt x="245163" y="7849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000027" y="1955609"/>
            <a:ext cx="6911300" cy="355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皮尔逊相关系数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4463" y="2811058"/>
            <a:ext cx="200005" cy="200005"/>
          </a:xfrm>
          <a:custGeom>
            <a:avLst/>
            <a:gdLst/>
            <a:ahLst/>
            <a:cxnLst/>
            <a:rect l="l" t="t" r="r" b="b"/>
            <a:pathLst>
              <a:path w="200005" h="200005">
                <a:moveTo>
                  <a:pt x="100003" y="200005"/>
                </a:moveTo>
                <a:cubicBezTo>
                  <a:pt x="155196" y="200005"/>
                  <a:pt x="200005" y="155196"/>
                  <a:pt x="200005" y="100003"/>
                </a:cubicBezTo>
                <a:cubicBezTo>
                  <a:pt x="200005" y="44810"/>
                  <a:pt x="155196" y="0"/>
                  <a:pt x="100003" y="0"/>
                </a:cubicBezTo>
                <a:cubicBezTo>
                  <a:pt x="44810" y="0"/>
                  <a:pt x="0" y="44810"/>
                  <a:pt x="0" y="100003"/>
                </a:cubicBezTo>
                <a:cubicBezTo>
                  <a:pt x="0" y="155196"/>
                  <a:pt x="44810" y="200005"/>
                  <a:pt x="100003" y="200005"/>
                </a:cubicBezTo>
                <a:close/>
                <a:moveTo>
                  <a:pt x="87502" y="62502"/>
                </a:moveTo>
                <a:cubicBezTo>
                  <a:pt x="87502" y="55603"/>
                  <a:pt x="93104" y="50001"/>
                  <a:pt x="100003" y="50001"/>
                </a:cubicBezTo>
                <a:cubicBezTo>
                  <a:pt x="106902" y="50001"/>
                  <a:pt x="112503" y="55603"/>
                  <a:pt x="112503" y="62502"/>
                </a:cubicBezTo>
                <a:cubicBezTo>
                  <a:pt x="112503" y="69401"/>
                  <a:pt x="106902" y="75002"/>
                  <a:pt x="100003" y="75002"/>
                </a:cubicBezTo>
                <a:cubicBezTo>
                  <a:pt x="93104" y="75002"/>
                  <a:pt x="87502" y="69401"/>
                  <a:pt x="87502" y="62502"/>
                </a:cubicBezTo>
                <a:close/>
                <a:moveTo>
                  <a:pt x="84377" y="87502"/>
                </a:moveTo>
                <a:lnTo>
                  <a:pt x="103128" y="87502"/>
                </a:lnTo>
                <a:cubicBezTo>
                  <a:pt x="108323" y="87502"/>
                  <a:pt x="112503" y="91682"/>
                  <a:pt x="112503" y="96878"/>
                </a:cubicBezTo>
                <a:lnTo>
                  <a:pt x="112503" y="131254"/>
                </a:lnTo>
                <a:lnTo>
                  <a:pt x="115628" y="131254"/>
                </a:lnTo>
                <a:cubicBezTo>
                  <a:pt x="120824" y="131254"/>
                  <a:pt x="125003" y="135433"/>
                  <a:pt x="125003" y="140629"/>
                </a:cubicBezTo>
                <a:cubicBezTo>
                  <a:pt x="125003" y="145824"/>
                  <a:pt x="120824" y="150004"/>
                  <a:pt x="115628" y="150004"/>
                </a:cubicBezTo>
                <a:lnTo>
                  <a:pt x="84377" y="150004"/>
                </a:lnTo>
                <a:cubicBezTo>
                  <a:pt x="79182" y="150004"/>
                  <a:pt x="75002" y="145824"/>
                  <a:pt x="75002" y="140629"/>
                </a:cubicBezTo>
                <a:cubicBezTo>
                  <a:pt x="75002" y="135433"/>
                  <a:pt x="79182" y="131254"/>
                  <a:pt x="84377" y="131254"/>
                </a:cubicBezTo>
                <a:lnTo>
                  <a:pt x="93753" y="131254"/>
                </a:lnTo>
                <a:lnTo>
                  <a:pt x="93753" y="106253"/>
                </a:lnTo>
                <a:lnTo>
                  <a:pt x="84377" y="106253"/>
                </a:lnTo>
                <a:cubicBezTo>
                  <a:pt x="79182" y="106253"/>
                  <a:pt x="75002" y="102073"/>
                  <a:pt x="75002" y="96878"/>
                </a:cubicBezTo>
                <a:cubicBezTo>
                  <a:pt x="75002" y="91682"/>
                  <a:pt x="79182" y="87502"/>
                  <a:pt x="84377" y="87502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0" name="Text 8"/>
          <p:cNvSpPr/>
          <p:nvPr/>
        </p:nvSpPr>
        <p:spPr>
          <a:xfrm>
            <a:off x="922247" y="2755501"/>
            <a:ext cx="6955746" cy="311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6685" y="3155512"/>
            <a:ext cx="7200197" cy="2888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适用于</a:t>
            </a:r>
            <a:r>
              <a:rPr lang="en-US" sz="14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连续型数据的线性关联量化</a:t>
            </a:r>
            <a:r>
              <a:rPr lang="en-US" sz="14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。要求数据服从正态分布或近似正态分布。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9464" y="3677748"/>
            <a:ext cx="150004" cy="200005"/>
          </a:xfrm>
          <a:custGeom>
            <a:avLst/>
            <a:gdLst/>
            <a:ahLst/>
            <a:cxnLst/>
            <a:rect l="l" t="t" r="r" b="b"/>
            <a:pathLst>
              <a:path w="150004" h="200005">
                <a:moveTo>
                  <a:pt x="25001" y="0"/>
                </a:moveTo>
                <a:cubicBezTo>
                  <a:pt x="11211" y="0"/>
                  <a:pt x="0" y="11211"/>
                  <a:pt x="0" y="25001"/>
                </a:cubicBezTo>
                <a:lnTo>
                  <a:pt x="0" y="175005"/>
                </a:lnTo>
                <a:cubicBezTo>
                  <a:pt x="0" y="188794"/>
                  <a:pt x="11211" y="200005"/>
                  <a:pt x="25001" y="200005"/>
                </a:cubicBezTo>
                <a:lnTo>
                  <a:pt x="125003" y="200005"/>
                </a:lnTo>
                <a:cubicBezTo>
                  <a:pt x="138793" y="200005"/>
                  <a:pt x="150004" y="188794"/>
                  <a:pt x="150004" y="175005"/>
                </a:cubicBezTo>
                <a:lnTo>
                  <a:pt x="150004" y="25001"/>
                </a:lnTo>
                <a:cubicBezTo>
                  <a:pt x="150004" y="11211"/>
                  <a:pt x="138793" y="0"/>
                  <a:pt x="125003" y="0"/>
                </a:cubicBezTo>
                <a:lnTo>
                  <a:pt x="25001" y="0"/>
                </a:lnTo>
                <a:close/>
                <a:moveTo>
                  <a:pt x="37501" y="25001"/>
                </a:moveTo>
                <a:lnTo>
                  <a:pt x="112503" y="25001"/>
                </a:lnTo>
                <a:cubicBezTo>
                  <a:pt x="119417" y="25001"/>
                  <a:pt x="125003" y="30587"/>
                  <a:pt x="125003" y="37501"/>
                </a:cubicBezTo>
                <a:lnTo>
                  <a:pt x="125003" y="50001"/>
                </a:lnTo>
                <a:cubicBezTo>
                  <a:pt x="125003" y="56916"/>
                  <a:pt x="119417" y="62502"/>
                  <a:pt x="112503" y="62502"/>
                </a:cubicBezTo>
                <a:lnTo>
                  <a:pt x="37501" y="62502"/>
                </a:lnTo>
                <a:cubicBezTo>
                  <a:pt x="30587" y="62502"/>
                  <a:pt x="25001" y="56916"/>
                  <a:pt x="25001" y="50001"/>
                </a:cubicBezTo>
                <a:lnTo>
                  <a:pt x="25001" y="37501"/>
                </a:lnTo>
                <a:cubicBezTo>
                  <a:pt x="25001" y="30587"/>
                  <a:pt x="30587" y="25001"/>
                  <a:pt x="37501" y="25001"/>
                </a:cubicBezTo>
                <a:close/>
                <a:moveTo>
                  <a:pt x="43751" y="90627"/>
                </a:moveTo>
                <a:cubicBezTo>
                  <a:pt x="43751" y="95802"/>
                  <a:pt x="39550" y="100003"/>
                  <a:pt x="34376" y="100003"/>
                </a:cubicBezTo>
                <a:cubicBezTo>
                  <a:pt x="29202" y="100003"/>
                  <a:pt x="25001" y="95802"/>
                  <a:pt x="25001" y="90627"/>
                </a:cubicBezTo>
                <a:cubicBezTo>
                  <a:pt x="25001" y="85453"/>
                  <a:pt x="29202" y="81252"/>
                  <a:pt x="34376" y="81252"/>
                </a:cubicBezTo>
                <a:cubicBezTo>
                  <a:pt x="39550" y="81252"/>
                  <a:pt x="43751" y="85453"/>
                  <a:pt x="43751" y="90627"/>
                </a:cubicBezTo>
                <a:close/>
                <a:moveTo>
                  <a:pt x="75002" y="100003"/>
                </a:moveTo>
                <a:cubicBezTo>
                  <a:pt x="69828" y="100003"/>
                  <a:pt x="65627" y="95802"/>
                  <a:pt x="65627" y="90627"/>
                </a:cubicBezTo>
                <a:cubicBezTo>
                  <a:pt x="65627" y="85453"/>
                  <a:pt x="69828" y="81252"/>
                  <a:pt x="75002" y="81252"/>
                </a:cubicBezTo>
                <a:cubicBezTo>
                  <a:pt x="80176" y="81252"/>
                  <a:pt x="84377" y="85453"/>
                  <a:pt x="84377" y="90627"/>
                </a:cubicBezTo>
                <a:cubicBezTo>
                  <a:pt x="84377" y="95802"/>
                  <a:pt x="80176" y="100003"/>
                  <a:pt x="75002" y="100003"/>
                </a:cubicBezTo>
                <a:close/>
                <a:moveTo>
                  <a:pt x="125003" y="90627"/>
                </a:moveTo>
                <a:cubicBezTo>
                  <a:pt x="125003" y="95802"/>
                  <a:pt x="120803" y="100003"/>
                  <a:pt x="115628" y="100003"/>
                </a:cubicBezTo>
                <a:cubicBezTo>
                  <a:pt x="110454" y="100003"/>
                  <a:pt x="106253" y="95802"/>
                  <a:pt x="106253" y="90627"/>
                </a:cubicBezTo>
                <a:cubicBezTo>
                  <a:pt x="106253" y="85453"/>
                  <a:pt x="110454" y="81252"/>
                  <a:pt x="115628" y="81252"/>
                </a:cubicBezTo>
                <a:cubicBezTo>
                  <a:pt x="120803" y="81252"/>
                  <a:pt x="125003" y="85453"/>
                  <a:pt x="125003" y="90627"/>
                </a:cubicBezTo>
                <a:close/>
                <a:moveTo>
                  <a:pt x="34376" y="137504"/>
                </a:moveTo>
                <a:cubicBezTo>
                  <a:pt x="29202" y="137504"/>
                  <a:pt x="25001" y="133303"/>
                  <a:pt x="25001" y="128129"/>
                </a:cubicBezTo>
                <a:cubicBezTo>
                  <a:pt x="25001" y="122954"/>
                  <a:pt x="29202" y="118753"/>
                  <a:pt x="34376" y="118753"/>
                </a:cubicBezTo>
                <a:cubicBezTo>
                  <a:pt x="39550" y="118753"/>
                  <a:pt x="43751" y="122954"/>
                  <a:pt x="43751" y="128129"/>
                </a:cubicBezTo>
                <a:cubicBezTo>
                  <a:pt x="43751" y="133303"/>
                  <a:pt x="39550" y="137504"/>
                  <a:pt x="34376" y="137504"/>
                </a:cubicBezTo>
                <a:close/>
                <a:moveTo>
                  <a:pt x="84377" y="128129"/>
                </a:moveTo>
                <a:cubicBezTo>
                  <a:pt x="84377" y="133303"/>
                  <a:pt x="80176" y="137504"/>
                  <a:pt x="75002" y="137504"/>
                </a:cubicBezTo>
                <a:cubicBezTo>
                  <a:pt x="69828" y="137504"/>
                  <a:pt x="65627" y="133303"/>
                  <a:pt x="65627" y="128129"/>
                </a:cubicBezTo>
                <a:cubicBezTo>
                  <a:pt x="65627" y="122954"/>
                  <a:pt x="69828" y="118753"/>
                  <a:pt x="75002" y="118753"/>
                </a:cubicBezTo>
                <a:cubicBezTo>
                  <a:pt x="80176" y="118753"/>
                  <a:pt x="84377" y="122954"/>
                  <a:pt x="84377" y="128129"/>
                </a:cubicBezTo>
                <a:close/>
                <a:moveTo>
                  <a:pt x="115628" y="137504"/>
                </a:moveTo>
                <a:cubicBezTo>
                  <a:pt x="110454" y="137504"/>
                  <a:pt x="106253" y="133303"/>
                  <a:pt x="106253" y="128129"/>
                </a:cubicBezTo>
                <a:cubicBezTo>
                  <a:pt x="106253" y="122954"/>
                  <a:pt x="110454" y="118753"/>
                  <a:pt x="115628" y="118753"/>
                </a:cubicBezTo>
                <a:cubicBezTo>
                  <a:pt x="120803" y="118753"/>
                  <a:pt x="125003" y="122954"/>
                  <a:pt x="125003" y="128129"/>
                </a:cubicBezTo>
                <a:cubicBezTo>
                  <a:pt x="125003" y="133303"/>
                  <a:pt x="120803" y="137504"/>
                  <a:pt x="115628" y="137504"/>
                </a:cubicBezTo>
                <a:close/>
                <a:moveTo>
                  <a:pt x="25001" y="165630"/>
                </a:moveTo>
                <a:cubicBezTo>
                  <a:pt x="25001" y="160434"/>
                  <a:pt x="29180" y="156254"/>
                  <a:pt x="34376" y="156254"/>
                </a:cubicBezTo>
                <a:lnTo>
                  <a:pt x="78127" y="156254"/>
                </a:lnTo>
                <a:cubicBezTo>
                  <a:pt x="83323" y="156254"/>
                  <a:pt x="87502" y="160434"/>
                  <a:pt x="87502" y="165630"/>
                </a:cubicBezTo>
                <a:cubicBezTo>
                  <a:pt x="87502" y="170825"/>
                  <a:pt x="83323" y="175005"/>
                  <a:pt x="78127" y="175005"/>
                </a:cubicBezTo>
                <a:lnTo>
                  <a:pt x="34376" y="175005"/>
                </a:lnTo>
                <a:cubicBezTo>
                  <a:pt x="29180" y="175005"/>
                  <a:pt x="25001" y="170825"/>
                  <a:pt x="25001" y="165630"/>
                </a:cubicBezTo>
                <a:close/>
                <a:moveTo>
                  <a:pt x="115628" y="156254"/>
                </a:moveTo>
                <a:cubicBezTo>
                  <a:pt x="120824" y="156254"/>
                  <a:pt x="125003" y="160434"/>
                  <a:pt x="125003" y="165630"/>
                </a:cubicBezTo>
                <a:cubicBezTo>
                  <a:pt x="125003" y="170825"/>
                  <a:pt x="120824" y="175005"/>
                  <a:pt x="115628" y="175005"/>
                </a:cubicBezTo>
                <a:cubicBezTo>
                  <a:pt x="110433" y="175005"/>
                  <a:pt x="106253" y="170825"/>
                  <a:pt x="106253" y="165630"/>
                </a:cubicBezTo>
                <a:cubicBezTo>
                  <a:pt x="106253" y="160434"/>
                  <a:pt x="110433" y="156254"/>
                  <a:pt x="115628" y="156254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3" name="Text 11"/>
          <p:cNvSpPr/>
          <p:nvPr/>
        </p:nvSpPr>
        <p:spPr>
          <a:xfrm>
            <a:off x="922247" y="3622191"/>
            <a:ext cx="6955746" cy="311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计算方法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6685" y="4022202"/>
            <a:ext cx="7111306" cy="1355593"/>
          </a:xfrm>
          <a:custGeom>
            <a:avLst/>
            <a:gdLst/>
            <a:ahLst/>
            <a:cxnLst/>
            <a:rect l="l" t="t" r="r" b="b"/>
            <a:pathLst>
              <a:path w="7111306" h="1355593">
                <a:moveTo>
                  <a:pt x="88886" y="0"/>
                </a:moveTo>
                <a:lnTo>
                  <a:pt x="7022419" y="0"/>
                </a:lnTo>
                <a:cubicBezTo>
                  <a:pt x="7071510" y="0"/>
                  <a:pt x="7111306" y="39796"/>
                  <a:pt x="7111306" y="88886"/>
                </a:cubicBezTo>
                <a:lnTo>
                  <a:pt x="7111306" y="1266706"/>
                </a:lnTo>
                <a:cubicBezTo>
                  <a:pt x="7111306" y="1315797"/>
                  <a:pt x="7071510" y="1355593"/>
                  <a:pt x="7022419" y="1355593"/>
                </a:cubicBezTo>
                <a:lnTo>
                  <a:pt x="88886" y="1355593"/>
                </a:lnTo>
                <a:cubicBezTo>
                  <a:pt x="39829" y="1355593"/>
                  <a:pt x="0" y="1315764"/>
                  <a:pt x="0" y="1266706"/>
                </a:cubicBezTo>
                <a:lnTo>
                  <a:pt x="0" y="88886"/>
                </a:lnTo>
                <a:cubicBezTo>
                  <a:pt x="0" y="39829"/>
                  <a:pt x="39829" y="0"/>
                  <a:pt x="88886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844468" y="4199985"/>
            <a:ext cx="6844632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衡量两个变量X和Y的</a:t>
            </a:r>
            <a:r>
              <a:rPr lang="en-US" sz="14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线性相关程度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8912" y="4559994"/>
            <a:ext cx="2186726" cy="631128"/>
          </a:xfrm>
          <a:custGeom>
            <a:avLst/>
            <a:gdLst/>
            <a:ahLst/>
            <a:cxnLst/>
            <a:rect l="l" t="t" r="r" b="b"/>
            <a:pathLst>
              <a:path w="2186726" h="631128">
                <a:moveTo>
                  <a:pt x="44444" y="0"/>
                </a:moveTo>
                <a:lnTo>
                  <a:pt x="2142282" y="0"/>
                </a:lnTo>
                <a:cubicBezTo>
                  <a:pt x="2166828" y="0"/>
                  <a:pt x="2186726" y="19898"/>
                  <a:pt x="2186726" y="44444"/>
                </a:cubicBezTo>
                <a:lnTo>
                  <a:pt x="2186726" y="586684"/>
                </a:lnTo>
                <a:cubicBezTo>
                  <a:pt x="2186726" y="611214"/>
                  <a:pt x="2166812" y="631128"/>
                  <a:pt x="2142282" y="631128"/>
                </a:cubicBezTo>
                <a:lnTo>
                  <a:pt x="44444" y="631128"/>
                </a:lnTo>
                <a:cubicBezTo>
                  <a:pt x="19898" y="631128"/>
                  <a:pt x="0" y="611230"/>
                  <a:pt x="0" y="586684"/>
                </a:cubicBezTo>
                <a:lnTo>
                  <a:pt x="0" y="44444"/>
                </a:lnTo>
                <a:cubicBezTo>
                  <a:pt x="0" y="19915"/>
                  <a:pt x="19915" y="0"/>
                  <a:pt x="4444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358" y="4653339"/>
            <a:ext cx="2077835" cy="222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5" b="1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 = 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3358" y="4875567"/>
            <a:ext cx="2077835" cy="222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完全正相关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28697" y="4559994"/>
            <a:ext cx="2186726" cy="631128"/>
          </a:xfrm>
          <a:custGeom>
            <a:avLst/>
            <a:gdLst/>
            <a:ahLst/>
            <a:cxnLst/>
            <a:rect l="l" t="t" r="r" b="b"/>
            <a:pathLst>
              <a:path w="2186726" h="631128">
                <a:moveTo>
                  <a:pt x="44444" y="0"/>
                </a:moveTo>
                <a:lnTo>
                  <a:pt x="2142282" y="0"/>
                </a:lnTo>
                <a:cubicBezTo>
                  <a:pt x="2166828" y="0"/>
                  <a:pt x="2186726" y="19898"/>
                  <a:pt x="2186726" y="44444"/>
                </a:cubicBezTo>
                <a:lnTo>
                  <a:pt x="2186726" y="586684"/>
                </a:lnTo>
                <a:cubicBezTo>
                  <a:pt x="2186726" y="611214"/>
                  <a:pt x="2166812" y="631128"/>
                  <a:pt x="2142282" y="631128"/>
                </a:cubicBezTo>
                <a:lnTo>
                  <a:pt x="44444" y="631128"/>
                </a:lnTo>
                <a:cubicBezTo>
                  <a:pt x="19898" y="631128"/>
                  <a:pt x="0" y="611230"/>
                  <a:pt x="0" y="586684"/>
                </a:cubicBezTo>
                <a:lnTo>
                  <a:pt x="0" y="44444"/>
                </a:lnTo>
                <a:cubicBezTo>
                  <a:pt x="0" y="19915"/>
                  <a:pt x="19915" y="0"/>
                  <a:pt x="4444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3143" y="4653339"/>
            <a:ext cx="2077835" cy="222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5" b="1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 = 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183143" y="4875567"/>
            <a:ext cx="2077835" cy="222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无线性相关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08620" y="4559994"/>
            <a:ext cx="2186726" cy="631128"/>
          </a:xfrm>
          <a:custGeom>
            <a:avLst/>
            <a:gdLst/>
            <a:ahLst/>
            <a:cxnLst/>
            <a:rect l="l" t="t" r="r" b="b"/>
            <a:pathLst>
              <a:path w="2186726" h="631128">
                <a:moveTo>
                  <a:pt x="44444" y="0"/>
                </a:moveTo>
                <a:lnTo>
                  <a:pt x="2142282" y="0"/>
                </a:lnTo>
                <a:cubicBezTo>
                  <a:pt x="2166828" y="0"/>
                  <a:pt x="2186726" y="19898"/>
                  <a:pt x="2186726" y="44444"/>
                </a:cubicBezTo>
                <a:lnTo>
                  <a:pt x="2186726" y="586684"/>
                </a:lnTo>
                <a:cubicBezTo>
                  <a:pt x="2186726" y="611214"/>
                  <a:pt x="2166812" y="631128"/>
                  <a:pt x="2142282" y="631128"/>
                </a:cubicBezTo>
                <a:lnTo>
                  <a:pt x="44444" y="631128"/>
                </a:lnTo>
                <a:cubicBezTo>
                  <a:pt x="19898" y="631128"/>
                  <a:pt x="0" y="611230"/>
                  <a:pt x="0" y="586684"/>
                </a:cubicBezTo>
                <a:lnTo>
                  <a:pt x="0" y="44444"/>
                </a:lnTo>
                <a:cubicBezTo>
                  <a:pt x="0" y="19915"/>
                  <a:pt x="19915" y="0"/>
                  <a:pt x="4444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3066" y="4653339"/>
            <a:ext cx="2077835" cy="222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 = -1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63066" y="4875567"/>
            <a:ext cx="2077835" cy="222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完全负相关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8908" y="5551128"/>
            <a:ext cx="7089083" cy="1600044"/>
          </a:xfrm>
          <a:custGeom>
            <a:avLst/>
            <a:gdLst/>
            <a:ahLst/>
            <a:cxnLst/>
            <a:rect l="l" t="t" r="r" b="b"/>
            <a:pathLst>
              <a:path w="7089083" h="1600044">
                <a:moveTo>
                  <a:pt x="44446" y="0"/>
                </a:moveTo>
                <a:lnTo>
                  <a:pt x="7000184" y="0"/>
                </a:lnTo>
                <a:cubicBezTo>
                  <a:pt x="7049282" y="0"/>
                  <a:pt x="7089083" y="39801"/>
                  <a:pt x="7089083" y="88898"/>
                </a:cubicBezTo>
                <a:lnTo>
                  <a:pt x="7089083" y="1511145"/>
                </a:lnTo>
                <a:cubicBezTo>
                  <a:pt x="7089083" y="1560243"/>
                  <a:pt x="7049282" y="1600044"/>
                  <a:pt x="7000184" y="1600044"/>
                </a:cubicBezTo>
                <a:lnTo>
                  <a:pt x="44446" y="1600044"/>
                </a:lnTo>
                <a:cubicBezTo>
                  <a:pt x="19899" y="1600044"/>
                  <a:pt x="0" y="1580145"/>
                  <a:pt x="0" y="1555598"/>
                </a:cubicBezTo>
                <a:lnTo>
                  <a:pt x="0" y="44446"/>
                </a:lnTo>
                <a:cubicBezTo>
                  <a:pt x="0" y="19915"/>
                  <a:pt x="19915" y="0"/>
                  <a:pt x="44446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88908" y="5551128"/>
            <a:ext cx="44446" cy="1600044"/>
          </a:xfrm>
          <a:custGeom>
            <a:avLst/>
            <a:gdLst/>
            <a:ahLst/>
            <a:cxnLst/>
            <a:rect l="l" t="t" r="r" b="b"/>
            <a:pathLst>
              <a:path w="44446" h="1600044">
                <a:moveTo>
                  <a:pt x="44446" y="0"/>
                </a:moveTo>
                <a:lnTo>
                  <a:pt x="44446" y="0"/>
                </a:lnTo>
                <a:lnTo>
                  <a:pt x="44446" y="1600044"/>
                </a:lnTo>
                <a:lnTo>
                  <a:pt x="44446" y="1600044"/>
                </a:lnTo>
                <a:cubicBezTo>
                  <a:pt x="19899" y="1600044"/>
                  <a:pt x="0" y="1580145"/>
                  <a:pt x="0" y="1555598"/>
                </a:cubicBezTo>
                <a:lnTo>
                  <a:pt x="0" y="44446"/>
                </a:lnTo>
                <a:cubicBezTo>
                  <a:pt x="0" y="19915"/>
                  <a:pt x="19915" y="0"/>
                  <a:pt x="44446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7" name="Text 25"/>
          <p:cNvSpPr/>
          <p:nvPr/>
        </p:nvSpPr>
        <p:spPr>
          <a:xfrm>
            <a:off x="888913" y="5728911"/>
            <a:ext cx="6800186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典型应用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8913" y="6084476"/>
            <a:ext cx="6800186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身高与体重的关系研究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8913" y="6395596"/>
            <a:ext cx="6800186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广告投入与销量的关联分析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8913" y="6706715"/>
            <a:ext cx="6800186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气温与用电量的相关性研究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61892" y="1733381"/>
            <a:ext cx="7555762" cy="5644599"/>
          </a:xfrm>
          <a:custGeom>
            <a:avLst/>
            <a:gdLst/>
            <a:ahLst/>
            <a:cxnLst/>
            <a:rect l="l" t="t" r="r" b="b"/>
            <a:pathLst>
              <a:path w="7555762" h="5644599">
                <a:moveTo>
                  <a:pt x="133325" y="0"/>
                </a:moveTo>
                <a:lnTo>
                  <a:pt x="7422437" y="0"/>
                </a:lnTo>
                <a:cubicBezTo>
                  <a:pt x="7496070" y="0"/>
                  <a:pt x="7555762" y="59692"/>
                  <a:pt x="7555762" y="133325"/>
                </a:cubicBezTo>
                <a:lnTo>
                  <a:pt x="7555762" y="5511273"/>
                </a:lnTo>
                <a:cubicBezTo>
                  <a:pt x="7555762" y="5584907"/>
                  <a:pt x="7496070" y="5644599"/>
                  <a:pt x="7422437" y="5644599"/>
                </a:cubicBezTo>
                <a:lnTo>
                  <a:pt x="133325" y="5644599"/>
                </a:lnTo>
                <a:cubicBezTo>
                  <a:pt x="59692" y="5644599"/>
                  <a:pt x="0" y="5584907"/>
                  <a:pt x="0" y="5511273"/>
                </a:cubicBezTo>
                <a:lnTo>
                  <a:pt x="0" y="133325"/>
                </a:lnTo>
                <a:cubicBezTo>
                  <a:pt x="0" y="59741"/>
                  <a:pt x="59741" y="0"/>
                  <a:pt x="13332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7785" dist="22222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61892" y="1733381"/>
            <a:ext cx="7555762" cy="800022"/>
          </a:xfrm>
          <a:custGeom>
            <a:avLst/>
            <a:gdLst/>
            <a:ahLst/>
            <a:cxnLst/>
            <a:rect l="l" t="t" r="r" b="b"/>
            <a:pathLst>
              <a:path w="7555762" h="800022">
                <a:moveTo>
                  <a:pt x="133340" y="0"/>
                </a:moveTo>
                <a:lnTo>
                  <a:pt x="7422422" y="0"/>
                </a:lnTo>
                <a:cubicBezTo>
                  <a:pt x="7496064" y="0"/>
                  <a:pt x="7555762" y="59698"/>
                  <a:pt x="7555762" y="133340"/>
                </a:cubicBezTo>
                <a:lnTo>
                  <a:pt x="7555762" y="800022"/>
                </a:lnTo>
                <a:lnTo>
                  <a:pt x="0" y="800022"/>
                </a:lnTo>
                <a:lnTo>
                  <a:pt x="0" y="133340"/>
                </a:lnTo>
                <a:cubicBezTo>
                  <a:pt x="0" y="59747"/>
                  <a:pt x="59747" y="0"/>
                  <a:pt x="133340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0" scaled="1"/>
          </a:gradFill>
        </p:spPr>
      </p:sp>
      <p:sp>
        <p:nvSpPr>
          <p:cNvPr id="33" name="Shape 31"/>
          <p:cNvSpPr/>
          <p:nvPr/>
        </p:nvSpPr>
        <p:spPr>
          <a:xfrm>
            <a:off x="8500788" y="1999924"/>
            <a:ext cx="300008" cy="266674"/>
          </a:xfrm>
          <a:custGeom>
            <a:avLst/>
            <a:gdLst/>
            <a:ahLst/>
            <a:cxnLst/>
            <a:rect l="l" t="t" r="r" b="b"/>
            <a:pathLst>
              <a:path w="300008" h="266674">
                <a:moveTo>
                  <a:pt x="78440" y="21563"/>
                </a:moveTo>
                <a:cubicBezTo>
                  <a:pt x="71929" y="15052"/>
                  <a:pt x="61356" y="15052"/>
                  <a:pt x="54845" y="21563"/>
                </a:cubicBezTo>
                <a:lnTo>
                  <a:pt x="4844" y="71564"/>
                </a:lnTo>
                <a:cubicBezTo>
                  <a:pt x="-1667" y="78075"/>
                  <a:pt x="-1667" y="88648"/>
                  <a:pt x="4844" y="95159"/>
                </a:cubicBezTo>
                <a:cubicBezTo>
                  <a:pt x="11354" y="101669"/>
                  <a:pt x="21928" y="101669"/>
                  <a:pt x="28438" y="95159"/>
                </a:cubicBezTo>
                <a:lnTo>
                  <a:pt x="50001" y="73596"/>
                </a:lnTo>
                <a:lnTo>
                  <a:pt x="50001" y="233340"/>
                </a:lnTo>
                <a:cubicBezTo>
                  <a:pt x="50001" y="242559"/>
                  <a:pt x="57449" y="250007"/>
                  <a:pt x="66668" y="250007"/>
                </a:cubicBezTo>
                <a:cubicBezTo>
                  <a:pt x="75887" y="250007"/>
                  <a:pt x="83336" y="242559"/>
                  <a:pt x="83336" y="233340"/>
                </a:cubicBezTo>
                <a:lnTo>
                  <a:pt x="83336" y="73596"/>
                </a:lnTo>
                <a:lnTo>
                  <a:pt x="104899" y="95159"/>
                </a:lnTo>
                <a:cubicBezTo>
                  <a:pt x="111409" y="101669"/>
                  <a:pt x="121983" y="101669"/>
                  <a:pt x="128493" y="95159"/>
                </a:cubicBezTo>
                <a:cubicBezTo>
                  <a:pt x="135004" y="88648"/>
                  <a:pt x="135004" y="78075"/>
                  <a:pt x="128493" y="71564"/>
                </a:cubicBezTo>
                <a:lnTo>
                  <a:pt x="78492" y="21563"/>
                </a:lnTo>
                <a:close/>
                <a:moveTo>
                  <a:pt x="166671" y="250007"/>
                </a:moveTo>
                <a:lnTo>
                  <a:pt x="183338" y="250007"/>
                </a:lnTo>
                <a:cubicBezTo>
                  <a:pt x="192557" y="250007"/>
                  <a:pt x="200005" y="242559"/>
                  <a:pt x="200005" y="233340"/>
                </a:cubicBezTo>
                <a:cubicBezTo>
                  <a:pt x="200005" y="224121"/>
                  <a:pt x="192557" y="216673"/>
                  <a:pt x="183338" y="216673"/>
                </a:cubicBezTo>
                <a:lnTo>
                  <a:pt x="166671" y="216673"/>
                </a:lnTo>
                <a:cubicBezTo>
                  <a:pt x="157452" y="216673"/>
                  <a:pt x="150004" y="224121"/>
                  <a:pt x="150004" y="233340"/>
                </a:cubicBezTo>
                <a:cubicBezTo>
                  <a:pt x="150004" y="242559"/>
                  <a:pt x="157452" y="250007"/>
                  <a:pt x="166671" y="250007"/>
                </a:cubicBezTo>
                <a:close/>
                <a:moveTo>
                  <a:pt x="166671" y="183338"/>
                </a:moveTo>
                <a:lnTo>
                  <a:pt x="216673" y="183338"/>
                </a:lnTo>
                <a:cubicBezTo>
                  <a:pt x="225892" y="183338"/>
                  <a:pt x="233340" y="175890"/>
                  <a:pt x="233340" y="166671"/>
                </a:cubicBezTo>
                <a:cubicBezTo>
                  <a:pt x="233340" y="157452"/>
                  <a:pt x="225892" y="150004"/>
                  <a:pt x="216673" y="150004"/>
                </a:cubicBezTo>
                <a:lnTo>
                  <a:pt x="166671" y="150004"/>
                </a:lnTo>
                <a:cubicBezTo>
                  <a:pt x="157452" y="150004"/>
                  <a:pt x="150004" y="157452"/>
                  <a:pt x="150004" y="166671"/>
                </a:cubicBezTo>
                <a:cubicBezTo>
                  <a:pt x="150004" y="175890"/>
                  <a:pt x="157452" y="183338"/>
                  <a:pt x="166671" y="183338"/>
                </a:cubicBezTo>
                <a:close/>
                <a:moveTo>
                  <a:pt x="166671" y="116670"/>
                </a:moveTo>
                <a:lnTo>
                  <a:pt x="250007" y="116670"/>
                </a:lnTo>
                <a:cubicBezTo>
                  <a:pt x="259226" y="116670"/>
                  <a:pt x="266674" y="109222"/>
                  <a:pt x="266674" y="100003"/>
                </a:cubicBezTo>
                <a:cubicBezTo>
                  <a:pt x="266674" y="90784"/>
                  <a:pt x="259226" y="83336"/>
                  <a:pt x="250007" y="83336"/>
                </a:cubicBezTo>
                <a:lnTo>
                  <a:pt x="166671" y="83336"/>
                </a:lnTo>
                <a:cubicBezTo>
                  <a:pt x="157452" y="83336"/>
                  <a:pt x="150004" y="90784"/>
                  <a:pt x="150004" y="100003"/>
                </a:cubicBezTo>
                <a:cubicBezTo>
                  <a:pt x="150004" y="109222"/>
                  <a:pt x="157452" y="116670"/>
                  <a:pt x="166671" y="116670"/>
                </a:cubicBezTo>
                <a:close/>
                <a:moveTo>
                  <a:pt x="166671" y="50001"/>
                </a:moveTo>
                <a:lnTo>
                  <a:pt x="283341" y="50001"/>
                </a:lnTo>
                <a:cubicBezTo>
                  <a:pt x="292560" y="50001"/>
                  <a:pt x="300008" y="42553"/>
                  <a:pt x="300008" y="33334"/>
                </a:cubicBezTo>
                <a:cubicBezTo>
                  <a:pt x="300008" y="24115"/>
                  <a:pt x="292560" y="16667"/>
                  <a:pt x="283341" y="16667"/>
                </a:cubicBezTo>
                <a:lnTo>
                  <a:pt x="166671" y="16667"/>
                </a:lnTo>
                <a:cubicBezTo>
                  <a:pt x="157452" y="16667"/>
                  <a:pt x="150004" y="24115"/>
                  <a:pt x="150004" y="33334"/>
                </a:cubicBezTo>
                <a:cubicBezTo>
                  <a:pt x="150004" y="42553"/>
                  <a:pt x="157452" y="50001"/>
                  <a:pt x="166671" y="5000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8817463" y="1955609"/>
            <a:ext cx="6911300" cy="355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斯皮尔曼等级相关系数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11899" y="2811058"/>
            <a:ext cx="200005" cy="200005"/>
          </a:xfrm>
          <a:custGeom>
            <a:avLst/>
            <a:gdLst/>
            <a:ahLst/>
            <a:cxnLst/>
            <a:rect l="l" t="t" r="r" b="b"/>
            <a:pathLst>
              <a:path w="200005" h="200005">
                <a:moveTo>
                  <a:pt x="100003" y="200005"/>
                </a:moveTo>
                <a:cubicBezTo>
                  <a:pt x="155196" y="200005"/>
                  <a:pt x="200005" y="155196"/>
                  <a:pt x="200005" y="100003"/>
                </a:cubicBezTo>
                <a:cubicBezTo>
                  <a:pt x="200005" y="44810"/>
                  <a:pt x="155196" y="0"/>
                  <a:pt x="100003" y="0"/>
                </a:cubicBezTo>
                <a:cubicBezTo>
                  <a:pt x="44810" y="0"/>
                  <a:pt x="0" y="44810"/>
                  <a:pt x="0" y="100003"/>
                </a:cubicBezTo>
                <a:cubicBezTo>
                  <a:pt x="0" y="155196"/>
                  <a:pt x="44810" y="200005"/>
                  <a:pt x="100003" y="200005"/>
                </a:cubicBezTo>
                <a:close/>
                <a:moveTo>
                  <a:pt x="87502" y="62502"/>
                </a:moveTo>
                <a:cubicBezTo>
                  <a:pt x="87502" y="55603"/>
                  <a:pt x="93104" y="50001"/>
                  <a:pt x="100003" y="50001"/>
                </a:cubicBezTo>
                <a:cubicBezTo>
                  <a:pt x="106902" y="50001"/>
                  <a:pt x="112503" y="55603"/>
                  <a:pt x="112503" y="62502"/>
                </a:cubicBezTo>
                <a:cubicBezTo>
                  <a:pt x="112503" y="69401"/>
                  <a:pt x="106902" y="75002"/>
                  <a:pt x="100003" y="75002"/>
                </a:cubicBezTo>
                <a:cubicBezTo>
                  <a:pt x="93104" y="75002"/>
                  <a:pt x="87502" y="69401"/>
                  <a:pt x="87502" y="62502"/>
                </a:cubicBezTo>
                <a:close/>
                <a:moveTo>
                  <a:pt x="84377" y="87502"/>
                </a:moveTo>
                <a:lnTo>
                  <a:pt x="103128" y="87502"/>
                </a:lnTo>
                <a:cubicBezTo>
                  <a:pt x="108323" y="87502"/>
                  <a:pt x="112503" y="91682"/>
                  <a:pt x="112503" y="96878"/>
                </a:cubicBezTo>
                <a:lnTo>
                  <a:pt x="112503" y="131254"/>
                </a:lnTo>
                <a:lnTo>
                  <a:pt x="115628" y="131254"/>
                </a:lnTo>
                <a:cubicBezTo>
                  <a:pt x="120824" y="131254"/>
                  <a:pt x="125003" y="135433"/>
                  <a:pt x="125003" y="140629"/>
                </a:cubicBezTo>
                <a:cubicBezTo>
                  <a:pt x="125003" y="145824"/>
                  <a:pt x="120824" y="150004"/>
                  <a:pt x="115628" y="150004"/>
                </a:cubicBezTo>
                <a:lnTo>
                  <a:pt x="84377" y="150004"/>
                </a:lnTo>
                <a:cubicBezTo>
                  <a:pt x="79182" y="150004"/>
                  <a:pt x="75002" y="145824"/>
                  <a:pt x="75002" y="140629"/>
                </a:cubicBezTo>
                <a:cubicBezTo>
                  <a:pt x="75002" y="135433"/>
                  <a:pt x="79182" y="131254"/>
                  <a:pt x="84377" y="131254"/>
                </a:cubicBezTo>
                <a:lnTo>
                  <a:pt x="93753" y="131254"/>
                </a:lnTo>
                <a:lnTo>
                  <a:pt x="93753" y="106253"/>
                </a:lnTo>
                <a:lnTo>
                  <a:pt x="84377" y="106253"/>
                </a:lnTo>
                <a:cubicBezTo>
                  <a:pt x="79182" y="106253"/>
                  <a:pt x="75002" y="102073"/>
                  <a:pt x="75002" y="96878"/>
                </a:cubicBezTo>
                <a:cubicBezTo>
                  <a:pt x="75002" y="91682"/>
                  <a:pt x="79182" y="87502"/>
                  <a:pt x="84377" y="87502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36" name="Text 34"/>
          <p:cNvSpPr/>
          <p:nvPr/>
        </p:nvSpPr>
        <p:spPr>
          <a:xfrm>
            <a:off x="8739683" y="2755501"/>
            <a:ext cx="6955746" cy="311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84121" y="3155512"/>
            <a:ext cx="7200197" cy="2888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适用于</a:t>
            </a:r>
            <a:r>
              <a:rPr lang="en-US" sz="14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非线性、非正态分布数据</a:t>
            </a:r>
            <a:r>
              <a:rPr lang="en-US" sz="14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，或</a:t>
            </a:r>
            <a:r>
              <a:rPr lang="en-US" sz="14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等级变量</a:t>
            </a:r>
            <a:r>
              <a:rPr lang="en-US" sz="14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的关联分析。对异常值不敏感。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11899" y="3677748"/>
            <a:ext cx="200005" cy="200005"/>
          </a:xfrm>
          <a:custGeom>
            <a:avLst/>
            <a:gdLst/>
            <a:ahLst/>
            <a:cxnLst/>
            <a:rect l="l" t="t" r="r" b="b"/>
            <a:pathLst>
              <a:path w="200005" h="200005">
                <a:moveTo>
                  <a:pt x="46876" y="21876"/>
                </a:moveTo>
                <a:cubicBezTo>
                  <a:pt x="46876" y="9805"/>
                  <a:pt x="56681" y="0"/>
                  <a:pt x="68752" y="0"/>
                </a:cubicBezTo>
                <a:lnTo>
                  <a:pt x="78127" y="0"/>
                </a:lnTo>
                <a:cubicBezTo>
                  <a:pt x="85041" y="0"/>
                  <a:pt x="90627" y="5586"/>
                  <a:pt x="90627" y="12500"/>
                </a:cubicBezTo>
                <a:lnTo>
                  <a:pt x="90627" y="187505"/>
                </a:lnTo>
                <a:cubicBezTo>
                  <a:pt x="90627" y="194419"/>
                  <a:pt x="85041" y="200005"/>
                  <a:pt x="78127" y="200005"/>
                </a:cubicBezTo>
                <a:lnTo>
                  <a:pt x="65627" y="200005"/>
                </a:lnTo>
                <a:cubicBezTo>
                  <a:pt x="53986" y="200005"/>
                  <a:pt x="44181" y="192037"/>
                  <a:pt x="41407" y="181255"/>
                </a:cubicBezTo>
                <a:cubicBezTo>
                  <a:pt x="41134" y="181255"/>
                  <a:pt x="40900" y="181255"/>
                  <a:pt x="40626" y="181255"/>
                </a:cubicBezTo>
                <a:cubicBezTo>
                  <a:pt x="23360" y="181255"/>
                  <a:pt x="9375" y="167270"/>
                  <a:pt x="9375" y="150004"/>
                </a:cubicBezTo>
                <a:cubicBezTo>
                  <a:pt x="9375" y="142973"/>
                  <a:pt x="11719" y="136488"/>
                  <a:pt x="15625" y="131254"/>
                </a:cubicBezTo>
                <a:cubicBezTo>
                  <a:pt x="8047" y="125550"/>
                  <a:pt x="3125" y="116488"/>
                  <a:pt x="3125" y="106253"/>
                </a:cubicBezTo>
                <a:cubicBezTo>
                  <a:pt x="3125" y="94182"/>
                  <a:pt x="10000" y="83674"/>
                  <a:pt x="20001" y="78479"/>
                </a:cubicBezTo>
                <a:cubicBezTo>
                  <a:pt x="17227" y="73791"/>
                  <a:pt x="15625" y="68322"/>
                  <a:pt x="15625" y="62502"/>
                </a:cubicBezTo>
                <a:cubicBezTo>
                  <a:pt x="15625" y="45236"/>
                  <a:pt x="29610" y="31251"/>
                  <a:pt x="46876" y="31251"/>
                </a:cubicBezTo>
                <a:lnTo>
                  <a:pt x="46876" y="21876"/>
                </a:lnTo>
                <a:close/>
                <a:moveTo>
                  <a:pt x="153129" y="21876"/>
                </a:moveTo>
                <a:lnTo>
                  <a:pt x="153129" y="31251"/>
                </a:lnTo>
                <a:cubicBezTo>
                  <a:pt x="170395" y="31251"/>
                  <a:pt x="184380" y="45236"/>
                  <a:pt x="184380" y="62502"/>
                </a:cubicBezTo>
                <a:cubicBezTo>
                  <a:pt x="184380" y="68361"/>
                  <a:pt x="182778" y="73830"/>
                  <a:pt x="180005" y="78479"/>
                </a:cubicBezTo>
                <a:cubicBezTo>
                  <a:pt x="190044" y="83674"/>
                  <a:pt x="196880" y="94143"/>
                  <a:pt x="196880" y="106253"/>
                </a:cubicBezTo>
                <a:cubicBezTo>
                  <a:pt x="196880" y="116488"/>
                  <a:pt x="191958" y="125550"/>
                  <a:pt x="184380" y="131254"/>
                </a:cubicBezTo>
                <a:cubicBezTo>
                  <a:pt x="188286" y="136488"/>
                  <a:pt x="190630" y="142973"/>
                  <a:pt x="190630" y="150004"/>
                </a:cubicBezTo>
                <a:cubicBezTo>
                  <a:pt x="190630" y="167270"/>
                  <a:pt x="176645" y="181255"/>
                  <a:pt x="159379" y="181255"/>
                </a:cubicBezTo>
                <a:cubicBezTo>
                  <a:pt x="159106" y="181255"/>
                  <a:pt x="158872" y="181255"/>
                  <a:pt x="158598" y="181255"/>
                </a:cubicBezTo>
                <a:cubicBezTo>
                  <a:pt x="155825" y="192037"/>
                  <a:pt x="146020" y="200005"/>
                  <a:pt x="134379" y="200005"/>
                </a:cubicBezTo>
                <a:lnTo>
                  <a:pt x="121878" y="200005"/>
                </a:lnTo>
                <a:cubicBezTo>
                  <a:pt x="114964" y="200005"/>
                  <a:pt x="109378" y="194419"/>
                  <a:pt x="109378" y="187505"/>
                </a:cubicBezTo>
                <a:lnTo>
                  <a:pt x="109378" y="12500"/>
                </a:lnTo>
                <a:cubicBezTo>
                  <a:pt x="109378" y="5586"/>
                  <a:pt x="114964" y="0"/>
                  <a:pt x="121878" y="0"/>
                </a:cubicBezTo>
                <a:lnTo>
                  <a:pt x="131254" y="0"/>
                </a:lnTo>
                <a:cubicBezTo>
                  <a:pt x="143324" y="0"/>
                  <a:pt x="153129" y="9805"/>
                  <a:pt x="153129" y="21876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39" name="Text 37"/>
          <p:cNvSpPr/>
          <p:nvPr/>
        </p:nvSpPr>
        <p:spPr>
          <a:xfrm>
            <a:off x="8739683" y="3622191"/>
            <a:ext cx="6955746" cy="311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核心特点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84121" y="4022202"/>
            <a:ext cx="7111306" cy="533348"/>
          </a:xfrm>
          <a:custGeom>
            <a:avLst/>
            <a:gdLst/>
            <a:ahLst/>
            <a:cxnLst/>
            <a:rect l="l" t="t" r="r" b="b"/>
            <a:pathLst>
              <a:path w="7111306" h="533348">
                <a:moveTo>
                  <a:pt x="88893" y="0"/>
                </a:moveTo>
                <a:lnTo>
                  <a:pt x="7022412" y="0"/>
                </a:lnTo>
                <a:cubicBezTo>
                  <a:pt x="7071507" y="0"/>
                  <a:pt x="7111306" y="39799"/>
                  <a:pt x="7111306" y="88893"/>
                </a:cubicBezTo>
                <a:lnTo>
                  <a:pt x="7111306" y="444455"/>
                </a:lnTo>
                <a:cubicBezTo>
                  <a:pt x="7111306" y="493549"/>
                  <a:pt x="7071507" y="533348"/>
                  <a:pt x="7022412" y="533348"/>
                </a:cubicBezTo>
                <a:lnTo>
                  <a:pt x="88893" y="533348"/>
                </a:lnTo>
                <a:cubicBezTo>
                  <a:pt x="39799" y="533348"/>
                  <a:pt x="0" y="493549"/>
                  <a:pt x="0" y="444455"/>
                </a:cubicBezTo>
                <a:lnTo>
                  <a:pt x="0" y="88893"/>
                </a:lnTo>
                <a:cubicBezTo>
                  <a:pt x="0" y="39832"/>
                  <a:pt x="39832" y="0"/>
                  <a:pt x="88893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8617458" y="4155539"/>
            <a:ext cx="6933523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</a:t>
            </a:r>
            <a:r>
              <a:rPr lang="en-US" sz="140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秩次</a:t>
            </a:r>
            <a:r>
              <a:rPr lang="en-US" sz="14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（排名）计算，不要求数据服从特定分布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06344" y="4644441"/>
            <a:ext cx="7089083" cy="533348"/>
          </a:xfrm>
          <a:custGeom>
            <a:avLst/>
            <a:gdLst/>
            <a:ahLst/>
            <a:cxnLst/>
            <a:rect l="l" t="t" r="r" b="b"/>
            <a:pathLst>
              <a:path w="7089083" h="533348">
                <a:moveTo>
                  <a:pt x="44446" y="0"/>
                </a:moveTo>
                <a:lnTo>
                  <a:pt x="7000190" y="0"/>
                </a:lnTo>
                <a:cubicBezTo>
                  <a:pt x="7049284" y="0"/>
                  <a:pt x="7089083" y="39799"/>
                  <a:pt x="7089083" y="88893"/>
                </a:cubicBezTo>
                <a:lnTo>
                  <a:pt x="7089083" y="444455"/>
                </a:lnTo>
                <a:cubicBezTo>
                  <a:pt x="7089083" y="493549"/>
                  <a:pt x="7049284" y="533348"/>
                  <a:pt x="7000190" y="533348"/>
                </a:cubicBezTo>
                <a:lnTo>
                  <a:pt x="44446" y="533348"/>
                </a:lnTo>
                <a:cubicBezTo>
                  <a:pt x="19899" y="533348"/>
                  <a:pt x="0" y="513449"/>
                  <a:pt x="0" y="488902"/>
                </a:cubicBezTo>
                <a:lnTo>
                  <a:pt x="0" y="44446"/>
                </a:lnTo>
                <a:cubicBezTo>
                  <a:pt x="0" y="19915"/>
                  <a:pt x="19915" y="0"/>
                  <a:pt x="44446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8506344" y="4644441"/>
            <a:ext cx="44446" cy="533348"/>
          </a:xfrm>
          <a:custGeom>
            <a:avLst/>
            <a:gdLst/>
            <a:ahLst/>
            <a:cxnLst/>
            <a:rect l="l" t="t" r="r" b="b"/>
            <a:pathLst>
              <a:path w="44446" h="533348">
                <a:moveTo>
                  <a:pt x="44446" y="0"/>
                </a:moveTo>
                <a:lnTo>
                  <a:pt x="44446" y="0"/>
                </a:lnTo>
                <a:lnTo>
                  <a:pt x="44446" y="533348"/>
                </a:lnTo>
                <a:lnTo>
                  <a:pt x="44446" y="533348"/>
                </a:lnTo>
                <a:cubicBezTo>
                  <a:pt x="19899" y="533348"/>
                  <a:pt x="0" y="513449"/>
                  <a:pt x="0" y="488902"/>
                </a:cubicBezTo>
                <a:lnTo>
                  <a:pt x="0" y="44446"/>
                </a:lnTo>
                <a:cubicBezTo>
                  <a:pt x="0" y="19915"/>
                  <a:pt x="19915" y="0"/>
                  <a:pt x="44446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4" name="Text 42"/>
          <p:cNvSpPr/>
          <p:nvPr/>
        </p:nvSpPr>
        <p:spPr>
          <a:xfrm>
            <a:off x="8661903" y="4777778"/>
            <a:ext cx="6889077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适用于</a:t>
            </a:r>
            <a:r>
              <a:rPr lang="en-US" sz="14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单调非线性关系</a:t>
            </a:r>
            <a:r>
              <a:rPr lang="en-US" sz="1400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的检测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06344" y="5355572"/>
            <a:ext cx="7089083" cy="1600044"/>
          </a:xfrm>
          <a:custGeom>
            <a:avLst/>
            <a:gdLst/>
            <a:ahLst/>
            <a:cxnLst/>
            <a:rect l="l" t="t" r="r" b="b"/>
            <a:pathLst>
              <a:path w="7089083" h="1600044">
                <a:moveTo>
                  <a:pt x="44446" y="0"/>
                </a:moveTo>
                <a:lnTo>
                  <a:pt x="7000184" y="0"/>
                </a:lnTo>
                <a:cubicBezTo>
                  <a:pt x="7049282" y="0"/>
                  <a:pt x="7089083" y="39801"/>
                  <a:pt x="7089083" y="88898"/>
                </a:cubicBezTo>
                <a:lnTo>
                  <a:pt x="7089083" y="1511145"/>
                </a:lnTo>
                <a:cubicBezTo>
                  <a:pt x="7089083" y="1560243"/>
                  <a:pt x="7049282" y="1600044"/>
                  <a:pt x="7000184" y="1600044"/>
                </a:cubicBezTo>
                <a:lnTo>
                  <a:pt x="44446" y="1600044"/>
                </a:lnTo>
                <a:cubicBezTo>
                  <a:pt x="19899" y="1600044"/>
                  <a:pt x="0" y="1580145"/>
                  <a:pt x="0" y="1555598"/>
                </a:cubicBezTo>
                <a:lnTo>
                  <a:pt x="0" y="44446"/>
                </a:lnTo>
                <a:cubicBezTo>
                  <a:pt x="0" y="19915"/>
                  <a:pt x="19915" y="0"/>
                  <a:pt x="44446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8506344" y="5355572"/>
            <a:ext cx="44446" cy="1600044"/>
          </a:xfrm>
          <a:custGeom>
            <a:avLst/>
            <a:gdLst/>
            <a:ahLst/>
            <a:cxnLst/>
            <a:rect l="l" t="t" r="r" b="b"/>
            <a:pathLst>
              <a:path w="44446" h="1600044">
                <a:moveTo>
                  <a:pt x="44446" y="0"/>
                </a:moveTo>
                <a:lnTo>
                  <a:pt x="44446" y="0"/>
                </a:lnTo>
                <a:lnTo>
                  <a:pt x="44446" y="1600044"/>
                </a:lnTo>
                <a:lnTo>
                  <a:pt x="44446" y="1600044"/>
                </a:lnTo>
                <a:cubicBezTo>
                  <a:pt x="19899" y="1600044"/>
                  <a:pt x="0" y="1580145"/>
                  <a:pt x="0" y="1555598"/>
                </a:cubicBezTo>
                <a:lnTo>
                  <a:pt x="0" y="44446"/>
                </a:lnTo>
                <a:cubicBezTo>
                  <a:pt x="0" y="19915"/>
                  <a:pt x="19915" y="0"/>
                  <a:pt x="44446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47" name="Text 45"/>
          <p:cNvSpPr/>
          <p:nvPr/>
        </p:nvSpPr>
        <p:spPr>
          <a:xfrm>
            <a:off x="8706349" y="5533354"/>
            <a:ext cx="6800186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典型应用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06349" y="5888920"/>
            <a:ext cx="6800186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满意度等级与消费金额等级的关系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706349" y="6200039"/>
            <a:ext cx="6800186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教育水平与收入排名的关联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706349" y="6511159"/>
            <a:ext cx="6800186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非正态分布数据的关联分析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53346" y="7604518"/>
            <a:ext cx="15351531" cy="1084474"/>
          </a:xfrm>
          <a:custGeom>
            <a:avLst/>
            <a:gdLst/>
            <a:ahLst/>
            <a:cxnLst/>
            <a:rect l="l" t="t" r="r" b="b"/>
            <a:pathLst>
              <a:path w="15351531" h="1084474">
                <a:moveTo>
                  <a:pt x="133336" y="0"/>
                </a:moveTo>
                <a:lnTo>
                  <a:pt x="15218195" y="0"/>
                </a:lnTo>
                <a:cubicBezTo>
                  <a:pt x="15291834" y="0"/>
                  <a:pt x="15351531" y="59697"/>
                  <a:pt x="15351531" y="133336"/>
                </a:cubicBezTo>
                <a:lnTo>
                  <a:pt x="15351531" y="951138"/>
                </a:lnTo>
                <a:cubicBezTo>
                  <a:pt x="15351531" y="1024777"/>
                  <a:pt x="15291834" y="1084474"/>
                  <a:pt x="15218195" y="1084474"/>
                </a:cubicBezTo>
                <a:lnTo>
                  <a:pt x="133336" y="1084474"/>
                </a:lnTo>
                <a:cubicBezTo>
                  <a:pt x="59697" y="1084474"/>
                  <a:pt x="0" y="1024777"/>
                  <a:pt x="0" y="951138"/>
                </a:cubicBezTo>
                <a:lnTo>
                  <a:pt x="0" y="133336"/>
                </a:lnTo>
                <a:cubicBezTo>
                  <a:pt x="0" y="59697"/>
                  <a:pt x="59697" y="0"/>
                  <a:pt x="133336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1132" y="8013414"/>
            <a:ext cx="200005" cy="266674"/>
          </a:xfrm>
          <a:custGeom>
            <a:avLst/>
            <a:gdLst/>
            <a:ahLst/>
            <a:cxnLst/>
            <a:rect l="l" t="t" r="r" b="b"/>
            <a:pathLst>
              <a:path w="200005" h="266674">
                <a:moveTo>
                  <a:pt x="152556" y="200005"/>
                </a:moveTo>
                <a:cubicBezTo>
                  <a:pt x="156358" y="188391"/>
                  <a:pt x="163963" y="177869"/>
                  <a:pt x="172557" y="168807"/>
                </a:cubicBezTo>
                <a:cubicBezTo>
                  <a:pt x="189589" y="150890"/>
                  <a:pt x="200005" y="126670"/>
                  <a:pt x="200005" y="100003"/>
                </a:cubicBezTo>
                <a:cubicBezTo>
                  <a:pt x="200005" y="44793"/>
                  <a:pt x="155213" y="0"/>
                  <a:pt x="100003" y="0"/>
                </a:cubicBezTo>
                <a:cubicBezTo>
                  <a:pt x="44793" y="0"/>
                  <a:pt x="0" y="44793"/>
                  <a:pt x="0" y="100003"/>
                </a:cubicBezTo>
                <a:cubicBezTo>
                  <a:pt x="0" y="126670"/>
                  <a:pt x="10417" y="150890"/>
                  <a:pt x="27449" y="168807"/>
                </a:cubicBezTo>
                <a:cubicBezTo>
                  <a:pt x="36043" y="177869"/>
                  <a:pt x="43699" y="188391"/>
                  <a:pt x="47449" y="200005"/>
                </a:cubicBezTo>
                <a:lnTo>
                  <a:pt x="152504" y="200005"/>
                </a:lnTo>
                <a:close/>
                <a:moveTo>
                  <a:pt x="150004" y="225006"/>
                </a:moveTo>
                <a:lnTo>
                  <a:pt x="50001" y="225006"/>
                </a:lnTo>
                <a:lnTo>
                  <a:pt x="50001" y="233340"/>
                </a:lnTo>
                <a:cubicBezTo>
                  <a:pt x="50001" y="256361"/>
                  <a:pt x="68648" y="275008"/>
                  <a:pt x="91669" y="275008"/>
                </a:cubicBezTo>
                <a:lnTo>
                  <a:pt x="108336" y="275008"/>
                </a:lnTo>
                <a:cubicBezTo>
                  <a:pt x="131358" y="275008"/>
                  <a:pt x="150004" y="256361"/>
                  <a:pt x="150004" y="233340"/>
                </a:cubicBezTo>
                <a:lnTo>
                  <a:pt x="150004" y="225006"/>
                </a:lnTo>
                <a:close/>
                <a:moveTo>
                  <a:pt x="95836" y="58335"/>
                </a:moveTo>
                <a:cubicBezTo>
                  <a:pt x="75106" y="58335"/>
                  <a:pt x="58335" y="75106"/>
                  <a:pt x="58335" y="95836"/>
                </a:cubicBezTo>
                <a:cubicBezTo>
                  <a:pt x="58335" y="102763"/>
                  <a:pt x="52762" y="108336"/>
                  <a:pt x="45835" y="108336"/>
                </a:cubicBezTo>
                <a:cubicBezTo>
                  <a:pt x="38907" y="108336"/>
                  <a:pt x="33334" y="102763"/>
                  <a:pt x="33334" y="95836"/>
                </a:cubicBezTo>
                <a:cubicBezTo>
                  <a:pt x="33334" y="61304"/>
                  <a:pt x="61304" y="33334"/>
                  <a:pt x="95836" y="33334"/>
                </a:cubicBezTo>
                <a:cubicBezTo>
                  <a:pt x="102763" y="33334"/>
                  <a:pt x="108336" y="38907"/>
                  <a:pt x="108336" y="45835"/>
                </a:cubicBezTo>
                <a:cubicBezTo>
                  <a:pt x="108336" y="52762"/>
                  <a:pt x="102763" y="58335"/>
                  <a:pt x="95836" y="58335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3" name="Text 51"/>
          <p:cNvSpPr/>
          <p:nvPr/>
        </p:nvSpPr>
        <p:spPr>
          <a:xfrm>
            <a:off x="1151143" y="7835631"/>
            <a:ext cx="6866854" cy="311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5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方法选择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51143" y="8191196"/>
            <a:ext cx="6844632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正态分布连续数据→皮尔逊相关系数；非正态分布或等级数据→斯皮尔曼等级相关系数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7126" y="467126"/>
            <a:ext cx="15415172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b="1" kern="0" spc="74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APPLICATION &amp; KEY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67126" y="840828"/>
            <a:ext cx="15531954" cy="4671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1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关联模型适用场景与建模要点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7126" y="1448092"/>
            <a:ext cx="1121103" cy="46713"/>
          </a:xfrm>
          <a:custGeom>
            <a:avLst/>
            <a:gdLst/>
            <a:ahLst/>
            <a:cxnLst/>
            <a:rect l="l" t="t" r="r" b="b"/>
            <a:pathLst>
              <a:path w="1121103" h="46713">
                <a:moveTo>
                  <a:pt x="0" y="0"/>
                </a:moveTo>
                <a:lnTo>
                  <a:pt x="1121103" y="0"/>
                </a:lnTo>
                <a:lnTo>
                  <a:pt x="1121103" y="46713"/>
                </a:lnTo>
                <a:lnTo>
                  <a:pt x="0" y="46713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67126" y="1728368"/>
            <a:ext cx="7544092" cy="6948506"/>
          </a:xfrm>
          <a:custGeom>
            <a:avLst/>
            <a:gdLst/>
            <a:ahLst/>
            <a:cxnLst/>
            <a:rect l="l" t="t" r="r" b="b"/>
            <a:pathLst>
              <a:path w="7544092" h="6948506">
                <a:moveTo>
                  <a:pt x="140151" y="0"/>
                </a:moveTo>
                <a:lnTo>
                  <a:pt x="7403941" y="0"/>
                </a:lnTo>
                <a:cubicBezTo>
                  <a:pt x="7481344" y="0"/>
                  <a:pt x="7544092" y="62748"/>
                  <a:pt x="7544092" y="140151"/>
                </a:cubicBezTo>
                <a:lnTo>
                  <a:pt x="7544092" y="6808354"/>
                </a:lnTo>
                <a:cubicBezTo>
                  <a:pt x="7544092" y="6885758"/>
                  <a:pt x="7481344" y="6948506"/>
                  <a:pt x="7403941" y="6948506"/>
                </a:cubicBezTo>
                <a:lnTo>
                  <a:pt x="140151" y="6948506"/>
                </a:lnTo>
                <a:cubicBezTo>
                  <a:pt x="62748" y="6948506"/>
                  <a:pt x="0" y="6885758"/>
                  <a:pt x="0" y="6808354"/>
                </a:cubicBezTo>
                <a:lnTo>
                  <a:pt x="0" y="140151"/>
                </a:lnTo>
                <a:cubicBezTo>
                  <a:pt x="0" y="62748"/>
                  <a:pt x="62748" y="0"/>
                  <a:pt x="14015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91954" dist="23356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7126" y="1728368"/>
            <a:ext cx="7544092" cy="747402"/>
          </a:xfrm>
          <a:custGeom>
            <a:avLst/>
            <a:gdLst/>
            <a:ahLst/>
            <a:cxnLst/>
            <a:rect l="l" t="t" r="r" b="b"/>
            <a:pathLst>
              <a:path w="7544092" h="747402">
                <a:moveTo>
                  <a:pt x="140138" y="0"/>
                </a:moveTo>
                <a:lnTo>
                  <a:pt x="7403954" y="0"/>
                </a:lnTo>
                <a:cubicBezTo>
                  <a:pt x="7481350" y="0"/>
                  <a:pt x="7544092" y="62742"/>
                  <a:pt x="7544092" y="140138"/>
                </a:cubicBezTo>
                <a:lnTo>
                  <a:pt x="7544092" y="747402"/>
                </a:lnTo>
                <a:lnTo>
                  <a:pt x="0" y="747402"/>
                </a:lnTo>
                <a:lnTo>
                  <a:pt x="0" y="140138"/>
                </a:lnTo>
                <a:cubicBezTo>
                  <a:pt x="0" y="62794"/>
                  <a:pt x="62794" y="0"/>
                  <a:pt x="140138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/>
              </a:gs>
              <a:gs pos="100000">
                <a:srgbClr val="212C42"/>
              </a:gs>
            </a:gsLst>
            <a:lin ang="0" scaled="1"/>
          </a:gradFill>
        </p:spPr>
      </p:sp>
      <p:sp>
        <p:nvSpPr>
          <p:cNvPr id="7" name="Shape 5"/>
          <p:cNvSpPr/>
          <p:nvPr/>
        </p:nvSpPr>
        <p:spPr>
          <a:xfrm>
            <a:off x="689011" y="1961771"/>
            <a:ext cx="280276" cy="280276"/>
          </a:xfrm>
          <a:custGeom>
            <a:avLst/>
            <a:gdLst/>
            <a:ahLst/>
            <a:cxnLst/>
            <a:rect l="l" t="t" r="r" b="b"/>
            <a:pathLst>
              <a:path w="280276" h="280276">
                <a:moveTo>
                  <a:pt x="140357" y="0"/>
                </a:moveTo>
                <a:cubicBezTo>
                  <a:pt x="130668" y="0"/>
                  <a:pt x="122840" y="7828"/>
                  <a:pt x="122840" y="17517"/>
                </a:cubicBezTo>
                <a:lnTo>
                  <a:pt x="122840" y="35034"/>
                </a:lnTo>
                <a:lnTo>
                  <a:pt x="35253" y="35034"/>
                </a:lnTo>
                <a:cubicBezTo>
                  <a:pt x="25564" y="35034"/>
                  <a:pt x="17736" y="42863"/>
                  <a:pt x="17736" y="52552"/>
                </a:cubicBezTo>
                <a:lnTo>
                  <a:pt x="17736" y="87586"/>
                </a:lnTo>
                <a:cubicBezTo>
                  <a:pt x="17736" y="97275"/>
                  <a:pt x="25564" y="105103"/>
                  <a:pt x="35253" y="105103"/>
                </a:cubicBezTo>
                <a:lnTo>
                  <a:pt x="122840" y="105103"/>
                </a:lnTo>
                <a:lnTo>
                  <a:pt x="122840" y="140138"/>
                </a:lnTo>
                <a:lnTo>
                  <a:pt x="38866" y="140138"/>
                </a:lnTo>
                <a:cubicBezTo>
                  <a:pt x="36567" y="140138"/>
                  <a:pt x="34323" y="141069"/>
                  <a:pt x="32681" y="142711"/>
                </a:cubicBezTo>
                <a:lnTo>
                  <a:pt x="6405" y="168987"/>
                </a:lnTo>
                <a:cubicBezTo>
                  <a:pt x="3011" y="172381"/>
                  <a:pt x="3011" y="177964"/>
                  <a:pt x="6405" y="181358"/>
                </a:cubicBezTo>
                <a:lnTo>
                  <a:pt x="32681" y="207634"/>
                </a:lnTo>
                <a:cubicBezTo>
                  <a:pt x="34323" y="209276"/>
                  <a:pt x="36567" y="210207"/>
                  <a:pt x="38866" y="210207"/>
                </a:cubicBezTo>
                <a:lnTo>
                  <a:pt x="122840" y="210207"/>
                </a:lnTo>
                <a:lnTo>
                  <a:pt x="122840" y="262759"/>
                </a:lnTo>
                <a:cubicBezTo>
                  <a:pt x="122840" y="272448"/>
                  <a:pt x="130668" y="280276"/>
                  <a:pt x="140357" y="280276"/>
                </a:cubicBezTo>
                <a:cubicBezTo>
                  <a:pt x="150046" y="280276"/>
                  <a:pt x="157874" y="272448"/>
                  <a:pt x="157874" y="262759"/>
                </a:cubicBezTo>
                <a:lnTo>
                  <a:pt x="157874" y="210207"/>
                </a:lnTo>
                <a:lnTo>
                  <a:pt x="245460" y="210207"/>
                </a:lnTo>
                <a:cubicBezTo>
                  <a:pt x="255150" y="210207"/>
                  <a:pt x="262978" y="202379"/>
                  <a:pt x="262978" y="192690"/>
                </a:cubicBezTo>
                <a:lnTo>
                  <a:pt x="262978" y="157655"/>
                </a:lnTo>
                <a:cubicBezTo>
                  <a:pt x="262978" y="147966"/>
                  <a:pt x="255150" y="140138"/>
                  <a:pt x="245460" y="140138"/>
                </a:cubicBezTo>
                <a:lnTo>
                  <a:pt x="157874" y="140138"/>
                </a:lnTo>
                <a:lnTo>
                  <a:pt x="157874" y="105103"/>
                </a:lnTo>
                <a:lnTo>
                  <a:pt x="241847" y="105103"/>
                </a:lnTo>
                <a:cubicBezTo>
                  <a:pt x="244147" y="105103"/>
                  <a:pt x="246391" y="104173"/>
                  <a:pt x="248033" y="102531"/>
                </a:cubicBezTo>
                <a:lnTo>
                  <a:pt x="274309" y="76255"/>
                </a:lnTo>
                <a:cubicBezTo>
                  <a:pt x="277703" y="72861"/>
                  <a:pt x="277703" y="67277"/>
                  <a:pt x="274309" y="63883"/>
                </a:cubicBezTo>
                <a:lnTo>
                  <a:pt x="248033" y="37607"/>
                </a:lnTo>
                <a:cubicBezTo>
                  <a:pt x="246391" y="35965"/>
                  <a:pt x="244147" y="35034"/>
                  <a:pt x="241847" y="35034"/>
                </a:cubicBezTo>
                <a:lnTo>
                  <a:pt x="157874" y="35034"/>
                </a:lnTo>
                <a:lnTo>
                  <a:pt x="157874" y="17517"/>
                </a:lnTo>
                <a:cubicBezTo>
                  <a:pt x="157874" y="7828"/>
                  <a:pt x="150046" y="0"/>
                  <a:pt x="140357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004322" y="1915218"/>
            <a:ext cx="6960184" cy="3737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05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适用场景决策指南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7333" y="2662461"/>
            <a:ext cx="7147034" cy="864184"/>
          </a:xfrm>
          <a:custGeom>
            <a:avLst/>
            <a:gdLst/>
            <a:ahLst/>
            <a:cxnLst/>
            <a:rect l="l" t="t" r="r" b="b"/>
            <a:pathLst>
              <a:path w="7147034" h="864184">
                <a:moveTo>
                  <a:pt x="46713" y="0"/>
                </a:moveTo>
                <a:lnTo>
                  <a:pt x="7053608" y="0"/>
                </a:lnTo>
                <a:cubicBezTo>
                  <a:pt x="7105206" y="0"/>
                  <a:pt x="7147034" y="41829"/>
                  <a:pt x="7147034" y="93427"/>
                </a:cubicBezTo>
                <a:lnTo>
                  <a:pt x="7147034" y="770757"/>
                </a:lnTo>
                <a:cubicBezTo>
                  <a:pt x="7147034" y="822355"/>
                  <a:pt x="7105206" y="864184"/>
                  <a:pt x="7053608" y="864184"/>
                </a:cubicBezTo>
                <a:lnTo>
                  <a:pt x="46713" y="864184"/>
                </a:lnTo>
                <a:cubicBezTo>
                  <a:pt x="20914" y="864184"/>
                  <a:pt x="0" y="843270"/>
                  <a:pt x="0" y="817471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77333" y="2662461"/>
            <a:ext cx="46713" cy="864184"/>
          </a:xfrm>
          <a:custGeom>
            <a:avLst/>
            <a:gdLst/>
            <a:ahLst/>
            <a:cxnLst/>
            <a:rect l="l" t="t" r="r" b="b"/>
            <a:pathLst>
              <a:path w="46713" h="864184">
                <a:moveTo>
                  <a:pt x="46713" y="0"/>
                </a:moveTo>
                <a:lnTo>
                  <a:pt x="46713" y="0"/>
                </a:lnTo>
                <a:lnTo>
                  <a:pt x="46713" y="864184"/>
                </a:lnTo>
                <a:lnTo>
                  <a:pt x="46713" y="864184"/>
                </a:lnTo>
                <a:cubicBezTo>
                  <a:pt x="20914" y="864184"/>
                  <a:pt x="0" y="843270"/>
                  <a:pt x="0" y="817471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1" name="Shape 9"/>
          <p:cNvSpPr/>
          <p:nvPr/>
        </p:nvSpPr>
        <p:spPr>
          <a:xfrm>
            <a:off x="883161" y="2837633"/>
            <a:ext cx="183931" cy="210207"/>
          </a:xfrm>
          <a:custGeom>
            <a:avLst/>
            <a:gdLst/>
            <a:ahLst/>
            <a:cxnLst/>
            <a:rect l="l" t="t" r="r" b="b"/>
            <a:pathLst>
              <a:path w="183931" h="210207">
                <a:moveTo>
                  <a:pt x="183931" y="84493"/>
                </a:moveTo>
                <a:cubicBezTo>
                  <a:pt x="177855" y="88517"/>
                  <a:pt x="170875" y="91760"/>
                  <a:pt x="163608" y="94347"/>
                </a:cubicBezTo>
                <a:cubicBezTo>
                  <a:pt x="144312" y="101244"/>
                  <a:pt x="118980" y="105103"/>
                  <a:pt x="91966" y="105103"/>
                </a:cubicBezTo>
                <a:cubicBezTo>
                  <a:pt x="64951" y="105103"/>
                  <a:pt x="39578" y="101203"/>
                  <a:pt x="20323" y="94347"/>
                </a:cubicBezTo>
                <a:cubicBezTo>
                  <a:pt x="13097" y="91760"/>
                  <a:pt x="6076" y="88517"/>
                  <a:pt x="0" y="84493"/>
                </a:cubicBezTo>
                <a:lnTo>
                  <a:pt x="0" y="118241"/>
                </a:lnTo>
                <a:cubicBezTo>
                  <a:pt x="0" y="136388"/>
                  <a:pt x="41179" y="151086"/>
                  <a:pt x="91966" y="151086"/>
                </a:cubicBezTo>
                <a:cubicBezTo>
                  <a:pt x="142752" y="151086"/>
                  <a:pt x="183931" y="136388"/>
                  <a:pt x="183931" y="118241"/>
                </a:cubicBezTo>
                <a:lnTo>
                  <a:pt x="183931" y="84493"/>
                </a:lnTo>
                <a:close/>
                <a:moveTo>
                  <a:pt x="183931" y="52552"/>
                </a:moveTo>
                <a:lnTo>
                  <a:pt x="183931" y="32845"/>
                </a:lnTo>
                <a:cubicBezTo>
                  <a:pt x="183931" y="14698"/>
                  <a:pt x="142752" y="0"/>
                  <a:pt x="91966" y="0"/>
                </a:cubicBezTo>
                <a:cubicBezTo>
                  <a:pt x="41179" y="0"/>
                  <a:pt x="0" y="14698"/>
                  <a:pt x="0" y="32845"/>
                </a:cubicBezTo>
                <a:lnTo>
                  <a:pt x="0" y="52552"/>
                </a:lnTo>
                <a:cubicBezTo>
                  <a:pt x="0" y="70698"/>
                  <a:pt x="41179" y="85397"/>
                  <a:pt x="91966" y="85397"/>
                </a:cubicBezTo>
                <a:cubicBezTo>
                  <a:pt x="142752" y="85397"/>
                  <a:pt x="183931" y="70698"/>
                  <a:pt x="183931" y="52552"/>
                </a:cubicBezTo>
                <a:close/>
                <a:moveTo>
                  <a:pt x="163608" y="160036"/>
                </a:moveTo>
                <a:cubicBezTo>
                  <a:pt x="144353" y="166893"/>
                  <a:pt x="119021" y="170793"/>
                  <a:pt x="91966" y="170793"/>
                </a:cubicBezTo>
                <a:cubicBezTo>
                  <a:pt x="64910" y="170793"/>
                  <a:pt x="39578" y="166893"/>
                  <a:pt x="20323" y="160036"/>
                </a:cubicBezTo>
                <a:cubicBezTo>
                  <a:pt x="13097" y="157450"/>
                  <a:pt x="6076" y="154206"/>
                  <a:pt x="0" y="150183"/>
                </a:cubicBezTo>
                <a:lnTo>
                  <a:pt x="0" y="177362"/>
                </a:lnTo>
                <a:cubicBezTo>
                  <a:pt x="0" y="195509"/>
                  <a:pt x="41179" y="210207"/>
                  <a:pt x="91966" y="210207"/>
                </a:cubicBezTo>
                <a:cubicBezTo>
                  <a:pt x="142752" y="210207"/>
                  <a:pt x="183931" y="195509"/>
                  <a:pt x="183931" y="177362"/>
                </a:cubicBezTo>
                <a:lnTo>
                  <a:pt x="183931" y="150183"/>
                </a:lnTo>
                <a:cubicBezTo>
                  <a:pt x="177855" y="154206"/>
                  <a:pt x="170875" y="157450"/>
                  <a:pt x="163608" y="160036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2" name="Text 10"/>
          <p:cNvSpPr/>
          <p:nvPr/>
        </p:nvSpPr>
        <p:spPr>
          <a:xfrm>
            <a:off x="1197011" y="2802599"/>
            <a:ext cx="2896184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中小规模离散数据的关联规则挖掘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0828" y="3129587"/>
            <a:ext cx="6936828" cy="256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7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47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Apriori算法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7333" y="3620070"/>
            <a:ext cx="7147034" cy="864184"/>
          </a:xfrm>
          <a:custGeom>
            <a:avLst/>
            <a:gdLst/>
            <a:ahLst/>
            <a:cxnLst/>
            <a:rect l="l" t="t" r="r" b="b"/>
            <a:pathLst>
              <a:path w="7147034" h="864184">
                <a:moveTo>
                  <a:pt x="46713" y="0"/>
                </a:moveTo>
                <a:lnTo>
                  <a:pt x="7053608" y="0"/>
                </a:lnTo>
                <a:cubicBezTo>
                  <a:pt x="7105206" y="0"/>
                  <a:pt x="7147034" y="41829"/>
                  <a:pt x="7147034" y="93427"/>
                </a:cubicBezTo>
                <a:lnTo>
                  <a:pt x="7147034" y="770757"/>
                </a:lnTo>
                <a:cubicBezTo>
                  <a:pt x="7147034" y="822355"/>
                  <a:pt x="7105206" y="864184"/>
                  <a:pt x="7053608" y="864184"/>
                </a:cubicBezTo>
                <a:lnTo>
                  <a:pt x="46713" y="864184"/>
                </a:lnTo>
                <a:cubicBezTo>
                  <a:pt x="20914" y="864184"/>
                  <a:pt x="0" y="843270"/>
                  <a:pt x="0" y="817471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77333" y="3620070"/>
            <a:ext cx="46713" cy="864184"/>
          </a:xfrm>
          <a:custGeom>
            <a:avLst/>
            <a:gdLst/>
            <a:ahLst/>
            <a:cxnLst/>
            <a:rect l="l" t="t" r="r" b="b"/>
            <a:pathLst>
              <a:path w="46713" h="864184">
                <a:moveTo>
                  <a:pt x="46713" y="0"/>
                </a:moveTo>
                <a:lnTo>
                  <a:pt x="46713" y="0"/>
                </a:lnTo>
                <a:lnTo>
                  <a:pt x="46713" y="864184"/>
                </a:lnTo>
                <a:lnTo>
                  <a:pt x="46713" y="864184"/>
                </a:lnTo>
                <a:cubicBezTo>
                  <a:pt x="20914" y="864184"/>
                  <a:pt x="0" y="843270"/>
                  <a:pt x="0" y="817471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16" name="Shape 14"/>
          <p:cNvSpPr/>
          <p:nvPr/>
        </p:nvSpPr>
        <p:spPr>
          <a:xfrm>
            <a:off x="883161" y="3795243"/>
            <a:ext cx="183931" cy="210207"/>
          </a:xfrm>
          <a:custGeom>
            <a:avLst/>
            <a:gdLst/>
            <a:ahLst/>
            <a:cxnLst/>
            <a:rect l="l" t="t" r="r" b="b"/>
            <a:pathLst>
              <a:path w="183931" h="210207">
                <a:moveTo>
                  <a:pt x="26276" y="13138"/>
                </a:moveTo>
                <a:cubicBezTo>
                  <a:pt x="11783" y="13138"/>
                  <a:pt x="0" y="24921"/>
                  <a:pt x="0" y="39414"/>
                </a:cubicBezTo>
                <a:lnTo>
                  <a:pt x="0" y="65690"/>
                </a:lnTo>
                <a:cubicBezTo>
                  <a:pt x="0" y="80182"/>
                  <a:pt x="11783" y="91966"/>
                  <a:pt x="26276" y="91966"/>
                </a:cubicBezTo>
                <a:lnTo>
                  <a:pt x="157655" y="91966"/>
                </a:lnTo>
                <a:cubicBezTo>
                  <a:pt x="172148" y="91966"/>
                  <a:pt x="183931" y="80182"/>
                  <a:pt x="183931" y="65690"/>
                </a:cubicBezTo>
                <a:lnTo>
                  <a:pt x="183931" y="39414"/>
                </a:lnTo>
                <a:cubicBezTo>
                  <a:pt x="183931" y="24921"/>
                  <a:pt x="172148" y="13138"/>
                  <a:pt x="157655" y="13138"/>
                </a:cubicBezTo>
                <a:lnTo>
                  <a:pt x="26276" y="13138"/>
                </a:lnTo>
                <a:close/>
                <a:moveTo>
                  <a:pt x="114957" y="42698"/>
                </a:moveTo>
                <a:cubicBezTo>
                  <a:pt x="120395" y="42698"/>
                  <a:pt x="124810" y="47113"/>
                  <a:pt x="124810" y="52552"/>
                </a:cubicBezTo>
                <a:cubicBezTo>
                  <a:pt x="124810" y="57990"/>
                  <a:pt x="120395" y="62405"/>
                  <a:pt x="114957" y="62405"/>
                </a:cubicBezTo>
                <a:cubicBezTo>
                  <a:pt x="109519" y="62405"/>
                  <a:pt x="105103" y="57990"/>
                  <a:pt x="105103" y="52552"/>
                </a:cubicBezTo>
                <a:cubicBezTo>
                  <a:pt x="105103" y="47113"/>
                  <a:pt x="109519" y="42698"/>
                  <a:pt x="114957" y="42698"/>
                </a:cubicBezTo>
                <a:close/>
                <a:moveTo>
                  <a:pt x="137948" y="52552"/>
                </a:moveTo>
                <a:cubicBezTo>
                  <a:pt x="137948" y="47113"/>
                  <a:pt x="142363" y="42698"/>
                  <a:pt x="147802" y="42698"/>
                </a:cubicBezTo>
                <a:cubicBezTo>
                  <a:pt x="153240" y="42698"/>
                  <a:pt x="157655" y="47113"/>
                  <a:pt x="157655" y="52552"/>
                </a:cubicBezTo>
                <a:cubicBezTo>
                  <a:pt x="157655" y="57990"/>
                  <a:pt x="153240" y="62405"/>
                  <a:pt x="147802" y="62405"/>
                </a:cubicBezTo>
                <a:cubicBezTo>
                  <a:pt x="142363" y="62405"/>
                  <a:pt x="137948" y="57990"/>
                  <a:pt x="137948" y="52552"/>
                </a:cubicBezTo>
                <a:close/>
                <a:moveTo>
                  <a:pt x="26276" y="118241"/>
                </a:moveTo>
                <a:cubicBezTo>
                  <a:pt x="11783" y="118241"/>
                  <a:pt x="0" y="130024"/>
                  <a:pt x="0" y="144517"/>
                </a:cubicBezTo>
                <a:lnTo>
                  <a:pt x="0" y="170793"/>
                </a:lnTo>
                <a:cubicBezTo>
                  <a:pt x="0" y="185286"/>
                  <a:pt x="11783" y="197069"/>
                  <a:pt x="26276" y="197069"/>
                </a:cubicBezTo>
                <a:lnTo>
                  <a:pt x="157655" y="197069"/>
                </a:lnTo>
                <a:cubicBezTo>
                  <a:pt x="172148" y="197069"/>
                  <a:pt x="183931" y="185286"/>
                  <a:pt x="183931" y="170793"/>
                </a:cubicBezTo>
                <a:lnTo>
                  <a:pt x="183931" y="144517"/>
                </a:lnTo>
                <a:cubicBezTo>
                  <a:pt x="183931" y="130024"/>
                  <a:pt x="172148" y="118241"/>
                  <a:pt x="157655" y="118241"/>
                </a:cubicBezTo>
                <a:lnTo>
                  <a:pt x="26276" y="118241"/>
                </a:lnTo>
                <a:close/>
                <a:moveTo>
                  <a:pt x="114957" y="147802"/>
                </a:moveTo>
                <a:cubicBezTo>
                  <a:pt x="120395" y="147802"/>
                  <a:pt x="124810" y="152217"/>
                  <a:pt x="124810" y="157655"/>
                </a:cubicBezTo>
                <a:cubicBezTo>
                  <a:pt x="124810" y="163093"/>
                  <a:pt x="120395" y="167509"/>
                  <a:pt x="114957" y="167509"/>
                </a:cubicBezTo>
                <a:cubicBezTo>
                  <a:pt x="109519" y="167509"/>
                  <a:pt x="105103" y="163093"/>
                  <a:pt x="105103" y="157655"/>
                </a:cubicBezTo>
                <a:cubicBezTo>
                  <a:pt x="105103" y="152217"/>
                  <a:pt x="109519" y="147802"/>
                  <a:pt x="114957" y="147802"/>
                </a:cubicBezTo>
                <a:close/>
                <a:moveTo>
                  <a:pt x="137948" y="157655"/>
                </a:moveTo>
                <a:cubicBezTo>
                  <a:pt x="137948" y="152217"/>
                  <a:pt x="142363" y="147802"/>
                  <a:pt x="147802" y="147802"/>
                </a:cubicBezTo>
                <a:cubicBezTo>
                  <a:pt x="153240" y="147802"/>
                  <a:pt x="157655" y="152217"/>
                  <a:pt x="157655" y="157655"/>
                </a:cubicBezTo>
                <a:cubicBezTo>
                  <a:pt x="157655" y="163093"/>
                  <a:pt x="153240" y="167509"/>
                  <a:pt x="147802" y="167509"/>
                </a:cubicBezTo>
                <a:cubicBezTo>
                  <a:pt x="142363" y="167509"/>
                  <a:pt x="137948" y="163093"/>
                  <a:pt x="137948" y="157655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17" name="Text 15"/>
          <p:cNvSpPr/>
          <p:nvPr/>
        </p:nvSpPr>
        <p:spPr>
          <a:xfrm>
            <a:off x="1197011" y="3760208"/>
            <a:ext cx="2709333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大规模离散数据的频繁模式挖掘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0828" y="4087197"/>
            <a:ext cx="6936828" cy="256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7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47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FP-Growth算法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7333" y="4577679"/>
            <a:ext cx="7147034" cy="864184"/>
          </a:xfrm>
          <a:custGeom>
            <a:avLst/>
            <a:gdLst/>
            <a:ahLst/>
            <a:cxnLst/>
            <a:rect l="l" t="t" r="r" b="b"/>
            <a:pathLst>
              <a:path w="7147034" h="864184">
                <a:moveTo>
                  <a:pt x="46713" y="0"/>
                </a:moveTo>
                <a:lnTo>
                  <a:pt x="7053608" y="0"/>
                </a:lnTo>
                <a:cubicBezTo>
                  <a:pt x="7105206" y="0"/>
                  <a:pt x="7147034" y="41829"/>
                  <a:pt x="7147034" y="93427"/>
                </a:cubicBezTo>
                <a:lnTo>
                  <a:pt x="7147034" y="770757"/>
                </a:lnTo>
                <a:cubicBezTo>
                  <a:pt x="7147034" y="822355"/>
                  <a:pt x="7105206" y="864184"/>
                  <a:pt x="7053608" y="864184"/>
                </a:cubicBezTo>
                <a:lnTo>
                  <a:pt x="46713" y="864184"/>
                </a:lnTo>
                <a:cubicBezTo>
                  <a:pt x="20914" y="864184"/>
                  <a:pt x="0" y="843270"/>
                  <a:pt x="0" y="817471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677333" y="4577679"/>
            <a:ext cx="46713" cy="864184"/>
          </a:xfrm>
          <a:custGeom>
            <a:avLst/>
            <a:gdLst/>
            <a:ahLst/>
            <a:cxnLst/>
            <a:rect l="l" t="t" r="r" b="b"/>
            <a:pathLst>
              <a:path w="46713" h="864184">
                <a:moveTo>
                  <a:pt x="46713" y="0"/>
                </a:moveTo>
                <a:lnTo>
                  <a:pt x="46713" y="0"/>
                </a:lnTo>
                <a:lnTo>
                  <a:pt x="46713" y="864184"/>
                </a:lnTo>
                <a:lnTo>
                  <a:pt x="46713" y="864184"/>
                </a:lnTo>
                <a:cubicBezTo>
                  <a:pt x="20914" y="864184"/>
                  <a:pt x="0" y="843270"/>
                  <a:pt x="0" y="817471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21" name="Shape 19"/>
          <p:cNvSpPr/>
          <p:nvPr/>
        </p:nvSpPr>
        <p:spPr>
          <a:xfrm>
            <a:off x="870023" y="4752852"/>
            <a:ext cx="210207" cy="210207"/>
          </a:xfrm>
          <a:custGeom>
            <a:avLst/>
            <a:gdLst/>
            <a:ahLst/>
            <a:cxnLst/>
            <a:rect l="l" t="t" r="r" b="b"/>
            <a:pathLst>
              <a:path w="210207" h="210207">
                <a:moveTo>
                  <a:pt x="26276" y="26276"/>
                </a:moveTo>
                <a:cubicBezTo>
                  <a:pt x="26276" y="19009"/>
                  <a:pt x="20405" y="13138"/>
                  <a:pt x="13138" y="13138"/>
                </a:cubicBezTo>
                <a:cubicBezTo>
                  <a:pt x="5871" y="13138"/>
                  <a:pt x="0" y="19009"/>
                  <a:pt x="0" y="26276"/>
                </a:cubicBezTo>
                <a:lnTo>
                  <a:pt x="0" y="164224"/>
                </a:lnTo>
                <a:cubicBezTo>
                  <a:pt x="0" y="182371"/>
                  <a:pt x="14698" y="197069"/>
                  <a:pt x="32845" y="197069"/>
                </a:cubicBezTo>
                <a:lnTo>
                  <a:pt x="197069" y="197069"/>
                </a:lnTo>
                <a:cubicBezTo>
                  <a:pt x="204336" y="197069"/>
                  <a:pt x="210207" y="191198"/>
                  <a:pt x="210207" y="183931"/>
                </a:cubicBezTo>
                <a:cubicBezTo>
                  <a:pt x="210207" y="176664"/>
                  <a:pt x="204336" y="170793"/>
                  <a:pt x="197069" y="170793"/>
                </a:cubicBezTo>
                <a:lnTo>
                  <a:pt x="32845" y="170793"/>
                </a:lnTo>
                <a:cubicBezTo>
                  <a:pt x="29232" y="170793"/>
                  <a:pt x="26276" y="167837"/>
                  <a:pt x="26276" y="164224"/>
                </a:cubicBezTo>
                <a:lnTo>
                  <a:pt x="26276" y="26276"/>
                </a:lnTo>
                <a:close/>
                <a:moveTo>
                  <a:pt x="193210" y="61830"/>
                </a:moveTo>
                <a:cubicBezTo>
                  <a:pt x="198342" y="56698"/>
                  <a:pt x="198342" y="48364"/>
                  <a:pt x="193210" y="43232"/>
                </a:cubicBezTo>
                <a:cubicBezTo>
                  <a:pt x="188078" y="38100"/>
                  <a:pt x="179743" y="38100"/>
                  <a:pt x="174611" y="43232"/>
                </a:cubicBezTo>
                <a:lnTo>
                  <a:pt x="131379" y="86505"/>
                </a:lnTo>
                <a:lnTo>
                  <a:pt x="107813" y="62980"/>
                </a:lnTo>
                <a:cubicBezTo>
                  <a:pt x="102681" y="57848"/>
                  <a:pt x="94347" y="57848"/>
                  <a:pt x="89215" y="62980"/>
                </a:cubicBezTo>
                <a:lnTo>
                  <a:pt x="49801" y="102394"/>
                </a:lnTo>
                <a:cubicBezTo>
                  <a:pt x="44669" y="107526"/>
                  <a:pt x="44669" y="115860"/>
                  <a:pt x="49801" y="120992"/>
                </a:cubicBezTo>
                <a:cubicBezTo>
                  <a:pt x="54933" y="126124"/>
                  <a:pt x="63267" y="126124"/>
                  <a:pt x="68399" y="120992"/>
                </a:cubicBezTo>
                <a:lnTo>
                  <a:pt x="98534" y="90857"/>
                </a:lnTo>
                <a:lnTo>
                  <a:pt x="122101" y="114423"/>
                </a:lnTo>
                <a:cubicBezTo>
                  <a:pt x="127233" y="119555"/>
                  <a:pt x="135567" y="119555"/>
                  <a:pt x="140699" y="114423"/>
                </a:cubicBezTo>
                <a:lnTo>
                  <a:pt x="193251" y="61871"/>
                </a:lnTo>
                <a:close/>
              </a:path>
            </a:pathLst>
          </a:custGeom>
          <a:solidFill>
            <a:srgbClr val="5B677D"/>
          </a:solidFill>
        </p:spPr>
      </p:sp>
      <p:sp>
        <p:nvSpPr>
          <p:cNvPr id="22" name="Text 20"/>
          <p:cNvSpPr/>
          <p:nvPr/>
        </p:nvSpPr>
        <p:spPr>
          <a:xfrm>
            <a:off x="1197011" y="4717817"/>
            <a:ext cx="2335632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连续型数据的线性关联量化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0828" y="5044806"/>
            <a:ext cx="6936828" cy="256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7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47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皮尔逊相关系数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7333" y="5535289"/>
            <a:ext cx="7147034" cy="864184"/>
          </a:xfrm>
          <a:custGeom>
            <a:avLst/>
            <a:gdLst/>
            <a:ahLst/>
            <a:cxnLst/>
            <a:rect l="l" t="t" r="r" b="b"/>
            <a:pathLst>
              <a:path w="7147034" h="864184">
                <a:moveTo>
                  <a:pt x="46713" y="0"/>
                </a:moveTo>
                <a:lnTo>
                  <a:pt x="7053608" y="0"/>
                </a:lnTo>
                <a:cubicBezTo>
                  <a:pt x="7105206" y="0"/>
                  <a:pt x="7147034" y="41829"/>
                  <a:pt x="7147034" y="93427"/>
                </a:cubicBezTo>
                <a:lnTo>
                  <a:pt x="7147034" y="770757"/>
                </a:lnTo>
                <a:cubicBezTo>
                  <a:pt x="7147034" y="822355"/>
                  <a:pt x="7105206" y="864184"/>
                  <a:pt x="7053608" y="864184"/>
                </a:cubicBezTo>
                <a:lnTo>
                  <a:pt x="46713" y="864184"/>
                </a:lnTo>
                <a:cubicBezTo>
                  <a:pt x="20914" y="864184"/>
                  <a:pt x="0" y="843270"/>
                  <a:pt x="0" y="817471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>
                  <a:alpha val="20000"/>
                </a:srgbClr>
              </a:gs>
              <a:gs pos="100000">
                <a:srgbClr val="212C42">
                  <a:alpha val="20000"/>
                </a:srgbClr>
              </a:gs>
            </a:gsLst>
            <a:lin ang="0" scaled="1"/>
          </a:gradFill>
        </p:spPr>
      </p:sp>
      <p:sp>
        <p:nvSpPr>
          <p:cNvPr id="25" name="Shape 23"/>
          <p:cNvSpPr/>
          <p:nvPr/>
        </p:nvSpPr>
        <p:spPr>
          <a:xfrm>
            <a:off x="677333" y="5535289"/>
            <a:ext cx="46713" cy="864184"/>
          </a:xfrm>
          <a:custGeom>
            <a:avLst/>
            <a:gdLst/>
            <a:ahLst/>
            <a:cxnLst/>
            <a:rect l="l" t="t" r="r" b="b"/>
            <a:pathLst>
              <a:path w="46713" h="864184">
                <a:moveTo>
                  <a:pt x="46713" y="0"/>
                </a:moveTo>
                <a:lnTo>
                  <a:pt x="46713" y="0"/>
                </a:lnTo>
                <a:lnTo>
                  <a:pt x="46713" y="864184"/>
                </a:lnTo>
                <a:lnTo>
                  <a:pt x="46713" y="864184"/>
                </a:lnTo>
                <a:cubicBezTo>
                  <a:pt x="20914" y="864184"/>
                  <a:pt x="0" y="843270"/>
                  <a:pt x="0" y="817471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6" name="Shape 24"/>
          <p:cNvSpPr/>
          <p:nvPr/>
        </p:nvSpPr>
        <p:spPr>
          <a:xfrm>
            <a:off x="856885" y="5710461"/>
            <a:ext cx="236483" cy="210207"/>
          </a:xfrm>
          <a:custGeom>
            <a:avLst/>
            <a:gdLst/>
            <a:ahLst/>
            <a:cxnLst/>
            <a:rect l="l" t="t" r="r" b="b"/>
            <a:pathLst>
              <a:path w="236483" h="210207">
                <a:moveTo>
                  <a:pt x="61830" y="16997"/>
                </a:moveTo>
                <a:cubicBezTo>
                  <a:pt x="56698" y="11865"/>
                  <a:pt x="48364" y="11865"/>
                  <a:pt x="43232" y="16997"/>
                </a:cubicBezTo>
                <a:lnTo>
                  <a:pt x="3818" y="56411"/>
                </a:lnTo>
                <a:cubicBezTo>
                  <a:pt x="-1314" y="61543"/>
                  <a:pt x="-1314" y="69877"/>
                  <a:pt x="3818" y="75009"/>
                </a:cubicBezTo>
                <a:cubicBezTo>
                  <a:pt x="8950" y="80141"/>
                  <a:pt x="17285" y="80141"/>
                  <a:pt x="22417" y="75009"/>
                </a:cubicBezTo>
                <a:lnTo>
                  <a:pt x="39414" y="58012"/>
                </a:lnTo>
                <a:lnTo>
                  <a:pt x="39414" y="183931"/>
                </a:lnTo>
                <a:cubicBezTo>
                  <a:pt x="39414" y="191198"/>
                  <a:pt x="45285" y="197069"/>
                  <a:pt x="52552" y="197069"/>
                </a:cubicBezTo>
                <a:cubicBezTo>
                  <a:pt x="59819" y="197069"/>
                  <a:pt x="65690" y="191198"/>
                  <a:pt x="65690" y="183931"/>
                </a:cubicBezTo>
                <a:lnTo>
                  <a:pt x="65690" y="58012"/>
                </a:lnTo>
                <a:lnTo>
                  <a:pt x="82687" y="75009"/>
                </a:lnTo>
                <a:cubicBezTo>
                  <a:pt x="87819" y="80141"/>
                  <a:pt x="96153" y="80141"/>
                  <a:pt x="101285" y="75009"/>
                </a:cubicBezTo>
                <a:cubicBezTo>
                  <a:pt x="106417" y="69877"/>
                  <a:pt x="106417" y="61543"/>
                  <a:pt x="101285" y="56411"/>
                </a:cubicBezTo>
                <a:lnTo>
                  <a:pt x="61871" y="16997"/>
                </a:lnTo>
                <a:close/>
                <a:moveTo>
                  <a:pt x="131379" y="197069"/>
                </a:moveTo>
                <a:lnTo>
                  <a:pt x="144517" y="197069"/>
                </a:lnTo>
                <a:cubicBezTo>
                  <a:pt x="151784" y="197069"/>
                  <a:pt x="157655" y="191198"/>
                  <a:pt x="157655" y="183931"/>
                </a:cubicBezTo>
                <a:cubicBezTo>
                  <a:pt x="157655" y="176664"/>
                  <a:pt x="151784" y="170793"/>
                  <a:pt x="144517" y="170793"/>
                </a:cubicBezTo>
                <a:lnTo>
                  <a:pt x="131379" y="170793"/>
                </a:lnTo>
                <a:cubicBezTo>
                  <a:pt x="124112" y="170793"/>
                  <a:pt x="118241" y="176664"/>
                  <a:pt x="118241" y="183931"/>
                </a:cubicBezTo>
                <a:cubicBezTo>
                  <a:pt x="118241" y="191198"/>
                  <a:pt x="124112" y="197069"/>
                  <a:pt x="131379" y="197069"/>
                </a:cubicBezTo>
                <a:close/>
                <a:moveTo>
                  <a:pt x="131379" y="144517"/>
                </a:moveTo>
                <a:lnTo>
                  <a:pt x="170793" y="144517"/>
                </a:lnTo>
                <a:cubicBezTo>
                  <a:pt x="178060" y="144517"/>
                  <a:pt x="183931" y="138646"/>
                  <a:pt x="183931" y="131379"/>
                </a:cubicBezTo>
                <a:cubicBezTo>
                  <a:pt x="183931" y="124112"/>
                  <a:pt x="178060" y="118241"/>
                  <a:pt x="170793" y="118241"/>
                </a:cubicBezTo>
                <a:lnTo>
                  <a:pt x="131379" y="118241"/>
                </a:lnTo>
                <a:cubicBezTo>
                  <a:pt x="124112" y="118241"/>
                  <a:pt x="118241" y="124112"/>
                  <a:pt x="118241" y="131379"/>
                </a:cubicBezTo>
                <a:cubicBezTo>
                  <a:pt x="118241" y="138646"/>
                  <a:pt x="124112" y="144517"/>
                  <a:pt x="131379" y="144517"/>
                </a:cubicBezTo>
                <a:close/>
                <a:moveTo>
                  <a:pt x="131379" y="91966"/>
                </a:moveTo>
                <a:lnTo>
                  <a:pt x="197069" y="91966"/>
                </a:lnTo>
                <a:cubicBezTo>
                  <a:pt x="204336" y="91966"/>
                  <a:pt x="210207" y="86095"/>
                  <a:pt x="210207" y="78828"/>
                </a:cubicBezTo>
                <a:cubicBezTo>
                  <a:pt x="210207" y="71561"/>
                  <a:pt x="204336" y="65690"/>
                  <a:pt x="197069" y="65690"/>
                </a:cubicBezTo>
                <a:lnTo>
                  <a:pt x="131379" y="65690"/>
                </a:lnTo>
                <a:cubicBezTo>
                  <a:pt x="124112" y="65690"/>
                  <a:pt x="118241" y="71561"/>
                  <a:pt x="118241" y="78828"/>
                </a:cubicBezTo>
                <a:cubicBezTo>
                  <a:pt x="118241" y="86095"/>
                  <a:pt x="124112" y="91966"/>
                  <a:pt x="131379" y="91966"/>
                </a:cubicBezTo>
                <a:close/>
                <a:moveTo>
                  <a:pt x="131379" y="39414"/>
                </a:moveTo>
                <a:lnTo>
                  <a:pt x="223345" y="39414"/>
                </a:lnTo>
                <a:cubicBezTo>
                  <a:pt x="230612" y="39414"/>
                  <a:pt x="236483" y="33543"/>
                  <a:pt x="236483" y="26276"/>
                </a:cubicBezTo>
                <a:cubicBezTo>
                  <a:pt x="236483" y="19009"/>
                  <a:pt x="230612" y="13138"/>
                  <a:pt x="223345" y="13138"/>
                </a:cubicBezTo>
                <a:lnTo>
                  <a:pt x="131379" y="13138"/>
                </a:lnTo>
                <a:cubicBezTo>
                  <a:pt x="124112" y="13138"/>
                  <a:pt x="118241" y="19009"/>
                  <a:pt x="118241" y="26276"/>
                </a:cubicBezTo>
                <a:cubicBezTo>
                  <a:pt x="118241" y="33543"/>
                  <a:pt x="124112" y="39414"/>
                  <a:pt x="131379" y="39414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7" name="Text 25"/>
          <p:cNvSpPr/>
          <p:nvPr/>
        </p:nvSpPr>
        <p:spPr>
          <a:xfrm>
            <a:off x="1197011" y="5675427"/>
            <a:ext cx="2896184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非正态分布、等级变量的关联分析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0828" y="6002415"/>
            <a:ext cx="6936828" cy="256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70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推荐方法：</a:t>
            </a:r>
            <a:r>
              <a:rPr lang="en-US" sz="1470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斯皮尔曼等级相关系数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44782" y="1728368"/>
            <a:ext cx="7544092" cy="4566161"/>
          </a:xfrm>
          <a:custGeom>
            <a:avLst/>
            <a:gdLst/>
            <a:ahLst/>
            <a:cxnLst/>
            <a:rect l="l" t="t" r="r" b="b"/>
            <a:pathLst>
              <a:path w="7544092" h="4566161">
                <a:moveTo>
                  <a:pt x="140135" y="0"/>
                </a:moveTo>
                <a:lnTo>
                  <a:pt x="7403956" y="0"/>
                </a:lnTo>
                <a:cubicBezTo>
                  <a:pt x="7481299" y="0"/>
                  <a:pt x="7544092" y="62793"/>
                  <a:pt x="7544092" y="140135"/>
                </a:cubicBezTo>
                <a:lnTo>
                  <a:pt x="7544092" y="4426025"/>
                </a:lnTo>
                <a:cubicBezTo>
                  <a:pt x="7544092" y="4503368"/>
                  <a:pt x="7481299" y="4566161"/>
                  <a:pt x="7403956" y="4566161"/>
                </a:cubicBezTo>
                <a:lnTo>
                  <a:pt x="140135" y="4566161"/>
                </a:lnTo>
                <a:cubicBezTo>
                  <a:pt x="62793" y="4566161"/>
                  <a:pt x="0" y="4503368"/>
                  <a:pt x="0" y="4426025"/>
                </a:cubicBezTo>
                <a:lnTo>
                  <a:pt x="0" y="140135"/>
                </a:lnTo>
                <a:cubicBezTo>
                  <a:pt x="0" y="62793"/>
                  <a:pt x="62793" y="0"/>
                  <a:pt x="140135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2700000" scaled="1"/>
          </a:gradFill>
          <a:effectLst>
            <a:outerShdw blurRad="291954" dist="23356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66667" y="1961771"/>
            <a:ext cx="280276" cy="280276"/>
          </a:xfrm>
          <a:custGeom>
            <a:avLst/>
            <a:gdLst/>
            <a:ahLst/>
            <a:cxnLst/>
            <a:rect l="l" t="t" r="r" b="b"/>
            <a:pathLst>
              <a:path w="280276" h="280276">
                <a:moveTo>
                  <a:pt x="183931" y="192690"/>
                </a:moveTo>
                <a:cubicBezTo>
                  <a:pt x="237140" y="192690"/>
                  <a:pt x="280276" y="149553"/>
                  <a:pt x="280276" y="96345"/>
                </a:cubicBezTo>
                <a:cubicBezTo>
                  <a:pt x="280276" y="43136"/>
                  <a:pt x="237140" y="0"/>
                  <a:pt x="183931" y="0"/>
                </a:cubicBezTo>
                <a:cubicBezTo>
                  <a:pt x="130722" y="0"/>
                  <a:pt x="87586" y="43136"/>
                  <a:pt x="87586" y="96345"/>
                </a:cubicBezTo>
                <a:cubicBezTo>
                  <a:pt x="87586" y="106581"/>
                  <a:pt x="89174" y="116490"/>
                  <a:pt x="92130" y="125741"/>
                </a:cubicBezTo>
                <a:lnTo>
                  <a:pt x="3832" y="214039"/>
                </a:lnTo>
                <a:cubicBezTo>
                  <a:pt x="1369" y="216502"/>
                  <a:pt x="0" y="219841"/>
                  <a:pt x="0" y="223345"/>
                </a:cubicBezTo>
                <a:lnTo>
                  <a:pt x="0" y="267138"/>
                </a:lnTo>
                <a:cubicBezTo>
                  <a:pt x="0" y="274419"/>
                  <a:pt x="5857" y="280276"/>
                  <a:pt x="13138" y="280276"/>
                </a:cubicBezTo>
                <a:lnTo>
                  <a:pt x="56931" y="280276"/>
                </a:lnTo>
                <a:cubicBezTo>
                  <a:pt x="64212" y="280276"/>
                  <a:pt x="70069" y="274419"/>
                  <a:pt x="70069" y="267138"/>
                </a:cubicBezTo>
                <a:lnTo>
                  <a:pt x="70069" y="245241"/>
                </a:lnTo>
                <a:lnTo>
                  <a:pt x="91966" y="245241"/>
                </a:lnTo>
                <a:cubicBezTo>
                  <a:pt x="99246" y="245241"/>
                  <a:pt x="105103" y="239384"/>
                  <a:pt x="105103" y="232103"/>
                </a:cubicBezTo>
                <a:lnTo>
                  <a:pt x="105103" y="210207"/>
                </a:lnTo>
                <a:lnTo>
                  <a:pt x="127000" y="210207"/>
                </a:lnTo>
                <a:cubicBezTo>
                  <a:pt x="130503" y="210207"/>
                  <a:pt x="133843" y="208838"/>
                  <a:pt x="136306" y="206375"/>
                </a:cubicBezTo>
                <a:lnTo>
                  <a:pt x="154535" y="188146"/>
                </a:lnTo>
                <a:cubicBezTo>
                  <a:pt x="163786" y="191102"/>
                  <a:pt x="173694" y="192690"/>
                  <a:pt x="183931" y="192690"/>
                </a:cubicBezTo>
                <a:close/>
                <a:moveTo>
                  <a:pt x="205828" y="52552"/>
                </a:moveTo>
                <a:cubicBezTo>
                  <a:pt x="217913" y="52552"/>
                  <a:pt x="227724" y="62363"/>
                  <a:pt x="227724" y="74448"/>
                </a:cubicBezTo>
                <a:cubicBezTo>
                  <a:pt x="227724" y="86533"/>
                  <a:pt x="217913" y="96345"/>
                  <a:pt x="205828" y="96345"/>
                </a:cubicBezTo>
                <a:cubicBezTo>
                  <a:pt x="193743" y="96345"/>
                  <a:pt x="183931" y="86533"/>
                  <a:pt x="183931" y="74448"/>
                </a:cubicBezTo>
                <a:cubicBezTo>
                  <a:pt x="183931" y="62363"/>
                  <a:pt x="193743" y="52552"/>
                  <a:pt x="205828" y="52552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1" name="Text 29"/>
          <p:cNvSpPr/>
          <p:nvPr/>
        </p:nvSpPr>
        <p:spPr>
          <a:xfrm>
            <a:off x="8781977" y="1915218"/>
            <a:ext cx="6960184" cy="3737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05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建模关键要点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36303" y="2433569"/>
            <a:ext cx="7156377" cy="838492"/>
          </a:xfrm>
          <a:custGeom>
            <a:avLst/>
            <a:gdLst/>
            <a:ahLst/>
            <a:cxnLst/>
            <a:rect l="l" t="t" r="r" b="b"/>
            <a:pathLst>
              <a:path w="7156377" h="838492">
                <a:moveTo>
                  <a:pt x="93425" y="0"/>
                </a:moveTo>
                <a:lnTo>
                  <a:pt x="7062952" y="0"/>
                </a:lnTo>
                <a:cubicBezTo>
                  <a:pt x="7114549" y="0"/>
                  <a:pt x="7156377" y="41828"/>
                  <a:pt x="7156377" y="93425"/>
                </a:cubicBezTo>
                <a:lnTo>
                  <a:pt x="7156377" y="745067"/>
                </a:lnTo>
                <a:cubicBezTo>
                  <a:pt x="7156377" y="796664"/>
                  <a:pt x="7114549" y="838492"/>
                  <a:pt x="7062952" y="838492"/>
                </a:cubicBezTo>
                <a:lnTo>
                  <a:pt x="93425" y="838492"/>
                </a:lnTo>
                <a:cubicBezTo>
                  <a:pt x="41828" y="838492"/>
                  <a:pt x="0" y="796664"/>
                  <a:pt x="0" y="745067"/>
                </a:cubicBezTo>
                <a:lnTo>
                  <a:pt x="0" y="93425"/>
                </a:lnTo>
                <a:cubicBezTo>
                  <a:pt x="0" y="41828"/>
                  <a:pt x="41828" y="0"/>
                  <a:pt x="9342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10308" y="2613422"/>
            <a:ext cx="210207" cy="210207"/>
          </a:xfrm>
          <a:custGeom>
            <a:avLst/>
            <a:gdLst/>
            <a:ahLst/>
            <a:cxnLst/>
            <a:rect l="l" t="t" r="r" b="b"/>
            <a:pathLst>
              <a:path w="210207" h="210207">
                <a:moveTo>
                  <a:pt x="13138" y="26276"/>
                </a:moveTo>
                <a:cubicBezTo>
                  <a:pt x="5871" y="26276"/>
                  <a:pt x="0" y="32147"/>
                  <a:pt x="0" y="39414"/>
                </a:cubicBezTo>
                <a:cubicBezTo>
                  <a:pt x="0" y="46681"/>
                  <a:pt x="5871" y="52552"/>
                  <a:pt x="13138" y="52552"/>
                </a:cubicBezTo>
                <a:lnTo>
                  <a:pt x="48734" y="52552"/>
                </a:lnTo>
                <a:cubicBezTo>
                  <a:pt x="53783" y="64171"/>
                  <a:pt x="65361" y="72259"/>
                  <a:pt x="78828" y="72259"/>
                </a:cubicBezTo>
                <a:cubicBezTo>
                  <a:pt x="92294" y="72259"/>
                  <a:pt x="103872" y="64171"/>
                  <a:pt x="108922" y="52552"/>
                </a:cubicBezTo>
                <a:lnTo>
                  <a:pt x="197069" y="52552"/>
                </a:lnTo>
                <a:cubicBezTo>
                  <a:pt x="204336" y="52552"/>
                  <a:pt x="210207" y="46681"/>
                  <a:pt x="210207" y="39414"/>
                </a:cubicBezTo>
                <a:cubicBezTo>
                  <a:pt x="210207" y="32147"/>
                  <a:pt x="204336" y="26276"/>
                  <a:pt x="197069" y="26276"/>
                </a:cubicBezTo>
                <a:lnTo>
                  <a:pt x="108922" y="26276"/>
                </a:lnTo>
                <a:cubicBezTo>
                  <a:pt x="103872" y="14657"/>
                  <a:pt x="92294" y="6569"/>
                  <a:pt x="78828" y="6569"/>
                </a:cubicBezTo>
                <a:cubicBezTo>
                  <a:pt x="65361" y="6569"/>
                  <a:pt x="53783" y="14657"/>
                  <a:pt x="48734" y="26276"/>
                </a:cubicBezTo>
                <a:lnTo>
                  <a:pt x="13138" y="26276"/>
                </a:lnTo>
                <a:close/>
                <a:moveTo>
                  <a:pt x="13138" y="91966"/>
                </a:moveTo>
                <a:cubicBezTo>
                  <a:pt x="5871" y="91966"/>
                  <a:pt x="0" y="97837"/>
                  <a:pt x="0" y="105103"/>
                </a:cubicBezTo>
                <a:cubicBezTo>
                  <a:pt x="0" y="112370"/>
                  <a:pt x="5871" y="118241"/>
                  <a:pt x="13138" y="118241"/>
                </a:cubicBezTo>
                <a:lnTo>
                  <a:pt x="114423" y="118241"/>
                </a:lnTo>
                <a:cubicBezTo>
                  <a:pt x="119473" y="129860"/>
                  <a:pt x="131051" y="137948"/>
                  <a:pt x="144517" y="137948"/>
                </a:cubicBezTo>
                <a:cubicBezTo>
                  <a:pt x="157984" y="137948"/>
                  <a:pt x="169561" y="129860"/>
                  <a:pt x="174611" y="118241"/>
                </a:cubicBezTo>
                <a:lnTo>
                  <a:pt x="197069" y="118241"/>
                </a:lnTo>
                <a:cubicBezTo>
                  <a:pt x="204336" y="118241"/>
                  <a:pt x="210207" y="112370"/>
                  <a:pt x="210207" y="105103"/>
                </a:cubicBezTo>
                <a:cubicBezTo>
                  <a:pt x="210207" y="97837"/>
                  <a:pt x="204336" y="91966"/>
                  <a:pt x="197069" y="91966"/>
                </a:cubicBezTo>
                <a:lnTo>
                  <a:pt x="174611" y="91966"/>
                </a:lnTo>
                <a:cubicBezTo>
                  <a:pt x="169561" y="80347"/>
                  <a:pt x="157984" y="72259"/>
                  <a:pt x="144517" y="72259"/>
                </a:cubicBezTo>
                <a:cubicBezTo>
                  <a:pt x="131051" y="72259"/>
                  <a:pt x="119473" y="80347"/>
                  <a:pt x="114423" y="91966"/>
                </a:cubicBezTo>
                <a:lnTo>
                  <a:pt x="13138" y="91966"/>
                </a:lnTo>
                <a:close/>
                <a:moveTo>
                  <a:pt x="13138" y="157655"/>
                </a:moveTo>
                <a:cubicBezTo>
                  <a:pt x="5871" y="157655"/>
                  <a:pt x="0" y="163526"/>
                  <a:pt x="0" y="170793"/>
                </a:cubicBezTo>
                <a:cubicBezTo>
                  <a:pt x="0" y="178060"/>
                  <a:pt x="5871" y="183931"/>
                  <a:pt x="13138" y="183931"/>
                </a:cubicBezTo>
                <a:lnTo>
                  <a:pt x="35596" y="183931"/>
                </a:lnTo>
                <a:cubicBezTo>
                  <a:pt x="40645" y="195550"/>
                  <a:pt x="52223" y="203638"/>
                  <a:pt x="65690" y="203638"/>
                </a:cubicBezTo>
                <a:cubicBezTo>
                  <a:pt x="79156" y="203638"/>
                  <a:pt x="90734" y="195550"/>
                  <a:pt x="95784" y="183931"/>
                </a:cubicBezTo>
                <a:lnTo>
                  <a:pt x="197069" y="183931"/>
                </a:lnTo>
                <a:cubicBezTo>
                  <a:pt x="204336" y="183931"/>
                  <a:pt x="210207" y="178060"/>
                  <a:pt x="210207" y="170793"/>
                </a:cubicBezTo>
                <a:cubicBezTo>
                  <a:pt x="210207" y="163526"/>
                  <a:pt x="204336" y="157655"/>
                  <a:pt x="197069" y="157655"/>
                </a:cubicBezTo>
                <a:lnTo>
                  <a:pt x="95784" y="157655"/>
                </a:lnTo>
                <a:cubicBezTo>
                  <a:pt x="90734" y="146036"/>
                  <a:pt x="79156" y="137948"/>
                  <a:pt x="65690" y="137948"/>
                </a:cubicBezTo>
                <a:cubicBezTo>
                  <a:pt x="52223" y="137948"/>
                  <a:pt x="40645" y="146036"/>
                  <a:pt x="35596" y="157655"/>
                </a:cubicBezTo>
                <a:lnTo>
                  <a:pt x="13138" y="157655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34" name="Text 32"/>
          <p:cNvSpPr/>
          <p:nvPr/>
        </p:nvSpPr>
        <p:spPr>
          <a:xfrm>
            <a:off x="8937296" y="2578387"/>
            <a:ext cx="1214529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合理设置阈值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81113" y="2905376"/>
            <a:ext cx="6948506" cy="221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8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支持度、置信度阈值过高易遗漏规则，过低易产生冗余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36303" y="3377744"/>
            <a:ext cx="7156377" cy="838492"/>
          </a:xfrm>
          <a:custGeom>
            <a:avLst/>
            <a:gdLst/>
            <a:ahLst/>
            <a:cxnLst/>
            <a:rect l="l" t="t" r="r" b="b"/>
            <a:pathLst>
              <a:path w="7156377" h="838492">
                <a:moveTo>
                  <a:pt x="93425" y="0"/>
                </a:moveTo>
                <a:lnTo>
                  <a:pt x="7062952" y="0"/>
                </a:lnTo>
                <a:cubicBezTo>
                  <a:pt x="7114549" y="0"/>
                  <a:pt x="7156377" y="41828"/>
                  <a:pt x="7156377" y="93425"/>
                </a:cubicBezTo>
                <a:lnTo>
                  <a:pt x="7156377" y="745067"/>
                </a:lnTo>
                <a:cubicBezTo>
                  <a:pt x="7156377" y="796664"/>
                  <a:pt x="7114549" y="838492"/>
                  <a:pt x="7062952" y="838492"/>
                </a:cubicBezTo>
                <a:lnTo>
                  <a:pt x="93425" y="838492"/>
                </a:lnTo>
                <a:cubicBezTo>
                  <a:pt x="41828" y="838492"/>
                  <a:pt x="0" y="796664"/>
                  <a:pt x="0" y="745067"/>
                </a:cubicBezTo>
                <a:lnTo>
                  <a:pt x="0" y="93425"/>
                </a:lnTo>
                <a:cubicBezTo>
                  <a:pt x="0" y="41828"/>
                  <a:pt x="41828" y="0"/>
                  <a:pt x="9342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97170" y="3557597"/>
            <a:ext cx="236483" cy="210207"/>
          </a:xfrm>
          <a:custGeom>
            <a:avLst/>
            <a:gdLst/>
            <a:ahLst/>
            <a:cxnLst/>
            <a:rect l="l" t="t" r="r" b="b"/>
            <a:pathLst>
              <a:path w="236483" h="210207">
                <a:moveTo>
                  <a:pt x="148130" y="493"/>
                </a:moveTo>
                <a:cubicBezTo>
                  <a:pt x="141151" y="-1519"/>
                  <a:pt x="133884" y="2545"/>
                  <a:pt x="131872" y="9525"/>
                </a:cubicBezTo>
                <a:lnTo>
                  <a:pt x="79320" y="193456"/>
                </a:lnTo>
                <a:cubicBezTo>
                  <a:pt x="77309" y="200436"/>
                  <a:pt x="81373" y="207702"/>
                  <a:pt x="88353" y="209714"/>
                </a:cubicBezTo>
                <a:cubicBezTo>
                  <a:pt x="95332" y="211726"/>
                  <a:pt x="102599" y="207661"/>
                  <a:pt x="104611" y="200682"/>
                </a:cubicBezTo>
                <a:lnTo>
                  <a:pt x="157163" y="16751"/>
                </a:lnTo>
                <a:cubicBezTo>
                  <a:pt x="159174" y="9771"/>
                  <a:pt x="155110" y="2504"/>
                  <a:pt x="148130" y="493"/>
                </a:cubicBezTo>
                <a:close/>
                <a:moveTo>
                  <a:pt x="174652" y="56370"/>
                </a:moveTo>
                <a:cubicBezTo>
                  <a:pt x="169520" y="61502"/>
                  <a:pt x="169520" y="69836"/>
                  <a:pt x="174652" y="74968"/>
                </a:cubicBezTo>
                <a:lnTo>
                  <a:pt x="204787" y="105103"/>
                </a:lnTo>
                <a:lnTo>
                  <a:pt x="174652" y="135239"/>
                </a:lnTo>
                <a:cubicBezTo>
                  <a:pt x="169520" y="140371"/>
                  <a:pt x="169520" y="148705"/>
                  <a:pt x="174652" y="153837"/>
                </a:cubicBezTo>
                <a:cubicBezTo>
                  <a:pt x="179784" y="158969"/>
                  <a:pt x="188119" y="158969"/>
                  <a:pt x="193251" y="153837"/>
                </a:cubicBezTo>
                <a:lnTo>
                  <a:pt x="232665" y="114423"/>
                </a:lnTo>
                <a:cubicBezTo>
                  <a:pt x="237797" y="109291"/>
                  <a:pt x="237797" y="100957"/>
                  <a:pt x="232665" y="95825"/>
                </a:cubicBezTo>
                <a:lnTo>
                  <a:pt x="193251" y="56411"/>
                </a:lnTo>
                <a:cubicBezTo>
                  <a:pt x="188119" y="51279"/>
                  <a:pt x="179784" y="51279"/>
                  <a:pt x="174652" y="56411"/>
                </a:cubicBezTo>
                <a:close/>
                <a:moveTo>
                  <a:pt x="61871" y="56370"/>
                </a:moveTo>
                <a:cubicBezTo>
                  <a:pt x="56739" y="51238"/>
                  <a:pt x="48405" y="51238"/>
                  <a:pt x="43273" y="56370"/>
                </a:cubicBezTo>
                <a:lnTo>
                  <a:pt x="3859" y="95784"/>
                </a:lnTo>
                <a:cubicBezTo>
                  <a:pt x="-1273" y="100916"/>
                  <a:pt x="-1273" y="109250"/>
                  <a:pt x="3859" y="114382"/>
                </a:cubicBezTo>
                <a:lnTo>
                  <a:pt x="43273" y="153796"/>
                </a:lnTo>
                <a:cubicBezTo>
                  <a:pt x="48405" y="158928"/>
                  <a:pt x="56739" y="158928"/>
                  <a:pt x="61871" y="153796"/>
                </a:cubicBezTo>
                <a:cubicBezTo>
                  <a:pt x="67003" y="148664"/>
                  <a:pt x="67003" y="140330"/>
                  <a:pt x="61871" y="135198"/>
                </a:cubicBezTo>
                <a:lnTo>
                  <a:pt x="31736" y="105103"/>
                </a:lnTo>
                <a:lnTo>
                  <a:pt x="61830" y="74968"/>
                </a:lnTo>
                <a:cubicBezTo>
                  <a:pt x="66962" y="69836"/>
                  <a:pt x="66962" y="61502"/>
                  <a:pt x="61830" y="5637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8" name="Text 36"/>
          <p:cNvSpPr/>
          <p:nvPr/>
        </p:nvSpPr>
        <p:spPr>
          <a:xfrm>
            <a:off x="8937296" y="3522562"/>
            <a:ext cx="1588230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离散数据编码处理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81113" y="3849551"/>
            <a:ext cx="6948506" cy="221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8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类别数据需做好编码处理，确保算法正确运行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36303" y="4321941"/>
            <a:ext cx="7156377" cy="838492"/>
          </a:xfrm>
          <a:custGeom>
            <a:avLst/>
            <a:gdLst/>
            <a:ahLst/>
            <a:cxnLst/>
            <a:rect l="l" t="t" r="r" b="b"/>
            <a:pathLst>
              <a:path w="7156377" h="838492">
                <a:moveTo>
                  <a:pt x="93425" y="0"/>
                </a:moveTo>
                <a:lnTo>
                  <a:pt x="7062952" y="0"/>
                </a:lnTo>
                <a:cubicBezTo>
                  <a:pt x="7114549" y="0"/>
                  <a:pt x="7156377" y="41828"/>
                  <a:pt x="7156377" y="93425"/>
                </a:cubicBezTo>
                <a:lnTo>
                  <a:pt x="7156377" y="745067"/>
                </a:lnTo>
                <a:cubicBezTo>
                  <a:pt x="7156377" y="796664"/>
                  <a:pt x="7114549" y="838492"/>
                  <a:pt x="7062952" y="838492"/>
                </a:cubicBezTo>
                <a:lnTo>
                  <a:pt x="93425" y="838492"/>
                </a:lnTo>
                <a:cubicBezTo>
                  <a:pt x="41828" y="838492"/>
                  <a:pt x="0" y="796664"/>
                  <a:pt x="0" y="745067"/>
                </a:cubicBezTo>
                <a:lnTo>
                  <a:pt x="0" y="93425"/>
                </a:lnTo>
                <a:cubicBezTo>
                  <a:pt x="0" y="41828"/>
                  <a:pt x="41828" y="0"/>
                  <a:pt x="9342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10308" y="4501771"/>
            <a:ext cx="210207" cy="210207"/>
          </a:xfrm>
          <a:custGeom>
            <a:avLst/>
            <a:gdLst/>
            <a:ahLst/>
            <a:cxnLst/>
            <a:rect l="l" t="t" r="r" b="b"/>
            <a:pathLst>
              <a:path w="210207" h="210207">
                <a:moveTo>
                  <a:pt x="105103" y="0"/>
                </a:moveTo>
                <a:cubicBezTo>
                  <a:pt x="111139" y="0"/>
                  <a:pt x="116681" y="3326"/>
                  <a:pt x="119555" y="8622"/>
                </a:cubicBezTo>
                <a:lnTo>
                  <a:pt x="208236" y="172846"/>
                </a:lnTo>
                <a:cubicBezTo>
                  <a:pt x="210987" y="177937"/>
                  <a:pt x="210864" y="184095"/>
                  <a:pt x="207908" y="189063"/>
                </a:cubicBezTo>
                <a:cubicBezTo>
                  <a:pt x="204952" y="194031"/>
                  <a:pt x="199573" y="197069"/>
                  <a:pt x="193784" y="197069"/>
                </a:cubicBezTo>
                <a:lnTo>
                  <a:pt x="16422" y="197069"/>
                </a:lnTo>
                <a:cubicBezTo>
                  <a:pt x="10634" y="197069"/>
                  <a:pt x="5296" y="194031"/>
                  <a:pt x="2299" y="189063"/>
                </a:cubicBezTo>
                <a:cubicBezTo>
                  <a:pt x="-698" y="184095"/>
                  <a:pt x="-780" y="177937"/>
                  <a:pt x="1971" y="172846"/>
                </a:cubicBezTo>
                <a:lnTo>
                  <a:pt x="90652" y="8622"/>
                </a:lnTo>
                <a:cubicBezTo>
                  <a:pt x="93526" y="3326"/>
                  <a:pt x="99068" y="0"/>
                  <a:pt x="105103" y="0"/>
                </a:cubicBezTo>
                <a:close/>
                <a:moveTo>
                  <a:pt x="105103" y="68974"/>
                </a:moveTo>
                <a:cubicBezTo>
                  <a:pt x="99643" y="68974"/>
                  <a:pt x="95250" y="73367"/>
                  <a:pt x="95250" y="78828"/>
                </a:cubicBezTo>
                <a:lnTo>
                  <a:pt x="95250" y="124810"/>
                </a:lnTo>
                <a:cubicBezTo>
                  <a:pt x="95250" y="130271"/>
                  <a:pt x="99643" y="134664"/>
                  <a:pt x="105103" y="134664"/>
                </a:cubicBezTo>
                <a:cubicBezTo>
                  <a:pt x="110564" y="134664"/>
                  <a:pt x="114957" y="130271"/>
                  <a:pt x="114957" y="124810"/>
                </a:cubicBezTo>
                <a:lnTo>
                  <a:pt x="114957" y="78828"/>
                </a:lnTo>
                <a:cubicBezTo>
                  <a:pt x="114957" y="73367"/>
                  <a:pt x="110564" y="68974"/>
                  <a:pt x="105103" y="68974"/>
                </a:cubicBezTo>
                <a:close/>
                <a:moveTo>
                  <a:pt x="116065" y="157655"/>
                </a:moveTo>
                <a:cubicBezTo>
                  <a:pt x="116315" y="153586"/>
                  <a:pt x="114286" y="149715"/>
                  <a:pt x="110797" y="147605"/>
                </a:cubicBezTo>
                <a:cubicBezTo>
                  <a:pt x="107309" y="145495"/>
                  <a:pt x="102939" y="145495"/>
                  <a:pt x="99450" y="147605"/>
                </a:cubicBezTo>
                <a:cubicBezTo>
                  <a:pt x="95962" y="149715"/>
                  <a:pt x="93933" y="153586"/>
                  <a:pt x="94183" y="157655"/>
                </a:cubicBezTo>
                <a:cubicBezTo>
                  <a:pt x="93933" y="161724"/>
                  <a:pt x="95962" y="165595"/>
                  <a:pt x="99450" y="167705"/>
                </a:cubicBezTo>
                <a:cubicBezTo>
                  <a:pt x="102939" y="169815"/>
                  <a:pt x="107309" y="169815"/>
                  <a:pt x="110797" y="167705"/>
                </a:cubicBezTo>
                <a:cubicBezTo>
                  <a:pt x="114286" y="165595"/>
                  <a:pt x="116315" y="161724"/>
                  <a:pt x="116065" y="157655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2" name="Text 40"/>
          <p:cNvSpPr/>
          <p:nvPr/>
        </p:nvSpPr>
        <p:spPr>
          <a:xfrm>
            <a:off x="8937296" y="4466737"/>
            <a:ext cx="1331310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相关性≠因果性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81113" y="4793725"/>
            <a:ext cx="6948506" cy="221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8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避免误将关联关系当作因果关系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36303" y="5266116"/>
            <a:ext cx="7156377" cy="838492"/>
          </a:xfrm>
          <a:custGeom>
            <a:avLst/>
            <a:gdLst/>
            <a:ahLst/>
            <a:cxnLst/>
            <a:rect l="l" t="t" r="r" b="b"/>
            <a:pathLst>
              <a:path w="7156377" h="838492">
                <a:moveTo>
                  <a:pt x="93425" y="0"/>
                </a:moveTo>
                <a:lnTo>
                  <a:pt x="7062952" y="0"/>
                </a:lnTo>
                <a:cubicBezTo>
                  <a:pt x="7114549" y="0"/>
                  <a:pt x="7156377" y="41828"/>
                  <a:pt x="7156377" y="93425"/>
                </a:cubicBezTo>
                <a:lnTo>
                  <a:pt x="7156377" y="745067"/>
                </a:lnTo>
                <a:cubicBezTo>
                  <a:pt x="7156377" y="796664"/>
                  <a:pt x="7114549" y="838492"/>
                  <a:pt x="7062952" y="838492"/>
                </a:cubicBezTo>
                <a:lnTo>
                  <a:pt x="93425" y="838492"/>
                </a:lnTo>
                <a:cubicBezTo>
                  <a:pt x="41828" y="838492"/>
                  <a:pt x="0" y="796664"/>
                  <a:pt x="0" y="745067"/>
                </a:cubicBezTo>
                <a:lnTo>
                  <a:pt x="0" y="93425"/>
                </a:lnTo>
                <a:cubicBezTo>
                  <a:pt x="0" y="41828"/>
                  <a:pt x="41828" y="0"/>
                  <a:pt x="9342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10308" y="5445946"/>
            <a:ext cx="210207" cy="210207"/>
          </a:xfrm>
          <a:custGeom>
            <a:avLst/>
            <a:gdLst/>
            <a:ahLst/>
            <a:cxnLst/>
            <a:rect l="l" t="t" r="r" b="b"/>
            <a:pathLst>
              <a:path w="210207" h="210207">
                <a:moveTo>
                  <a:pt x="52552" y="131379"/>
                </a:moveTo>
                <a:lnTo>
                  <a:pt x="10059" y="131379"/>
                </a:lnTo>
                <a:cubicBezTo>
                  <a:pt x="-164" y="131379"/>
                  <a:pt x="-6446" y="120253"/>
                  <a:pt x="-1191" y="111467"/>
                </a:cubicBezTo>
                <a:lnTo>
                  <a:pt x="20528" y="75256"/>
                </a:lnTo>
                <a:cubicBezTo>
                  <a:pt x="24100" y="69303"/>
                  <a:pt x="30505" y="65690"/>
                  <a:pt x="37443" y="65690"/>
                </a:cubicBezTo>
                <a:lnTo>
                  <a:pt x="76446" y="65690"/>
                </a:lnTo>
                <a:cubicBezTo>
                  <a:pt x="107690" y="12768"/>
                  <a:pt x="154289" y="10100"/>
                  <a:pt x="185450" y="14657"/>
                </a:cubicBezTo>
                <a:cubicBezTo>
                  <a:pt x="190705" y="15437"/>
                  <a:pt x="194811" y="19543"/>
                  <a:pt x="195550" y="24757"/>
                </a:cubicBezTo>
                <a:cubicBezTo>
                  <a:pt x="200107" y="55918"/>
                  <a:pt x="197438" y="102517"/>
                  <a:pt x="144517" y="133761"/>
                </a:cubicBezTo>
                <a:lnTo>
                  <a:pt x="144517" y="172764"/>
                </a:lnTo>
                <a:cubicBezTo>
                  <a:pt x="144517" y="179702"/>
                  <a:pt x="140904" y="186107"/>
                  <a:pt x="134951" y="189679"/>
                </a:cubicBezTo>
                <a:lnTo>
                  <a:pt x="98740" y="211398"/>
                </a:lnTo>
                <a:cubicBezTo>
                  <a:pt x="89995" y="216653"/>
                  <a:pt x="78828" y="210330"/>
                  <a:pt x="78828" y="200148"/>
                </a:cubicBezTo>
                <a:lnTo>
                  <a:pt x="78828" y="157655"/>
                </a:lnTo>
                <a:cubicBezTo>
                  <a:pt x="78828" y="143162"/>
                  <a:pt x="67045" y="131379"/>
                  <a:pt x="52552" y="131379"/>
                </a:cubicBezTo>
                <a:lnTo>
                  <a:pt x="52511" y="131379"/>
                </a:lnTo>
                <a:close/>
                <a:moveTo>
                  <a:pt x="164224" y="65690"/>
                </a:moveTo>
                <a:cubicBezTo>
                  <a:pt x="164224" y="54813"/>
                  <a:pt x="155394" y="45983"/>
                  <a:pt x="144517" y="45983"/>
                </a:cubicBezTo>
                <a:cubicBezTo>
                  <a:pt x="133641" y="45983"/>
                  <a:pt x="124810" y="54813"/>
                  <a:pt x="124810" y="65690"/>
                </a:cubicBezTo>
                <a:cubicBezTo>
                  <a:pt x="124810" y="76566"/>
                  <a:pt x="133641" y="85397"/>
                  <a:pt x="144517" y="85397"/>
                </a:cubicBezTo>
                <a:cubicBezTo>
                  <a:pt x="155394" y="85397"/>
                  <a:pt x="164224" y="76566"/>
                  <a:pt x="164224" y="6569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6" name="Text 44"/>
          <p:cNvSpPr/>
          <p:nvPr/>
        </p:nvSpPr>
        <p:spPr>
          <a:xfrm>
            <a:off x="8937296" y="5410912"/>
            <a:ext cx="1401379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大规模数据优化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81113" y="5737900"/>
            <a:ext cx="6948506" cy="221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8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大规模数据优先选择FP-Growth算法提升效率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44782" y="6439183"/>
            <a:ext cx="7544092" cy="2242207"/>
          </a:xfrm>
          <a:custGeom>
            <a:avLst/>
            <a:gdLst/>
            <a:ahLst/>
            <a:cxnLst/>
            <a:rect l="l" t="t" r="r" b="b"/>
            <a:pathLst>
              <a:path w="7544092" h="2242207">
                <a:moveTo>
                  <a:pt x="140138" y="0"/>
                </a:moveTo>
                <a:lnTo>
                  <a:pt x="7403954" y="0"/>
                </a:lnTo>
                <a:cubicBezTo>
                  <a:pt x="7481350" y="0"/>
                  <a:pt x="7544092" y="62742"/>
                  <a:pt x="7544092" y="140138"/>
                </a:cubicBezTo>
                <a:lnTo>
                  <a:pt x="7544092" y="2102069"/>
                </a:lnTo>
                <a:cubicBezTo>
                  <a:pt x="7544092" y="2179465"/>
                  <a:pt x="7481350" y="2242207"/>
                  <a:pt x="7403954" y="2242207"/>
                </a:cubicBezTo>
                <a:lnTo>
                  <a:pt x="140138" y="2242207"/>
                </a:lnTo>
                <a:cubicBezTo>
                  <a:pt x="62742" y="2242207"/>
                  <a:pt x="0" y="2179465"/>
                  <a:pt x="0" y="2102069"/>
                </a:cubicBezTo>
                <a:lnTo>
                  <a:pt x="0" y="140138"/>
                </a:lnTo>
                <a:cubicBezTo>
                  <a:pt x="0" y="62794"/>
                  <a:pt x="62794" y="0"/>
                  <a:pt x="14013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5172" dist="1167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400977" y="6637712"/>
            <a:ext cx="236483" cy="210207"/>
          </a:xfrm>
          <a:custGeom>
            <a:avLst/>
            <a:gdLst/>
            <a:ahLst/>
            <a:cxnLst/>
            <a:rect l="l" t="t" r="r" b="b"/>
            <a:pathLst>
              <a:path w="236483" h="210207">
                <a:moveTo>
                  <a:pt x="210371" y="98534"/>
                </a:moveTo>
                <a:lnTo>
                  <a:pt x="138113" y="98534"/>
                </a:lnTo>
                <a:cubicBezTo>
                  <a:pt x="130846" y="98534"/>
                  <a:pt x="124975" y="92663"/>
                  <a:pt x="124975" y="85397"/>
                </a:cubicBezTo>
                <a:lnTo>
                  <a:pt x="124975" y="13138"/>
                </a:lnTo>
                <a:cubicBezTo>
                  <a:pt x="124975" y="5871"/>
                  <a:pt x="130887" y="-82"/>
                  <a:pt x="138071" y="862"/>
                </a:cubicBezTo>
                <a:cubicBezTo>
                  <a:pt x="182001" y="6692"/>
                  <a:pt x="216817" y="41508"/>
                  <a:pt x="222647" y="85438"/>
                </a:cubicBezTo>
                <a:cubicBezTo>
                  <a:pt x="223591" y="92622"/>
                  <a:pt x="217638" y="98534"/>
                  <a:pt x="210371" y="98534"/>
                </a:cubicBezTo>
                <a:close/>
                <a:moveTo>
                  <a:pt x="91391" y="15273"/>
                </a:moveTo>
                <a:cubicBezTo>
                  <a:pt x="98822" y="13713"/>
                  <a:pt x="105268" y="19789"/>
                  <a:pt x="105268" y="27384"/>
                </a:cubicBezTo>
                <a:lnTo>
                  <a:pt x="105268" y="108388"/>
                </a:lnTo>
                <a:cubicBezTo>
                  <a:pt x="105268" y="110687"/>
                  <a:pt x="106089" y="112904"/>
                  <a:pt x="107526" y="114670"/>
                </a:cubicBezTo>
                <a:lnTo>
                  <a:pt x="161761" y="180113"/>
                </a:lnTo>
                <a:cubicBezTo>
                  <a:pt x="166564" y="185902"/>
                  <a:pt x="165538" y="194647"/>
                  <a:pt x="158928" y="198219"/>
                </a:cubicBezTo>
                <a:cubicBezTo>
                  <a:pt x="144928" y="205855"/>
                  <a:pt x="128875" y="210207"/>
                  <a:pt x="111837" y="210207"/>
                </a:cubicBezTo>
                <a:cubicBezTo>
                  <a:pt x="57437" y="210207"/>
                  <a:pt x="13302" y="166072"/>
                  <a:pt x="13302" y="111672"/>
                </a:cubicBezTo>
                <a:cubicBezTo>
                  <a:pt x="13302" y="64253"/>
                  <a:pt x="46763" y="24675"/>
                  <a:pt x="91391" y="15273"/>
                </a:cubicBezTo>
                <a:close/>
                <a:moveTo>
                  <a:pt x="196166" y="118241"/>
                </a:moveTo>
                <a:lnTo>
                  <a:pt x="222442" y="118241"/>
                </a:lnTo>
                <a:cubicBezTo>
                  <a:pt x="230037" y="118241"/>
                  <a:pt x="236113" y="124687"/>
                  <a:pt x="234553" y="132118"/>
                </a:cubicBezTo>
                <a:cubicBezTo>
                  <a:pt x="230365" y="151989"/>
                  <a:pt x="220184" y="169644"/>
                  <a:pt x="205978" y="183110"/>
                </a:cubicBezTo>
                <a:cubicBezTo>
                  <a:pt x="200928" y="187913"/>
                  <a:pt x="193004" y="186887"/>
                  <a:pt x="188570" y="181509"/>
                </a:cubicBezTo>
                <a:lnTo>
                  <a:pt x="153919" y="139755"/>
                </a:lnTo>
                <a:cubicBezTo>
                  <a:pt x="146816" y="131174"/>
                  <a:pt x="152934" y="118241"/>
                  <a:pt x="164019" y="118241"/>
                </a:cubicBezTo>
                <a:lnTo>
                  <a:pt x="196125" y="118241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0" name="Text 48"/>
          <p:cNvSpPr/>
          <p:nvPr/>
        </p:nvSpPr>
        <p:spPr>
          <a:xfrm>
            <a:off x="8653517" y="6579321"/>
            <a:ext cx="7100322" cy="32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阈值设置建议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08276" y="6999735"/>
            <a:ext cx="7240460" cy="747402"/>
          </a:xfrm>
          <a:custGeom>
            <a:avLst/>
            <a:gdLst/>
            <a:ahLst/>
            <a:cxnLst/>
            <a:rect l="l" t="t" r="r" b="b"/>
            <a:pathLst>
              <a:path w="7240460" h="747402">
                <a:moveTo>
                  <a:pt x="46713" y="0"/>
                </a:moveTo>
                <a:lnTo>
                  <a:pt x="7147034" y="0"/>
                </a:lnTo>
                <a:cubicBezTo>
                  <a:pt x="7198632" y="0"/>
                  <a:pt x="7240460" y="41828"/>
                  <a:pt x="7240460" y="93425"/>
                </a:cubicBezTo>
                <a:lnTo>
                  <a:pt x="7240460" y="653977"/>
                </a:lnTo>
                <a:cubicBezTo>
                  <a:pt x="7240460" y="705574"/>
                  <a:pt x="7198632" y="747402"/>
                  <a:pt x="7147034" y="747402"/>
                </a:cubicBezTo>
                <a:lnTo>
                  <a:pt x="46713" y="747402"/>
                </a:lnTo>
                <a:cubicBezTo>
                  <a:pt x="20914" y="747402"/>
                  <a:pt x="0" y="726488"/>
                  <a:pt x="0" y="700690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8408276" y="6999735"/>
            <a:ext cx="46713" cy="747402"/>
          </a:xfrm>
          <a:custGeom>
            <a:avLst/>
            <a:gdLst/>
            <a:ahLst/>
            <a:cxnLst/>
            <a:rect l="l" t="t" r="r" b="b"/>
            <a:pathLst>
              <a:path w="46713" h="747402">
                <a:moveTo>
                  <a:pt x="46713" y="0"/>
                </a:moveTo>
                <a:lnTo>
                  <a:pt x="46713" y="0"/>
                </a:lnTo>
                <a:lnTo>
                  <a:pt x="46713" y="747402"/>
                </a:lnTo>
                <a:lnTo>
                  <a:pt x="46713" y="747402"/>
                </a:lnTo>
                <a:cubicBezTo>
                  <a:pt x="20914" y="747402"/>
                  <a:pt x="0" y="726488"/>
                  <a:pt x="0" y="700690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3" name="Text 51"/>
          <p:cNvSpPr/>
          <p:nvPr/>
        </p:nvSpPr>
        <p:spPr>
          <a:xfrm>
            <a:off x="8525057" y="7093160"/>
            <a:ext cx="7123678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支持度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25057" y="7420148"/>
            <a:ext cx="7112000" cy="233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一般设置为5%-10%，根据数据量调整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08276" y="7793849"/>
            <a:ext cx="7240460" cy="747402"/>
          </a:xfrm>
          <a:custGeom>
            <a:avLst/>
            <a:gdLst/>
            <a:ahLst/>
            <a:cxnLst/>
            <a:rect l="l" t="t" r="r" b="b"/>
            <a:pathLst>
              <a:path w="7240460" h="747402">
                <a:moveTo>
                  <a:pt x="46713" y="0"/>
                </a:moveTo>
                <a:lnTo>
                  <a:pt x="7147034" y="0"/>
                </a:lnTo>
                <a:cubicBezTo>
                  <a:pt x="7198632" y="0"/>
                  <a:pt x="7240460" y="41828"/>
                  <a:pt x="7240460" y="93425"/>
                </a:cubicBezTo>
                <a:lnTo>
                  <a:pt x="7240460" y="653977"/>
                </a:lnTo>
                <a:cubicBezTo>
                  <a:pt x="7240460" y="705574"/>
                  <a:pt x="7198632" y="747402"/>
                  <a:pt x="7147034" y="747402"/>
                </a:cubicBezTo>
                <a:lnTo>
                  <a:pt x="46713" y="747402"/>
                </a:lnTo>
                <a:cubicBezTo>
                  <a:pt x="20914" y="747402"/>
                  <a:pt x="0" y="726488"/>
                  <a:pt x="0" y="700690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8408276" y="7793849"/>
            <a:ext cx="46713" cy="747402"/>
          </a:xfrm>
          <a:custGeom>
            <a:avLst/>
            <a:gdLst/>
            <a:ahLst/>
            <a:cxnLst/>
            <a:rect l="l" t="t" r="r" b="b"/>
            <a:pathLst>
              <a:path w="46713" h="747402">
                <a:moveTo>
                  <a:pt x="46713" y="0"/>
                </a:moveTo>
                <a:lnTo>
                  <a:pt x="46713" y="0"/>
                </a:lnTo>
                <a:lnTo>
                  <a:pt x="46713" y="747402"/>
                </a:lnTo>
                <a:lnTo>
                  <a:pt x="46713" y="747402"/>
                </a:lnTo>
                <a:cubicBezTo>
                  <a:pt x="20914" y="747402"/>
                  <a:pt x="0" y="726488"/>
                  <a:pt x="0" y="700690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57" name="Text 55"/>
          <p:cNvSpPr/>
          <p:nvPr/>
        </p:nvSpPr>
        <p:spPr>
          <a:xfrm>
            <a:off x="8525057" y="7887275"/>
            <a:ext cx="7123678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置信度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525057" y="8214263"/>
            <a:ext cx="7112000" cy="233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一般设置为60%-80%，确保规则可靠性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9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COMPREHENSIVE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62000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综合总结：五大模型类型对比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397000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23333" y="1651000"/>
            <a:ext cx="2942167" cy="1566333"/>
          </a:xfrm>
          <a:custGeom>
            <a:avLst/>
            <a:gdLst/>
            <a:ahLst/>
            <a:cxnLst/>
            <a:rect l="l" t="t" r="r" b="b"/>
            <a:pathLst>
              <a:path w="2942167" h="1566333">
                <a:moveTo>
                  <a:pt x="126998" y="0"/>
                </a:moveTo>
                <a:lnTo>
                  <a:pt x="2815168" y="0"/>
                </a:lnTo>
                <a:cubicBezTo>
                  <a:pt x="2885308" y="0"/>
                  <a:pt x="2942167" y="56859"/>
                  <a:pt x="2942167" y="126998"/>
                </a:cubicBezTo>
                <a:lnTo>
                  <a:pt x="2942167" y="1439335"/>
                </a:lnTo>
                <a:cubicBezTo>
                  <a:pt x="2942167" y="1509474"/>
                  <a:pt x="2885308" y="1566333"/>
                  <a:pt x="2815168" y="1566333"/>
                </a:cubicBezTo>
                <a:lnTo>
                  <a:pt x="126998" y="1566333"/>
                </a:lnTo>
                <a:cubicBezTo>
                  <a:pt x="56859" y="1566333"/>
                  <a:pt x="0" y="1509474"/>
                  <a:pt x="0" y="1439335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/>
              </a:gs>
              <a:gs pos="100000">
                <a:srgbClr val="5B677D"/>
              </a:gs>
            </a:gsLst>
            <a:lin ang="2700000" scaled="1"/>
          </a:gra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06033" y="182033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529167" y="2328333"/>
            <a:ext cx="27305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预测模型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5042" y="2751543"/>
            <a:ext cx="26987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推未来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39067" y="1651000"/>
            <a:ext cx="2942167" cy="1566333"/>
          </a:xfrm>
          <a:custGeom>
            <a:avLst/>
            <a:gdLst/>
            <a:ahLst/>
            <a:cxnLst/>
            <a:rect l="l" t="t" r="r" b="b"/>
            <a:pathLst>
              <a:path w="2942167" h="1566333">
                <a:moveTo>
                  <a:pt x="126998" y="0"/>
                </a:moveTo>
                <a:lnTo>
                  <a:pt x="2815168" y="0"/>
                </a:lnTo>
                <a:cubicBezTo>
                  <a:pt x="2885308" y="0"/>
                  <a:pt x="2942167" y="56859"/>
                  <a:pt x="2942167" y="126998"/>
                </a:cubicBezTo>
                <a:lnTo>
                  <a:pt x="2942167" y="1439335"/>
                </a:lnTo>
                <a:cubicBezTo>
                  <a:pt x="2942167" y="1509474"/>
                  <a:pt x="2885308" y="1566333"/>
                  <a:pt x="2815168" y="1566333"/>
                </a:cubicBezTo>
                <a:lnTo>
                  <a:pt x="126998" y="1566333"/>
                </a:lnTo>
                <a:cubicBezTo>
                  <a:pt x="56859" y="1566333"/>
                  <a:pt x="0" y="1509474"/>
                  <a:pt x="0" y="1439335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2700000" scaled="1"/>
          </a:gra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1767" y="182033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33375" y="190500"/>
                </a:moveTo>
                <a:cubicBezTo>
                  <a:pt x="333375" y="111645"/>
                  <a:pt x="269355" y="47625"/>
                  <a:pt x="190500" y="47625"/>
                </a:cubicBezTo>
                <a:cubicBezTo>
                  <a:pt x="111645" y="47625"/>
                  <a:pt x="47625" y="111645"/>
                  <a:pt x="47625" y="190500"/>
                </a:cubicBezTo>
                <a:cubicBezTo>
                  <a:pt x="47625" y="269355"/>
                  <a:pt x="111645" y="333375"/>
                  <a:pt x="190500" y="333375"/>
                </a:cubicBezTo>
                <a:cubicBezTo>
                  <a:pt x="269355" y="333375"/>
                  <a:pt x="333375" y="269355"/>
                  <a:pt x="333375" y="190500"/>
                </a:cubicBezTo>
                <a:close/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  <a:moveTo>
                  <a:pt x="190500" y="250031"/>
                </a:moveTo>
                <a:cubicBezTo>
                  <a:pt x="223356" y="250031"/>
                  <a:pt x="250031" y="223356"/>
                  <a:pt x="250031" y="190500"/>
                </a:cubicBezTo>
                <a:cubicBezTo>
                  <a:pt x="250031" y="157644"/>
                  <a:pt x="223356" y="130969"/>
                  <a:pt x="190500" y="130969"/>
                </a:cubicBezTo>
                <a:cubicBezTo>
                  <a:pt x="157644" y="130969"/>
                  <a:pt x="130969" y="157644"/>
                  <a:pt x="130969" y="190500"/>
                </a:cubicBezTo>
                <a:cubicBezTo>
                  <a:pt x="130969" y="223356"/>
                  <a:pt x="157644" y="250031"/>
                  <a:pt x="190500" y="250031"/>
                </a:cubicBezTo>
                <a:close/>
                <a:moveTo>
                  <a:pt x="190500" y="83344"/>
                </a:moveTo>
                <a:cubicBezTo>
                  <a:pt x="249641" y="83344"/>
                  <a:pt x="297656" y="131359"/>
                  <a:pt x="297656" y="190500"/>
                </a:cubicBezTo>
                <a:cubicBezTo>
                  <a:pt x="297656" y="249641"/>
                  <a:pt x="249641" y="297656"/>
                  <a:pt x="190500" y="297656"/>
                </a:cubicBezTo>
                <a:cubicBezTo>
                  <a:pt x="131359" y="297656"/>
                  <a:pt x="83344" y="249641"/>
                  <a:pt x="83344" y="190500"/>
                </a:cubicBezTo>
                <a:cubicBezTo>
                  <a:pt x="83344" y="131359"/>
                  <a:pt x="131359" y="83344"/>
                  <a:pt x="190500" y="83344"/>
                </a:cubicBezTo>
                <a:close/>
                <a:moveTo>
                  <a:pt x="166688" y="190500"/>
                </a:moveTo>
                <a:cubicBezTo>
                  <a:pt x="166688" y="177358"/>
                  <a:pt x="177358" y="166688"/>
                  <a:pt x="190500" y="166688"/>
                </a:cubicBezTo>
                <a:cubicBezTo>
                  <a:pt x="203642" y="166688"/>
                  <a:pt x="214313" y="177358"/>
                  <a:pt x="214313" y="190500"/>
                </a:cubicBezTo>
                <a:cubicBezTo>
                  <a:pt x="214313" y="203642"/>
                  <a:pt x="203642" y="214313"/>
                  <a:pt x="190500" y="214313"/>
                </a:cubicBezTo>
                <a:cubicBezTo>
                  <a:pt x="177358" y="214313"/>
                  <a:pt x="166688" y="203642"/>
                  <a:pt x="166688" y="1905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3644900" y="2328333"/>
            <a:ext cx="27305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优化模型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60775" y="2751543"/>
            <a:ext cx="26987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寻最优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54800" y="1651000"/>
            <a:ext cx="2942167" cy="1566333"/>
          </a:xfrm>
          <a:custGeom>
            <a:avLst/>
            <a:gdLst/>
            <a:ahLst/>
            <a:cxnLst/>
            <a:rect l="l" t="t" r="r" b="b"/>
            <a:pathLst>
              <a:path w="2942167" h="1566333">
                <a:moveTo>
                  <a:pt x="126998" y="0"/>
                </a:moveTo>
                <a:lnTo>
                  <a:pt x="2815168" y="0"/>
                </a:lnTo>
                <a:cubicBezTo>
                  <a:pt x="2885308" y="0"/>
                  <a:pt x="2942167" y="56859"/>
                  <a:pt x="2942167" y="126998"/>
                </a:cubicBezTo>
                <a:lnTo>
                  <a:pt x="2942167" y="1439335"/>
                </a:lnTo>
                <a:cubicBezTo>
                  <a:pt x="2942167" y="1509474"/>
                  <a:pt x="2885308" y="1566333"/>
                  <a:pt x="2815168" y="1566333"/>
                </a:cubicBezTo>
                <a:lnTo>
                  <a:pt x="126998" y="1566333"/>
                </a:lnTo>
                <a:cubicBezTo>
                  <a:pt x="56859" y="1566333"/>
                  <a:pt x="0" y="1509474"/>
                  <a:pt x="0" y="1439335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gradFill flip="none" rotWithShape="1">
            <a:gsLst>
              <a:gs pos="0">
                <a:srgbClr val="5B677D"/>
              </a:gs>
              <a:gs pos="100000">
                <a:srgbClr val="212C42"/>
              </a:gs>
            </a:gsLst>
            <a:lin ang="2700000" scaled="1"/>
          </a:gra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61312" y="1820333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82984" y="-19273"/>
                </a:moveTo>
                <a:cubicBezTo>
                  <a:pt x="173013" y="-25375"/>
                  <a:pt x="160437" y="-25375"/>
                  <a:pt x="150465" y="-19273"/>
                </a:cubicBezTo>
                <a:cubicBezTo>
                  <a:pt x="132308" y="-8186"/>
                  <a:pt x="121072" y="-5209"/>
                  <a:pt x="99789" y="-5655"/>
                </a:cubicBezTo>
                <a:cubicBezTo>
                  <a:pt x="88106" y="-5953"/>
                  <a:pt x="77242" y="372"/>
                  <a:pt x="71586" y="10641"/>
                </a:cubicBezTo>
                <a:cubicBezTo>
                  <a:pt x="61392" y="29319"/>
                  <a:pt x="53132" y="37579"/>
                  <a:pt x="34454" y="47774"/>
                </a:cubicBezTo>
                <a:cubicBezTo>
                  <a:pt x="24185" y="53355"/>
                  <a:pt x="17934" y="64294"/>
                  <a:pt x="18157" y="75977"/>
                </a:cubicBezTo>
                <a:cubicBezTo>
                  <a:pt x="18678" y="97259"/>
                  <a:pt x="15627" y="108496"/>
                  <a:pt x="4539" y="126653"/>
                </a:cubicBezTo>
                <a:cubicBezTo>
                  <a:pt x="-1563" y="136624"/>
                  <a:pt x="-1563" y="149200"/>
                  <a:pt x="4539" y="159172"/>
                </a:cubicBezTo>
                <a:cubicBezTo>
                  <a:pt x="15627" y="177329"/>
                  <a:pt x="18604" y="188565"/>
                  <a:pt x="18157" y="209848"/>
                </a:cubicBezTo>
                <a:cubicBezTo>
                  <a:pt x="17859" y="221531"/>
                  <a:pt x="24185" y="232395"/>
                  <a:pt x="34454" y="238051"/>
                </a:cubicBezTo>
                <a:cubicBezTo>
                  <a:pt x="50899" y="247055"/>
                  <a:pt x="59234" y="254496"/>
                  <a:pt x="68014" y="268932"/>
                </a:cubicBezTo>
                <a:lnTo>
                  <a:pt x="31775" y="341188"/>
                </a:lnTo>
                <a:cubicBezTo>
                  <a:pt x="27384" y="350044"/>
                  <a:pt x="30956" y="360759"/>
                  <a:pt x="39737" y="365150"/>
                </a:cubicBezTo>
                <a:lnTo>
                  <a:pt x="103733" y="397148"/>
                </a:lnTo>
                <a:cubicBezTo>
                  <a:pt x="112291" y="401389"/>
                  <a:pt x="122709" y="398190"/>
                  <a:pt x="127322" y="389855"/>
                </a:cubicBezTo>
                <a:lnTo>
                  <a:pt x="166613" y="319088"/>
                </a:lnTo>
                <a:lnTo>
                  <a:pt x="205904" y="389855"/>
                </a:lnTo>
                <a:cubicBezTo>
                  <a:pt x="210517" y="398190"/>
                  <a:pt x="220935" y="401464"/>
                  <a:pt x="229493" y="397148"/>
                </a:cubicBezTo>
                <a:lnTo>
                  <a:pt x="293489" y="365150"/>
                </a:lnTo>
                <a:cubicBezTo>
                  <a:pt x="302344" y="360759"/>
                  <a:pt x="305916" y="350044"/>
                  <a:pt x="301451" y="341188"/>
                </a:cubicBezTo>
                <a:lnTo>
                  <a:pt x="265286" y="268858"/>
                </a:lnTo>
                <a:cubicBezTo>
                  <a:pt x="273993" y="254422"/>
                  <a:pt x="282401" y="246980"/>
                  <a:pt x="298847" y="237976"/>
                </a:cubicBezTo>
                <a:cubicBezTo>
                  <a:pt x="309116" y="232395"/>
                  <a:pt x="315367" y="221456"/>
                  <a:pt x="315144" y="209773"/>
                </a:cubicBezTo>
                <a:cubicBezTo>
                  <a:pt x="314623" y="188491"/>
                  <a:pt x="317674" y="177254"/>
                  <a:pt x="328761" y="159097"/>
                </a:cubicBezTo>
                <a:cubicBezTo>
                  <a:pt x="334863" y="149126"/>
                  <a:pt x="334863" y="136550"/>
                  <a:pt x="328761" y="126578"/>
                </a:cubicBezTo>
                <a:cubicBezTo>
                  <a:pt x="317674" y="108421"/>
                  <a:pt x="314697" y="97185"/>
                  <a:pt x="315144" y="75902"/>
                </a:cubicBezTo>
                <a:cubicBezTo>
                  <a:pt x="315441" y="64219"/>
                  <a:pt x="309116" y="53355"/>
                  <a:pt x="298847" y="47699"/>
                </a:cubicBezTo>
                <a:cubicBezTo>
                  <a:pt x="280169" y="37505"/>
                  <a:pt x="271909" y="29245"/>
                  <a:pt x="261714" y="10567"/>
                </a:cubicBezTo>
                <a:cubicBezTo>
                  <a:pt x="256133" y="298"/>
                  <a:pt x="245194" y="-5953"/>
                  <a:pt x="233511" y="-5730"/>
                </a:cubicBezTo>
                <a:cubicBezTo>
                  <a:pt x="212229" y="-5209"/>
                  <a:pt x="200992" y="-8260"/>
                  <a:pt x="182835" y="-19348"/>
                </a:cubicBezTo>
                <a:close/>
                <a:moveTo>
                  <a:pt x="166688" y="71438"/>
                </a:moveTo>
                <a:cubicBezTo>
                  <a:pt x="206115" y="71438"/>
                  <a:pt x="238125" y="103448"/>
                  <a:pt x="238125" y="142875"/>
                </a:cubicBezTo>
                <a:cubicBezTo>
                  <a:pt x="238125" y="182302"/>
                  <a:pt x="206115" y="214313"/>
                  <a:pt x="166688" y="214313"/>
                </a:cubicBezTo>
                <a:cubicBezTo>
                  <a:pt x="127260" y="214313"/>
                  <a:pt x="95250" y="182302"/>
                  <a:pt x="95250" y="142875"/>
                </a:cubicBezTo>
                <a:cubicBezTo>
                  <a:pt x="95250" y="103448"/>
                  <a:pt x="127260" y="71438"/>
                  <a:pt x="166687" y="7143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6760633" y="2328333"/>
            <a:ext cx="27305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评价模型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76508" y="2751543"/>
            <a:ext cx="26987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定优劣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770533" y="1651000"/>
            <a:ext cx="2942167" cy="1566333"/>
          </a:xfrm>
          <a:custGeom>
            <a:avLst/>
            <a:gdLst/>
            <a:ahLst/>
            <a:cxnLst/>
            <a:rect l="l" t="t" r="r" b="b"/>
            <a:pathLst>
              <a:path w="2942167" h="1566333">
                <a:moveTo>
                  <a:pt x="126998" y="0"/>
                </a:moveTo>
                <a:lnTo>
                  <a:pt x="2815168" y="0"/>
                </a:lnTo>
                <a:cubicBezTo>
                  <a:pt x="2885308" y="0"/>
                  <a:pt x="2942167" y="56859"/>
                  <a:pt x="2942167" y="126998"/>
                </a:cubicBezTo>
                <a:lnTo>
                  <a:pt x="2942167" y="1439335"/>
                </a:lnTo>
                <a:cubicBezTo>
                  <a:pt x="2942167" y="1509474"/>
                  <a:pt x="2885308" y="1566333"/>
                  <a:pt x="2815168" y="1566333"/>
                </a:cubicBezTo>
                <a:lnTo>
                  <a:pt x="126998" y="1566333"/>
                </a:lnTo>
                <a:cubicBezTo>
                  <a:pt x="56859" y="1566333"/>
                  <a:pt x="0" y="1509474"/>
                  <a:pt x="0" y="1439335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/>
              </a:gs>
              <a:gs pos="100000">
                <a:srgbClr val="212C42"/>
              </a:gs>
            </a:gsLst>
            <a:lin ang="2700000" scaled="1"/>
          </a:gra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029421" y="1820333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98549" y="29096"/>
                </a:moveTo>
                <a:lnTo>
                  <a:pt x="408831" y="140940"/>
                </a:lnTo>
                <a:cubicBezTo>
                  <a:pt x="429444" y="161851"/>
                  <a:pt x="429444" y="195337"/>
                  <a:pt x="408831" y="216247"/>
                </a:cubicBezTo>
                <a:lnTo>
                  <a:pt x="292447" y="334045"/>
                </a:lnTo>
                <a:cubicBezTo>
                  <a:pt x="285527" y="341040"/>
                  <a:pt x="274216" y="341114"/>
                  <a:pt x="267221" y="334194"/>
                </a:cubicBezTo>
                <a:cubicBezTo>
                  <a:pt x="260226" y="327273"/>
                  <a:pt x="260152" y="315962"/>
                  <a:pt x="267072" y="308967"/>
                </a:cubicBezTo>
                <a:lnTo>
                  <a:pt x="383456" y="191095"/>
                </a:lnTo>
                <a:cubicBezTo>
                  <a:pt x="390302" y="184175"/>
                  <a:pt x="390302" y="172938"/>
                  <a:pt x="383456" y="166018"/>
                </a:cubicBezTo>
                <a:lnTo>
                  <a:pt x="273100" y="54248"/>
                </a:lnTo>
                <a:cubicBezTo>
                  <a:pt x="266179" y="47253"/>
                  <a:pt x="266254" y="35942"/>
                  <a:pt x="273248" y="29021"/>
                </a:cubicBezTo>
                <a:cubicBezTo>
                  <a:pt x="280243" y="22101"/>
                  <a:pt x="291554" y="22175"/>
                  <a:pt x="298475" y="29170"/>
                </a:cubicBezTo>
                <a:close/>
                <a:moveTo>
                  <a:pt x="23887" y="170780"/>
                </a:moveTo>
                <a:lnTo>
                  <a:pt x="23887" y="71438"/>
                </a:lnTo>
                <a:cubicBezTo>
                  <a:pt x="23887" y="45169"/>
                  <a:pt x="45244" y="23812"/>
                  <a:pt x="71512" y="23812"/>
                </a:cubicBezTo>
                <a:lnTo>
                  <a:pt x="170855" y="23812"/>
                </a:lnTo>
                <a:cubicBezTo>
                  <a:pt x="183505" y="23812"/>
                  <a:pt x="195635" y="28798"/>
                  <a:pt x="204564" y="37728"/>
                </a:cubicBezTo>
                <a:lnTo>
                  <a:pt x="311721" y="144884"/>
                </a:lnTo>
                <a:cubicBezTo>
                  <a:pt x="330324" y="163488"/>
                  <a:pt x="330324" y="193625"/>
                  <a:pt x="311721" y="212229"/>
                </a:cubicBezTo>
                <a:lnTo>
                  <a:pt x="212378" y="311572"/>
                </a:lnTo>
                <a:cubicBezTo>
                  <a:pt x="193774" y="330175"/>
                  <a:pt x="163637" y="330175"/>
                  <a:pt x="145033" y="311572"/>
                </a:cubicBezTo>
                <a:lnTo>
                  <a:pt x="37877" y="204415"/>
                </a:lnTo>
                <a:cubicBezTo>
                  <a:pt x="28947" y="195486"/>
                  <a:pt x="23961" y="183356"/>
                  <a:pt x="23961" y="170706"/>
                </a:cubicBezTo>
                <a:close/>
                <a:moveTo>
                  <a:pt x="131043" y="107156"/>
                </a:moveTo>
                <a:cubicBezTo>
                  <a:pt x="131043" y="94014"/>
                  <a:pt x="120373" y="83344"/>
                  <a:pt x="107231" y="83344"/>
                </a:cubicBezTo>
                <a:cubicBezTo>
                  <a:pt x="94088" y="83344"/>
                  <a:pt x="83418" y="94014"/>
                  <a:pt x="83418" y="107156"/>
                </a:cubicBezTo>
                <a:cubicBezTo>
                  <a:pt x="83418" y="120299"/>
                  <a:pt x="94088" y="130969"/>
                  <a:pt x="107231" y="130969"/>
                </a:cubicBezTo>
                <a:cubicBezTo>
                  <a:pt x="120373" y="130969"/>
                  <a:pt x="131043" y="120299"/>
                  <a:pt x="131043" y="10715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9876367" y="2328333"/>
            <a:ext cx="27305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分类模型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92242" y="2751543"/>
            <a:ext cx="26987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划归属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886266" y="1651000"/>
            <a:ext cx="2942167" cy="1566333"/>
          </a:xfrm>
          <a:custGeom>
            <a:avLst/>
            <a:gdLst/>
            <a:ahLst/>
            <a:cxnLst/>
            <a:rect l="l" t="t" r="r" b="b"/>
            <a:pathLst>
              <a:path w="2942167" h="1566333">
                <a:moveTo>
                  <a:pt x="126998" y="0"/>
                </a:moveTo>
                <a:lnTo>
                  <a:pt x="2815168" y="0"/>
                </a:lnTo>
                <a:cubicBezTo>
                  <a:pt x="2885308" y="0"/>
                  <a:pt x="2942167" y="56859"/>
                  <a:pt x="2942167" y="126998"/>
                </a:cubicBezTo>
                <a:lnTo>
                  <a:pt x="2942167" y="1439335"/>
                </a:lnTo>
                <a:cubicBezTo>
                  <a:pt x="2942167" y="1509474"/>
                  <a:pt x="2885308" y="1566333"/>
                  <a:pt x="2815168" y="1566333"/>
                </a:cubicBezTo>
                <a:lnTo>
                  <a:pt x="126998" y="1566333"/>
                </a:lnTo>
                <a:cubicBezTo>
                  <a:pt x="56859" y="1566333"/>
                  <a:pt x="0" y="1509474"/>
                  <a:pt x="0" y="1439335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2700000" scaled="1"/>
          </a:gra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145155" y="1820333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12167" y="71438"/>
                </a:moveTo>
                <a:cubicBezTo>
                  <a:pt x="299814" y="71438"/>
                  <a:pt x="287834" y="74786"/>
                  <a:pt x="277341" y="80888"/>
                </a:cubicBezTo>
                <a:cubicBezTo>
                  <a:pt x="265584" y="68982"/>
                  <a:pt x="251892" y="59010"/>
                  <a:pt x="236786" y="51495"/>
                </a:cubicBezTo>
                <a:cubicBezTo>
                  <a:pt x="257770" y="33635"/>
                  <a:pt x="284485" y="23812"/>
                  <a:pt x="312167" y="23812"/>
                </a:cubicBezTo>
                <a:cubicBezTo>
                  <a:pt x="376461" y="23812"/>
                  <a:pt x="428625" y="75902"/>
                  <a:pt x="428625" y="140271"/>
                </a:cubicBezTo>
                <a:cubicBezTo>
                  <a:pt x="428625" y="171152"/>
                  <a:pt x="416347" y="200769"/>
                  <a:pt x="394543" y="222572"/>
                </a:cubicBezTo>
                <a:lnTo>
                  <a:pt x="341635" y="275481"/>
                </a:lnTo>
                <a:cubicBezTo>
                  <a:pt x="319832" y="297284"/>
                  <a:pt x="290215" y="309563"/>
                  <a:pt x="259333" y="309563"/>
                </a:cubicBezTo>
                <a:cubicBezTo>
                  <a:pt x="195039" y="309563"/>
                  <a:pt x="142875" y="257473"/>
                  <a:pt x="142875" y="193104"/>
                </a:cubicBezTo>
                <a:cubicBezTo>
                  <a:pt x="142875" y="191988"/>
                  <a:pt x="142875" y="190872"/>
                  <a:pt x="142949" y="189756"/>
                </a:cubicBezTo>
                <a:cubicBezTo>
                  <a:pt x="143321" y="176585"/>
                  <a:pt x="154260" y="166241"/>
                  <a:pt x="167432" y="166613"/>
                </a:cubicBezTo>
                <a:cubicBezTo>
                  <a:pt x="180603" y="166985"/>
                  <a:pt x="190946" y="177924"/>
                  <a:pt x="190574" y="191095"/>
                </a:cubicBezTo>
                <a:cubicBezTo>
                  <a:pt x="190574" y="191765"/>
                  <a:pt x="190574" y="192435"/>
                  <a:pt x="190574" y="193030"/>
                </a:cubicBezTo>
                <a:cubicBezTo>
                  <a:pt x="190574" y="231056"/>
                  <a:pt x="221382" y="261863"/>
                  <a:pt x="259407" y="261863"/>
                </a:cubicBezTo>
                <a:cubicBezTo>
                  <a:pt x="277639" y="261863"/>
                  <a:pt x="295126" y="254645"/>
                  <a:pt x="308074" y="241697"/>
                </a:cubicBezTo>
                <a:lnTo>
                  <a:pt x="360983" y="188788"/>
                </a:lnTo>
                <a:cubicBezTo>
                  <a:pt x="373856" y="175915"/>
                  <a:pt x="381149" y="158353"/>
                  <a:pt x="381149" y="140122"/>
                </a:cubicBezTo>
                <a:cubicBezTo>
                  <a:pt x="381149" y="102096"/>
                  <a:pt x="350341" y="71289"/>
                  <a:pt x="312316" y="71289"/>
                </a:cubicBezTo>
                <a:close/>
                <a:moveTo>
                  <a:pt x="204787" y="128960"/>
                </a:moveTo>
                <a:cubicBezTo>
                  <a:pt x="203374" y="128364"/>
                  <a:pt x="201960" y="127546"/>
                  <a:pt x="200695" y="126653"/>
                </a:cubicBezTo>
                <a:cubicBezTo>
                  <a:pt x="191319" y="121816"/>
                  <a:pt x="180603" y="119063"/>
                  <a:pt x="169366" y="119063"/>
                </a:cubicBezTo>
                <a:cubicBezTo>
                  <a:pt x="151135" y="119063"/>
                  <a:pt x="133648" y="126281"/>
                  <a:pt x="120700" y="139229"/>
                </a:cubicBezTo>
                <a:lnTo>
                  <a:pt x="67791" y="192137"/>
                </a:lnTo>
                <a:cubicBezTo>
                  <a:pt x="54918" y="205011"/>
                  <a:pt x="47625" y="222572"/>
                  <a:pt x="47625" y="240804"/>
                </a:cubicBezTo>
                <a:cubicBezTo>
                  <a:pt x="47625" y="278829"/>
                  <a:pt x="78432" y="309637"/>
                  <a:pt x="116458" y="309637"/>
                </a:cubicBezTo>
                <a:cubicBezTo>
                  <a:pt x="128736" y="309637"/>
                  <a:pt x="140717" y="306363"/>
                  <a:pt x="151209" y="300261"/>
                </a:cubicBezTo>
                <a:cubicBezTo>
                  <a:pt x="162967" y="312167"/>
                  <a:pt x="176659" y="322138"/>
                  <a:pt x="191839" y="329654"/>
                </a:cubicBezTo>
                <a:cubicBezTo>
                  <a:pt x="170855" y="347439"/>
                  <a:pt x="144214" y="357336"/>
                  <a:pt x="116458" y="357336"/>
                </a:cubicBezTo>
                <a:cubicBezTo>
                  <a:pt x="52164" y="357336"/>
                  <a:pt x="0" y="305246"/>
                  <a:pt x="0" y="240878"/>
                </a:cubicBezTo>
                <a:cubicBezTo>
                  <a:pt x="0" y="209996"/>
                  <a:pt x="12278" y="180380"/>
                  <a:pt x="34082" y="158576"/>
                </a:cubicBezTo>
                <a:lnTo>
                  <a:pt x="86990" y="105668"/>
                </a:lnTo>
                <a:cubicBezTo>
                  <a:pt x="108793" y="83865"/>
                  <a:pt x="138410" y="71586"/>
                  <a:pt x="169292" y="71586"/>
                </a:cubicBezTo>
                <a:cubicBezTo>
                  <a:pt x="233735" y="71586"/>
                  <a:pt x="285750" y="124123"/>
                  <a:pt x="285750" y="188342"/>
                </a:cubicBezTo>
                <a:cubicBezTo>
                  <a:pt x="285750" y="189309"/>
                  <a:pt x="285750" y="190277"/>
                  <a:pt x="285750" y="191244"/>
                </a:cubicBezTo>
                <a:cubicBezTo>
                  <a:pt x="285452" y="204415"/>
                  <a:pt x="274513" y="214759"/>
                  <a:pt x="261342" y="214461"/>
                </a:cubicBezTo>
                <a:cubicBezTo>
                  <a:pt x="248171" y="214164"/>
                  <a:pt x="237827" y="203225"/>
                  <a:pt x="238125" y="190054"/>
                </a:cubicBezTo>
                <a:cubicBezTo>
                  <a:pt x="238125" y="189458"/>
                  <a:pt x="238125" y="188937"/>
                  <a:pt x="238125" y="188342"/>
                </a:cubicBezTo>
                <a:cubicBezTo>
                  <a:pt x="238125" y="163264"/>
                  <a:pt x="224730" y="141238"/>
                  <a:pt x="204787" y="12910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12992100" y="2328333"/>
            <a:ext cx="27305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关联模型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007975" y="2751543"/>
            <a:ext cx="26987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找关联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3333" y="3428876"/>
            <a:ext cx="15409333" cy="4095750"/>
          </a:xfrm>
          <a:custGeom>
            <a:avLst/>
            <a:gdLst/>
            <a:ahLst/>
            <a:cxnLst/>
            <a:rect l="l" t="t" r="r" b="b"/>
            <a:pathLst>
              <a:path w="15409333" h="4095750">
                <a:moveTo>
                  <a:pt x="127009" y="0"/>
                </a:moveTo>
                <a:lnTo>
                  <a:pt x="15282324" y="0"/>
                </a:lnTo>
                <a:cubicBezTo>
                  <a:pt x="15352469" y="0"/>
                  <a:pt x="15409333" y="56864"/>
                  <a:pt x="15409333" y="127009"/>
                </a:cubicBezTo>
                <a:lnTo>
                  <a:pt x="15409333" y="3968741"/>
                </a:lnTo>
                <a:cubicBezTo>
                  <a:pt x="15409333" y="4038886"/>
                  <a:pt x="15352469" y="4095750"/>
                  <a:pt x="15282324" y="4095750"/>
                </a:cubicBezTo>
                <a:lnTo>
                  <a:pt x="127009" y="4095750"/>
                </a:lnTo>
                <a:cubicBezTo>
                  <a:pt x="56864" y="4095750"/>
                  <a:pt x="0" y="4038886"/>
                  <a:pt x="0" y="3968741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4583" dist="2116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7333" y="3725065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90500" y="15875"/>
                </a:moveTo>
                <a:lnTo>
                  <a:pt x="254000" y="15875"/>
                </a:lnTo>
                <a:cubicBezTo>
                  <a:pt x="262781" y="15875"/>
                  <a:pt x="269875" y="22969"/>
                  <a:pt x="269875" y="31750"/>
                </a:cubicBezTo>
                <a:cubicBezTo>
                  <a:pt x="269875" y="40531"/>
                  <a:pt x="262781" y="47625"/>
                  <a:pt x="254000" y="47625"/>
                </a:cubicBezTo>
                <a:lnTo>
                  <a:pt x="197644" y="47625"/>
                </a:lnTo>
                <a:cubicBezTo>
                  <a:pt x="195064" y="60424"/>
                  <a:pt x="186283" y="70991"/>
                  <a:pt x="174625" y="76051"/>
                </a:cubicBezTo>
                <a:lnTo>
                  <a:pt x="174625" y="222250"/>
                </a:lnTo>
                <a:lnTo>
                  <a:pt x="254000" y="222250"/>
                </a:lnTo>
                <a:cubicBezTo>
                  <a:pt x="262781" y="222250"/>
                  <a:pt x="269875" y="229344"/>
                  <a:pt x="269875" y="238125"/>
                </a:cubicBezTo>
                <a:cubicBezTo>
                  <a:pt x="269875" y="246906"/>
                  <a:pt x="262781" y="254000"/>
                  <a:pt x="254000" y="254000"/>
                </a:cubicBezTo>
                <a:lnTo>
                  <a:pt x="63500" y="254000"/>
                </a:lnTo>
                <a:cubicBezTo>
                  <a:pt x="54719" y="254000"/>
                  <a:pt x="47625" y="246906"/>
                  <a:pt x="47625" y="238125"/>
                </a:cubicBezTo>
                <a:cubicBezTo>
                  <a:pt x="47625" y="229344"/>
                  <a:pt x="54719" y="222250"/>
                  <a:pt x="63500" y="222250"/>
                </a:cubicBezTo>
                <a:lnTo>
                  <a:pt x="142875" y="222250"/>
                </a:lnTo>
                <a:lnTo>
                  <a:pt x="142875" y="76051"/>
                </a:lnTo>
                <a:cubicBezTo>
                  <a:pt x="131217" y="70941"/>
                  <a:pt x="122436" y="60375"/>
                  <a:pt x="119856" y="47625"/>
                </a:cubicBezTo>
                <a:lnTo>
                  <a:pt x="63500" y="47625"/>
                </a:lnTo>
                <a:cubicBezTo>
                  <a:pt x="54719" y="47625"/>
                  <a:pt x="47625" y="40531"/>
                  <a:pt x="47625" y="31750"/>
                </a:cubicBezTo>
                <a:cubicBezTo>
                  <a:pt x="47625" y="22969"/>
                  <a:pt x="54719" y="15875"/>
                  <a:pt x="63500" y="15875"/>
                </a:cubicBezTo>
                <a:lnTo>
                  <a:pt x="127000" y="15875"/>
                </a:lnTo>
                <a:cubicBezTo>
                  <a:pt x="134243" y="6251"/>
                  <a:pt x="145752" y="0"/>
                  <a:pt x="158750" y="0"/>
                </a:cubicBezTo>
                <a:cubicBezTo>
                  <a:pt x="171748" y="0"/>
                  <a:pt x="183257" y="6251"/>
                  <a:pt x="190500" y="15875"/>
                </a:cubicBezTo>
                <a:close/>
                <a:moveTo>
                  <a:pt x="218083" y="158750"/>
                </a:moveTo>
                <a:lnTo>
                  <a:pt x="289917" y="158750"/>
                </a:lnTo>
                <a:lnTo>
                  <a:pt x="254000" y="97135"/>
                </a:lnTo>
                <a:lnTo>
                  <a:pt x="218083" y="158750"/>
                </a:lnTo>
                <a:close/>
                <a:moveTo>
                  <a:pt x="254000" y="206375"/>
                </a:moveTo>
                <a:cubicBezTo>
                  <a:pt x="222796" y="206375"/>
                  <a:pt x="196850" y="189508"/>
                  <a:pt x="191492" y="167233"/>
                </a:cubicBezTo>
                <a:cubicBezTo>
                  <a:pt x="190202" y="161776"/>
                  <a:pt x="191988" y="156170"/>
                  <a:pt x="194816" y="151309"/>
                </a:cubicBezTo>
                <a:lnTo>
                  <a:pt x="242044" y="70346"/>
                </a:lnTo>
                <a:cubicBezTo>
                  <a:pt x="244525" y="66080"/>
                  <a:pt x="249089" y="63500"/>
                  <a:pt x="254000" y="63500"/>
                </a:cubicBezTo>
                <a:cubicBezTo>
                  <a:pt x="258911" y="63500"/>
                  <a:pt x="263475" y="66129"/>
                  <a:pt x="265956" y="70346"/>
                </a:cubicBezTo>
                <a:lnTo>
                  <a:pt x="313184" y="151309"/>
                </a:lnTo>
                <a:cubicBezTo>
                  <a:pt x="316012" y="156170"/>
                  <a:pt x="317798" y="161776"/>
                  <a:pt x="316508" y="167233"/>
                </a:cubicBezTo>
                <a:cubicBezTo>
                  <a:pt x="311150" y="189458"/>
                  <a:pt x="285204" y="206375"/>
                  <a:pt x="254000" y="206375"/>
                </a:cubicBezTo>
                <a:close/>
                <a:moveTo>
                  <a:pt x="62905" y="97135"/>
                </a:moveTo>
                <a:lnTo>
                  <a:pt x="26988" y="158750"/>
                </a:lnTo>
                <a:lnTo>
                  <a:pt x="98871" y="158750"/>
                </a:lnTo>
                <a:lnTo>
                  <a:pt x="62905" y="97135"/>
                </a:lnTo>
                <a:close/>
                <a:moveTo>
                  <a:pt x="446" y="167233"/>
                </a:moveTo>
                <a:cubicBezTo>
                  <a:pt x="-843" y="161776"/>
                  <a:pt x="943" y="156170"/>
                  <a:pt x="3770" y="151309"/>
                </a:cubicBezTo>
                <a:lnTo>
                  <a:pt x="50998" y="70346"/>
                </a:lnTo>
                <a:cubicBezTo>
                  <a:pt x="53479" y="66080"/>
                  <a:pt x="58043" y="63500"/>
                  <a:pt x="62954" y="63500"/>
                </a:cubicBezTo>
                <a:cubicBezTo>
                  <a:pt x="67866" y="63500"/>
                  <a:pt x="72430" y="66129"/>
                  <a:pt x="74910" y="70346"/>
                </a:cubicBezTo>
                <a:lnTo>
                  <a:pt x="122138" y="151309"/>
                </a:lnTo>
                <a:cubicBezTo>
                  <a:pt x="124966" y="156170"/>
                  <a:pt x="126752" y="161776"/>
                  <a:pt x="125462" y="167233"/>
                </a:cubicBezTo>
                <a:cubicBezTo>
                  <a:pt x="120104" y="189458"/>
                  <a:pt x="94159" y="206375"/>
                  <a:pt x="62954" y="206375"/>
                </a:cubicBezTo>
                <a:cubicBezTo>
                  <a:pt x="31750" y="206375"/>
                  <a:pt x="5804" y="189508"/>
                  <a:pt x="446" y="167233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7" name="Text 25"/>
          <p:cNvSpPr/>
          <p:nvPr/>
        </p:nvSpPr>
        <p:spPr>
          <a:xfrm>
            <a:off x="994833" y="3682876"/>
            <a:ext cx="14710833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五大模型类型系统性对比</a:t>
            </a:r>
            <a:endParaRPr lang="en-US" sz="1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/>
        </p:nvGraphicFramePr>
        <p:xfrm>
          <a:off x="677333" y="4190731"/>
          <a:ext cx="14901333" cy="3079752"/>
        </p:xfrm>
        <a:graphic>
          <a:graphicData uri="http://schemas.openxmlformats.org/drawingml/2006/table">
            <a:tbl>
              <a:tblPr/>
              <a:tblGrid>
                <a:gridCol w="1841500"/>
                <a:gridCol w="3852333"/>
                <a:gridCol w="3852333"/>
                <a:gridCol w="3513667"/>
                <a:gridCol w="1841500"/>
              </a:tblGrid>
              <a:tr h="513292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模型类型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核心功能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典型应用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数据要求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可解释性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16A08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预测模型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基于历史规律推断未来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销量预测、股价预测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时间序列或因果数据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中-高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12C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优化模型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在约束下寻找最优解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资源分配、计划调度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决策变量、约束条件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高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5B677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评价模型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量化打分定优劣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方案优选、绩效评估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指标体系、评价数据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高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16A08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分类模型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学习样本特征划归属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图像识别、信用评估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标注样本、特征数据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中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12C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关联模型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挖掘变量间共存规律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购物篮分析、行为分析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离散型或连续型数据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43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高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8" name="Shape 26"/>
          <p:cNvSpPr/>
          <p:nvPr/>
        </p:nvSpPr>
        <p:spPr>
          <a:xfrm>
            <a:off x="431800" y="7736205"/>
            <a:ext cx="4980305" cy="1290955"/>
          </a:xfrm>
          <a:custGeom>
            <a:avLst/>
            <a:gdLst/>
            <a:ahLst/>
            <a:cxnLst/>
            <a:rect l="l" t="t" r="r" b="b"/>
            <a:pathLst>
              <a:path w="4980517" h="1413933">
                <a:moveTo>
                  <a:pt x="126999" y="0"/>
                </a:moveTo>
                <a:lnTo>
                  <a:pt x="4853517" y="0"/>
                </a:lnTo>
                <a:cubicBezTo>
                  <a:pt x="4923657" y="0"/>
                  <a:pt x="4980517" y="56860"/>
                  <a:pt x="4980517" y="126999"/>
                </a:cubicBezTo>
                <a:lnTo>
                  <a:pt x="4980517" y="1286934"/>
                </a:lnTo>
                <a:cubicBezTo>
                  <a:pt x="4980517" y="1357074"/>
                  <a:pt x="4923657" y="1413933"/>
                  <a:pt x="4853517" y="1413933"/>
                </a:cubicBezTo>
                <a:lnTo>
                  <a:pt x="126999" y="1413933"/>
                </a:lnTo>
                <a:cubicBezTo>
                  <a:pt x="56907" y="1413933"/>
                  <a:pt x="0" y="1357027"/>
                  <a:pt x="0" y="1286934"/>
                </a:cubicBezTo>
                <a:lnTo>
                  <a:pt x="0" y="126999"/>
                </a:lnTo>
                <a:cubicBezTo>
                  <a:pt x="0" y="56907"/>
                  <a:pt x="56907" y="0"/>
                  <a:pt x="126999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5433" y="798804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1" name="Text 28"/>
          <p:cNvSpPr/>
          <p:nvPr/>
        </p:nvSpPr>
        <p:spPr>
          <a:xfrm>
            <a:off x="1096433" y="7966873"/>
            <a:ext cx="95250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核心原则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51933" y="8390206"/>
            <a:ext cx="4624917" cy="550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先明确建模目标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，再根据数据类型、约束条件、可解释性要求等选择具体方法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638800" y="7747000"/>
            <a:ext cx="4980305" cy="1266825"/>
          </a:xfrm>
          <a:custGeom>
            <a:avLst/>
            <a:gdLst/>
            <a:ahLst/>
            <a:cxnLst/>
            <a:rect l="l" t="t" r="r" b="b"/>
            <a:pathLst>
              <a:path w="4980517" h="1413933">
                <a:moveTo>
                  <a:pt x="126999" y="0"/>
                </a:moveTo>
                <a:lnTo>
                  <a:pt x="4853517" y="0"/>
                </a:lnTo>
                <a:cubicBezTo>
                  <a:pt x="4923657" y="0"/>
                  <a:pt x="4980517" y="56860"/>
                  <a:pt x="4980517" y="126999"/>
                </a:cubicBezTo>
                <a:lnTo>
                  <a:pt x="4980517" y="1286934"/>
                </a:lnTo>
                <a:cubicBezTo>
                  <a:pt x="4980517" y="1357074"/>
                  <a:pt x="4923657" y="1413933"/>
                  <a:pt x="4853517" y="1413933"/>
                </a:cubicBezTo>
                <a:lnTo>
                  <a:pt x="126999" y="1413933"/>
                </a:lnTo>
                <a:cubicBezTo>
                  <a:pt x="56907" y="1413933"/>
                  <a:pt x="0" y="1357027"/>
                  <a:pt x="0" y="1286934"/>
                </a:cubicBezTo>
                <a:lnTo>
                  <a:pt x="0" y="126999"/>
                </a:lnTo>
                <a:cubicBezTo>
                  <a:pt x="0" y="56907"/>
                  <a:pt x="56907" y="0"/>
                  <a:pt x="126999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  <a:ln w="20320">
            <a:solidFill>
              <a:srgbClr val="212C42">
                <a:alpha val="3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90684" y="798804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35" name="Text 32"/>
          <p:cNvSpPr/>
          <p:nvPr/>
        </p:nvSpPr>
        <p:spPr>
          <a:xfrm>
            <a:off x="6303434" y="7966873"/>
            <a:ext cx="95250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组合策略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858934" y="8390206"/>
            <a:ext cx="4624917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复杂问题可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组合使用多类模型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。如：关联→回归→优化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0845800" y="7747000"/>
            <a:ext cx="4980305" cy="1266825"/>
          </a:xfrm>
          <a:custGeom>
            <a:avLst/>
            <a:gdLst/>
            <a:ahLst/>
            <a:cxnLst/>
            <a:rect l="l" t="t" r="r" b="b"/>
            <a:pathLst>
              <a:path w="4980517" h="1413933">
                <a:moveTo>
                  <a:pt x="126999" y="0"/>
                </a:moveTo>
                <a:lnTo>
                  <a:pt x="4853517" y="0"/>
                </a:lnTo>
                <a:cubicBezTo>
                  <a:pt x="4923657" y="0"/>
                  <a:pt x="4980517" y="56860"/>
                  <a:pt x="4980517" y="126999"/>
                </a:cubicBezTo>
                <a:lnTo>
                  <a:pt x="4980517" y="1286934"/>
                </a:lnTo>
                <a:cubicBezTo>
                  <a:pt x="4980517" y="1357074"/>
                  <a:pt x="4923657" y="1413933"/>
                  <a:pt x="4853517" y="1413933"/>
                </a:cubicBezTo>
                <a:lnTo>
                  <a:pt x="126999" y="1413933"/>
                </a:lnTo>
                <a:cubicBezTo>
                  <a:pt x="56907" y="1413933"/>
                  <a:pt x="0" y="1357027"/>
                  <a:pt x="0" y="1286934"/>
                </a:cubicBezTo>
                <a:lnTo>
                  <a:pt x="0" y="126999"/>
                </a:lnTo>
                <a:cubicBezTo>
                  <a:pt x="0" y="56907"/>
                  <a:pt x="56907" y="0"/>
                  <a:pt x="126999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  <a:ln w="20320">
            <a:solidFill>
              <a:srgbClr val="5B677D">
                <a:alpha val="30196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1097683" y="798804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5B677D"/>
          </a:solidFill>
        </p:spPr>
      </p:sp>
      <p:sp>
        <p:nvSpPr>
          <p:cNvPr id="39" name="Text 36"/>
          <p:cNvSpPr/>
          <p:nvPr/>
        </p:nvSpPr>
        <p:spPr>
          <a:xfrm>
            <a:off x="11510433" y="7966873"/>
            <a:ext cx="95250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持续优化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1065933" y="8390206"/>
            <a:ext cx="4624917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模型选择是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迭代过程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，需不断验证、优化、调整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9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16A08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MODEL COMBINATION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62000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模型组合策略与实战应用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397000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Shape 3"/>
          <p:cNvSpPr/>
          <p:nvPr/>
        </p:nvSpPr>
        <p:spPr>
          <a:xfrm>
            <a:off x="423333" y="1651000"/>
            <a:ext cx="7598833" cy="7323667"/>
          </a:xfrm>
          <a:custGeom>
            <a:avLst/>
            <a:gdLst/>
            <a:ahLst/>
            <a:cxnLst/>
            <a:rect l="l" t="t" r="r" b="b"/>
            <a:pathLst>
              <a:path w="7598833" h="7323667">
                <a:moveTo>
                  <a:pt x="126992" y="0"/>
                </a:moveTo>
                <a:lnTo>
                  <a:pt x="7471841" y="0"/>
                </a:lnTo>
                <a:cubicBezTo>
                  <a:pt x="7541977" y="0"/>
                  <a:pt x="7598833" y="56856"/>
                  <a:pt x="7598833" y="126992"/>
                </a:cubicBezTo>
                <a:lnTo>
                  <a:pt x="7598833" y="7196674"/>
                </a:lnTo>
                <a:cubicBezTo>
                  <a:pt x="7598833" y="7266810"/>
                  <a:pt x="7541977" y="7323667"/>
                  <a:pt x="7471841" y="7323667"/>
                </a:cubicBezTo>
                <a:lnTo>
                  <a:pt x="126992" y="7323667"/>
                </a:lnTo>
                <a:cubicBezTo>
                  <a:pt x="56856" y="7323667"/>
                  <a:pt x="0" y="7266810"/>
                  <a:pt x="0" y="7196674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4583" dist="2116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3333" y="1651000"/>
            <a:ext cx="7598833" cy="677333"/>
          </a:xfrm>
          <a:custGeom>
            <a:avLst/>
            <a:gdLst/>
            <a:ahLst/>
            <a:cxnLst/>
            <a:rect l="l" t="t" r="r" b="b"/>
            <a:pathLst>
              <a:path w="7598833" h="677333">
                <a:moveTo>
                  <a:pt x="127000" y="0"/>
                </a:moveTo>
                <a:lnTo>
                  <a:pt x="7471833" y="0"/>
                </a:lnTo>
                <a:cubicBezTo>
                  <a:pt x="7541927" y="0"/>
                  <a:pt x="7598833" y="56907"/>
                  <a:pt x="7598833" y="127000"/>
                </a:cubicBezTo>
                <a:lnTo>
                  <a:pt x="7598833" y="677333"/>
                </a:lnTo>
                <a:lnTo>
                  <a:pt x="0" y="677333"/>
                </a:ln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/>
              </a:gs>
              <a:gs pos="100000">
                <a:srgbClr val="212C42"/>
              </a:gs>
            </a:gsLst>
            <a:lin ang="0" scaled="1"/>
          </a:gradFill>
        </p:spPr>
      </p:sp>
      <p:sp>
        <p:nvSpPr>
          <p:cNvPr id="7" name="Shape 5"/>
          <p:cNvSpPr/>
          <p:nvPr/>
        </p:nvSpPr>
        <p:spPr>
          <a:xfrm>
            <a:off x="624417" y="186254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910167" y="1820333"/>
            <a:ext cx="7069667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模型组合策略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2938" y="2550459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0" name="Text 8"/>
          <p:cNvSpPr/>
          <p:nvPr/>
        </p:nvSpPr>
        <p:spPr>
          <a:xfrm>
            <a:off x="836083" y="2497543"/>
            <a:ext cx="711200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为什么要组合使用模型？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2667" y="2878543"/>
            <a:ext cx="7344833" cy="550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单一模型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难以解决复杂问题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。不同模型擅长不同环节，组合使用可发挥各自优势，形成</a:t>
            </a:r>
            <a:r>
              <a:rPr lang="en-US" sz="1335" b="1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完整的解决方案体系</a:t>
            </a:r>
            <a:r>
              <a:rPr lang="en-US" sz="1335" dirty="0">
                <a:solidFill>
                  <a:srgbClr val="343A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125" y="360879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3" name="Text 11"/>
          <p:cNvSpPr/>
          <p:nvPr/>
        </p:nvSpPr>
        <p:spPr>
          <a:xfrm>
            <a:off x="836083" y="3555876"/>
            <a:ext cx="711200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典型组合示例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3833" y="3936876"/>
            <a:ext cx="7239000" cy="762000"/>
          </a:xfrm>
          <a:custGeom>
            <a:avLst/>
            <a:gdLst/>
            <a:ahLst/>
            <a:cxnLst/>
            <a:rect l="l" t="t" r="r" b="b"/>
            <a:pathLst>
              <a:path w="7239000" h="762000">
                <a:moveTo>
                  <a:pt x="42333" y="0"/>
                </a:moveTo>
                <a:lnTo>
                  <a:pt x="7154334" y="0"/>
                </a:lnTo>
                <a:cubicBezTo>
                  <a:pt x="7201094" y="0"/>
                  <a:pt x="7239000" y="37906"/>
                  <a:pt x="7239000" y="84666"/>
                </a:cubicBezTo>
                <a:lnTo>
                  <a:pt x="7239000" y="677334"/>
                </a:lnTo>
                <a:cubicBezTo>
                  <a:pt x="7239000" y="724094"/>
                  <a:pt x="7201094" y="762000"/>
                  <a:pt x="7154334" y="762000"/>
                </a:cubicBez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13833" y="3936876"/>
            <a:ext cx="42333" cy="762000"/>
          </a:xfrm>
          <a:custGeom>
            <a:avLst/>
            <a:gdLst/>
            <a:ahLst/>
            <a:cxnLst/>
            <a:rect l="l" t="t" r="r" b="b"/>
            <a:pathLst>
              <a:path w="42333" h="762000">
                <a:moveTo>
                  <a:pt x="42333" y="0"/>
                </a:moveTo>
                <a:lnTo>
                  <a:pt x="42333" y="0"/>
                </a:lnTo>
                <a:lnTo>
                  <a:pt x="42333" y="762000"/>
                </a:ln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6" name="Text 14"/>
          <p:cNvSpPr/>
          <p:nvPr/>
        </p:nvSpPr>
        <p:spPr>
          <a:xfrm>
            <a:off x="762000" y="4063876"/>
            <a:ext cx="704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示例1：营销优化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360209"/>
            <a:ext cx="70379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关联模型挖掘影响因素 → 回归模型预测销量 → 优化模型给出最优营销方案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3833" y="4783543"/>
            <a:ext cx="7239000" cy="762000"/>
          </a:xfrm>
          <a:custGeom>
            <a:avLst/>
            <a:gdLst/>
            <a:ahLst/>
            <a:cxnLst/>
            <a:rect l="l" t="t" r="r" b="b"/>
            <a:pathLst>
              <a:path w="7239000" h="762000">
                <a:moveTo>
                  <a:pt x="42333" y="0"/>
                </a:moveTo>
                <a:lnTo>
                  <a:pt x="7154334" y="0"/>
                </a:lnTo>
                <a:cubicBezTo>
                  <a:pt x="7201094" y="0"/>
                  <a:pt x="7239000" y="37906"/>
                  <a:pt x="7239000" y="84666"/>
                </a:cubicBezTo>
                <a:lnTo>
                  <a:pt x="7239000" y="677334"/>
                </a:lnTo>
                <a:cubicBezTo>
                  <a:pt x="7239000" y="724094"/>
                  <a:pt x="7201094" y="762000"/>
                  <a:pt x="7154334" y="762000"/>
                </a:cubicBez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613833" y="4783543"/>
            <a:ext cx="42333" cy="762000"/>
          </a:xfrm>
          <a:custGeom>
            <a:avLst/>
            <a:gdLst/>
            <a:ahLst/>
            <a:cxnLst/>
            <a:rect l="l" t="t" r="r" b="b"/>
            <a:pathLst>
              <a:path w="42333" h="762000">
                <a:moveTo>
                  <a:pt x="42333" y="0"/>
                </a:moveTo>
                <a:lnTo>
                  <a:pt x="42333" y="0"/>
                </a:lnTo>
                <a:lnTo>
                  <a:pt x="42333" y="762000"/>
                </a:ln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20" name="Text 18"/>
          <p:cNvSpPr/>
          <p:nvPr/>
        </p:nvSpPr>
        <p:spPr>
          <a:xfrm>
            <a:off x="762000" y="4910543"/>
            <a:ext cx="704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示例2：信用评分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206876"/>
            <a:ext cx="70379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评价模型构建指标体系 → 分类模型进行信用评级 → 预测模型预测违约概率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3833" y="5630209"/>
            <a:ext cx="7239000" cy="762000"/>
          </a:xfrm>
          <a:custGeom>
            <a:avLst/>
            <a:gdLst/>
            <a:ahLst/>
            <a:cxnLst/>
            <a:rect l="l" t="t" r="r" b="b"/>
            <a:pathLst>
              <a:path w="7239000" h="762000">
                <a:moveTo>
                  <a:pt x="42333" y="0"/>
                </a:moveTo>
                <a:lnTo>
                  <a:pt x="7154334" y="0"/>
                </a:lnTo>
                <a:cubicBezTo>
                  <a:pt x="7201094" y="0"/>
                  <a:pt x="7239000" y="37906"/>
                  <a:pt x="7239000" y="84666"/>
                </a:cubicBezTo>
                <a:lnTo>
                  <a:pt x="7239000" y="677334"/>
                </a:lnTo>
                <a:cubicBezTo>
                  <a:pt x="7239000" y="724094"/>
                  <a:pt x="7201094" y="762000"/>
                  <a:pt x="7154334" y="762000"/>
                </a:cubicBez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613833" y="5630209"/>
            <a:ext cx="42333" cy="762000"/>
          </a:xfrm>
          <a:custGeom>
            <a:avLst/>
            <a:gdLst/>
            <a:ahLst/>
            <a:cxnLst/>
            <a:rect l="l" t="t" r="r" b="b"/>
            <a:pathLst>
              <a:path w="42333" h="762000">
                <a:moveTo>
                  <a:pt x="42333" y="0"/>
                </a:moveTo>
                <a:lnTo>
                  <a:pt x="42333" y="0"/>
                </a:lnTo>
                <a:lnTo>
                  <a:pt x="42333" y="762000"/>
                </a:ln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24" name="Text 22"/>
          <p:cNvSpPr/>
          <p:nvPr/>
        </p:nvSpPr>
        <p:spPr>
          <a:xfrm>
            <a:off x="762000" y="5757209"/>
            <a:ext cx="704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示例3：供应链优化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6053543"/>
            <a:ext cx="70379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预测模型预测需求 → 优化模型制定采购计划 → 评价模型评估供应商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33833" y="1651000"/>
            <a:ext cx="7598833" cy="5207000"/>
          </a:xfrm>
          <a:custGeom>
            <a:avLst/>
            <a:gdLst/>
            <a:ahLst/>
            <a:cxnLst/>
            <a:rect l="l" t="t" r="r" b="b"/>
            <a:pathLst>
              <a:path w="7598833" h="5207000">
                <a:moveTo>
                  <a:pt x="126999" y="0"/>
                </a:moveTo>
                <a:lnTo>
                  <a:pt x="7471835" y="0"/>
                </a:lnTo>
                <a:cubicBezTo>
                  <a:pt x="7541974" y="0"/>
                  <a:pt x="7598833" y="56859"/>
                  <a:pt x="7598833" y="126999"/>
                </a:cubicBezTo>
                <a:lnTo>
                  <a:pt x="7598833" y="5080001"/>
                </a:lnTo>
                <a:cubicBezTo>
                  <a:pt x="7598833" y="5150141"/>
                  <a:pt x="7541974" y="5207000"/>
                  <a:pt x="7471835" y="5207000"/>
                </a:cubicBezTo>
                <a:lnTo>
                  <a:pt x="126999" y="5207000"/>
                </a:lnTo>
                <a:cubicBezTo>
                  <a:pt x="56859" y="5207000"/>
                  <a:pt x="0" y="5150141"/>
                  <a:pt x="0" y="5080001"/>
                </a:cubicBezTo>
                <a:lnTo>
                  <a:pt x="0" y="126999"/>
                </a:lnTo>
                <a:cubicBezTo>
                  <a:pt x="0" y="56906"/>
                  <a:pt x="56906" y="0"/>
                  <a:pt x="126999" y="0"/>
                </a:cubicBezTo>
                <a:close/>
              </a:path>
            </a:pathLst>
          </a:custGeom>
          <a:gradFill flip="none" rotWithShape="1">
            <a:gsLst>
              <a:gs pos="0">
                <a:srgbClr val="212C42"/>
              </a:gs>
              <a:gs pos="100000">
                <a:srgbClr val="5B677D"/>
              </a:gs>
            </a:gsLst>
            <a:lin ang="2700000" scaled="1"/>
          </a:gradFill>
          <a:effectLst>
            <a:outerShdw blurRad="264583" dist="2116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03167" y="1862543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8" name="Text 26"/>
          <p:cNvSpPr/>
          <p:nvPr/>
        </p:nvSpPr>
        <p:spPr>
          <a:xfrm>
            <a:off x="8720667" y="1820333"/>
            <a:ext cx="7069667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建模流程指导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07400" y="2290109"/>
            <a:ext cx="7247467" cy="802217"/>
          </a:xfrm>
          <a:custGeom>
            <a:avLst/>
            <a:gdLst/>
            <a:ahLst/>
            <a:cxnLst/>
            <a:rect l="l" t="t" r="r" b="b"/>
            <a:pathLst>
              <a:path w="7247467" h="802217">
                <a:moveTo>
                  <a:pt x="84666" y="0"/>
                </a:moveTo>
                <a:lnTo>
                  <a:pt x="7162801" y="0"/>
                </a:lnTo>
                <a:cubicBezTo>
                  <a:pt x="7209560" y="0"/>
                  <a:pt x="7247467" y="37906"/>
                  <a:pt x="7247467" y="84666"/>
                </a:cubicBezTo>
                <a:lnTo>
                  <a:pt x="7247467" y="717551"/>
                </a:lnTo>
                <a:cubicBezTo>
                  <a:pt x="7247467" y="764310"/>
                  <a:pt x="7209560" y="802217"/>
                  <a:pt x="7162801" y="802217"/>
                </a:cubicBezTo>
                <a:lnTo>
                  <a:pt x="84666" y="802217"/>
                </a:lnTo>
                <a:cubicBezTo>
                  <a:pt x="37906" y="802217"/>
                  <a:pt x="0" y="764310"/>
                  <a:pt x="0" y="717551"/>
                </a:cubicBezTo>
                <a:lnTo>
                  <a:pt x="0" y="84666"/>
                </a:lnTo>
                <a:cubicBezTo>
                  <a:pt x="0" y="37938"/>
                  <a:pt x="37938" y="0"/>
                  <a:pt x="8466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38633" y="2421351"/>
            <a:ext cx="296333" cy="296333"/>
          </a:xfrm>
          <a:custGeom>
            <a:avLst/>
            <a:gdLst/>
            <a:ahLst/>
            <a:cxnLst/>
            <a:rect l="l" t="t" r="r" b="b"/>
            <a:pathLst>
              <a:path w="296333" h="296333">
                <a:moveTo>
                  <a:pt x="148167" y="0"/>
                </a:moveTo>
                <a:lnTo>
                  <a:pt x="148167" y="0"/>
                </a:lnTo>
                <a:cubicBezTo>
                  <a:pt x="229942" y="0"/>
                  <a:pt x="296333" y="66391"/>
                  <a:pt x="296333" y="148167"/>
                </a:cubicBezTo>
                <a:lnTo>
                  <a:pt x="296333" y="148167"/>
                </a:lnTo>
                <a:cubicBezTo>
                  <a:pt x="296333" y="229942"/>
                  <a:pt x="229942" y="296333"/>
                  <a:pt x="148167" y="296333"/>
                </a:cubicBezTo>
                <a:lnTo>
                  <a:pt x="148167" y="296333"/>
                </a:lnTo>
                <a:cubicBezTo>
                  <a:pt x="66391" y="296333"/>
                  <a:pt x="0" y="229942"/>
                  <a:pt x="0" y="148167"/>
                </a:cubicBezTo>
                <a:lnTo>
                  <a:pt x="0" y="148167"/>
                </a:lnTo>
                <a:cubicBezTo>
                  <a:pt x="0" y="66391"/>
                  <a:pt x="66391" y="0"/>
                  <a:pt x="148167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1" name="Text 29"/>
          <p:cNvSpPr/>
          <p:nvPr/>
        </p:nvSpPr>
        <p:spPr>
          <a:xfrm>
            <a:off x="8501592" y="2421351"/>
            <a:ext cx="370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19633" y="2442518"/>
            <a:ext cx="1100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明确建模目标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38633" y="2760018"/>
            <a:ext cx="7059083" cy="2010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预测？优化？评价？分类？关联？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07400" y="3188101"/>
            <a:ext cx="7247467" cy="802217"/>
          </a:xfrm>
          <a:custGeom>
            <a:avLst/>
            <a:gdLst/>
            <a:ahLst/>
            <a:cxnLst/>
            <a:rect l="l" t="t" r="r" b="b"/>
            <a:pathLst>
              <a:path w="7247467" h="802217">
                <a:moveTo>
                  <a:pt x="84666" y="0"/>
                </a:moveTo>
                <a:lnTo>
                  <a:pt x="7162801" y="0"/>
                </a:lnTo>
                <a:cubicBezTo>
                  <a:pt x="7209560" y="0"/>
                  <a:pt x="7247467" y="37906"/>
                  <a:pt x="7247467" y="84666"/>
                </a:cubicBezTo>
                <a:lnTo>
                  <a:pt x="7247467" y="717551"/>
                </a:lnTo>
                <a:cubicBezTo>
                  <a:pt x="7247467" y="764310"/>
                  <a:pt x="7209560" y="802217"/>
                  <a:pt x="7162801" y="802217"/>
                </a:cubicBezTo>
                <a:lnTo>
                  <a:pt x="84666" y="802217"/>
                </a:lnTo>
                <a:cubicBezTo>
                  <a:pt x="37906" y="802217"/>
                  <a:pt x="0" y="764310"/>
                  <a:pt x="0" y="717551"/>
                </a:cubicBezTo>
                <a:lnTo>
                  <a:pt x="0" y="84666"/>
                </a:lnTo>
                <a:cubicBezTo>
                  <a:pt x="0" y="37938"/>
                  <a:pt x="37938" y="0"/>
                  <a:pt x="8466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38633" y="3319343"/>
            <a:ext cx="296333" cy="296333"/>
          </a:xfrm>
          <a:custGeom>
            <a:avLst/>
            <a:gdLst/>
            <a:ahLst/>
            <a:cxnLst/>
            <a:rect l="l" t="t" r="r" b="b"/>
            <a:pathLst>
              <a:path w="296333" h="296333">
                <a:moveTo>
                  <a:pt x="148167" y="0"/>
                </a:moveTo>
                <a:lnTo>
                  <a:pt x="148167" y="0"/>
                </a:lnTo>
                <a:cubicBezTo>
                  <a:pt x="229942" y="0"/>
                  <a:pt x="296333" y="66391"/>
                  <a:pt x="296333" y="148167"/>
                </a:cubicBezTo>
                <a:lnTo>
                  <a:pt x="296333" y="148167"/>
                </a:lnTo>
                <a:cubicBezTo>
                  <a:pt x="296333" y="229942"/>
                  <a:pt x="229942" y="296333"/>
                  <a:pt x="148167" y="296333"/>
                </a:cubicBezTo>
                <a:lnTo>
                  <a:pt x="148167" y="296333"/>
                </a:lnTo>
                <a:cubicBezTo>
                  <a:pt x="66391" y="296333"/>
                  <a:pt x="0" y="229942"/>
                  <a:pt x="0" y="148167"/>
                </a:cubicBezTo>
                <a:lnTo>
                  <a:pt x="0" y="148167"/>
                </a:lnTo>
                <a:cubicBezTo>
                  <a:pt x="0" y="66391"/>
                  <a:pt x="66391" y="0"/>
                  <a:pt x="148167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36" name="Text 34"/>
          <p:cNvSpPr/>
          <p:nvPr/>
        </p:nvSpPr>
        <p:spPr>
          <a:xfrm>
            <a:off x="8501592" y="3319343"/>
            <a:ext cx="370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19633" y="3340509"/>
            <a:ext cx="1947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分析数据类型和约束条件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38633" y="3658009"/>
            <a:ext cx="7059083" cy="2010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数据量、数据类型、可解释性要求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07400" y="4086093"/>
            <a:ext cx="7247467" cy="802217"/>
          </a:xfrm>
          <a:custGeom>
            <a:avLst/>
            <a:gdLst/>
            <a:ahLst/>
            <a:cxnLst/>
            <a:rect l="l" t="t" r="r" b="b"/>
            <a:pathLst>
              <a:path w="7247467" h="802217">
                <a:moveTo>
                  <a:pt x="84666" y="0"/>
                </a:moveTo>
                <a:lnTo>
                  <a:pt x="7162801" y="0"/>
                </a:lnTo>
                <a:cubicBezTo>
                  <a:pt x="7209560" y="0"/>
                  <a:pt x="7247467" y="37906"/>
                  <a:pt x="7247467" y="84666"/>
                </a:cubicBezTo>
                <a:lnTo>
                  <a:pt x="7247467" y="717551"/>
                </a:lnTo>
                <a:cubicBezTo>
                  <a:pt x="7247467" y="764310"/>
                  <a:pt x="7209560" y="802217"/>
                  <a:pt x="7162801" y="802217"/>
                </a:cubicBezTo>
                <a:lnTo>
                  <a:pt x="84666" y="802217"/>
                </a:lnTo>
                <a:cubicBezTo>
                  <a:pt x="37906" y="802217"/>
                  <a:pt x="0" y="764310"/>
                  <a:pt x="0" y="717551"/>
                </a:cubicBezTo>
                <a:lnTo>
                  <a:pt x="0" y="84666"/>
                </a:lnTo>
                <a:cubicBezTo>
                  <a:pt x="0" y="37938"/>
                  <a:pt x="37938" y="0"/>
                  <a:pt x="8466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38633" y="4217334"/>
            <a:ext cx="296333" cy="296333"/>
          </a:xfrm>
          <a:custGeom>
            <a:avLst/>
            <a:gdLst/>
            <a:ahLst/>
            <a:cxnLst/>
            <a:rect l="l" t="t" r="r" b="b"/>
            <a:pathLst>
              <a:path w="296333" h="296333">
                <a:moveTo>
                  <a:pt x="148167" y="0"/>
                </a:moveTo>
                <a:lnTo>
                  <a:pt x="148167" y="0"/>
                </a:lnTo>
                <a:cubicBezTo>
                  <a:pt x="229942" y="0"/>
                  <a:pt x="296333" y="66391"/>
                  <a:pt x="296333" y="148167"/>
                </a:cubicBezTo>
                <a:lnTo>
                  <a:pt x="296333" y="148167"/>
                </a:lnTo>
                <a:cubicBezTo>
                  <a:pt x="296333" y="229942"/>
                  <a:pt x="229942" y="296333"/>
                  <a:pt x="148167" y="296333"/>
                </a:cubicBezTo>
                <a:lnTo>
                  <a:pt x="148167" y="296333"/>
                </a:lnTo>
                <a:cubicBezTo>
                  <a:pt x="66391" y="296333"/>
                  <a:pt x="0" y="229942"/>
                  <a:pt x="0" y="148167"/>
                </a:cubicBezTo>
                <a:lnTo>
                  <a:pt x="0" y="148167"/>
                </a:lnTo>
                <a:cubicBezTo>
                  <a:pt x="0" y="66391"/>
                  <a:pt x="66391" y="0"/>
                  <a:pt x="148167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1" name="Text 39"/>
          <p:cNvSpPr/>
          <p:nvPr/>
        </p:nvSpPr>
        <p:spPr>
          <a:xfrm>
            <a:off x="8501592" y="4217334"/>
            <a:ext cx="370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919633" y="4238501"/>
            <a:ext cx="1947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选择合适模型或模型组合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38633" y="4556001"/>
            <a:ext cx="7059083" cy="2010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单一模型或模型组合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07400" y="4984105"/>
            <a:ext cx="7247467" cy="802217"/>
          </a:xfrm>
          <a:custGeom>
            <a:avLst/>
            <a:gdLst/>
            <a:ahLst/>
            <a:cxnLst/>
            <a:rect l="l" t="t" r="r" b="b"/>
            <a:pathLst>
              <a:path w="7247467" h="802217">
                <a:moveTo>
                  <a:pt x="84666" y="0"/>
                </a:moveTo>
                <a:lnTo>
                  <a:pt x="7162801" y="0"/>
                </a:lnTo>
                <a:cubicBezTo>
                  <a:pt x="7209560" y="0"/>
                  <a:pt x="7247467" y="37906"/>
                  <a:pt x="7247467" y="84666"/>
                </a:cubicBezTo>
                <a:lnTo>
                  <a:pt x="7247467" y="717551"/>
                </a:lnTo>
                <a:cubicBezTo>
                  <a:pt x="7247467" y="764310"/>
                  <a:pt x="7209560" y="802217"/>
                  <a:pt x="7162801" y="802217"/>
                </a:cubicBezTo>
                <a:lnTo>
                  <a:pt x="84666" y="802217"/>
                </a:lnTo>
                <a:cubicBezTo>
                  <a:pt x="37906" y="802217"/>
                  <a:pt x="0" y="764310"/>
                  <a:pt x="0" y="717551"/>
                </a:cubicBezTo>
                <a:lnTo>
                  <a:pt x="0" y="84666"/>
                </a:lnTo>
                <a:cubicBezTo>
                  <a:pt x="0" y="37938"/>
                  <a:pt x="37938" y="0"/>
                  <a:pt x="8466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38633" y="5115326"/>
            <a:ext cx="296333" cy="296333"/>
          </a:xfrm>
          <a:custGeom>
            <a:avLst/>
            <a:gdLst/>
            <a:ahLst/>
            <a:cxnLst/>
            <a:rect l="l" t="t" r="r" b="b"/>
            <a:pathLst>
              <a:path w="296333" h="296333">
                <a:moveTo>
                  <a:pt x="148167" y="0"/>
                </a:moveTo>
                <a:lnTo>
                  <a:pt x="148167" y="0"/>
                </a:lnTo>
                <a:cubicBezTo>
                  <a:pt x="229942" y="0"/>
                  <a:pt x="296333" y="66391"/>
                  <a:pt x="296333" y="148167"/>
                </a:cubicBezTo>
                <a:lnTo>
                  <a:pt x="296333" y="148167"/>
                </a:lnTo>
                <a:cubicBezTo>
                  <a:pt x="296333" y="229942"/>
                  <a:pt x="229942" y="296333"/>
                  <a:pt x="148167" y="296333"/>
                </a:cubicBezTo>
                <a:lnTo>
                  <a:pt x="148167" y="296333"/>
                </a:lnTo>
                <a:cubicBezTo>
                  <a:pt x="66391" y="296333"/>
                  <a:pt x="0" y="229942"/>
                  <a:pt x="0" y="148167"/>
                </a:cubicBezTo>
                <a:lnTo>
                  <a:pt x="0" y="148167"/>
                </a:lnTo>
                <a:cubicBezTo>
                  <a:pt x="0" y="66391"/>
                  <a:pt x="66391" y="0"/>
                  <a:pt x="148167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46" name="Text 44"/>
          <p:cNvSpPr/>
          <p:nvPr/>
        </p:nvSpPr>
        <p:spPr>
          <a:xfrm>
            <a:off x="8501592" y="5115326"/>
            <a:ext cx="370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919633" y="5136493"/>
            <a:ext cx="931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验证与优化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38633" y="5453993"/>
            <a:ext cx="7059083" cy="2010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评估模型性能，迭代优化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07400" y="5882097"/>
            <a:ext cx="7247467" cy="802217"/>
          </a:xfrm>
          <a:custGeom>
            <a:avLst/>
            <a:gdLst/>
            <a:ahLst/>
            <a:cxnLst/>
            <a:rect l="l" t="t" r="r" b="b"/>
            <a:pathLst>
              <a:path w="7247467" h="802217">
                <a:moveTo>
                  <a:pt x="84666" y="0"/>
                </a:moveTo>
                <a:lnTo>
                  <a:pt x="7162801" y="0"/>
                </a:lnTo>
                <a:cubicBezTo>
                  <a:pt x="7209560" y="0"/>
                  <a:pt x="7247467" y="37906"/>
                  <a:pt x="7247467" y="84666"/>
                </a:cubicBezTo>
                <a:lnTo>
                  <a:pt x="7247467" y="717551"/>
                </a:lnTo>
                <a:cubicBezTo>
                  <a:pt x="7247467" y="764310"/>
                  <a:pt x="7209560" y="802217"/>
                  <a:pt x="7162801" y="802217"/>
                </a:cubicBezTo>
                <a:lnTo>
                  <a:pt x="84666" y="802217"/>
                </a:lnTo>
                <a:cubicBezTo>
                  <a:pt x="37906" y="802217"/>
                  <a:pt x="0" y="764310"/>
                  <a:pt x="0" y="717551"/>
                </a:cubicBezTo>
                <a:lnTo>
                  <a:pt x="0" y="84666"/>
                </a:lnTo>
                <a:cubicBezTo>
                  <a:pt x="0" y="37938"/>
                  <a:pt x="37938" y="0"/>
                  <a:pt x="8466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38633" y="6013318"/>
            <a:ext cx="296333" cy="296333"/>
          </a:xfrm>
          <a:custGeom>
            <a:avLst/>
            <a:gdLst/>
            <a:ahLst/>
            <a:cxnLst/>
            <a:rect l="l" t="t" r="r" b="b"/>
            <a:pathLst>
              <a:path w="296333" h="296333">
                <a:moveTo>
                  <a:pt x="148167" y="0"/>
                </a:moveTo>
                <a:lnTo>
                  <a:pt x="148167" y="0"/>
                </a:lnTo>
                <a:cubicBezTo>
                  <a:pt x="229942" y="0"/>
                  <a:pt x="296333" y="66391"/>
                  <a:pt x="296333" y="148167"/>
                </a:cubicBezTo>
                <a:lnTo>
                  <a:pt x="296333" y="148167"/>
                </a:lnTo>
                <a:cubicBezTo>
                  <a:pt x="296333" y="229942"/>
                  <a:pt x="229942" y="296333"/>
                  <a:pt x="148167" y="296333"/>
                </a:cubicBezTo>
                <a:lnTo>
                  <a:pt x="148167" y="296333"/>
                </a:lnTo>
                <a:cubicBezTo>
                  <a:pt x="66391" y="296333"/>
                  <a:pt x="0" y="229942"/>
                  <a:pt x="0" y="148167"/>
                </a:cubicBezTo>
                <a:lnTo>
                  <a:pt x="0" y="148167"/>
                </a:lnTo>
                <a:cubicBezTo>
                  <a:pt x="0" y="66391"/>
                  <a:pt x="66391" y="0"/>
                  <a:pt x="148167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1" name="Text 49"/>
          <p:cNvSpPr/>
          <p:nvPr/>
        </p:nvSpPr>
        <p:spPr>
          <a:xfrm>
            <a:off x="8501592" y="6013318"/>
            <a:ext cx="370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919633" y="6034484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部署应用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38633" y="6351984"/>
            <a:ext cx="7059083" cy="2010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5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将模型应用于实际问题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33833" y="6987522"/>
            <a:ext cx="7598833" cy="1989667"/>
          </a:xfrm>
          <a:custGeom>
            <a:avLst/>
            <a:gdLst/>
            <a:ahLst/>
            <a:cxnLst/>
            <a:rect l="l" t="t" r="r" b="b"/>
            <a:pathLst>
              <a:path w="7598833" h="1989667">
                <a:moveTo>
                  <a:pt x="127000" y="0"/>
                </a:moveTo>
                <a:lnTo>
                  <a:pt x="7471833" y="0"/>
                </a:lnTo>
                <a:cubicBezTo>
                  <a:pt x="7541973" y="0"/>
                  <a:pt x="7598833" y="56860"/>
                  <a:pt x="7598833" y="127000"/>
                </a:cubicBezTo>
                <a:lnTo>
                  <a:pt x="7598833" y="1862666"/>
                </a:lnTo>
                <a:cubicBezTo>
                  <a:pt x="7598833" y="1932807"/>
                  <a:pt x="7541973" y="1989667"/>
                  <a:pt x="7471833" y="1989667"/>
                </a:cubicBezTo>
                <a:lnTo>
                  <a:pt x="127000" y="1989667"/>
                </a:lnTo>
                <a:cubicBezTo>
                  <a:pt x="56860" y="1989667"/>
                  <a:pt x="0" y="1932807"/>
                  <a:pt x="0" y="1862666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387292" y="71674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5321" y="11906"/>
                  <a:pt x="0" y="17227"/>
                  <a:pt x="0" y="23812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56629"/>
                </a:lnTo>
                <a:cubicBezTo>
                  <a:pt x="190500" y="49857"/>
                  <a:pt x="183282" y="45579"/>
                  <a:pt x="177329" y="48778"/>
                </a:cubicBezTo>
                <a:lnTo>
                  <a:pt x="119063" y="80144"/>
                </a:lnTo>
                <a:lnTo>
                  <a:pt x="119063" y="56629"/>
                </a:lnTo>
                <a:cubicBezTo>
                  <a:pt x="119063" y="49857"/>
                  <a:pt x="111844" y="45579"/>
                  <a:pt x="105891" y="48778"/>
                </a:cubicBezTo>
                <a:lnTo>
                  <a:pt x="47625" y="80144"/>
                </a:lnTo>
                <a:lnTo>
                  <a:pt x="47625" y="23812"/>
                </a:lnTo>
                <a:cubicBezTo>
                  <a:pt x="47625" y="17227"/>
                  <a:pt x="42304" y="11906"/>
                  <a:pt x="35719" y="11906"/>
                </a:cubicBezTo>
                <a:lnTo>
                  <a:pt x="11906" y="11906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56" name="Text 54"/>
          <p:cNvSpPr/>
          <p:nvPr/>
        </p:nvSpPr>
        <p:spPr>
          <a:xfrm>
            <a:off x="8604250" y="7114522"/>
            <a:ext cx="71966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12C42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典型行业应用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82000" y="7495522"/>
            <a:ext cx="3608917" cy="635000"/>
          </a:xfrm>
          <a:custGeom>
            <a:avLst/>
            <a:gdLst/>
            <a:ahLst/>
            <a:cxnLst/>
            <a:rect l="l" t="t" r="r" b="b"/>
            <a:pathLst>
              <a:path w="3608917" h="635000">
                <a:moveTo>
                  <a:pt x="42333" y="0"/>
                </a:moveTo>
                <a:lnTo>
                  <a:pt x="3524252" y="0"/>
                </a:lnTo>
                <a:cubicBezTo>
                  <a:pt x="3571011" y="0"/>
                  <a:pt x="3608917" y="37906"/>
                  <a:pt x="3608917" y="84665"/>
                </a:cubicBezTo>
                <a:lnTo>
                  <a:pt x="3608917" y="550335"/>
                </a:lnTo>
                <a:cubicBezTo>
                  <a:pt x="3608917" y="597094"/>
                  <a:pt x="3571011" y="635000"/>
                  <a:pt x="3524252" y="635000"/>
                </a:cubicBez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8382000" y="7495522"/>
            <a:ext cx="42333" cy="635000"/>
          </a:xfrm>
          <a:custGeom>
            <a:avLst/>
            <a:gdLst/>
            <a:ahLst/>
            <a:cxnLst/>
            <a:rect l="l" t="t" r="r" b="b"/>
            <a:pathLst>
              <a:path w="42333" h="635000">
                <a:moveTo>
                  <a:pt x="42333" y="0"/>
                </a:moveTo>
                <a:lnTo>
                  <a:pt x="42333" y="0"/>
                </a:lnTo>
                <a:lnTo>
                  <a:pt x="42333" y="635000"/>
                </a:ln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9" name="Text 57"/>
          <p:cNvSpPr/>
          <p:nvPr/>
        </p:nvSpPr>
        <p:spPr>
          <a:xfrm>
            <a:off x="8487833" y="7580188"/>
            <a:ext cx="349250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金融风控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487833" y="7834188"/>
            <a:ext cx="349250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信用评分、欺诈检测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2096750" y="7495522"/>
            <a:ext cx="3608917" cy="635000"/>
          </a:xfrm>
          <a:custGeom>
            <a:avLst/>
            <a:gdLst/>
            <a:ahLst/>
            <a:cxnLst/>
            <a:rect l="l" t="t" r="r" b="b"/>
            <a:pathLst>
              <a:path w="3608917" h="635000">
                <a:moveTo>
                  <a:pt x="42333" y="0"/>
                </a:moveTo>
                <a:lnTo>
                  <a:pt x="3524252" y="0"/>
                </a:lnTo>
                <a:cubicBezTo>
                  <a:pt x="3571011" y="0"/>
                  <a:pt x="3608917" y="37906"/>
                  <a:pt x="3608917" y="84665"/>
                </a:cubicBezTo>
                <a:lnTo>
                  <a:pt x="3608917" y="550335"/>
                </a:lnTo>
                <a:cubicBezTo>
                  <a:pt x="3608917" y="597094"/>
                  <a:pt x="3571011" y="635000"/>
                  <a:pt x="3524252" y="635000"/>
                </a:cubicBez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12C42">
              <a:alpha val="10196"/>
            </a:srgbClr>
          </a:solidFill>
        </p:spPr>
      </p:sp>
      <p:sp>
        <p:nvSpPr>
          <p:cNvPr id="62" name="Shape 60"/>
          <p:cNvSpPr/>
          <p:nvPr/>
        </p:nvSpPr>
        <p:spPr>
          <a:xfrm>
            <a:off x="12096750" y="7495522"/>
            <a:ext cx="42333" cy="635000"/>
          </a:xfrm>
          <a:custGeom>
            <a:avLst/>
            <a:gdLst/>
            <a:ahLst/>
            <a:cxnLst/>
            <a:rect l="l" t="t" r="r" b="b"/>
            <a:pathLst>
              <a:path w="42333" h="635000">
                <a:moveTo>
                  <a:pt x="42333" y="0"/>
                </a:moveTo>
                <a:lnTo>
                  <a:pt x="42333" y="0"/>
                </a:lnTo>
                <a:lnTo>
                  <a:pt x="42333" y="635000"/>
                </a:ln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12C42"/>
          </a:solidFill>
        </p:spPr>
      </p:sp>
      <p:sp>
        <p:nvSpPr>
          <p:cNvPr id="63" name="Text 61"/>
          <p:cNvSpPr/>
          <p:nvPr/>
        </p:nvSpPr>
        <p:spPr>
          <a:xfrm>
            <a:off x="12202583" y="7580188"/>
            <a:ext cx="349250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供应链优化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2202583" y="7834188"/>
            <a:ext cx="349250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需求预测、库存优化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382000" y="8215188"/>
            <a:ext cx="3608917" cy="635000"/>
          </a:xfrm>
          <a:custGeom>
            <a:avLst/>
            <a:gdLst/>
            <a:ahLst/>
            <a:cxnLst/>
            <a:rect l="l" t="t" r="r" b="b"/>
            <a:pathLst>
              <a:path w="3608917" h="635000">
                <a:moveTo>
                  <a:pt x="42333" y="0"/>
                </a:moveTo>
                <a:lnTo>
                  <a:pt x="3524252" y="0"/>
                </a:lnTo>
                <a:cubicBezTo>
                  <a:pt x="3571011" y="0"/>
                  <a:pt x="3608917" y="37906"/>
                  <a:pt x="3608917" y="84665"/>
                </a:cubicBezTo>
                <a:lnTo>
                  <a:pt x="3608917" y="550335"/>
                </a:lnTo>
                <a:cubicBezTo>
                  <a:pt x="3608917" y="597094"/>
                  <a:pt x="3571011" y="635000"/>
                  <a:pt x="3524252" y="635000"/>
                </a:cubicBez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B677D">
              <a:alpha val="10196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8382000" y="8215188"/>
            <a:ext cx="42333" cy="635000"/>
          </a:xfrm>
          <a:custGeom>
            <a:avLst/>
            <a:gdLst/>
            <a:ahLst/>
            <a:cxnLst/>
            <a:rect l="l" t="t" r="r" b="b"/>
            <a:pathLst>
              <a:path w="42333" h="635000">
                <a:moveTo>
                  <a:pt x="42333" y="0"/>
                </a:moveTo>
                <a:lnTo>
                  <a:pt x="42333" y="0"/>
                </a:lnTo>
                <a:lnTo>
                  <a:pt x="42333" y="635000"/>
                </a:ln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B677D"/>
          </a:solidFill>
        </p:spPr>
      </p:sp>
      <p:sp>
        <p:nvSpPr>
          <p:cNvPr id="67" name="Text 65"/>
          <p:cNvSpPr/>
          <p:nvPr/>
        </p:nvSpPr>
        <p:spPr>
          <a:xfrm>
            <a:off x="8487833" y="8299855"/>
            <a:ext cx="349250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医疗诊断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487833" y="8553855"/>
            <a:ext cx="349250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疾病预测、药物推荐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2096750" y="8215188"/>
            <a:ext cx="3608917" cy="635000"/>
          </a:xfrm>
          <a:custGeom>
            <a:avLst/>
            <a:gdLst/>
            <a:ahLst/>
            <a:cxnLst/>
            <a:rect l="l" t="t" r="r" b="b"/>
            <a:pathLst>
              <a:path w="3608917" h="635000">
                <a:moveTo>
                  <a:pt x="42333" y="0"/>
                </a:moveTo>
                <a:lnTo>
                  <a:pt x="3524252" y="0"/>
                </a:lnTo>
                <a:cubicBezTo>
                  <a:pt x="3571011" y="0"/>
                  <a:pt x="3608917" y="37906"/>
                  <a:pt x="3608917" y="84665"/>
                </a:cubicBezTo>
                <a:lnTo>
                  <a:pt x="3608917" y="550335"/>
                </a:lnTo>
                <a:cubicBezTo>
                  <a:pt x="3608917" y="597094"/>
                  <a:pt x="3571011" y="635000"/>
                  <a:pt x="3524252" y="635000"/>
                </a:cubicBez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6A085">
              <a:alpha val="10196"/>
            </a:srgbClr>
          </a:solidFill>
        </p:spPr>
      </p:sp>
      <p:sp>
        <p:nvSpPr>
          <p:cNvPr id="70" name="Shape 68"/>
          <p:cNvSpPr/>
          <p:nvPr/>
        </p:nvSpPr>
        <p:spPr>
          <a:xfrm>
            <a:off x="12096750" y="8215188"/>
            <a:ext cx="42333" cy="635000"/>
          </a:xfrm>
          <a:custGeom>
            <a:avLst/>
            <a:gdLst/>
            <a:ahLst/>
            <a:cxnLst/>
            <a:rect l="l" t="t" r="r" b="b"/>
            <a:pathLst>
              <a:path w="42333" h="635000">
                <a:moveTo>
                  <a:pt x="42333" y="0"/>
                </a:moveTo>
                <a:lnTo>
                  <a:pt x="42333" y="0"/>
                </a:lnTo>
                <a:lnTo>
                  <a:pt x="42333" y="635000"/>
                </a:ln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71" name="Text 69"/>
          <p:cNvSpPr/>
          <p:nvPr/>
        </p:nvSpPr>
        <p:spPr>
          <a:xfrm>
            <a:off x="12202583" y="8299855"/>
            <a:ext cx="349250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212C4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智能制造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2202583" y="8553855"/>
            <a:ext cx="349250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5B67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质量控制、生产调度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ed6e46d43a04d3886b4097057162640175f5060e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21875" b="21875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12C42">
                  <a:alpha val="95000"/>
                </a:srgbClr>
              </a:gs>
              <a:gs pos="50000">
                <a:srgbClr val="212C42">
                  <a:alpha val="80000"/>
                </a:srgbClr>
              </a:gs>
              <a:gs pos="100000">
                <a:srgbClr val="16A085">
                  <a:alpha val="6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6869430" y="1497469"/>
            <a:ext cx="2489200" cy="711200"/>
          </a:xfrm>
          <a:custGeom>
            <a:avLst/>
            <a:gdLst/>
            <a:ahLst/>
            <a:cxnLst/>
            <a:rect l="l" t="t" r="r" b="b"/>
            <a:pathLst>
              <a:path w="2489200" h="711200">
                <a:moveTo>
                  <a:pt x="152403" y="0"/>
                </a:moveTo>
                <a:lnTo>
                  <a:pt x="2336797" y="0"/>
                </a:lnTo>
                <a:cubicBezTo>
                  <a:pt x="2420967" y="0"/>
                  <a:pt x="2489200" y="68233"/>
                  <a:pt x="2489200" y="152403"/>
                </a:cubicBezTo>
                <a:lnTo>
                  <a:pt x="2489200" y="558797"/>
                </a:lnTo>
                <a:cubicBezTo>
                  <a:pt x="2489200" y="642967"/>
                  <a:pt x="2420967" y="711200"/>
                  <a:pt x="2336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5" name="Text 2"/>
          <p:cNvSpPr/>
          <p:nvPr/>
        </p:nvSpPr>
        <p:spPr>
          <a:xfrm>
            <a:off x="7122160" y="1649869"/>
            <a:ext cx="2032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kern="0" spc="120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43680" y="2687310"/>
            <a:ext cx="83820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F8F9FA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谢谢聆听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01840" y="5092690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9" name="Shape 6"/>
          <p:cNvSpPr/>
          <p:nvPr/>
        </p:nvSpPr>
        <p:spPr>
          <a:xfrm>
            <a:off x="4043680" y="5570210"/>
            <a:ext cx="1381760" cy="2296160"/>
          </a:xfrm>
          <a:custGeom>
            <a:avLst/>
            <a:gdLst/>
            <a:ahLst/>
            <a:cxnLst/>
            <a:rect l="l" t="t" r="r" b="b"/>
            <a:pathLst>
              <a:path w="1381760" h="2296160">
                <a:moveTo>
                  <a:pt x="152394" y="0"/>
                </a:moveTo>
                <a:lnTo>
                  <a:pt x="1229366" y="0"/>
                </a:lnTo>
                <a:cubicBezTo>
                  <a:pt x="1313531" y="0"/>
                  <a:pt x="1381760" y="68229"/>
                  <a:pt x="1381760" y="152394"/>
                </a:cubicBezTo>
                <a:lnTo>
                  <a:pt x="1381760" y="2143766"/>
                </a:lnTo>
                <a:cubicBezTo>
                  <a:pt x="1381760" y="2227931"/>
                  <a:pt x="1313531" y="2296160"/>
                  <a:pt x="1229366" y="2296160"/>
                </a:cubicBezTo>
                <a:lnTo>
                  <a:pt x="152394" y="2296160"/>
                </a:lnTo>
                <a:cubicBezTo>
                  <a:pt x="68229" y="2296160"/>
                  <a:pt x="0" y="2227931"/>
                  <a:pt x="0" y="2143766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29760" y="5880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16A085"/>
          </a:solidFill>
        </p:spPr>
      </p:sp>
      <p:sp>
        <p:nvSpPr>
          <p:cNvPr id="11" name="Text 8"/>
          <p:cNvSpPr/>
          <p:nvPr/>
        </p:nvSpPr>
        <p:spPr>
          <a:xfrm>
            <a:off x="4277360" y="6692900"/>
            <a:ext cx="914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预测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296410" y="7200726"/>
            <a:ext cx="876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推未来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740400" y="5570210"/>
            <a:ext cx="1381760" cy="2296160"/>
          </a:xfrm>
          <a:custGeom>
            <a:avLst/>
            <a:gdLst/>
            <a:ahLst/>
            <a:cxnLst/>
            <a:rect l="l" t="t" r="r" b="b"/>
            <a:pathLst>
              <a:path w="1381760" h="2296160">
                <a:moveTo>
                  <a:pt x="152394" y="0"/>
                </a:moveTo>
                <a:lnTo>
                  <a:pt x="1229366" y="0"/>
                </a:lnTo>
                <a:cubicBezTo>
                  <a:pt x="1313531" y="0"/>
                  <a:pt x="1381760" y="68229"/>
                  <a:pt x="1381760" y="152394"/>
                </a:cubicBezTo>
                <a:lnTo>
                  <a:pt x="1381760" y="2143766"/>
                </a:lnTo>
                <a:cubicBezTo>
                  <a:pt x="1381760" y="2227931"/>
                  <a:pt x="1313531" y="2296160"/>
                  <a:pt x="1229366" y="2296160"/>
                </a:cubicBezTo>
                <a:lnTo>
                  <a:pt x="152394" y="2296160"/>
                </a:lnTo>
                <a:cubicBezTo>
                  <a:pt x="68229" y="2296160"/>
                  <a:pt x="0" y="2227931"/>
                  <a:pt x="0" y="2143766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5880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33400" y="304800"/>
                </a:moveTo>
                <a:cubicBezTo>
                  <a:pt x="533400" y="178632"/>
                  <a:pt x="430968" y="76200"/>
                  <a:pt x="304800" y="76200"/>
                </a:cubicBezTo>
                <a:cubicBezTo>
                  <a:pt x="178632" y="76200"/>
                  <a:pt x="76200" y="178632"/>
                  <a:pt x="76200" y="304800"/>
                </a:cubicBezTo>
                <a:cubicBezTo>
                  <a:pt x="76200" y="430968"/>
                  <a:pt x="178632" y="533400"/>
                  <a:pt x="304800" y="533400"/>
                </a:cubicBezTo>
                <a:cubicBezTo>
                  <a:pt x="430968" y="533400"/>
                  <a:pt x="533400" y="430968"/>
                  <a:pt x="533400" y="304800"/>
                </a:cubicBezTo>
                <a:close/>
                <a:moveTo>
                  <a:pt x="0" y="304800"/>
                </a:moveTo>
                <a:cubicBezTo>
                  <a:pt x="0" y="136576"/>
                  <a:pt x="136576" y="0"/>
                  <a:pt x="304800" y="0"/>
                </a:cubicBez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lose/>
                <a:moveTo>
                  <a:pt x="304800" y="400050"/>
                </a:moveTo>
                <a:cubicBezTo>
                  <a:pt x="357370" y="400050"/>
                  <a:pt x="400050" y="357370"/>
                  <a:pt x="400050" y="304800"/>
                </a:cubicBezTo>
                <a:cubicBezTo>
                  <a:pt x="400050" y="252230"/>
                  <a:pt x="357370" y="209550"/>
                  <a:pt x="304800" y="209550"/>
                </a:cubicBezTo>
                <a:cubicBezTo>
                  <a:pt x="252230" y="209550"/>
                  <a:pt x="209550" y="252230"/>
                  <a:pt x="209550" y="304800"/>
                </a:cubicBezTo>
                <a:cubicBezTo>
                  <a:pt x="209550" y="357370"/>
                  <a:pt x="252230" y="400050"/>
                  <a:pt x="304800" y="400050"/>
                </a:cubicBezTo>
                <a:close/>
                <a:moveTo>
                  <a:pt x="304800" y="133350"/>
                </a:moveTo>
                <a:cubicBezTo>
                  <a:pt x="399426" y="133350"/>
                  <a:pt x="476250" y="210174"/>
                  <a:pt x="476250" y="304800"/>
                </a:cubicBezTo>
                <a:cubicBezTo>
                  <a:pt x="476250" y="399426"/>
                  <a:pt x="399426" y="476250"/>
                  <a:pt x="304800" y="476250"/>
                </a:cubicBezTo>
                <a:cubicBezTo>
                  <a:pt x="210174" y="476250"/>
                  <a:pt x="133350" y="399426"/>
                  <a:pt x="133350" y="304800"/>
                </a:cubicBezTo>
                <a:cubicBezTo>
                  <a:pt x="133350" y="210174"/>
                  <a:pt x="210174" y="133350"/>
                  <a:pt x="304800" y="133350"/>
                </a:cubicBezTo>
                <a:close/>
                <a:moveTo>
                  <a:pt x="266700" y="304800"/>
                </a:moveTo>
                <a:cubicBezTo>
                  <a:pt x="266700" y="283772"/>
                  <a:pt x="283772" y="266700"/>
                  <a:pt x="304800" y="266700"/>
                </a:cubicBezTo>
                <a:cubicBezTo>
                  <a:pt x="325828" y="266700"/>
                  <a:pt x="342900" y="283772"/>
                  <a:pt x="342900" y="304800"/>
                </a:cubicBezTo>
                <a:cubicBezTo>
                  <a:pt x="342900" y="325828"/>
                  <a:pt x="325828" y="342900"/>
                  <a:pt x="304800" y="342900"/>
                </a:cubicBezTo>
                <a:cubicBezTo>
                  <a:pt x="283772" y="342900"/>
                  <a:pt x="266700" y="325828"/>
                  <a:pt x="266700" y="30480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5" name="Text 12"/>
          <p:cNvSpPr/>
          <p:nvPr/>
        </p:nvSpPr>
        <p:spPr>
          <a:xfrm>
            <a:off x="5974080" y="6692900"/>
            <a:ext cx="914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93130" y="7200726"/>
            <a:ext cx="876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寻最优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37120" y="5570210"/>
            <a:ext cx="1381760" cy="2296160"/>
          </a:xfrm>
          <a:custGeom>
            <a:avLst/>
            <a:gdLst/>
            <a:ahLst/>
            <a:cxnLst/>
            <a:rect l="l" t="t" r="r" b="b"/>
            <a:pathLst>
              <a:path w="1381760" h="2296160">
                <a:moveTo>
                  <a:pt x="152394" y="0"/>
                </a:moveTo>
                <a:lnTo>
                  <a:pt x="1229366" y="0"/>
                </a:lnTo>
                <a:cubicBezTo>
                  <a:pt x="1313531" y="0"/>
                  <a:pt x="1381760" y="68229"/>
                  <a:pt x="1381760" y="152394"/>
                </a:cubicBezTo>
                <a:lnTo>
                  <a:pt x="1381760" y="2143766"/>
                </a:lnTo>
                <a:cubicBezTo>
                  <a:pt x="1381760" y="2227931"/>
                  <a:pt x="1313531" y="2296160"/>
                  <a:pt x="1229366" y="2296160"/>
                </a:cubicBezTo>
                <a:lnTo>
                  <a:pt x="152394" y="2296160"/>
                </a:lnTo>
                <a:cubicBezTo>
                  <a:pt x="68229" y="2296160"/>
                  <a:pt x="0" y="2227931"/>
                  <a:pt x="0" y="2143766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61300" y="58801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292775" y="-30837"/>
                </a:moveTo>
                <a:cubicBezTo>
                  <a:pt x="276820" y="-40600"/>
                  <a:pt x="256699" y="-40600"/>
                  <a:pt x="240744" y="-30837"/>
                </a:cubicBezTo>
                <a:cubicBezTo>
                  <a:pt x="211693" y="-13097"/>
                  <a:pt x="193715" y="-8334"/>
                  <a:pt x="159663" y="-9049"/>
                </a:cubicBezTo>
                <a:cubicBezTo>
                  <a:pt x="140970" y="-9525"/>
                  <a:pt x="123587" y="595"/>
                  <a:pt x="114538" y="17026"/>
                </a:cubicBezTo>
                <a:cubicBezTo>
                  <a:pt x="98227" y="46911"/>
                  <a:pt x="85011" y="60127"/>
                  <a:pt x="55126" y="76438"/>
                </a:cubicBezTo>
                <a:cubicBezTo>
                  <a:pt x="38695" y="85368"/>
                  <a:pt x="28694" y="102870"/>
                  <a:pt x="29051" y="121563"/>
                </a:cubicBezTo>
                <a:cubicBezTo>
                  <a:pt x="29885" y="155615"/>
                  <a:pt x="25003" y="173593"/>
                  <a:pt x="7263" y="202644"/>
                </a:cubicBezTo>
                <a:cubicBezTo>
                  <a:pt x="-2500" y="218599"/>
                  <a:pt x="-2500" y="238720"/>
                  <a:pt x="7263" y="254675"/>
                </a:cubicBezTo>
                <a:cubicBezTo>
                  <a:pt x="25003" y="283726"/>
                  <a:pt x="29766" y="301704"/>
                  <a:pt x="29051" y="335756"/>
                </a:cubicBezTo>
                <a:cubicBezTo>
                  <a:pt x="28575" y="354449"/>
                  <a:pt x="38695" y="371832"/>
                  <a:pt x="55126" y="380881"/>
                </a:cubicBezTo>
                <a:cubicBezTo>
                  <a:pt x="81439" y="395287"/>
                  <a:pt x="94774" y="407194"/>
                  <a:pt x="108823" y="430292"/>
                </a:cubicBezTo>
                <a:lnTo>
                  <a:pt x="50840" y="545902"/>
                </a:lnTo>
                <a:cubicBezTo>
                  <a:pt x="43815" y="560070"/>
                  <a:pt x="49530" y="577215"/>
                  <a:pt x="63579" y="584240"/>
                </a:cubicBezTo>
                <a:lnTo>
                  <a:pt x="165973" y="635437"/>
                </a:lnTo>
                <a:cubicBezTo>
                  <a:pt x="179665" y="642223"/>
                  <a:pt x="196334" y="637103"/>
                  <a:pt x="203716" y="623768"/>
                </a:cubicBezTo>
                <a:lnTo>
                  <a:pt x="266581" y="510540"/>
                </a:lnTo>
                <a:lnTo>
                  <a:pt x="329446" y="623768"/>
                </a:lnTo>
                <a:cubicBezTo>
                  <a:pt x="336828" y="637103"/>
                  <a:pt x="353497" y="642342"/>
                  <a:pt x="367189" y="635437"/>
                </a:cubicBezTo>
                <a:lnTo>
                  <a:pt x="469583" y="584240"/>
                </a:lnTo>
                <a:cubicBezTo>
                  <a:pt x="483751" y="577215"/>
                  <a:pt x="489466" y="560070"/>
                  <a:pt x="482322" y="545902"/>
                </a:cubicBezTo>
                <a:lnTo>
                  <a:pt x="424458" y="430173"/>
                </a:lnTo>
                <a:cubicBezTo>
                  <a:pt x="438388" y="407075"/>
                  <a:pt x="451842" y="395168"/>
                  <a:pt x="478155" y="380762"/>
                </a:cubicBezTo>
                <a:cubicBezTo>
                  <a:pt x="494586" y="371832"/>
                  <a:pt x="504587" y="354330"/>
                  <a:pt x="504230" y="335637"/>
                </a:cubicBezTo>
                <a:cubicBezTo>
                  <a:pt x="503396" y="301585"/>
                  <a:pt x="508278" y="283607"/>
                  <a:pt x="526018" y="254556"/>
                </a:cubicBezTo>
                <a:cubicBezTo>
                  <a:pt x="535781" y="238601"/>
                  <a:pt x="535781" y="218480"/>
                  <a:pt x="526018" y="202525"/>
                </a:cubicBezTo>
                <a:cubicBezTo>
                  <a:pt x="508278" y="173474"/>
                  <a:pt x="503515" y="155496"/>
                  <a:pt x="504230" y="121444"/>
                </a:cubicBezTo>
                <a:cubicBezTo>
                  <a:pt x="504706" y="102751"/>
                  <a:pt x="494586" y="85368"/>
                  <a:pt x="478155" y="76319"/>
                </a:cubicBezTo>
                <a:cubicBezTo>
                  <a:pt x="448270" y="60008"/>
                  <a:pt x="435054" y="46792"/>
                  <a:pt x="418743" y="16907"/>
                </a:cubicBezTo>
                <a:cubicBezTo>
                  <a:pt x="409813" y="476"/>
                  <a:pt x="392311" y="-9525"/>
                  <a:pt x="373618" y="-9168"/>
                </a:cubicBezTo>
                <a:cubicBezTo>
                  <a:pt x="339566" y="-8334"/>
                  <a:pt x="321588" y="-13216"/>
                  <a:pt x="292537" y="-30956"/>
                </a:cubicBezTo>
                <a:close/>
                <a:moveTo>
                  <a:pt x="266700" y="114300"/>
                </a:moveTo>
                <a:cubicBezTo>
                  <a:pt x="329784" y="114300"/>
                  <a:pt x="381000" y="165516"/>
                  <a:pt x="381000" y="228600"/>
                </a:cubicBezTo>
                <a:cubicBezTo>
                  <a:pt x="381000" y="291684"/>
                  <a:pt x="329784" y="342900"/>
                  <a:pt x="266700" y="342900"/>
                </a:cubicBezTo>
                <a:cubicBezTo>
                  <a:pt x="203616" y="342900"/>
                  <a:pt x="152400" y="291684"/>
                  <a:pt x="152400" y="228600"/>
                </a:cubicBezTo>
                <a:cubicBezTo>
                  <a:pt x="152400" y="165516"/>
                  <a:pt x="203616" y="114300"/>
                  <a:pt x="266700" y="11430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19" name="Text 16"/>
          <p:cNvSpPr/>
          <p:nvPr/>
        </p:nvSpPr>
        <p:spPr>
          <a:xfrm>
            <a:off x="7670800" y="6692900"/>
            <a:ext cx="914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评价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89850" y="7200726"/>
            <a:ext cx="876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定优劣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133840" y="5570210"/>
            <a:ext cx="1381760" cy="2296160"/>
          </a:xfrm>
          <a:custGeom>
            <a:avLst/>
            <a:gdLst/>
            <a:ahLst/>
            <a:cxnLst/>
            <a:rect l="l" t="t" r="r" b="b"/>
            <a:pathLst>
              <a:path w="1381760" h="2296160">
                <a:moveTo>
                  <a:pt x="152394" y="0"/>
                </a:moveTo>
                <a:lnTo>
                  <a:pt x="1229366" y="0"/>
                </a:lnTo>
                <a:cubicBezTo>
                  <a:pt x="1313531" y="0"/>
                  <a:pt x="1381760" y="68229"/>
                  <a:pt x="1381760" y="152394"/>
                </a:cubicBezTo>
                <a:lnTo>
                  <a:pt x="1381760" y="2143766"/>
                </a:lnTo>
                <a:cubicBezTo>
                  <a:pt x="1381760" y="2227931"/>
                  <a:pt x="1313531" y="2296160"/>
                  <a:pt x="1229366" y="2296160"/>
                </a:cubicBezTo>
                <a:lnTo>
                  <a:pt x="152394" y="2296160"/>
                </a:lnTo>
                <a:cubicBezTo>
                  <a:pt x="68229" y="2296160"/>
                  <a:pt x="0" y="2227931"/>
                  <a:pt x="0" y="2143766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481820" y="58801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77679" y="46553"/>
                </a:moveTo>
                <a:lnTo>
                  <a:pt x="654129" y="225504"/>
                </a:lnTo>
                <a:cubicBezTo>
                  <a:pt x="687110" y="258961"/>
                  <a:pt x="687110" y="312539"/>
                  <a:pt x="654129" y="345996"/>
                </a:cubicBezTo>
                <a:lnTo>
                  <a:pt x="467916" y="534472"/>
                </a:lnTo>
                <a:cubicBezTo>
                  <a:pt x="456843" y="545663"/>
                  <a:pt x="438745" y="545782"/>
                  <a:pt x="427553" y="534710"/>
                </a:cubicBezTo>
                <a:cubicBezTo>
                  <a:pt x="416362" y="523637"/>
                  <a:pt x="416243" y="505539"/>
                  <a:pt x="427315" y="494348"/>
                </a:cubicBezTo>
                <a:lnTo>
                  <a:pt x="613529" y="305753"/>
                </a:lnTo>
                <a:cubicBezTo>
                  <a:pt x="624483" y="294680"/>
                  <a:pt x="624483" y="276701"/>
                  <a:pt x="613529" y="265628"/>
                </a:cubicBezTo>
                <a:lnTo>
                  <a:pt x="436959" y="86797"/>
                </a:lnTo>
                <a:cubicBezTo>
                  <a:pt x="425887" y="75605"/>
                  <a:pt x="426006" y="57507"/>
                  <a:pt x="437197" y="46434"/>
                </a:cubicBezTo>
                <a:cubicBezTo>
                  <a:pt x="448389" y="35362"/>
                  <a:pt x="466487" y="35481"/>
                  <a:pt x="477560" y="46673"/>
                </a:cubicBezTo>
                <a:close/>
                <a:moveTo>
                  <a:pt x="38219" y="273248"/>
                </a:moveTo>
                <a:lnTo>
                  <a:pt x="38219" y="114300"/>
                </a:lnTo>
                <a:cubicBezTo>
                  <a:pt x="38219" y="72271"/>
                  <a:pt x="72390" y="38100"/>
                  <a:pt x="114419" y="38100"/>
                </a:cubicBezTo>
                <a:lnTo>
                  <a:pt x="273368" y="38100"/>
                </a:lnTo>
                <a:cubicBezTo>
                  <a:pt x="293608" y="38100"/>
                  <a:pt x="313015" y="46077"/>
                  <a:pt x="327303" y="60365"/>
                </a:cubicBezTo>
                <a:lnTo>
                  <a:pt x="498753" y="231815"/>
                </a:lnTo>
                <a:cubicBezTo>
                  <a:pt x="528518" y="261580"/>
                  <a:pt x="528518" y="309801"/>
                  <a:pt x="498753" y="339566"/>
                </a:cubicBezTo>
                <a:lnTo>
                  <a:pt x="339804" y="498515"/>
                </a:lnTo>
                <a:cubicBezTo>
                  <a:pt x="310039" y="528280"/>
                  <a:pt x="261818" y="528280"/>
                  <a:pt x="232053" y="498515"/>
                </a:cubicBezTo>
                <a:lnTo>
                  <a:pt x="60603" y="327065"/>
                </a:lnTo>
                <a:cubicBezTo>
                  <a:pt x="46315" y="312777"/>
                  <a:pt x="38338" y="293370"/>
                  <a:pt x="38338" y="273129"/>
                </a:cubicBezTo>
                <a:close/>
                <a:moveTo>
                  <a:pt x="209669" y="171450"/>
                </a:moveTo>
                <a:cubicBezTo>
                  <a:pt x="209669" y="150422"/>
                  <a:pt x="192597" y="133350"/>
                  <a:pt x="171569" y="133350"/>
                </a:cubicBezTo>
                <a:cubicBezTo>
                  <a:pt x="150541" y="133350"/>
                  <a:pt x="133469" y="150422"/>
                  <a:pt x="133469" y="171450"/>
                </a:cubicBezTo>
                <a:cubicBezTo>
                  <a:pt x="133469" y="192478"/>
                  <a:pt x="150541" y="209550"/>
                  <a:pt x="171569" y="209550"/>
                </a:cubicBezTo>
                <a:cubicBezTo>
                  <a:pt x="192597" y="209550"/>
                  <a:pt x="209669" y="192478"/>
                  <a:pt x="209669" y="171450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3" name="Text 20"/>
          <p:cNvSpPr/>
          <p:nvPr/>
        </p:nvSpPr>
        <p:spPr>
          <a:xfrm>
            <a:off x="9367520" y="6692900"/>
            <a:ext cx="914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分类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386570" y="7200726"/>
            <a:ext cx="876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划归属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0830560" y="5570210"/>
            <a:ext cx="1381760" cy="2296160"/>
          </a:xfrm>
          <a:custGeom>
            <a:avLst/>
            <a:gdLst/>
            <a:ahLst/>
            <a:cxnLst/>
            <a:rect l="l" t="t" r="r" b="b"/>
            <a:pathLst>
              <a:path w="1381760" h="2296160">
                <a:moveTo>
                  <a:pt x="152394" y="0"/>
                </a:moveTo>
                <a:lnTo>
                  <a:pt x="1229366" y="0"/>
                </a:lnTo>
                <a:cubicBezTo>
                  <a:pt x="1313531" y="0"/>
                  <a:pt x="1381760" y="68229"/>
                  <a:pt x="1381760" y="152394"/>
                </a:cubicBezTo>
                <a:lnTo>
                  <a:pt x="1381760" y="2143766"/>
                </a:lnTo>
                <a:cubicBezTo>
                  <a:pt x="1381760" y="2227931"/>
                  <a:pt x="1313531" y="2296160"/>
                  <a:pt x="1229366" y="2296160"/>
                </a:cubicBezTo>
                <a:lnTo>
                  <a:pt x="152394" y="2296160"/>
                </a:lnTo>
                <a:cubicBezTo>
                  <a:pt x="68229" y="2296160"/>
                  <a:pt x="0" y="2227931"/>
                  <a:pt x="0" y="2143766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178540" y="58801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99467" y="114300"/>
                </a:moveTo>
                <a:cubicBezTo>
                  <a:pt x="479703" y="114300"/>
                  <a:pt x="460534" y="119658"/>
                  <a:pt x="443746" y="129421"/>
                </a:cubicBezTo>
                <a:cubicBezTo>
                  <a:pt x="424934" y="110371"/>
                  <a:pt x="403027" y="94417"/>
                  <a:pt x="378857" y="82391"/>
                </a:cubicBezTo>
                <a:cubicBezTo>
                  <a:pt x="412433" y="53816"/>
                  <a:pt x="455176" y="38100"/>
                  <a:pt x="499467" y="38100"/>
                </a:cubicBezTo>
                <a:cubicBezTo>
                  <a:pt x="602337" y="38100"/>
                  <a:pt x="685800" y="121444"/>
                  <a:pt x="685800" y="224433"/>
                </a:cubicBezTo>
                <a:cubicBezTo>
                  <a:pt x="685800" y="273844"/>
                  <a:pt x="666155" y="321231"/>
                  <a:pt x="631269" y="356116"/>
                </a:cubicBezTo>
                <a:lnTo>
                  <a:pt x="546616" y="440769"/>
                </a:lnTo>
                <a:cubicBezTo>
                  <a:pt x="511731" y="475655"/>
                  <a:pt x="464344" y="495300"/>
                  <a:pt x="414933" y="495300"/>
                </a:cubicBezTo>
                <a:cubicBezTo>
                  <a:pt x="312063" y="495300"/>
                  <a:pt x="228600" y="411956"/>
                  <a:pt x="228600" y="308967"/>
                </a:cubicBezTo>
                <a:cubicBezTo>
                  <a:pt x="228600" y="307181"/>
                  <a:pt x="228600" y="305395"/>
                  <a:pt x="228719" y="303609"/>
                </a:cubicBezTo>
                <a:cubicBezTo>
                  <a:pt x="229314" y="282535"/>
                  <a:pt x="246817" y="265986"/>
                  <a:pt x="267891" y="266581"/>
                </a:cubicBezTo>
                <a:cubicBezTo>
                  <a:pt x="288965" y="267176"/>
                  <a:pt x="305514" y="284678"/>
                  <a:pt x="304919" y="305753"/>
                </a:cubicBezTo>
                <a:cubicBezTo>
                  <a:pt x="304919" y="306824"/>
                  <a:pt x="304919" y="307896"/>
                  <a:pt x="304919" y="308848"/>
                </a:cubicBezTo>
                <a:cubicBezTo>
                  <a:pt x="304919" y="369689"/>
                  <a:pt x="354211" y="418981"/>
                  <a:pt x="415052" y="418981"/>
                </a:cubicBezTo>
                <a:cubicBezTo>
                  <a:pt x="444222" y="418981"/>
                  <a:pt x="472202" y="407432"/>
                  <a:pt x="492919" y="386715"/>
                </a:cubicBezTo>
                <a:lnTo>
                  <a:pt x="577572" y="302062"/>
                </a:lnTo>
                <a:cubicBezTo>
                  <a:pt x="598170" y="281464"/>
                  <a:pt x="609838" y="253365"/>
                  <a:pt x="609838" y="224195"/>
                </a:cubicBezTo>
                <a:cubicBezTo>
                  <a:pt x="609838" y="163354"/>
                  <a:pt x="560546" y="114062"/>
                  <a:pt x="499705" y="114062"/>
                </a:cubicBezTo>
                <a:close/>
                <a:moveTo>
                  <a:pt x="327660" y="206335"/>
                </a:moveTo>
                <a:cubicBezTo>
                  <a:pt x="325398" y="205383"/>
                  <a:pt x="323136" y="204073"/>
                  <a:pt x="321112" y="202644"/>
                </a:cubicBezTo>
                <a:cubicBezTo>
                  <a:pt x="306110" y="194905"/>
                  <a:pt x="288965" y="190500"/>
                  <a:pt x="270986" y="190500"/>
                </a:cubicBezTo>
                <a:cubicBezTo>
                  <a:pt x="241816" y="190500"/>
                  <a:pt x="213836" y="202049"/>
                  <a:pt x="193119" y="222766"/>
                </a:cubicBezTo>
                <a:lnTo>
                  <a:pt x="108466" y="307419"/>
                </a:lnTo>
                <a:cubicBezTo>
                  <a:pt x="87868" y="328017"/>
                  <a:pt x="76200" y="356116"/>
                  <a:pt x="76200" y="385286"/>
                </a:cubicBezTo>
                <a:cubicBezTo>
                  <a:pt x="76200" y="446127"/>
                  <a:pt x="125492" y="495419"/>
                  <a:pt x="186333" y="495419"/>
                </a:cubicBezTo>
                <a:cubicBezTo>
                  <a:pt x="205978" y="495419"/>
                  <a:pt x="225147" y="490180"/>
                  <a:pt x="241935" y="480417"/>
                </a:cubicBezTo>
                <a:cubicBezTo>
                  <a:pt x="260747" y="499467"/>
                  <a:pt x="282654" y="515422"/>
                  <a:pt x="306943" y="527447"/>
                </a:cubicBezTo>
                <a:cubicBezTo>
                  <a:pt x="273368" y="555903"/>
                  <a:pt x="230743" y="571738"/>
                  <a:pt x="186333" y="571738"/>
                </a:cubicBezTo>
                <a:cubicBezTo>
                  <a:pt x="83463" y="571738"/>
                  <a:pt x="0" y="488394"/>
                  <a:pt x="0" y="385405"/>
                </a:cubicBezTo>
                <a:cubicBezTo>
                  <a:pt x="0" y="335994"/>
                  <a:pt x="19645" y="288607"/>
                  <a:pt x="54531" y="253722"/>
                </a:cubicBezTo>
                <a:lnTo>
                  <a:pt x="139184" y="169069"/>
                </a:lnTo>
                <a:cubicBezTo>
                  <a:pt x="174069" y="134183"/>
                  <a:pt x="221456" y="114538"/>
                  <a:pt x="270867" y="114538"/>
                </a:cubicBezTo>
                <a:cubicBezTo>
                  <a:pt x="373975" y="114538"/>
                  <a:pt x="457200" y="198596"/>
                  <a:pt x="457200" y="301347"/>
                </a:cubicBezTo>
                <a:cubicBezTo>
                  <a:pt x="457200" y="302895"/>
                  <a:pt x="457200" y="304443"/>
                  <a:pt x="457200" y="305991"/>
                </a:cubicBezTo>
                <a:cubicBezTo>
                  <a:pt x="456724" y="327065"/>
                  <a:pt x="439222" y="343614"/>
                  <a:pt x="418148" y="343138"/>
                </a:cubicBezTo>
                <a:cubicBezTo>
                  <a:pt x="397073" y="342662"/>
                  <a:pt x="380524" y="325160"/>
                  <a:pt x="381000" y="304086"/>
                </a:cubicBezTo>
                <a:cubicBezTo>
                  <a:pt x="381000" y="303133"/>
                  <a:pt x="381000" y="302300"/>
                  <a:pt x="381000" y="301347"/>
                </a:cubicBezTo>
                <a:cubicBezTo>
                  <a:pt x="381000" y="261223"/>
                  <a:pt x="359569" y="225981"/>
                  <a:pt x="327660" y="206573"/>
                </a:cubicBezTo>
                <a:close/>
              </a:path>
            </a:pathLst>
          </a:custGeom>
          <a:solidFill>
            <a:srgbClr val="16A085"/>
          </a:solidFill>
        </p:spPr>
      </p:sp>
      <p:sp>
        <p:nvSpPr>
          <p:cNvPr id="27" name="Text 24"/>
          <p:cNvSpPr/>
          <p:nvPr/>
        </p:nvSpPr>
        <p:spPr>
          <a:xfrm>
            <a:off x="11064240" y="6692900"/>
            <a:ext cx="914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关联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083290" y="7200726"/>
            <a:ext cx="876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找关联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527641" y="8480896"/>
            <a:ext cx="3200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8F9FA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数学建模协会 | 2025年12月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8251</Words>
  <Application>WPS 演示</Application>
  <PresentationFormat>On-screen Show (16:9)</PresentationFormat>
  <Paragraphs>1436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Arial</vt:lpstr>
      <vt:lpstr>宋体</vt:lpstr>
      <vt:lpstr>Wingdings</vt:lpstr>
      <vt:lpstr>MiSans</vt:lpstr>
      <vt:lpstr>MiSans</vt:lpstr>
      <vt:lpstr>阿里妈妈数黑体</vt:lpstr>
      <vt:lpstr>阿里妈妈数黑体</vt:lpstr>
      <vt:lpstr>Calibri</vt:lpstr>
      <vt:lpstr>微软雅黑</vt:lpstr>
      <vt:lpstr>Arial Unicode MS</vt:lpstr>
      <vt:lpstr>等线</vt:lpstr>
      <vt:lpstr>微软雅黑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数学建模协会第六次培训</dc:title>
  <dc:creator>Kimi</dc:creator>
  <dc:subject>数学建模协会第六次培训</dc:subject>
  <cp:lastModifiedBy>WPS_1655014124</cp:lastModifiedBy>
  <cp:revision>2</cp:revision>
  <dcterms:created xsi:type="dcterms:W3CDTF">2025-12-21T12:21:00Z</dcterms:created>
  <dcterms:modified xsi:type="dcterms:W3CDTF">2025-12-21T12:35:18Z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数学建模协会第六次培训","ContentProducer":"001191110108MACG2KBH8F10000","ProduceID":"19b40a70-4652-86c9-8000-000023218b98","ReservedCode1":"","ContentPropagator":"001191110108MACG2KBH8F20000","PropagateID":"19b40a70-4652-86c9-8000-000023218b98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9AE92F01CDEA439996D2EC5C86C460F9_12</vt:lpwstr>
  </property>
</Properties>
</file>