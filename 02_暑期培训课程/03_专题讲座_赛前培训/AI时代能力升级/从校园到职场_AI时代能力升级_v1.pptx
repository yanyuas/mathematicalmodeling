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32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我是陈康，来自AIGC夏令营08期第三小组。今天我想和大家分享的主题是"从校园到职场：AI时代数学建模人的能力升级"。这个分享基于我两次真实的数学建模竞赛经历——电工杯和华数杯，以及我在AI工具深度协作过程中的思考和总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的分享分为六个部分。首先从我两次真实的参赛经历讲起，然后谈谈AI时代数学建模工作流的变化，接着对比校园竞赛和工业职场的四个核心差异，重点分享五项必须升级的核心能力，然后通过真实的踩坑案例来印证这些能力的重要性，最后推荐一个工具并做总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想从两次真实的参赛经历讲起。第一次是今年5月的电工杯，我和唐程骑、郑雨露组队，做的是嵌入式社区养老服务站的建设优化问题，最终获得了三等奖。这是一次非常传统的数模竞赛经历，三人分工、三天冲刺，靠人力啃下题目。第二次是今年8月的华数杯，我们选择了一道EDA领域的硬核芯片布局优化题——VLSI布图规划设计。这次我们做了一个关键实验：全面引入AI协作，建立建模手、编程手、论文手三手分工，每一手都有AI深度参与。这两段经历的对比，让我深刻意识到AI时代数学建模的工作方式正在发生根本性变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华数杯B题是一道来自EDA领域的硬核芯片布局优化题。给定100到300个矩形硬模块、固定终端和线网连接关系，要求在芯片轮廓内合理摆放模块。四个问题层层递进：Q1最小化面积，Q2固定轮廓内最小化线长，Q3求最小死区比例，Q4处理L/T型模块。数据来自GSRC标准布图基准，这是一个NP-hard的组合优化问题。右边是我们最终得到的三组芯片布图可视化结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从华数杯的实践来看，AI深度改变了数学建模的每一个环节。赛题理解从半天缩短到2小时，模型设计有AI辅助原理梳理，代码实现调试时间大幅减少，结果验证形成了理论到实践再反馈修正的闭环，论文写作也有AI辅助结构化输出。但需要强调的是，AI不是一键出答案的神器，它的真实角色是领域加速器、思维陪练、代码副驾和写作助手。最终的决策权和核心创造力，始终在人手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在华数杯中建立了三手+AI的协作架构。建模手是总指挥，输出约束和验收标准，不输出代码，AI辅助做数学原理梳理和模型假设深挖。编程手负责实现，拿到建模手的清单后独立实现，AI辅助代码生成和调试，但关键是必须独立实现，不能直接抄AI代码。论文手负责表达，整合建模手的理论和编程手的结果，AI辅助学术写作和配图规划。最关键的是形成了一个闭环：建模手理论到编程手独立实现，再反馈修正建模手理论，这保证了AI的方案不会被盲目采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很多同学以为数模竞赛获奖就能直接对接职场，其实两者之间存在巨大的gap。第一是问题边界，竞赛题目清晰定义，职场需求往往模糊，80%的工作是在定义问题。第二是数据质量，竞赛数据干净标准，职场数据脏乱缺失，数据清洗占60%以上时间。第三是评价标准，竞赛追求模型新颖和结果最优，职场追求业务可落地和可解释性。第四是时间周期，竞赛是3天冲刺，职场是持续迭代。理解这四个差异，是从校园到职场的第一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基于华数杯的真实踩坑经历，我总结了AI时代数学建模人必须升级的五项核心能力。第一是问题定义与拆解能力，这是AI做不了的事。第二是AI协作与Prompt工程能力，这是新基本功。第三是实践验证与批判性思维，这是最核心的能力——AI给出的方案无论多合理都必须独立验证。第四是业务理解与落地转化能力，从模型到价值。第五是文档沉淀与知识管理能力，这是个人复利的来源。其中第三项实践验证与批判性思维是我感触最深的，接下来我会用真实案例详细展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感触最深的一页。在华数杯中，我们遇到了两个典型的AI方案失效案例。第一个是快速模拟退火的温度公式，AI给出的标准公式在理论上应该快速收敛，但在实际的n100/n200/n300数据上完全不收敛，温度下降过快导致陷入局部最优。我们不得不自己重新设计温度调度策略，增加warm start阶段。第二个是软惩罚处理约束，AI建议用软惩罚让优化更平滑，但实际导致解频繁越界，惩罚系数怎么调都不对，最后改用可行性硬门，只接受可行解，HPWL反而降低了15%。右边是修正后的收敛曲线图。这两个案例让我深刻认识到：AI给的是参考答案，不是标准答案，必须独立实践验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基于我的经历和观察，我总结了从校园到职场的四阶段成长路线图。大一大二是打基础阶段，重点是数学基础、编程入门和AI工具使用习惯养成。大三大四是参赛实战阶段，通过数模竞赛积累实战经验，打磨三手+AI协作模式，同时开始文档沉淀形成个人知识库。实习阶段是业务理解阶段，开始接触真实的脏乱数据，理解业务场景和KPI，学会把模型转化为业务价值。职场新人阶段是持续迭代阶段，深耕特定领域成为专家，建设个人工具链提升效率，通过知识管理形成长期复利。最关键的认知是：AI不会取代数学建模人，但会用AI的数学建模人会取代不会用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想介绍一下我基于华数杯经验开发的工具MathModelAgent。这是一个把三手+AI协作经验沉淀成可复用工具的数学建模智能体平台。它内置了建模手、编程手、论文手三个智能体，形成闭环验证的协作架构。核心功能覆盖赛题理解、模型设计、代码生成、论文写作和结果验证全流程。适用场景包括数模竞赛备赛、课程项目、科研建模和职场数据分析。项目已经开源，路径在桌面上的MathModelAgent文件夹。这个工具的核心理念就是：把一次参赛的经验，变成下次参赛和未来工作的可复用资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做一个总结。AI时代数学建模人的核心竞争力可以归结为三点：第一是问题定义能力，AI可以帮你求解，但不能帮你定义问题，想清楚要解决什么比怎么解更重要。第二是实践验证能力，AI给的是参考答案不是标准答案，独立验证和批判性思维是核心护城河。第三是知识沉淀能力，把一次经验变成可复用资产，文档、工具、方法论的沉淀是长期复利的来源。最关键的一句话是：AI不会取代数学建模人，但会用AI的数学建模人会取代不会用的。我是AIGC夏令营08期第三小组的陈康，感谢大家的聆听，欢迎交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E3A8A">
                <a:alpha val="100000"/>
              </a:srgbClr>
            </a:gs>
            <a:gs pos="40000">
              <a:srgbClr val="4F46E5">
                <a:alpha val="100000"/>
              </a:srgbClr>
            </a:gs>
            <a:gs pos="75000">
              <a:srgbClr val="EC4899">
                <a:alpha val="100000"/>
              </a:srgbClr>
            </a:gs>
            <a:gs pos="100000">
              <a:srgbClr val="FB923C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508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52500" y="1371600"/>
            <a:ext cx="635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AIGC CAMP 2026 · GROUP 03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1066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从校园到职场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3655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AI时代数学建模人的能力升级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28647" flipH="false" flipV="false">
            <a:off x="762026" y="45021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762000" y="47625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分享人：陈康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5143500"/>
            <a:ext cx="635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AIGC夏令营08期 · 第三小组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0" y="60960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2026.08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90000" y="1016000"/>
            <a:ext cx="2540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6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A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016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4F46E5">
                  <a:alpha val="100000"/>
                </a:srgbClr>
              </a:gs>
              <a:gs pos="50000">
                <a:srgbClr val="EC4899">
                  <a:alpha val="100000"/>
                </a:srgbClr>
              </a:gs>
              <a:gs pos="100000">
                <a:srgbClr val="FB923C">
                  <a:alpha val="100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35000" y="635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AGENDA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35000" y="1016000"/>
            <a:ext cx="508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9107" flipH="false" flipV="false">
            <a:off x="635045" y="1771650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EC4899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635000" y="2159000"/>
            <a:ext cx="76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460500" y="2222500"/>
            <a:ext cx="444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开场：两段真实参赛经历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" y="2794000"/>
            <a:ext cx="76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460500" y="2857500"/>
            <a:ext cx="444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AI时代，数学建模工作流变了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" y="3429000"/>
            <a:ext cx="76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460500" y="3492500"/>
            <a:ext cx="444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校园竞赛 vs 工业职场：四个差异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0" y="2159000"/>
            <a:ext cx="76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175500" y="2222500"/>
            <a:ext cx="444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五项核心能力升级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2794000"/>
            <a:ext cx="76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B923C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175500" y="2857500"/>
            <a:ext cx="444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真实踩坑案例与成长路线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3429000"/>
            <a:ext cx="76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B923C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175500" y="3492500"/>
            <a:ext cx="444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工具推荐与总结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5000" y="4445000"/>
            <a:ext cx="10922000" cy="1778000"/>
          </a:xfrm>
          <a:prstGeom prst="roundRect">
            <a:avLst>
              <a:gd name="adj" fmla="val 0"/>
            </a:avLst>
          </a:prstGeom>
          <a:solidFill>
            <a:srgbClr val="4F46E5">
              <a:alpha val="5000"/>
            </a:srgbClr>
          </a:solidFill>
          <a:ln w="12700" cmpd="sng" cap="flat">
            <a:solidFill>
              <a:srgbClr val="4F46E5">
                <a:alpha val="1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89000" y="4699000"/>
            <a:ext cx="1041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CORE MESSAGE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89000" y="5080000"/>
            <a:ext cx="1041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AI是放大器，它能放大你的能力，也能放大你的无知。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0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从校园到职场，核心竞争力是把模糊问题转化为清晰数学问题的能力。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A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254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01 · OPENING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35000" y="825500"/>
            <a:ext cx="889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两段真实参赛经历：从传统组队到AI协作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3997" flipH="false" flipV="false">
            <a:off x="635004" y="14541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635000" y="1778000"/>
            <a:ext cx="5207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" y="1778000"/>
            <a:ext cx="5207000" cy="635000"/>
          </a:xfrm>
          <a:prstGeom prst="roundRect">
            <a:avLst>
              <a:gd name="adj" fmla="val 0"/>
            </a:avLst>
          </a:prstGeom>
          <a:solidFill>
            <a:srgbClr val="4F46E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1930400"/>
            <a:ext cx="4699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电工杯 · 传统组队模式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26670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2026.05 · 第十八届全国大学生电工数学建模竞赛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" y="30480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赛题：嵌入式社区养老服务站建设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" y="34290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三人分工、三天冲刺，靠人力啃下题目。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用到马尔可夫链预测、NSGA-II遗传算法、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非线性定价模型、灵敏度分析。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9000" y="4635500"/>
            <a:ext cx="1270000" cy="381000"/>
          </a:xfrm>
          <a:prstGeom prst="roundRect">
            <a:avLst>
              <a:gd name="adj" fmla="val 0"/>
            </a:avLst>
          </a:prstGeom>
          <a:solidFill>
            <a:srgbClr val="4F46E5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89000" y="4699000"/>
            <a:ext cx="127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三等奖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89000" y="5207000"/>
            <a:ext cx="469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tru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团队：陈康 / 唐程骑 / 郑雨露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tru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指导教师：陶明杰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tru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学校：成都理工大学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1778000"/>
            <a:ext cx="5207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C4899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1778000"/>
            <a:ext cx="5207000" cy="635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EC4899">
                  <a:alpha val="100000"/>
                </a:srgbClr>
              </a:gs>
              <a:gs pos="100000">
                <a:srgbClr val="FB923C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04000" y="1930400"/>
            <a:ext cx="4699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华数杯 · AI深度协作范式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604000" y="26670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2026.08 · 第七届华数杯数学建模竞赛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04000" y="30480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赛题：VLSI布图规划设计（EDA芯片布局）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604000" y="34290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全面引入AI协作，建立"建模手+编程手+论文手"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三手分工，每一手都有AI深度参与。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沉淀100+份工作文档，产出三问贯通论文。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604000" y="4635500"/>
            <a:ext cx="1778000" cy="381000"/>
          </a:xfrm>
          <a:prstGeom prst="roundRect">
            <a:avLst>
              <a:gd name="adj" fmla="val 0"/>
            </a:avLst>
          </a:prstGeom>
          <a:solidFill>
            <a:srgbClr val="EC4899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604000" y="4699000"/>
            <a:ext cx="177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范式跃迁实验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604000" y="5207000"/>
            <a:ext cx="469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tru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核心技术：B*-Tree、模拟退火、HPWL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tru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数据：GSRC标准布图基准（n100/n200/n300）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tru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这是一个NP-hard的组合优化问题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381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01 · CONTEXT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35000" y="8255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华数杯B题：VLSI布图规划设计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35000" y="13335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EDA领域硬核芯片布局优化 · NP-hard组合优化问题 · GSRC标准基准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97" flipH="false" flipV="false">
            <a:off x="635004" y="17081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635000" y="1968500"/>
            <a:ext cx="5461000" cy="508000"/>
          </a:xfrm>
          <a:prstGeom prst="roundRect">
            <a:avLst>
              <a:gd name="adj" fmla="val 0"/>
            </a:avLst>
          </a:prstGeom>
          <a:solidFill>
            <a:srgbClr val="4F46E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" y="2070100"/>
            <a:ext cx="101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问题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968500" y="2070100"/>
            <a:ext cx="393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核心任务与数学方法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" y="2476500"/>
            <a:ext cx="5461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25500" y="2603500"/>
            <a:ext cx="1016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Q1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968500" y="2578100"/>
            <a:ext cx="393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最小化芯片轮廓面积，面积相同时长宽比趋近1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100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B*-Tree · FFD行堆叠 · 参数化扫描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" y="3302000"/>
            <a:ext cx="5461000" cy="8255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25500" y="3429000"/>
            <a:ext cx="1016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Q2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968500" y="3403600"/>
            <a:ext cx="393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固定正方形轮廓（死区15%）内最小化总半周长线长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100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贪心可行下降 · 可行性硬门 · warm start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" y="4127500"/>
            <a:ext cx="5461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25500" y="4254500"/>
            <a:ext cx="1016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B923C"/>
                </a:solidFill>
                <a:latin typeface="Noto Sans SC"/>
                <a:ea typeface="Noto Sans SC"/>
                <a:cs typeface="Noto Sans SC"/>
                <a:sym typeface="Noto Sans SC"/>
              </a:rPr>
              <a:t>Q3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968500" y="4229100"/>
            <a:ext cx="393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求最小死区比例使存在可行布局，更新该轮廓下HPWL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100">
                <a:solidFill>
                  <a:srgbClr val="FB923C"/>
                </a:solidFill>
                <a:latin typeface="Noto Sans SC"/>
                <a:ea typeface="Noto Sans SC"/>
                <a:cs typeface="Noto Sans SC"/>
                <a:sym typeface="Noto Sans SC"/>
              </a:rPr>
              <a:t>恒等式M=A·R临界刻画 · 参数化收缩二分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5000" y="4953000"/>
            <a:ext cx="5461000" cy="8255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25500" y="5080000"/>
            <a:ext cx="1016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Q4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968500" y="5054600"/>
            <a:ext cx="393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L/T型模块（拆为2/3个子块）的最小包络面积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1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B*-Tree扩展 · 邻接约束 · 可行性条件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2"/>
          <a:srcRect l="23101" r="23101" t="0" b="0"/>
          <a:stretch>
            <a:fillRect/>
          </a:stretch>
        </p:blipFill>
        <p:spPr>
          <a:xfrm rot="0" flipH="false" flipV="false">
            <a:off x="6477000" y="1968500"/>
            <a:ext cx="5080000" cy="3810000"/>
          </a:xfrm>
          <a:prstGeom prst="roundRect">
            <a:avLst>
              <a:gd name="adj" fmla="val 2666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2" id="22"/>
          <p:cNvSpPr/>
          <p:nvPr/>
        </p:nvSpPr>
        <p:spPr>
          <a:xfrm rot="0" flipH="false" flipV="false">
            <a:off x="6477000" y="59055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n100 / n200 / n300 三组芯片最终布图可视化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A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381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02 · WORKFLOW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35000" y="825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AI时代，数学建模的工作流变了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3997" flipH="false" flipV="false">
            <a:off x="635004" y="14541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635000" y="1714500"/>
            <a:ext cx="1778000" cy="457200"/>
          </a:xfrm>
          <a:prstGeom prst="roundRect">
            <a:avLst>
              <a:gd name="adj" fmla="val 0"/>
            </a:avLst>
          </a:prstGeom>
          <a:solidFill>
            <a:srgbClr val="94A3B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" y="1803400"/>
            <a:ext cx="177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环节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413000" y="1714500"/>
            <a:ext cx="4445000" cy="457200"/>
          </a:xfrm>
          <a:prstGeom prst="roundRect">
            <a:avLst>
              <a:gd name="adj" fmla="val 0"/>
            </a:avLst>
          </a:prstGeom>
          <a:solidFill>
            <a:srgbClr val="64748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413000" y="1803400"/>
            <a:ext cx="444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传统模式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858000" y="1714500"/>
            <a:ext cx="4699000" cy="4572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4F46E5">
                  <a:alpha val="100000"/>
                </a:srgbClr>
              </a:gs>
              <a:gs pos="100000">
                <a:srgbClr val="EC4899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858000" y="1803400"/>
            <a:ext cx="4699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AI协作模式（华数杯实践）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" y="2171700"/>
            <a:ext cx="10922000" cy="736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2349500"/>
            <a:ext cx="152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赛题理解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540000" y="2324100"/>
            <a:ext cx="4191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三人讨论+查文献，耗时半天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985000" y="2324100"/>
            <a:ext cx="4445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AI做背景全量研究报告，2小时完成领域入门+数据溯源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" y="2908300"/>
            <a:ext cx="10922000" cy="7366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3086100"/>
            <a:ext cx="152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模型设计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2540000" y="3060700"/>
            <a:ext cx="4191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建模手凭经验选型，反复试错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985000" y="3060700"/>
            <a:ext cx="4445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AI辅助原理梳理、公式推导、假设深挖，最终决策权在人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5000" y="3644900"/>
            <a:ext cx="10922000" cy="736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3822700"/>
            <a:ext cx="152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代码实现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2540000" y="3797300"/>
            <a:ext cx="4191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编程手从零写，调试占60%时间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985000" y="3797300"/>
            <a:ext cx="4445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AI生成核心框架+调试排错，编程手聚焦逻辑验证和性能优化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35000" y="4381500"/>
            <a:ext cx="10922000" cy="7366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4559300"/>
            <a:ext cx="152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结果验证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2540000" y="4533900"/>
            <a:ext cx="4191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跑出结果就写论文，缺乏闭环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985000" y="4533900"/>
            <a:ext cx="4445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建模手理论→编程手独立实现→反馈修正理论，形成闭环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35000" y="5118100"/>
            <a:ext cx="10922000" cy="736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62000" y="5295900"/>
            <a:ext cx="152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B923C"/>
                </a:solidFill>
                <a:latin typeface="Noto Sans SC"/>
                <a:ea typeface="Noto Sans SC"/>
                <a:cs typeface="Noto Sans SC"/>
                <a:sym typeface="Noto Sans SC"/>
              </a:rPr>
              <a:t>论文写作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2540000" y="5270500"/>
            <a:ext cx="4191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论文手熬夜赶稿，格式混乱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985000" y="5270500"/>
            <a:ext cx="4445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AI辅助结构化写作、术语统一、参考文献格式化、配图生成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35000" y="6032500"/>
            <a:ext cx="10922000" cy="5715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4F46E5">
                  <a:alpha val="8000"/>
                </a:srgbClr>
              </a:gs>
              <a:gs pos="100000">
                <a:srgbClr val="EC4899">
                  <a:alpha val="8000"/>
                </a:srgbClr>
              </a:gs>
            </a:gsLst>
            <a:lin ang="0"/>
          </a:gradFill>
          <a:ln w="12700" cmpd="sng" cap="flat">
            <a:solidFill>
              <a:srgbClr val="4F46E5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89000" y="6159500"/>
            <a:ext cx="1041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AI不是"一键出答案"的神器，而是领域加速器、思维陪练、代码副驾、写作助手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381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02 · ARCHITECTURE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35000" y="825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"三手+AI"协作架构：每个角色都有AI深度参与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3997" flipH="false" flipV="false">
            <a:off x="635004" y="14541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12990" r="12990" t="0" b="0"/>
          <a:stretch>
            <a:fillRect/>
          </a:stretch>
        </p:blipFill>
        <p:spPr>
          <a:xfrm rot="0" flipH="false" flipV="false">
            <a:off x="635000" y="1778000"/>
            <a:ext cx="5334000" cy="3937000"/>
          </a:xfrm>
          <a:prstGeom prst="roundRect">
            <a:avLst>
              <a:gd name="adj" fmla="val 2580"/>
            </a:avLst>
          </a:prstGeom>
          <a:noFill/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635000" y="5842000"/>
            <a:ext cx="533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确定性构造+贪心下降+诚实分层的融合方法架构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0" y="1778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4F46E5">
              <a:alpha val="6000"/>
            </a:srgbClr>
          </a:solidFill>
          <a:ln w="12700" cmpd="sng" cap="flat">
            <a:solidFill>
              <a:srgbClr val="4F46E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1778000"/>
            <a:ext cx="76200" cy="1206500"/>
          </a:xfrm>
          <a:prstGeom prst="roundRect">
            <a:avLst>
              <a:gd name="adj" fmla="val 0"/>
            </a:avLst>
          </a:prstGeom>
          <a:solidFill>
            <a:srgbClr val="4F46E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604000" y="1905000"/>
            <a:ext cx="482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建模手（总指挥）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604000" y="2286000"/>
            <a:ext cx="4826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输出"约束+验收标准"，不输出代码。AI辅助数学原理梳理、模型假设与陷阱深挖、几何创新点提炼。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3175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EC4899">
              <a:alpha val="6000"/>
            </a:srgbClr>
          </a:solidFill>
          <a:ln w="12700" cmpd="sng" cap="flat">
            <a:solidFill>
              <a:srgbClr val="EC4899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0" y="3175000"/>
            <a:ext cx="76200" cy="1206500"/>
          </a:xfrm>
          <a:prstGeom prst="roundRect">
            <a:avLst>
              <a:gd name="adj" fmla="val 0"/>
            </a:avLst>
          </a:prstGeom>
          <a:solidFill>
            <a:srgbClr val="EC489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604000" y="3302000"/>
            <a:ext cx="482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编程手（实现）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604000" y="3683000"/>
            <a:ext cx="4826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拿到建模手清单后独立实现，AI辅助代码生成、调试、性能优化。关键：必须独立实现，不能直接抄AI代码。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4572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B923C">
              <a:alpha val="6000"/>
            </a:srgbClr>
          </a:solidFill>
          <a:ln w="12700" cmpd="sng" cap="flat">
            <a:solidFill>
              <a:srgbClr val="FB923C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4572000"/>
            <a:ext cx="76200" cy="1206500"/>
          </a:xfrm>
          <a:prstGeom prst="roundRect">
            <a:avLst>
              <a:gd name="adj" fmla="val 0"/>
            </a:avLst>
          </a:prstGeom>
          <a:solidFill>
            <a:srgbClr val="FB923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604000" y="4699000"/>
            <a:ext cx="482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B923C"/>
                </a:solidFill>
                <a:latin typeface="Noto Sans SC"/>
                <a:ea typeface="Noto Sans SC"/>
                <a:cs typeface="Noto Sans SC"/>
                <a:sym typeface="Noto Sans SC"/>
              </a:rPr>
              <a:t>论文手（表达）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04000" y="5080000"/>
            <a:ext cx="4826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整合建模手理论和编程手结果，AI辅助学术写作、术语对照、配图规划。核心观点和结论必须自己写。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50000" y="5969000"/>
            <a:ext cx="5207000" cy="50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4F46E5">
                  <a:alpha val="100000"/>
                </a:srgbClr>
              </a:gs>
              <a:gs pos="100000">
                <a:srgbClr val="EC4899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77000" y="6070600"/>
            <a:ext cx="495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关键闭环：建模手理论 → 编程手独立实现 → 反馈修正理论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A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381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03 · GAP ANALYSIS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35000" y="825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校园竞赛 vs 工业职场：四个核心差异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3997" flipH="false" flipV="false">
            <a:off x="635004" y="14541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635000" y="17145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" y="1714500"/>
            <a:ext cx="5270500" cy="50800"/>
          </a:xfrm>
          <a:prstGeom prst="roundRect">
            <a:avLst>
              <a:gd name="adj" fmla="val 0"/>
            </a:avLst>
          </a:prstGeom>
          <a:solidFill>
            <a:srgbClr val="4F46E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1905000"/>
            <a:ext cx="63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524000" y="19685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问题边界：清晰定义 vs 模糊需求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" y="2413000"/>
            <a:ext cx="482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竞赛：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题目白纸黑字写清楚，目标函数、约束条件、数据格式全部给定。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200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职场：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业务方说"优化一下效率"，什么叫效率？用什么指标？80%的工作是在定义问题。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86500" y="17145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86500" y="1714500"/>
            <a:ext cx="5270500" cy="50800"/>
          </a:xfrm>
          <a:prstGeom prst="roundRect">
            <a:avLst>
              <a:gd name="adj" fmla="val 0"/>
            </a:avLst>
          </a:prstGeom>
          <a:solidFill>
            <a:srgbClr val="EC489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540500" y="1905000"/>
            <a:ext cx="63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175500" y="19685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数据质量：干净标准 vs 脏乱缺失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540500" y="2413000"/>
            <a:ext cx="482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竞赛：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数据是出题人精心准备的，格式统一、没有缺失、异常值少。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200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职场：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数据来自多个业务系统，格式不统一、缺失严重、异常遍地。数据清洗占60%以上时间。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" y="41275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" y="4127500"/>
            <a:ext cx="5270500" cy="50800"/>
          </a:xfrm>
          <a:prstGeom prst="roundRect">
            <a:avLst>
              <a:gd name="adj" fmla="val 0"/>
            </a:avLst>
          </a:prstGeom>
          <a:solidFill>
            <a:srgbClr val="FB923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89000" y="4318000"/>
            <a:ext cx="63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B923C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524000" y="43815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评价标准：模型新颖 vs 业务可落地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89000" y="4826000"/>
            <a:ext cx="482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竞赛：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评委看模型是否新颖、结果是否最优、论文是否规范。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200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职场：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老板看能不能解决实际问题、能不能解释清楚、成本能不能接受。可解释的简单模型往往更有价值。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86500" y="41275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86500" y="4127500"/>
            <a:ext cx="5270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540500" y="4318000"/>
            <a:ext cx="63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175500" y="43815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时间周期：3天冲刺 vs 持续迭代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540500" y="4826000"/>
            <a:ext cx="482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竞赛：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72小时连轴转，交完论文就结束，没有后续。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200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职场：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一个项目可能持续数月甚至数年，需要持续维护、迭代、监控。模型上线只是开始，不是结束。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A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381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04 · CORE COMPETENCIES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35000" y="825500"/>
            <a:ext cx="1079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AI时代数学建模人的五项核心能力升级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3997" flipH="false" flipV="false">
            <a:off x="635004" y="14541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635000" y="1778000"/>
            <a:ext cx="21590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4F46E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" y="1778000"/>
            <a:ext cx="2159000" cy="635000"/>
          </a:xfrm>
          <a:prstGeom prst="roundRect">
            <a:avLst>
              <a:gd name="adj" fmla="val 0"/>
            </a:avLst>
          </a:prstGeom>
          <a:solidFill>
            <a:srgbClr val="4F46E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" y="1930400"/>
            <a:ext cx="2159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603500"/>
            <a:ext cx="190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问题定义与拆解能力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365500"/>
            <a:ext cx="1905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AI可以帮你求解，但不能帮你定义问题。</a:t>
            </a:r>
            <a:endParaRPr lang="en-US" sz="1100"/>
          </a:p>
          <a:p>
            <a:pPr algn="ctr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华数杯核心突破是想清楚三问本质是同一个恒等式M=A·R，这是AI给不出来的。</a:t>
            </a:r>
          </a:p>
          <a:p>
            <a:pPr algn="ctr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AI做不了的事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984500" y="1778000"/>
            <a:ext cx="21590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C4899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984500" y="1778000"/>
            <a:ext cx="2159000" cy="635000"/>
          </a:xfrm>
          <a:prstGeom prst="roundRect">
            <a:avLst>
              <a:gd name="adj" fmla="val 0"/>
            </a:avLst>
          </a:prstGeom>
          <a:solidFill>
            <a:srgbClr val="EC489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984500" y="1930400"/>
            <a:ext cx="2159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048000" y="26035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AI协作与Prompt工程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111500" y="3365500"/>
            <a:ext cx="1905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不会用AI的数模人，就像不会用计算器的数学家。</a:t>
            </a:r>
            <a:endParaRPr lang="en-US" sz="1100"/>
          </a:p>
          <a:p>
            <a:pPr algn="ctr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给AI清晰角色定位、完整上下文、可验证中间产物，建立反馈闭环。</a:t>
            </a:r>
          </a:p>
          <a:p>
            <a:pPr algn="ctr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新基本功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334000" y="1778000"/>
            <a:ext cx="2159000" cy="4445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FB923C">
                  <a:alpha val="8000"/>
                </a:srgbClr>
              </a:gs>
              <a:gs pos="100000">
                <a:srgbClr val="FFFFFF">
                  <a:alpha val="100000"/>
                </a:srgbClr>
              </a:gs>
            </a:gsLst>
            <a:lin ang="5400000"/>
          </a:gradFill>
          <a:ln w="25400" cmpd="sng" cap="flat">
            <a:solidFill>
              <a:srgbClr val="FB923C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334000" y="1778000"/>
            <a:ext cx="2159000" cy="635000"/>
          </a:xfrm>
          <a:prstGeom prst="roundRect">
            <a:avLst>
              <a:gd name="adj" fmla="val 0"/>
            </a:avLst>
          </a:prstGeom>
          <a:solidFill>
            <a:srgbClr val="FB923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334000" y="1930400"/>
            <a:ext cx="2159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461000" y="2603500"/>
            <a:ext cx="190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实践验证与批判性思维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461000" y="3365500"/>
            <a:ext cx="1905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AI给出的方案，无论多合理，都必须独立实践验证。</a:t>
            </a:r>
            <a:endParaRPr lang="en-US" sz="1100"/>
          </a:p>
          <a:p>
            <a:pPr algn="ctr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Fast-SA温度公式失效、软惩罚反效果——理论和实践的gap就是竞赛获奖和职场胜任的差距。</a:t>
            </a:r>
          </a:p>
          <a:p>
            <a:pPr algn="ctr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FB923C"/>
                </a:solidFill>
                <a:latin typeface="Noto Sans SC"/>
                <a:ea typeface="Noto Sans SC"/>
                <a:cs typeface="Noto Sans SC"/>
                <a:sym typeface="Noto Sans SC"/>
              </a:rPr>
              <a:t>最核心的能力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83500" y="1778000"/>
            <a:ext cx="21590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83500" y="1778000"/>
            <a:ext cx="2159000" cy="635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83500" y="1930400"/>
            <a:ext cx="2159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810500" y="2603500"/>
            <a:ext cx="190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业务理解与落地转化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810500" y="3365500"/>
            <a:ext cx="1905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竞赛追求模型新颖，职场追求业务价值。</a:t>
            </a:r>
            <a:endParaRPr lang="en-US" sz="1100"/>
          </a:p>
          <a:p>
            <a:pPr algn="ctr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从"我建了多牛的模型"变成"我的模型解决了什么实际问题"。</a:t>
            </a:r>
          </a:p>
          <a:p>
            <a:pPr algn="ctr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从模型到价值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0033000" y="1778000"/>
            <a:ext cx="15240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6366F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0033000" y="1778000"/>
            <a:ext cx="1524000" cy="635000"/>
          </a:xfrm>
          <a:prstGeom prst="roundRect">
            <a:avLst>
              <a:gd name="adj" fmla="val 0"/>
            </a:avLst>
          </a:prstGeom>
          <a:solidFill>
            <a:srgbClr val="6366F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0033000" y="1930400"/>
            <a:ext cx="152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10096500" y="2603500"/>
            <a:ext cx="139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1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文档沉淀与知识管理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10160000" y="3365500"/>
            <a:ext cx="1270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33333"/>
              </a:lnSpc>
              <a:defRPr/>
            </a:pPr>
            <a:r>
              <a:rPr lang="en-US" b="false" i="false" strike="noStrike" u="none" sz="10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华数杯沉淀100+份工作文档。</a:t>
            </a:r>
            <a:endParaRPr lang="en-US" sz="1100"/>
          </a:p>
          <a:p>
            <a:pPr algn="ctr" marL="0" indent="0">
              <a:lnSpc>
                <a:spcPct val="133333"/>
              </a:lnSpc>
            </a:pPr>
            <a:r>
              <a:rPr lang="en-US" b="false" i="false" strike="noStrike" u="none" sz="10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下一次参赛不重复踩坑，求职面试拿出真实决策记录。</a:t>
            </a:r>
          </a:p>
          <a:p>
            <a:pPr algn="ctr" marL="0" indent="0">
              <a:lnSpc>
                <a:spcPct val="133333"/>
              </a:lnSpc>
            </a:pPr>
            <a:r>
              <a:rPr lang="en-US" b="true" i="false" strike="noStrike" u="none" sz="1000">
                <a:solidFill>
                  <a:srgbClr val="6366F1"/>
                </a:solidFill>
                <a:latin typeface="Noto Sans SC"/>
                <a:ea typeface="Noto Sans SC"/>
                <a:cs typeface="Noto Sans SC"/>
                <a:sym typeface="Noto Sans SC"/>
              </a:rPr>
              <a:t>个人复利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381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B923C"/>
                </a:solidFill>
                <a:latin typeface="Noto Sans SC"/>
                <a:ea typeface="Noto Sans SC"/>
                <a:cs typeface="Noto Sans SC"/>
                <a:sym typeface="Noto Sans SC"/>
              </a:rPr>
              <a:t>04 · DEEP DIVE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35000" y="825500"/>
            <a:ext cx="1079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能力3深度展开：实践验证与批判性思维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3997" flipH="false" flipV="false">
            <a:off x="635004" y="14541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635000" y="1714500"/>
            <a:ext cx="5334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" y="1714500"/>
            <a:ext cx="5334000" cy="508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" y="1879600"/>
            <a:ext cx="38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X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06500" y="19050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踩坑案例1：Fast-SA温度公式失效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25500" y="2349500"/>
            <a:ext cx="4953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AI方案：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给出快速模拟退火的标准温度公式，理论上应该快速收敛。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实际验证：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在n100/n200/n300数据上完全不收敛，温度下降过快导致陷入局部最优。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200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修正：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自己重新设计温度调度策略，增加warm start阶段，最终收敛曲线稳定。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" y="4064000"/>
            <a:ext cx="5334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" y="4064000"/>
            <a:ext cx="5334000" cy="508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25500" y="4229100"/>
            <a:ext cx="38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X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206500" y="42545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踩坑案例2：软惩罚反效果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25500" y="4699000"/>
            <a:ext cx="4953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AI方案：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建议用软惩罚（penalty）处理轮廓约束，理论上更平滑易优化。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实际验证：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软惩罚导致解频繁越界，惩罚系数调小无效、调大变硬约束，解质量反而下降。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200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修正：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改用可行性硬门（feasibility gate），只接受可行解，HPWL降低15%。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2"/>
          <a:srcRect l="22619" r="22619" t="0" b="0"/>
          <a:stretch>
            <a:fillRect/>
          </a:stretch>
        </p:blipFill>
        <p:spPr>
          <a:xfrm rot="0" flipH="false" flipV="false">
            <a:off x="6350000" y="1714500"/>
            <a:ext cx="5207000" cy="3556000"/>
          </a:xfrm>
          <a:prstGeom prst="roundRect">
            <a:avLst>
              <a:gd name="adj" fmla="val 2857"/>
            </a:avLst>
          </a:prstGeom>
          <a:noFill/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</p:pic>
      <p:sp>
        <p:nvSpPr>
          <p:cNvPr name="AutoShape 16" id="16"/>
          <p:cNvSpPr/>
          <p:nvPr/>
        </p:nvSpPr>
        <p:spPr>
          <a:xfrm rot="0" flipH="false" flipV="false">
            <a:off x="6350000" y="5397500"/>
            <a:ext cx="5207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修正后模拟退火收敛曲线：温度调度+可行性硬门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50000" y="5842000"/>
            <a:ext cx="5207000" cy="50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FB923C">
                  <a:alpha val="10000"/>
                </a:srgbClr>
              </a:gs>
              <a:gs pos="100000">
                <a:srgbClr val="EC4899">
                  <a:alpha val="10000"/>
                </a:srgbClr>
              </a:gs>
            </a:gsLst>
            <a:lin ang="0"/>
          </a:gradFill>
          <a:ln w="12700" cmpd="sng" cap="flat">
            <a:solidFill>
              <a:srgbClr val="FB923C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540500" y="59436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B923C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核心原则：AI给的是"参考答案"，不是"标准答案"，必须独立验证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A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381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05 · ROADMAP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35000" y="825500"/>
            <a:ext cx="1079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从校园到职场：四阶段成长路线图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3997" flipH="false" flipV="false">
            <a:off x="635004" y="14541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5" id="5"/>
          <p:cNvCxnSpPr/>
          <p:nvPr/>
        </p:nvCxnSpPr>
        <p:spPr>
          <a:xfrm rot="-4523" flipH="false" flipV="false">
            <a:off x="1270004" y="3232150"/>
            <a:ext cx="965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4F46E5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3365500"/>
            <a:ext cx="381000" cy="381000"/>
          </a:xfrm>
          <a:prstGeom prst="roundRect">
            <a:avLst>
              <a:gd name="adj" fmla="val 0"/>
            </a:avLst>
          </a:prstGeom>
          <a:solidFill>
            <a:srgbClr val="4F46E5">
              <a:alpha val="100000"/>
            </a:srgbClr>
          </a:solidFill>
          <a:ln w="38100" cmpd="sng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429000"/>
            <a:ext cx="381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1778000"/>
            <a:ext cx="2286000" cy="1397000"/>
          </a:xfrm>
          <a:prstGeom prst="roundRect">
            <a:avLst>
              <a:gd name="adj" fmla="val 0"/>
            </a:avLst>
          </a:prstGeom>
          <a:solidFill>
            <a:srgbClr val="4F46E5">
              <a:alpha val="8000"/>
            </a:srgbClr>
          </a:solidFill>
          <a:ln w="12700" cmpd="sng" cap="flat">
            <a:solidFill>
              <a:srgbClr val="4F46E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" y="1905000"/>
            <a:ext cx="203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大一大二 · 打基础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" y="2286000"/>
            <a:ext cx="203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高数/线代/概率论扎实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Python/MATLAB编程入门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AI工具使用习惯养成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683000" y="3365500"/>
            <a:ext cx="381000" cy="381000"/>
          </a:xfrm>
          <a:prstGeom prst="roundRect">
            <a:avLst>
              <a:gd name="adj" fmla="val 0"/>
            </a:avLst>
          </a:prstGeom>
          <a:solidFill>
            <a:srgbClr val="EC4899">
              <a:alpha val="100000"/>
            </a:srgbClr>
          </a:solidFill>
          <a:ln w="38100" cmpd="sng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683000" y="3429000"/>
            <a:ext cx="381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429000" y="3937000"/>
            <a:ext cx="2286000" cy="1397000"/>
          </a:xfrm>
          <a:prstGeom prst="roundRect">
            <a:avLst>
              <a:gd name="adj" fmla="val 0"/>
            </a:avLst>
          </a:prstGeom>
          <a:solidFill>
            <a:srgbClr val="EC4899">
              <a:alpha val="8000"/>
            </a:srgbClr>
          </a:solidFill>
          <a:ln w="12700" cmpd="sng" cap="flat">
            <a:solidFill>
              <a:srgbClr val="EC4899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556000" y="4064000"/>
            <a:ext cx="203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大三大四 · 参赛实战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556000" y="4445000"/>
            <a:ext cx="203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数模竞赛积累实战经验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三手+AI协作模式打磨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文档沉淀形成个人知识库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3365500"/>
            <a:ext cx="381000" cy="381000"/>
          </a:xfrm>
          <a:prstGeom prst="roundRect">
            <a:avLst>
              <a:gd name="adj" fmla="val 0"/>
            </a:avLst>
          </a:prstGeom>
          <a:solidFill>
            <a:srgbClr val="FB923C">
              <a:alpha val="100000"/>
            </a:srgbClr>
          </a:solidFill>
          <a:ln w="38100" cmpd="sng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50000" y="3429000"/>
            <a:ext cx="381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096000" y="1778000"/>
            <a:ext cx="2286000" cy="1397000"/>
          </a:xfrm>
          <a:prstGeom prst="roundRect">
            <a:avLst>
              <a:gd name="adj" fmla="val 0"/>
            </a:avLst>
          </a:prstGeom>
          <a:solidFill>
            <a:srgbClr val="FB923C">
              <a:alpha val="8000"/>
            </a:srgbClr>
          </a:solidFill>
          <a:ln w="12700" cmpd="sng" cap="flat">
            <a:solidFill>
              <a:srgbClr val="FB923C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23000" y="1905000"/>
            <a:ext cx="203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B923C"/>
                </a:solidFill>
                <a:latin typeface="Noto Sans SC"/>
                <a:ea typeface="Noto Sans SC"/>
                <a:cs typeface="Noto Sans SC"/>
                <a:sym typeface="Noto Sans SC"/>
              </a:rPr>
              <a:t>实习阶段 · 业务理解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23000" y="2286000"/>
            <a:ext cx="203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接触真实脏乱数据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理解业务场景与KPI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学会把模型转化为业务价值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017000" y="3365500"/>
            <a:ext cx="381000" cy="381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38100" cmpd="sng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017000" y="3429000"/>
            <a:ext cx="381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763000" y="3937000"/>
            <a:ext cx="22860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890000" y="4064000"/>
            <a:ext cx="203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职场新人 · 持续迭代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890000" y="4445000"/>
            <a:ext cx="203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深耕特定领域成为专家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建设个人工具链提升效率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知识管理形成长期复利</a:t>
            </a:r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35000" y="5715000"/>
            <a:ext cx="10922000" cy="6985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4F46E5">
                  <a:alpha val="8000"/>
                </a:srgbClr>
              </a:gs>
              <a:gs pos="50000">
                <a:srgbClr val="EC4899">
                  <a:alpha val="8000"/>
                </a:srgbClr>
              </a:gs>
              <a:gs pos="100000">
                <a:srgbClr val="10B981">
                  <a:alpha val="8000"/>
                </a:srgbClr>
              </a:gs>
            </a:gsLst>
            <a:lin ang="0"/>
          </a:gradFill>
          <a:ln w="12700" cmpd="sng" cap="flat">
            <a:solidFill>
              <a:srgbClr val="4F46E5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89000" y="5867400"/>
            <a:ext cx="1041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关键认知：AI不会取代数学建模人，但会用AI的数学建模人会取代不会用的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508000"/>
            <a:ext cx="381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06 · TOOL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35000" y="825500"/>
            <a:ext cx="1079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工具沉淀：MathModelAgent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35000" y="13335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把华数杯的三手+AI协作经验，沉淀成可复用的数学建模智能体工具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97" flipH="false" flipV="false">
            <a:off x="635004" y="17081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635000" y="1968500"/>
            <a:ext cx="1524000" cy="1524000"/>
          </a:xfrm>
          <a:prstGeom prst="roundRect">
            <a:avLst>
              <a:gd name="adj" fmla="val 6666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2349500" y="2095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MathModelAgent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349500" y="2540000"/>
            <a:ext cx="355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基于华数杯真实参赛经验开发的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数学建模AI协作平台，内置建模手、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编程手、论文手三智能体协作架构。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" y="3746500"/>
            <a:ext cx="5334000" cy="635000"/>
          </a:xfrm>
          <a:prstGeom prst="roundRect">
            <a:avLst>
              <a:gd name="adj" fmla="val 0"/>
            </a:avLst>
          </a:prstGeom>
          <a:solidFill>
            <a:srgbClr val="4F46E5">
              <a:alpha val="8000"/>
            </a:srgbClr>
          </a:solidFill>
          <a:ln w="12700" cmpd="sng" cap="flat">
            <a:solidFill>
              <a:srgbClr val="4F46E5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25500" y="38735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核心功能：赛题理解 · 模型设计 · 代码生成 · 论文写作 · 结果验证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" y="4508500"/>
            <a:ext cx="5334000" cy="635000"/>
          </a:xfrm>
          <a:prstGeom prst="roundRect">
            <a:avLst>
              <a:gd name="adj" fmla="val 0"/>
            </a:avLst>
          </a:prstGeom>
          <a:solidFill>
            <a:srgbClr val="EC4899">
              <a:alpha val="8000"/>
            </a:srgbClr>
          </a:solidFill>
          <a:ln w="12700" cmpd="sng" cap="flat">
            <a:solidFill>
              <a:srgbClr val="EC4899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25500" y="46355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三手协作：建模手定方向 · 编程手做实现 · 论文手做表达，闭环验证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" y="5270500"/>
            <a:ext cx="5334000" cy="635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25500" y="53975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适用场景：数模竞赛备赛 · 课程项目 · 科研建模 · 职场数据分析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" y="6032500"/>
            <a:ext cx="5334000" cy="50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4F46E5">
                  <a:alpha val="100000"/>
                </a:srgbClr>
              </a:gs>
              <a:gs pos="100000">
                <a:srgbClr val="EC4899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61341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项目路径：C:\Users\21722\Desktop\MathModelAgent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3"/>
          <a:srcRect l="9052" r="9052" t="0" b="0"/>
          <a:stretch>
            <a:fillRect/>
          </a:stretch>
        </p:blipFill>
        <p:spPr>
          <a:xfrm rot="0" flipH="false" flipV="false">
            <a:off x="6350000" y="1968500"/>
            <a:ext cx="5207000" cy="4572000"/>
          </a:xfrm>
          <a:prstGeom prst="roundRect">
            <a:avLst>
              <a:gd name="adj" fmla="val 2222"/>
            </a:avLst>
          </a:prstGeom>
          <a:noFill/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E1B4B">
                <a:alpha val="100000"/>
              </a:srgbClr>
            </a:gs>
            <a:gs pos="50000">
              <a:srgbClr val="4F46E5">
                <a:alpha val="100000"/>
              </a:srgbClr>
            </a:gs>
            <a:gs pos="100000">
              <a:srgbClr val="EC4899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762000"/>
            <a:ext cx="1092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总结：AI时代，数学建模人的核心竞争力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17188" flipH="false" flipV="false">
            <a:off x="4826016" y="15811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016000" y="2032000"/>
            <a:ext cx="3048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2225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2794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问题定义能力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43000" y="32385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AI可以帮你求解，</a:t>
            </a:r>
            <a:endParaRPr lang="en-US" sz="1100"/>
          </a:p>
          <a:p>
            <a:pPr algn="ctr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但不能帮你定义问题。</a:t>
            </a:r>
          </a:p>
          <a:p>
            <a:pPr algn="ctr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想清楚"要解决什么"比"怎么解"更重要。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572000" y="2032000"/>
            <a:ext cx="3048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5000"/>
            </a:srgbClr>
          </a:solidFill>
          <a:ln w="25400" cmpd="sng" cap="flat">
            <a:solidFill>
              <a:srgbClr val="FFF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72000" y="22225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99000" y="2794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实践验证能力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99000" y="32385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AI给的是参考答案，</a:t>
            </a:r>
            <a:endParaRPr lang="en-US" sz="1100"/>
          </a:p>
          <a:p>
            <a:pPr algn="ctr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不是标准答案。</a:t>
            </a:r>
          </a:p>
          <a:p>
            <a:pPr algn="ctr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独立验证、批判性思维是核心护城河。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2032000"/>
            <a:ext cx="3048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22225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255000" y="2794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知识沉淀能力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55000" y="32385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把一次经验变成可复用资产，</a:t>
            </a:r>
            <a:endParaRPr lang="en-US" sz="1100"/>
          </a:p>
          <a:p>
            <a:pPr algn="ctr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文档、工具、方法论的沉淀</a:t>
            </a:r>
          </a:p>
          <a:p>
            <a:pPr algn="ctr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是长期复利的来源。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2540000" y="4699000"/>
            <a:ext cx="7112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15000"/>
            </a:srgbClr>
          </a:solidFill>
          <a:ln w="12700" cmpd="sng" cap="flat">
            <a:solidFill>
              <a:srgbClr val="FFF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2667000" y="4851400"/>
            <a:ext cx="685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AI不会取代数学建模人，但会用AI的数学建模人会取代不会用的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7188" flipH="false" flipV="false">
            <a:off x="4826016" y="57721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635000" y="5969000"/>
            <a:ext cx="1092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AIGC夏令营08期第三小组 · 分享人：陈康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35000" y="6350000"/>
            <a:ext cx="1092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 · 欢迎交流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