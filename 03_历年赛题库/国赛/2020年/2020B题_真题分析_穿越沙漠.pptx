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7" r:id="rId2"/>
    <p:sldId id="363" r:id="rId3"/>
    <p:sldId id="362" r:id="rId4"/>
    <p:sldId id="375" r:id="rId5"/>
    <p:sldId id="376" r:id="rId6"/>
    <p:sldId id="374" r:id="rId7"/>
    <p:sldId id="364" r:id="rId8"/>
    <p:sldId id="377" r:id="rId9"/>
    <p:sldId id="378" r:id="rId10"/>
    <p:sldId id="379" r:id="rId11"/>
    <p:sldId id="380" r:id="rId12"/>
    <p:sldId id="381" r:id="rId13"/>
    <p:sldId id="386" r:id="rId14"/>
    <p:sldId id="385" r:id="rId15"/>
    <p:sldId id="384" r:id="rId16"/>
    <p:sldId id="383" r:id="rId17"/>
    <p:sldId id="382" r:id="rId18"/>
    <p:sldId id="387" r:id="rId19"/>
    <p:sldId id="388" r:id="rId20"/>
    <p:sldId id="389" r:id="rId21"/>
    <p:sldId id="390" r:id="rId22"/>
    <p:sldId id="391" r:id="rId23"/>
    <p:sldId id="392" r:id="rId24"/>
    <p:sldId id="393" r:id="rId25"/>
    <p:sldId id="394"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62" autoAdjust="0"/>
    <p:restoredTop sz="87868" autoAdjust="0"/>
  </p:normalViewPr>
  <p:slideViewPr>
    <p:cSldViewPr snapToGrid="0">
      <p:cViewPr varScale="1">
        <p:scale>
          <a:sx n="60" d="100"/>
          <a:sy n="60" d="100"/>
        </p:scale>
        <p:origin x="62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7A27F-B6EC-42F2-A8C3-D16E0EB1FF5F}" type="datetimeFigureOut">
              <a:rPr lang="zh-CN" altLang="en-US" smtClean="0"/>
              <a:t>2021/8/26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4A6148-6364-4A7C-952D-77C7493F9B2C}" type="slidenum">
              <a:rPr lang="zh-CN" altLang="en-US" smtClean="0"/>
              <a:t>‹#›</a:t>
            </a:fld>
            <a:endParaRPr lang="zh-CN" altLang="en-US"/>
          </a:p>
        </p:txBody>
      </p:sp>
    </p:spTree>
    <p:extLst>
      <p:ext uri="{BB962C8B-B14F-4D97-AF65-F5344CB8AC3E}">
        <p14:creationId xmlns:p14="http://schemas.microsoft.com/office/powerpoint/2010/main" val="645281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2" name="矩形 1"/>
          <p:cNvSpPr/>
          <p:nvPr userDrawn="1"/>
        </p:nvSpPr>
        <p:spPr>
          <a:xfrm>
            <a:off x="1" y="0"/>
            <a:ext cx="12221633" cy="6858000"/>
          </a:xfrm>
          <a:prstGeom prst="rect">
            <a:avLst/>
          </a:prstGeom>
          <a:gradFill>
            <a:gsLst>
              <a:gs pos="0">
                <a:schemeClr val="bg1">
                  <a:lumMod val="75000"/>
                  <a:alpha val="65000"/>
                </a:schemeClr>
              </a:gs>
              <a:gs pos="70000">
                <a:schemeClr val="accent1">
                  <a:tint val="23500"/>
                  <a:satMod val="16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a:p>
        </p:txBody>
      </p:sp>
      <p:grpSp>
        <p:nvGrpSpPr>
          <p:cNvPr id="4" name="组合 42"/>
          <p:cNvGrpSpPr/>
          <p:nvPr userDrawn="1"/>
        </p:nvGrpSpPr>
        <p:grpSpPr bwMode="auto">
          <a:xfrm>
            <a:off x="1" y="3930651"/>
            <a:ext cx="12221633" cy="2398183"/>
            <a:chOff x="0" y="2947792"/>
            <a:chExt cx="9165974" cy="1798171"/>
          </a:xfrm>
        </p:grpSpPr>
        <p:pic>
          <p:nvPicPr>
            <p:cNvPr id="5" name="图片 2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947792"/>
              <a:ext cx="9165974" cy="1798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71"/>
            <p:cNvGrpSpPr/>
            <p:nvPr/>
          </p:nvGrpSpPr>
          <p:grpSpPr bwMode="auto">
            <a:xfrm>
              <a:off x="0" y="3037839"/>
              <a:ext cx="9165974" cy="1633793"/>
              <a:chOff x="0" y="3037839"/>
              <a:chExt cx="9165974" cy="1633793"/>
            </a:xfrm>
          </p:grpSpPr>
          <p:cxnSp>
            <p:nvCxnSpPr>
              <p:cNvPr id="7" name="直接连接符 6"/>
              <p:cNvCxnSpPr/>
              <p:nvPr/>
            </p:nvCxnSpPr>
            <p:spPr>
              <a:xfrm>
                <a:off x="0" y="303825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0" y="3089043"/>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0" y="3138243"/>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0" y="3206487"/>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3276319"/>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3335042"/>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50168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3560409"/>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3609608"/>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3679440"/>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3412809"/>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3774665"/>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3825452"/>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0" y="3874652"/>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3944484"/>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4012729"/>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4071451"/>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4239683"/>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4298405"/>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4347605"/>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4415849"/>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415080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4495204"/>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455392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60312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671371"/>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grpSp>
      </p:grpSp>
      <p:sp>
        <p:nvSpPr>
          <p:cNvPr id="34" name="日期占位符 3"/>
          <p:cNvSpPr>
            <a:spLocks noGrp="1"/>
          </p:cNvSpPr>
          <p:nvPr>
            <p:ph type="dt" sz="half" idx="10"/>
          </p:nvPr>
        </p:nvSpPr>
        <p:spPr/>
        <p:txBody>
          <a:bodyPr/>
          <a:lstStyle>
            <a:lvl1pPr>
              <a:defRPr/>
            </a:lvl1pPr>
          </a:lstStyle>
          <a:p>
            <a:pPr>
              <a:defRPr/>
            </a:pPr>
            <a:fld id="{E3A21DDB-CFD1-40A4-8A5D-953D079441F0}" type="datetimeFigureOut">
              <a:rPr lang="zh-CN" altLang="en-US"/>
              <a:t>2021/8/26</a:t>
            </a:fld>
            <a:endParaRPr lang="zh-CN" altLang="en-US" dirty="0"/>
          </a:p>
        </p:txBody>
      </p:sp>
      <p:sp>
        <p:nvSpPr>
          <p:cNvPr id="35" name="页脚占位符 4"/>
          <p:cNvSpPr>
            <a:spLocks noGrp="1"/>
          </p:cNvSpPr>
          <p:nvPr>
            <p:ph type="ftr" sz="quarter" idx="11"/>
          </p:nvPr>
        </p:nvSpPr>
        <p:spPr/>
        <p:txBody>
          <a:bodyPr/>
          <a:lstStyle>
            <a:lvl1pPr>
              <a:defRPr/>
            </a:lvl1pPr>
          </a:lstStyle>
          <a:p>
            <a:pPr>
              <a:defRPr/>
            </a:pPr>
            <a:endParaRPr lang="zh-CN" altLang="en-US"/>
          </a:p>
        </p:txBody>
      </p:sp>
      <p:sp>
        <p:nvSpPr>
          <p:cNvPr id="36" name="灯片编号占位符 5"/>
          <p:cNvSpPr>
            <a:spLocks noGrp="1"/>
          </p:cNvSpPr>
          <p:nvPr>
            <p:ph type="sldNum" sz="quarter" idx="12"/>
          </p:nvPr>
        </p:nvSpPr>
        <p:spPr/>
        <p:txBody>
          <a:bodyPr/>
          <a:lstStyle>
            <a:lvl1pPr>
              <a:defRPr smtClean="0"/>
            </a:lvl1pPr>
          </a:lstStyle>
          <a:p>
            <a:pPr>
              <a:defRPr/>
            </a:pPr>
            <a:fld id="{3021B8C2-40E9-4B90-93D9-6148707F0984}" type="slidenum">
              <a:rPr lang="zh-CN" altLang="en-US"/>
              <a:t>‹#›</a:t>
            </a:fld>
            <a:endParaRPr lang="zh-CN" altLang="en-US"/>
          </a:p>
        </p:txBody>
      </p:sp>
    </p:spTree>
    <p:extLst>
      <p:ext uri="{BB962C8B-B14F-4D97-AF65-F5344CB8AC3E}">
        <p14:creationId xmlns:p14="http://schemas.microsoft.com/office/powerpoint/2010/main" val="406254458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87AF3FEC-209F-4D32-BB98-A58190854351}" type="datetimeFigureOut">
              <a:rPr lang="zh-CN" altLang="en-US"/>
              <a:t>2021/8/26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5B7E9AB-6569-4ABE-A4DA-1150FA13EF20}" type="slidenum">
              <a:rPr lang="zh-CN" altLang="en-US"/>
              <a:t>‹#›</a:t>
            </a:fld>
            <a:endParaRPr lang="zh-CN" altLang="en-US"/>
          </a:p>
        </p:txBody>
      </p:sp>
    </p:spTree>
    <p:extLst>
      <p:ext uri="{BB962C8B-B14F-4D97-AF65-F5344CB8AC3E}">
        <p14:creationId xmlns:p14="http://schemas.microsoft.com/office/powerpoint/2010/main" val="386233172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5333"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574BAF68-68CE-44BC-A411-F1BF56B2FC6F}" type="datetimeFigureOut">
              <a:rPr lang="zh-CN" altLang="en-US"/>
              <a:t>2021/8/26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E005377-AF46-4B32-94FD-AED71688A57F}" type="slidenum">
              <a:rPr lang="zh-CN" altLang="en-US"/>
              <a:t>‹#›</a:t>
            </a:fld>
            <a:endParaRPr lang="zh-CN" altLang="en-US"/>
          </a:p>
        </p:txBody>
      </p:sp>
    </p:spTree>
    <p:extLst>
      <p:ext uri="{BB962C8B-B14F-4D97-AF65-F5344CB8AC3E}">
        <p14:creationId xmlns:p14="http://schemas.microsoft.com/office/powerpoint/2010/main" val="45759507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00151"/>
            <a:ext cx="5384800" cy="3394075"/>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200151"/>
            <a:ext cx="5384800" cy="3394075"/>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CE28404B-ACBC-4B63-A0B6-D14EF5182A1A}" type="datetimeFigureOut">
              <a:rPr lang="zh-CN" altLang="en-US"/>
              <a:t>2021/8/26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2A46E8C-6455-450A-912A-6D544515CE48}" type="slidenum">
              <a:rPr lang="zh-CN" altLang="en-US"/>
              <a:t>‹#›</a:t>
            </a:fld>
            <a:endParaRPr lang="zh-CN" altLang="en-US"/>
          </a:p>
        </p:txBody>
      </p:sp>
    </p:spTree>
    <p:extLst>
      <p:ext uri="{BB962C8B-B14F-4D97-AF65-F5344CB8AC3E}">
        <p14:creationId xmlns:p14="http://schemas.microsoft.com/office/powerpoint/2010/main" val="241237384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3"/>
          </a:xfrm>
          <a:prstGeom prst="rect">
            <a:avLst/>
          </a:prstGeo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3"/>
            <a:ext cx="5389033" cy="639763"/>
          </a:xfrm>
          <a:prstGeom prst="rect">
            <a:avLst/>
          </a:prstGeo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FF87D74A-39A6-4F28-A4DA-920C0873560E}" type="datetimeFigureOut">
              <a:rPr lang="zh-CN" altLang="en-US"/>
              <a:t>2021/8/26</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1B590F53-B542-4032-A7D9-49E6397BD487}" type="slidenum">
              <a:rPr lang="zh-CN" altLang="en-US"/>
              <a:t>‹#›</a:t>
            </a:fld>
            <a:endParaRPr lang="zh-CN" altLang="en-US"/>
          </a:p>
        </p:txBody>
      </p:sp>
    </p:spTree>
    <p:extLst>
      <p:ext uri="{BB962C8B-B14F-4D97-AF65-F5344CB8AC3E}">
        <p14:creationId xmlns:p14="http://schemas.microsoft.com/office/powerpoint/2010/main" val="3087185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36A95C91-D52C-4DF1-B7BA-E38D68212925}" type="datetimeFigureOut">
              <a:rPr lang="zh-CN" altLang="en-US"/>
              <a:t>2021/8/26</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E87624EE-1C56-47F8-8B3F-3763E1EF16B1}" type="slidenum">
              <a:rPr lang="zh-CN" altLang="en-US"/>
              <a:t>‹#›</a:t>
            </a:fld>
            <a:endParaRPr lang="zh-CN" altLang="en-US"/>
          </a:p>
        </p:txBody>
      </p:sp>
    </p:spTree>
    <p:extLst>
      <p:ext uri="{BB962C8B-B14F-4D97-AF65-F5344CB8AC3E}">
        <p14:creationId xmlns:p14="http://schemas.microsoft.com/office/powerpoint/2010/main" val="13673626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9978B83-6FBA-48EC-9DE3-CF4AA6C1A618}" type="datetimeFigureOut">
              <a:rPr lang="zh-CN" altLang="en-US"/>
              <a:t>2021/8/26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Tree>
    <p:extLst>
      <p:ext uri="{BB962C8B-B14F-4D97-AF65-F5344CB8AC3E}">
        <p14:creationId xmlns:p14="http://schemas.microsoft.com/office/powerpoint/2010/main" val="36122102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49"/>
            <a:ext cx="4011084" cy="1162051"/>
          </a:xfrm>
          <a:prstGeom prst="rect">
            <a:avLst/>
          </a:prstGeom>
        </p:spPr>
        <p:txBody>
          <a:bodyPr anchor="b"/>
          <a:lstStyle>
            <a:lvl1pPr algn="l">
              <a:defRPr sz="2667"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2"/>
            <a:ext cx="6815667"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2"/>
            <a:ext cx="4011084" cy="4691063"/>
          </a:xfrm>
          <a:prstGeom prst="rect">
            <a:avLst/>
          </a:prstGeo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29559F6-08C3-4FDC-8906-186D692369A4}" type="datetimeFigureOut">
              <a:rPr lang="zh-CN" altLang="en-US"/>
              <a:t>2021/8/26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9CA0301-42D8-461C-A83F-2888C6573192}" type="slidenum">
              <a:rPr lang="zh-CN" altLang="en-US"/>
              <a:t>‹#›</a:t>
            </a:fld>
            <a:endParaRPr lang="zh-CN" altLang="en-US"/>
          </a:p>
        </p:txBody>
      </p:sp>
    </p:spTree>
    <p:extLst>
      <p:ext uri="{BB962C8B-B14F-4D97-AF65-F5344CB8AC3E}">
        <p14:creationId xmlns:p14="http://schemas.microsoft.com/office/powerpoint/2010/main" val="115225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9"/>
          </a:xfrm>
          <a:prstGeom prst="rect">
            <a:avLst/>
          </a:prstGeom>
        </p:spPr>
        <p:txBody>
          <a:bodyPr anchor="b"/>
          <a:lstStyle>
            <a:lvl1pPr algn="l">
              <a:defRPr sz="2667"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3"/>
          </a:xfrm>
          <a:prstGeom prst="rect">
            <a:avLst/>
          </a:prstGeo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CF53896-4949-43E6-A754-739A6734BE8F}" type="datetimeFigureOut">
              <a:rPr lang="zh-CN" altLang="en-US"/>
              <a:t>2021/8/26</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7C09FD4-FA4A-495D-9B72-569816873075}" type="slidenum">
              <a:rPr lang="zh-CN" altLang="en-US"/>
              <a:t>‹#›</a:t>
            </a:fld>
            <a:endParaRPr lang="zh-CN" altLang="en-US"/>
          </a:p>
        </p:txBody>
      </p:sp>
    </p:spTree>
    <p:extLst>
      <p:ext uri="{BB962C8B-B14F-4D97-AF65-F5344CB8AC3E}">
        <p14:creationId xmlns:p14="http://schemas.microsoft.com/office/powerpoint/2010/main" val="114047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C39B39B7-503B-4F9B-9622-415B49ED60CB}" type="datetimeFigureOut">
              <a:rPr lang="zh-CN" altLang="en-US"/>
              <a:t>2021/8/26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781A79D-C696-4174-98C4-760B2B0501AF}" type="slidenum">
              <a:rPr lang="zh-CN" altLang="en-US"/>
              <a:t>‹#›</a:t>
            </a:fld>
            <a:endParaRPr lang="zh-CN" altLang="en-US"/>
          </a:p>
        </p:txBody>
      </p:sp>
    </p:spTree>
    <p:extLst>
      <p:ext uri="{BB962C8B-B14F-4D97-AF65-F5344CB8AC3E}">
        <p14:creationId xmlns:p14="http://schemas.microsoft.com/office/powerpoint/2010/main" val="3829379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06375"/>
            <a:ext cx="2743200" cy="4387851"/>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06375"/>
            <a:ext cx="8026400" cy="438785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BCCA908-8C38-415E-BE45-4E8FCBBFBEFC}" type="datetimeFigureOut">
              <a:rPr lang="zh-CN" altLang="en-US"/>
              <a:t>2021/8/26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F94A805-90B1-4F21-9D58-7D7239171481}" type="slidenum">
              <a:rPr lang="zh-CN" altLang="en-US"/>
              <a:t>‹#›</a:t>
            </a:fld>
            <a:endParaRPr lang="zh-CN" altLang="en-US"/>
          </a:p>
        </p:txBody>
      </p:sp>
    </p:spTree>
    <p:extLst>
      <p:ext uri="{BB962C8B-B14F-4D97-AF65-F5344CB8AC3E}">
        <p14:creationId xmlns:p14="http://schemas.microsoft.com/office/powerpoint/2010/main" val="360394420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1" y="1122364"/>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1" y="3602039"/>
            <a:ext cx="9144000" cy="1655763"/>
          </a:xfrm>
        </p:spPr>
        <p:txBody>
          <a:bodyPr/>
          <a:lstStyle>
            <a:lvl1pPr marL="0" indent="0" algn="ctr">
              <a:buNone/>
              <a:defRPr sz="2400"/>
            </a:lvl1pPr>
            <a:lvl2pPr marL="457189" indent="0" algn="ctr">
              <a:buNone/>
              <a:defRPr sz="2000"/>
            </a:lvl2pPr>
            <a:lvl3pPr marL="913530" indent="0" algn="ctr">
              <a:buNone/>
              <a:defRPr sz="1800"/>
            </a:lvl3pPr>
            <a:lvl4pPr marL="1370719" indent="0" algn="ctr">
              <a:buNone/>
              <a:defRPr sz="1600"/>
            </a:lvl4pPr>
            <a:lvl5pPr marL="1827908" indent="0" algn="ctr">
              <a:buNone/>
              <a:defRPr sz="1600"/>
            </a:lvl5pPr>
            <a:lvl6pPr marL="2285096" indent="0" algn="ctr">
              <a:buNone/>
              <a:defRPr sz="1600"/>
            </a:lvl6pPr>
            <a:lvl7pPr marL="2741438" indent="0" algn="ctr">
              <a:buNone/>
              <a:defRPr sz="1600"/>
            </a:lvl7pPr>
            <a:lvl8pPr marL="3198627" indent="0" algn="ctr">
              <a:buNone/>
              <a:defRPr sz="1600"/>
            </a:lvl8pPr>
            <a:lvl9pPr marL="3655815"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lvl1pPr>
              <a:defRPr smtClean="0"/>
            </a:lvl1pPr>
          </a:lstStyle>
          <a:p>
            <a:pPr>
              <a:defRPr/>
            </a:pPr>
            <a:fld id="{116F3B57-474B-4C73-8CB7-7AD3184FD4BD}" type="datetimeFigureOut">
              <a:rPr lang="zh-CN" altLang="en-US"/>
              <a:t>2021/8/26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33667D1-8E2E-4D0A-B620-2ED6793D9948}" type="slidenum">
              <a:rPr lang="zh-CN" altLang="en-US"/>
              <a:t>‹#›</a:t>
            </a:fld>
            <a:endParaRPr lang="zh-CN" altLang="en-US"/>
          </a:p>
        </p:txBody>
      </p:sp>
    </p:spTree>
    <p:extLst>
      <p:ext uri="{BB962C8B-B14F-4D97-AF65-F5344CB8AC3E}">
        <p14:creationId xmlns:p14="http://schemas.microsoft.com/office/powerpoint/2010/main" val="80760902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6183"/>
          </a:xfrm>
          <a:prstGeom prst="rect">
            <a:avLst/>
          </a:prstGeom>
        </p:spPr>
        <p:txBody>
          <a:bodyPr vert="horz" lIns="91440" tIns="45720" rIns="91440" bIns="45720" rtlCol="0" anchor="ctr"/>
          <a:lstStyle>
            <a:lvl1pPr algn="l" eaLnBrk="1" fontAlgn="auto" hangingPunct="1">
              <a:spcBef>
                <a:spcPts val="0"/>
              </a:spcBef>
              <a:spcAft>
                <a:spcPts val="0"/>
              </a:spcAft>
              <a:defRPr sz="1600">
                <a:solidFill>
                  <a:schemeClr val="tx1">
                    <a:tint val="75000"/>
                  </a:schemeClr>
                </a:solidFill>
                <a:latin typeface="+mn-lt"/>
                <a:ea typeface="+mn-ea"/>
              </a:defRPr>
            </a:lvl1pPr>
          </a:lstStyle>
          <a:p>
            <a:pPr>
              <a:defRPr/>
            </a:pPr>
            <a:fld id="{40B9FD7E-51D1-436F-AE1A-1A3CD2B1630F}" type="datetimeFigureOut">
              <a:rPr lang="zh-CN" altLang="en-US"/>
              <a:t>2021/8/26</a:t>
            </a:fld>
            <a:endParaRPr lang="zh-CN" altLang="en-US"/>
          </a:p>
        </p:txBody>
      </p:sp>
      <p:sp>
        <p:nvSpPr>
          <p:cNvPr id="5" name="页脚占位符 4"/>
          <p:cNvSpPr>
            <a:spLocks noGrp="1"/>
          </p:cNvSpPr>
          <p:nvPr>
            <p:ph type="ftr" sz="quarter" idx="3"/>
          </p:nvPr>
        </p:nvSpPr>
        <p:spPr>
          <a:xfrm>
            <a:off x="4165600" y="6356351"/>
            <a:ext cx="3860800" cy="366183"/>
          </a:xfrm>
          <a:prstGeom prst="rect">
            <a:avLst/>
          </a:prstGeom>
        </p:spPr>
        <p:txBody>
          <a:bodyPr vert="horz" lIns="91440" tIns="45720" rIns="91440" bIns="45720" rtlCol="0" anchor="ctr"/>
          <a:lstStyle>
            <a:lvl1pPr algn="ctr" eaLnBrk="1" fontAlgn="auto" hangingPunct="1">
              <a:spcBef>
                <a:spcPts val="0"/>
              </a:spcBef>
              <a:spcAft>
                <a:spcPts val="0"/>
              </a:spcAft>
              <a:defRPr sz="16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6183"/>
          </a:xfrm>
          <a:prstGeom prst="rect">
            <a:avLst/>
          </a:prstGeom>
        </p:spPr>
        <p:txBody>
          <a:bodyPr vert="horz" wrap="square" lIns="91440" tIns="45720" rIns="91440" bIns="45720" numCol="1" anchor="ctr" anchorCtr="0" compatLnSpc="1"/>
          <a:lstStyle>
            <a:lvl1pPr algn="r" eaLnBrk="1" hangingPunct="1">
              <a:defRPr sz="1600" smtClean="0">
                <a:solidFill>
                  <a:srgbClr val="898989"/>
                </a:solidFill>
              </a:defRPr>
            </a:lvl1pPr>
          </a:lstStyle>
          <a:p>
            <a:pPr>
              <a:defRPr/>
            </a:pPr>
            <a:fld id="{D2DE03B2-9DD6-464D-8E5E-2745E8A2595D}" type="slidenum">
              <a:rPr lang="zh-CN" altLang="en-US"/>
              <a:t>‹#›</a:t>
            </a:fld>
            <a:endParaRPr lang="zh-CN" altLang="en-US"/>
          </a:p>
        </p:txBody>
      </p:sp>
      <p:grpSp>
        <p:nvGrpSpPr>
          <p:cNvPr id="1030" name="组合 8"/>
          <p:cNvGrpSpPr/>
          <p:nvPr userDrawn="1"/>
        </p:nvGrpSpPr>
        <p:grpSpPr bwMode="auto">
          <a:xfrm>
            <a:off x="1" y="6341534"/>
            <a:ext cx="12221633" cy="867833"/>
            <a:chOff x="0" y="2947792"/>
            <a:chExt cx="9165974" cy="1798171"/>
          </a:xfrm>
        </p:grpSpPr>
        <p:pic>
          <p:nvPicPr>
            <p:cNvPr id="1037" name="图片 9"/>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2947792"/>
              <a:ext cx="9165974" cy="1798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8" name="组合 10"/>
            <p:cNvGrpSpPr/>
            <p:nvPr/>
          </p:nvGrpSpPr>
          <p:grpSpPr bwMode="auto">
            <a:xfrm>
              <a:off x="0" y="3037839"/>
              <a:ext cx="9165974" cy="1633793"/>
              <a:chOff x="0" y="3037839"/>
              <a:chExt cx="9165974" cy="1633793"/>
            </a:xfrm>
          </p:grpSpPr>
          <p:cxnSp>
            <p:nvCxnSpPr>
              <p:cNvPr id="12" name="直接连接符 11"/>
              <p:cNvCxnSpPr/>
              <p:nvPr/>
            </p:nvCxnSpPr>
            <p:spPr>
              <a:xfrm>
                <a:off x="0" y="3039894"/>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092524"/>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314076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3206554"/>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0" y="3276727"/>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0" y="3338128"/>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0" y="3504787"/>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0" y="3561801"/>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0" y="361004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3680219"/>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3412685"/>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377670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0" y="3824948"/>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0" y="3877577"/>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0" y="394336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4013538"/>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4070552"/>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4237212"/>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4298613"/>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0" y="4346858"/>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0" y="4417030"/>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0" y="4149496"/>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0" y="4495974"/>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0" y="4552988"/>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0" y="4601233"/>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0" y="4671405"/>
                <a:ext cx="9165974" cy="0"/>
              </a:xfrm>
              <a:prstGeom prst="line">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33" name="组合 83"/>
          <p:cNvGrpSpPr/>
          <p:nvPr userDrawn="1"/>
        </p:nvGrpSpPr>
        <p:grpSpPr bwMode="auto">
          <a:xfrm>
            <a:off x="91018" y="309033"/>
            <a:ext cx="880533" cy="431800"/>
            <a:chOff x="81237" y="87474"/>
            <a:chExt cx="660208" cy="324036"/>
          </a:xfrm>
        </p:grpSpPr>
        <p:sp>
          <p:nvSpPr>
            <p:cNvPr id="82" name="五边形 81"/>
            <p:cNvSpPr/>
            <p:nvPr userDrawn="1"/>
          </p:nvSpPr>
          <p:spPr>
            <a:xfrm>
              <a:off x="81237" y="87474"/>
              <a:ext cx="385650" cy="324036"/>
            </a:xfrm>
            <a:prstGeom prst="homePlate">
              <a:avLst/>
            </a:prstGeom>
            <a:solidFill>
              <a:srgbClr val="23D9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a:p>
          </p:txBody>
        </p:sp>
        <p:sp>
          <p:nvSpPr>
            <p:cNvPr id="83" name="燕尾形 82"/>
            <p:cNvSpPr/>
            <p:nvPr userDrawn="1"/>
          </p:nvSpPr>
          <p:spPr>
            <a:xfrm>
              <a:off x="417689" y="87474"/>
              <a:ext cx="323756" cy="324036"/>
            </a:xfrm>
            <a:prstGeom prst="chevron">
              <a:avLst/>
            </a:prstGeom>
            <a:solidFill>
              <a:srgbClr val="23D9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a:p>
          </p:txBody>
        </p:sp>
      </p:grpSp>
      <p:cxnSp>
        <p:nvCxnSpPr>
          <p:cNvPr id="86" name="直接连接符 85"/>
          <p:cNvCxnSpPr/>
          <p:nvPr userDrawn="1"/>
        </p:nvCxnSpPr>
        <p:spPr>
          <a:xfrm>
            <a:off x="548218" y="740833"/>
            <a:ext cx="11095567" cy="0"/>
          </a:xfrm>
          <a:prstGeom prst="line">
            <a:avLst/>
          </a:prstGeom>
          <a:ln>
            <a:solidFill>
              <a:srgbClr val="23D9F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71837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867">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867">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867">
          <a:solidFill>
            <a:schemeClr val="tx1"/>
          </a:solidFill>
          <a:latin typeface="Calibri" panose="020F0502020204030204" pitchFamily="34" charset="0"/>
          <a:ea typeface="宋体" panose="02010600030101010101" pitchFamily="2" charset="-122"/>
        </a:defRPr>
      </a:lvl5pPr>
      <a:lvl6pPr marL="609585" algn="ctr" rtl="0" fontAlgn="base">
        <a:spcBef>
          <a:spcPct val="0"/>
        </a:spcBef>
        <a:spcAft>
          <a:spcPct val="0"/>
        </a:spcAft>
        <a:defRPr sz="5867">
          <a:solidFill>
            <a:schemeClr val="tx1"/>
          </a:solidFill>
          <a:latin typeface="Calibri" panose="020F0502020204030204" pitchFamily="34" charset="0"/>
          <a:ea typeface="宋体" panose="02010600030101010101" pitchFamily="2" charset="-122"/>
        </a:defRPr>
      </a:lvl6pPr>
      <a:lvl7pPr marL="1219170" algn="ctr" rtl="0" fontAlgn="base">
        <a:spcBef>
          <a:spcPct val="0"/>
        </a:spcBef>
        <a:spcAft>
          <a:spcPct val="0"/>
        </a:spcAft>
        <a:defRPr sz="5867">
          <a:solidFill>
            <a:schemeClr val="tx1"/>
          </a:solidFill>
          <a:latin typeface="Calibri" panose="020F0502020204030204" pitchFamily="34" charset="0"/>
          <a:ea typeface="宋体" panose="02010600030101010101" pitchFamily="2" charset="-122"/>
        </a:defRPr>
      </a:lvl7pPr>
      <a:lvl8pPr marL="1828754" algn="ctr" rtl="0" fontAlgn="base">
        <a:spcBef>
          <a:spcPct val="0"/>
        </a:spcBef>
        <a:spcAft>
          <a:spcPct val="0"/>
        </a:spcAft>
        <a:defRPr sz="5867">
          <a:solidFill>
            <a:schemeClr val="tx1"/>
          </a:solidFill>
          <a:latin typeface="Calibri" panose="020F0502020204030204" pitchFamily="34" charset="0"/>
          <a:ea typeface="宋体" panose="02010600030101010101" pitchFamily="2" charset="-122"/>
        </a:defRPr>
      </a:lvl8pPr>
      <a:lvl9pPr marL="2438339" algn="ctr" rtl="0" fontAlgn="base">
        <a:spcBef>
          <a:spcPct val="0"/>
        </a:spcBef>
        <a:spcAft>
          <a:spcPct val="0"/>
        </a:spcAft>
        <a:defRPr sz="5867">
          <a:solidFill>
            <a:schemeClr val="tx1"/>
          </a:solidFill>
          <a:latin typeface="Calibri" panose="020F0502020204030204" pitchFamily="34" charset="0"/>
          <a:ea typeface="宋体" panose="02010600030101010101" pitchFamily="2"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Box 107"/>
          <p:cNvSpPr txBox="1"/>
          <p:nvPr/>
        </p:nvSpPr>
        <p:spPr>
          <a:xfrm>
            <a:off x="995131" y="1910671"/>
            <a:ext cx="10633587" cy="913007"/>
          </a:xfrm>
          <a:prstGeom prst="rect">
            <a:avLst/>
          </a:prstGeom>
          <a:noFill/>
          <a:effectLst/>
        </p:spPr>
        <p:txBody>
          <a:bodyPr wrap="square">
            <a:spAutoFit/>
            <a:scene3d>
              <a:camera prst="orthographicFront"/>
              <a:lightRig rig="threePt" dir="t"/>
            </a:scene3d>
            <a:sp3d extrusionH="57150">
              <a:bevelT w="38100" h="38100"/>
            </a:sp3d>
          </a:bodyPr>
          <a:lstStyle/>
          <a:p>
            <a:pPr algn="ctr" defTabSz="1219170">
              <a:defRPr/>
            </a:pPr>
            <a:r>
              <a:rPr lang="zh-CN" altLang="en-US" sz="5333" b="1" dirty="0" smtClean="0">
                <a:solidFill>
                  <a:srgbClr val="FF0000"/>
                </a:solidFill>
                <a:latin typeface="微软雅黑" panose="020B0503020204020204" pitchFamily="34" charset="-122"/>
                <a:ea typeface="微软雅黑" panose="020B0503020204020204" pitchFamily="34" charset="-122"/>
              </a:rPr>
              <a:t>穿越</a:t>
            </a:r>
            <a:r>
              <a:rPr lang="zh-CN" altLang="en-US" sz="5333" b="1" dirty="0" smtClean="0">
                <a:solidFill>
                  <a:srgbClr val="FF0000"/>
                </a:solidFill>
                <a:latin typeface="微软雅黑" panose="020B0503020204020204" pitchFamily="34" charset="-122"/>
                <a:ea typeface="微软雅黑" panose="020B0503020204020204" pitchFamily="34" charset="-122"/>
              </a:rPr>
              <a:t>沙漠</a:t>
            </a:r>
            <a:r>
              <a:rPr lang="zh-CN" altLang="en-US" sz="5333" b="1" dirty="0" smtClean="0">
                <a:solidFill>
                  <a:srgbClr val="FF0000"/>
                </a:solidFill>
                <a:latin typeface="微软雅黑" panose="020B0503020204020204" pitchFamily="34" charset="-122"/>
                <a:ea typeface="微软雅黑" panose="020B0503020204020204" pitchFamily="34" charset="-122"/>
              </a:rPr>
              <a:t>游戏策略</a:t>
            </a:r>
            <a:endParaRPr lang="zh-CN" altLang="en-US" sz="5333"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176279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88142" y="324464"/>
            <a:ext cx="1622323"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参考资源</a:t>
            </a:r>
            <a:endParaRPr lang="zh-CN" altLang="en-US" sz="2400" b="1" dirty="0">
              <a:latin typeface="微软雅黑" panose="020B0503020204020204" pitchFamily="34" charset="-122"/>
              <a:ea typeface="微软雅黑" panose="020B0503020204020204" pitchFamily="34" charset="-122"/>
            </a:endParaRPr>
          </a:p>
        </p:txBody>
      </p:sp>
      <p:sp>
        <p:nvSpPr>
          <p:cNvPr id="5" name="矩形 4"/>
          <p:cNvSpPr/>
          <p:nvPr/>
        </p:nvSpPr>
        <p:spPr>
          <a:xfrm>
            <a:off x="718318" y="1214763"/>
            <a:ext cx="11318784" cy="3970318"/>
          </a:xfrm>
          <a:prstGeom prst="rect">
            <a:avLst/>
          </a:prstGeom>
        </p:spPr>
        <p:txBody>
          <a:bodyPr wrap="square">
            <a:spAutoFit/>
          </a:bodyPr>
          <a:lstStyle/>
          <a:p>
            <a:pPr>
              <a:lnSpc>
                <a:spcPct val="200000"/>
              </a:lnSpc>
            </a:pPr>
            <a:r>
              <a:rPr lang="en-US" altLang="zh-CN" b="1" dirty="0"/>
              <a:t>[1] </a:t>
            </a:r>
            <a:r>
              <a:rPr lang="en-US" altLang="zh-CN" b="1" dirty="0" smtClean="0"/>
              <a:t>2020</a:t>
            </a:r>
            <a:r>
              <a:rPr lang="zh-CN" altLang="en-US" b="1" dirty="0" smtClean="0"/>
              <a:t>年高教社杯全国大学生数学建模竞赛题目</a:t>
            </a:r>
            <a:r>
              <a:rPr lang="en-US" altLang="zh-CN" b="1" dirty="0" smtClean="0"/>
              <a:t>B</a:t>
            </a:r>
            <a:r>
              <a:rPr lang="zh-CN" altLang="en-US" b="1" dirty="0" smtClean="0"/>
              <a:t>题，穿越沙漠</a:t>
            </a:r>
            <a:r>
              <a:rPr lang="en-US" altLang="zh-CN" b="1" dirty="0" smtClean="0"/>
              <a:t>.</a:t>
            </a:r>
            <a:endParaRPr lang="en-US" altLang="zh-CN" b="1" dirty="0"/>
          </a:p>
          <a:p>
            <a:pPr>
              <a:lnSpc>
                <a:spcPct val="200000"/>
              </a:lnSpc>
            </a:pPr>
            <a:r>
              <a:rPr lang="en-US" altLang="zh-CN" b="1" dirty="0" smtClean="0"/>
              <a:t>[</a:t>
            </a:r>
            <a:r>
              <a:rPr lang="en-US" altLang="zh-CN" b="1" dirty="0"/>
              <a:t>2] </a:t>
            </a:r>
            <a:r>
              <a:rPr lang="zh-CN" altLang="en-US" b="1" dirty="0" smtClean="0"/>
              <a:t>谈之奕</a:t>
            </a:r>
            <a:r>
              <a:rPr lang="en-US" altLang="zh-CN" b="1" dirty="0" smtClean="0"/>
              <a:t>.</a:t>
            </a:r>
            <a:r>
              <a:rPr lang="zh-CN" altLang="en-US" b="1" dirty="0" smtClean="0"/>
              <a:t>“穿越沙漠”赛题评述</a:t>
            </a:r>
            <a:r>
              <a:rPr lang="en-US" altLang="zh-CN" b="1" dirty="0" smtClean="0"/>
              <a:t>[J].</a:t>
            </a:r>
            <a:r>
              <a:rPr lang="zh-CN" altLang="en-US" b="1" dirty="0" smtClean="0"/>
              <a:t>数学建模及其应用，</a:t>
            </a:r>
            <a:r>
              <a:rPr lang="en-US" altLang="zh-CN" b="1" dirty="0" smtClean="0"/>
              <a:t>2021,10</a:t>
            </a:r>
            <a:r>
              <a:rPr lang="zh-CN" altLang="en-US" b="1" dirty="0" smtClean="0"/>
              <a:t>（</a:t>
            </a:r>
            <a:r>
              <a:rPr lang="en-US" altLang="zh-CN" b="1" dirty="0" smtClean="0"/>
              <a:t>1</a:t>
            </a:r>
            <a:r>
              <a:rPr lang="zh-CN" altLang="en-US" b="1" dirty="0" smtClean="0"/>
              <a:t>）</a:t>
            </a:r>
            <a:r>
              <a:rPr lang="en-US" altLang="zh-CN" b="1" dirty="0" smtClean="0"/>
              <a:t>:73-79</a:t>
            </a:r>
            <a:r>
              <a:rPr lang="en-US" altLang="zh-CN" b="1" dirty="0" smtClean="0"/>
              <a:t>.</a:t>
            </a:r>
          </a:p>
          <a:p>
            <a:pPr>
              <a:lnSpc>
                <a:spcPct val="200000"/>
              </a:lnSpc>
            </a:pPr>
            <a:r>
              <a:rPr lang="en-US" altLang="zh-CN" b="1" dirty="0" smtClean="0"/>
              <a:t>[3] </a:t>
            </a:r>
            <a:r>
              <a:rPr lang="zh-CN" altLang="en-US" b="1" dirty="0" smtClean="0"/>
              <a:t>谈之奕</a:t>
            </a:r>
            <a:r>
              <a:rPr lang="en-US" altLang="zh-CN" b="1" dirty="0" smtClean="0"/>
              <a:t>.2020</a:t>
            </a:r>
            <a:r>
              <a:rPr lang="zh-CN" altLang="en-US" b="1" dirty="0" smtClean="0"/>
              <a:t>年全国大学生数学建模竞赛赛题评讲会</a:t>
            </a:r>
            <a:r>
              <a:rPr lang="en-US" altLang="zh-CN" b="1" dirty="0" smtClean="0"/>
              <a:t>.</a:t>
            </a:r>
            <a:r>
              <a:rPr lang="zh-CN" altLang="en-US" b="1" dirty="0" smtClean="0"/>
              <a:t>湖南长沙，</a:t>
            </a:r>
            <a:r>
              <a:rPr lang="en-US" altLang="zh-CN" b="1" dirty="0" smtClean="0"/>
              <a:t>2020,11.</a:t>
            </a:r>
            <a:endParaRPr lang="en-US" altLang="zh-CN" b="1" dirty="0" smtClean="0"/>
          </a:p>
          <a:p>
            <a:pPr>
              <a:lnSpc>
                <a:spcPct val="200000"/>
              </a:lnSpc>
            </a:pPr>
            <a:r>
              <a:rPr lang="en-US" altLang="zh-CN" b="1" dirty="0" smtClean="0"/>
              <a:t>[4] </a:t>
            </a:r>
            <a:r>
              <a:rPr lang="en-US" altLang="zh-CN" b="1" dirty="0" smtClean="0"/>
              <a:t>B078</a:t>
            </a:r>
            <a:r>
              <a:rPr lang="zh-CN" altLang="en-US" b="1" dirty="0" smtClean="0"/>
              <a:t>组</a:t>
            </a:r>
            <a:r>
              <a:rPr lang="en-US" altLang="zh-CN" b="1" dirty="0" smtClean="0"/>
              <a:t>.</a:t>
            </a:r>
            <a:r>
              <a:rPr lang="zh-CN" altLang="en-US" b="1" dirty="0" smtClean="0"/>
              <a:t> “穿越沙漠”游戏最佳策略模型的研究与构建</a:t>
            </a:r>
            <a:r>
              <a:rPr lang="en-US" altLang="zh-CN" b="1" dirty="0" smtClean="0"/>
              <a:t>.</a:t>
            </a:r>
            <a:r>
              <a:rPr lang="zh-CN" altLang="en-US" b="1" dirty="0"/>
              <a:t>大学生</a:t>
            </a:r>
            <a:r>
              <a:rPr lang="zh-CN" altLang="en-US" b="1" dirty="0" smtClean="0"/>
              <a:t>在线，</a:t>
            </a:r>
            <a:r>
              <a:rPr lang="en-US" altLang="zh-CN" b="1" dirty="0" smtClean="0"/>
              <a:t>2020,12</a:t>
            </a:r>
            <a:endParaRPr lang="en-US" altLang="zh-CN" b="1" dirty="0"/>
          </a:p>
          <a:p>
            <a:pPr>
              <a:lnSpc>
                <a:spcPct val="200000"/>
              </a:lnSpc>
            </a:pPr>
            <a:r>
              <a:rPr lang="en-US" altLang="zh-CN" b="1" dirty="0" smtClean="0"/>
              <a:t>[5] </a:t>
            </a:r>
            <a:r>
              <a:rPr lang="en-US" altLang="zh-CN" b="1" dirty="0" smtClean="0"/>
              <a:t>B108</a:t>
            </a:r>
            <a:r>
              <a:rPr lang="zh-CN" altLang="en-US" b="1" dirty="0" smtClean="0"/>
              <a:t>组</a:t>
            </a:r>
            <a:r>
              <a:rPr lang="en-US" altLang="zh-CN" b="1" dirty="0" smtClean="0"/>
              <a:t>.</a:t>
            </a:r>
            <a:r>
              <a:rPr lang="zh-CN" altLang="en-US" b="1" dirty="0" smtClean="0"/>
              <a:t>基于动态规划、统计分析、静态博弈的穿越沙漠游戏策略涉及</a:t>
            </a:r>
            <a:r>
              <a:rPr lang="en-US" altLang="zh-CN" b="1" dirty="0" smtClean="0"/>
              <a:t>.</a:t>
            </a:r>
            <a:r>
              <a:rPr lang="zh-CN" altLang="en-US" b="1" dirty="0" smtClean="0"/>
              <a:t>大学生在线</a:t>
            </a:r>
            <a:r>
              <a:rPr lang="en-US" altLang="zh-CN" b="1" dirty="0" smtClean="0"/>
              <a:t>,2020,12 </a:t>
            </a:r>
          </a:p>
          <a:p>
            <a:pPr>
              <a:lnSpc>
                <a:spcPct val="200000"/>
              </a:lnSpc>
            </a:pPr>
            <a:r>
              <a:rPr lang="en-US" altLang="zh-CN" b="1" dirty="0" smtClean="0"/>
              <a:t>[</a:t>
            </a:r>
            <a:r>
              <a:rPr lang="en-US" altLang="zh-CN" b="1" dirty="0"/>
              <a:t>6</a:t>
            </a:r>
            <a:r>
              <a:rPr lang="en-US" altLang="zh-CN" b="1" dirty="0" smtClean="0"/>
              <a:t>] </a:t>
            </a:r>
            <a:r>
              <a:rPr lang="en-US" altLang="zh-CN" b="1" dirty="0" smtClean="0"/>
              <a:t>B125</a:t>
            </a:r>
            <a:r>
              <a:rPr lang="zh-CN" altLang="en-US" b="1" dirty="0" smtClean="0"/>
              <a:t>组</a:t>
            </a:r>
            <a:r>
              <a:rPr lang="en-US" altLang="zh-CN" b="1" dirty="0" smtClean="0"/>
              <a:t>.</a:t>
            </a:r>
            <a:r>
              <a:rPr lang="zh-CN" altLang="en-US" b="1" dirty="0" smtClean="0"/>
              <a:t>“穿越沙漠”游戏下玩家的最优策略模型</a:t>
            </a:r>
            <a:r>
              <a:rPr lang="en-US" altLang="zh-CN" b="1" dirty="0" smtClean="0"/>
              <a:t>.</a:t>
            </a:r>
            <a:r>
              <a:rPr lang="zh-CN" altLang="en-US" b="1" dirty="0" smtClean="0"/>
              <a:t>大学生在线，</a:t>
            </a:r>
            <a:r>
              <a:rPr lang="en-US" altLang="zh-CN" b="1" dirty="0" smtClean="0"/>
              <a:t>2020,12</a:t>
            </a:r>
          </a:p>
          <a:p>
            <a:pPr>
              <a:lnSpc>
                <a:spcPct val="200000"/>
              </a:lnSpc>
            </a:pPr>
            <a:endParaRPr lang="zh-CN" altLang="en-US" b="1" dirty="0"/>
          </a:p>
        </p:txBody>
      </p:sp>
    </p:spTree>
    <p:extLst>
      <p:ext uri="{BB962C8B-B14F-4D97-AF65-F5344CB8AC3E}">
        <p14:creationId xmlns:p14="http://schemas.microsoft.com/office/powerpoint/2010/main" val="42844182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988142" y="279494"/>
            <a:ext cx="3373996"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一、问题描述</a:t>
            </a:r>
            <a:endParaRPr lang="zh-CN" altLang="en-US" sz="2400"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6752" y="741159"/>
            <a:ext cx="4724153" cy="5950615"/>
          </a:xfrm>
          <a:prstGeom prst="rect">
            <a:avLst/>
          </a:prstGeom>
        </p:spPr>
      </p:pic>
      <p:sp>
        <p:nvSpPr>
          <p:cNvPr id="3" name="矩形 2"/>
          <p:cNvSpPr/>
          <p:nvPr/>
        </p:nvSpPr>
        <p:spPr>
          <a:xfrm>
            <a:off x="754464" y="941745"/>
            <a:ext cx="4189981" cy="5015091"/>
          </a:xfrm>
          <a:prstGeom prst="rect">
            <a:avLst/>
          </a:prstGeom>
        </p:spPr>
        <p:txBody>
          <a:bodyPr wrap="square">
            <a:spAutoFit/>
          </a:bodyPr>
          <a:lstStyle/>
          <a:p>
            <a:pPr>
              <a:lnSpc>
                <a:spcPct val="150000"/>
              </a:lnSpc>
            </a:pPr>
            <a:r>
              <a:rPr lang="zh-CN" altLang="zh-CN" sz="2400" kern="100" dirty="0">
                <a:latin typeface="Times New Roman" panose="02020603050405020304" pitchFamily="18" charset="0"/>
                <a:cs typeface="Times New Roman" panose="02020603050405020304" pitchFamily="18" charset="0"/>
              </a:rPr>
              <a:t>考虑如下的小游戏：玩家凭借一张地图，利用初始资金购买一定数量的水和食物（包括食品和其他日常用品），从起点出发，在沙漠中行走。途中会遇到不同的天气，也可在矿山、村庄补充资金或资源，目标是在规定时间内到达终点，并保留尽可能多的资金。</a:t>
            </a:r>
            <a:endParaRPr lang="zh-CN" altLang="en-US" sz="2400" dirty="0"/>
          </a:p>
        </p:txBody>
      </p:sp>
    </p:spTree>
    <p:extLst>
      <p:ext uri="{BB962C8B-B14F-4D97-AF65-F5344CB8AC3E}">
        <p14:creationId xmlns:p14="http://schemas.microsoft.com/office/powerpoint/2010/main" val="635114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150110663"/>
              </p:ext>
            </p:extLst>
          </p:nvPr>
        </p:nvGraphicFramePr>
        <p:xfrm>
          <a:off x="1285909" y="725489"/>
          <a:ext cx="8868744" cy="2515014"/>
        </p:xfrm>
        <a:graphic>
          <a:graphicData uri="http://schemas.openxmlformats.org/drawingml/2006/table">
            <a:tbl>
              <a:tblPr firstRow="1" firstCol="1" lastRow="1" lastCol="1" bandRow="1" bandCol="1"/>
              <a:tblGrid>
                <a:gridCol w="1502097">
                  <a:extLst>
                    <a:ext uri="{9D8B030D-6E8A-4147-A177-3AD203B41FA5}">
                      <a16:colId xmlns:a16="http://schemas.microsoft.com/office/drawing/2014/main" val="2430692890"/>
                    </a:ext>
                  </a:extLst>
                </a:gridCol>
                <a:gridCol w="1310996">
                  <a:extLst>
                    <a:ext uri="{9D8B030D-6E8A-4147-A177-3AD203B41FA5}">
                      <a16:colId xmlns:a16="http://schemas.microsoft.com/office/drawing/2014/main" val="289714550"/>
                    </a:ext>
                  </a:extLst>
                </a:gridCol>
                <a:gridCol w="1836011">
                  <a:extLst>
                    <a:ext uri="{9D8B030D-6E8A-4147-A177-3AD203B41FA5}">
                      <a16:colId xmlns:a16="http://schemas.microsoft.com/office/drawing/2014/main" val="1758571972"/>
                    </a:ext>
                  </a:extLst>
                </a:gridCol>
                <a:gridCol w="1502097">
                  <a:extLst>
                    <a:ext uri="{9D8B030D-6E8A-4147-A177-3AD203B41FA5}">
                      <a16:colId xmlns:a16="http://schemas.microsoft.com/office/drawing/2014/main" val="1809081519"/>
                    </a:ext>
                  </a:extLst>
                </a:gridCol>
                <a:gridCol w="1455863">
                  <a:extLst>
                    <a:ext uri="{9D8B030D-6E8A-4147-A177-3AD203B41FA5}">
                      <a16:colId xmlns:a16="http://schemas.microsoft.com/office/drawing/2014/main" val="4280941530"/>
                    </a:ext>
                  </a:extLst>
                </a:gridCol>
                <a:gridCol w="1261680">
                  <a:extLst>
                    <a:ext uri="{9D8B030D-6E8A-4147-A177-3AD203B41FA5}">
                      <a16:colId xmlns:a16="http://schemas.microsoft.com/office/drawing/2014/main" val="2601310615"/>
                    </a:ext>
                  </a:extLst>
                </a:gridCol>
              </a:tblGrid>
              <a:tr h="419169">
                <a:tc gridSpan="2">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负重上限</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1200</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千克</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初始资金</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10000</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元</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605382996"/>
                  </a:ext>
                </a:extLst>
              </a:tr>
              <a:tr h="419169">
                <a:tc gridSpan="2">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截止日期</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第</a:t>
                      </a: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30</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基础收益</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1000</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元</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94555248"/>
                  </a:ext>
                </a:extLst>
              </a:tr>
              <a:tr h="419169">
                <a:tc rowSpan="2">
                  <a:txBody>
                    <a:bodyPr/>
                    <a:lstStyle/>
                    <a:p>
                      <a:pPr algn="ctr">
                        <a:spcAft>
                          <a:spcPts val="0"/>
                        </a:spcAft>
                      </a:pPr>
                      <a:r>
                        <a:rPr lang="zh-CN" sz="1800" kern="0" dirty="0">
                          <a:effectLst/>
                          <a:latin typeface="Times New Roman" panose="02020603050405020304" pitchFamily="18" charset="0"/>
                          <a:ea typeface="宋体" panose="02010600030101010101" pitchFamily="2" charset="-122"/>
                          <a:cs typeface="Times New Roman" panose="02020603050405020304" pitchFamily="18" charset="0"/>
                        </a:rPr>
                        <a:t>资源</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每箱</a:t>
                      </a:r>
                      <a:r>
                        <a:rPr lang="zh-CN" sz="1800" kern="0">
                          <a:effectLst/>
                          <a:latin typeface="Times New Roman" panose="02020603050405020304" pitchFamily="18" charset="0"/>
                          <a:ea typeface="宋体" panose="02010600030101010101" pitchFamily="2" charset="-122"/>
                          <a:cs typeface="Times New Roman" panose="02020603050405020304" pitchFamily="18" charset="0"/>
                        </a:rPr>
                        <a:t>质量（千克）</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基准价格</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（元</a:t>
                      </a:r>
                      <a:r>
                        <a:rPr lang="en-US" sz="1800" kern="0">
                          <a:effectLst/>
                          <a:latin typeface="Times New Roman" panose="02020603050405020304" pitchFamily="18" charset="0"/>
                          <a:ea typeface="宋体" panose="02010600030101010101" pitchFamily="2" charset="-122"/>
                          <a:cs typeface="Times New Roman" panose="02020603050405020304" pitchFamily="18" charset="0"/>
                        </a:rPr>
                        <a:t>/</a:t>
                      </a:r>
                      <a:r>
                        <a:rPr lang="zh-CN" sz="1800" kern="0">
                          <a:effectLst/>
                          <a:latin typeface="Times New Roman" panose="02020603050405020304" pitchFamily="18" charset="0"/>
                          <a:ea typeface="宋体" panose="02010600030101010101" pitchFamily="2" charset="-122"/>
                          <a:cs typeface="Times New Roman" panose="02020603050405020304" pitchFamily="18" charset="0"/>
                        </a:rPr>
                        <a:t>箱）</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基础消耗量（箱）</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59257854"/>
                  </a:ext>
                </a:extLst>
              </a:tr>
              <a:tr h="41916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沙暴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8334190"/>
                  </a:ext>
                </a:extLst>
              </a:tr>
              <a:tr h="419169">
                <a:tc>
                  <a:txBody>
                    <a:bodyPr/>
                    <a:lstStyle/>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8505559"/>
                  </a:ext>
                </a:extLst>
              </a:tr>
              <a:tr h="419169">
                <a:tc>
                  <a:txBody>
                    <a:bodyPr/>
                    <a:lstStyle/>
                    <a:p>
                      <a:pPr algn="ctr">
                        <a:spcAft>
                          <a:spcPts val="0"/>
                        </a:spcAft>
                      </a:pPr>
                      <a:r>
                        <a:rPr lang="zh-CN" sz="1800" kern="0">
                          <a:effectLst/>
                          <a:latin typeface="Times New Roman" panose="02020603050405020304" pitchFamily="18" charset="0"/>
                          <a:ea typeface="宋体" panose="02010600030101010101" pitchFamily="2" charset="-122"/>
                          <a:cs typeface="Times New Roman" panose="02020603050405020304" pitchFamily="18" charset="0"/>
                        </a:rPr>
                        <a:t>食物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9713784"/>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98836995"/>
              </p:ext>
            </p:extLst>
          </p:nvPr>
        </p:nvGraphicFramePr>
        <p:xfrm>
          <a:off x="1138989" y="3468696"/>
          <a:ext cx="9464843" cy="2867934"/>
        </p:xfrm>
        <a:graphic>
          <a:graphicData uri="http://schemas.openxmlformats.org/drawingml/2006/table">
            <a:tbl>
              <a:tblPr firstRow="1" firstCol="1" bandRow="1"/>
              <a:tblGrid>
                <a:gridCol w="859801">
                  <a:extLst>
                    <a:ext uri="{9D8B030D-6E8A-4147-A177-3AD203B41FA5}">
                      <a16:colId xmlns:a16="http://schemas.microsoft.com/office/drawing/2014/main" val="2802876721"/>
                    </a:ext>
                  </a:extLst>
                </a:gridCol>
                <a:gridCol w="860973">
                  <a:extLst>
                    <a:ext uri="{9D8B030D-6E8A-4147-A177-3AD203B41FA5}">
                      <a16:colId xmlns:a16="http://schemas.microsoft.com/office/drawing/2014/main" val="2687108980"/>
                    </a:ext>
                  </a:extLst>
                </a:gridCol>
                <a:gridCol w="859801">
                  <a:extLst>
                    <a:ext uri="{9D8B030D-6E8A-4147-A177-3AD203B41FA5}">
                      <a16:colId xmlns:a16="http://schemas.microsoft.com/office/drawing/2014/main" val="2100870061"/>
                    </a:ext>
                  </a:extLst>
                </a:gridCol>
                <a:gridCol w="860973">
                  <a:extLst>
                    <a:ext uri="{9D8B030D-6E8A-4147-A177-3AD203B41FA5}">
                      <a16:colId xmlns:a16="http://schemas.microsoft.com/office/drawing/2014/main" val="1204287931"/>
                    </a:ext>
                  </a:extLst>
                </a:gridCol>
                <a:gridCol w="859801">
                  <a:extLst>
                    <a:ext uri="{9D8B030D-6E8A-4147-A177-3AD203B41FA5}">
                      <a16:colId xmlns:a16="http://schemas.microsoft.com/office/drawing/2014/main" val="1101609624"/>
                    </a:ext>
                  </a:extLst>
                </a:gridCol>
                <a:gridCol w="860973">
                  <a:extLst>
                    <a:ext uri="{9D8B030D-6E8A-4147-A177-3AD203B41FA5}">
                      <a16:colId xmlns:a16="http://schemas.microsoft.com/office/drawing/2014/main" val="3812585018"/>
                    </a:ext>
                  </a:extLst>
                </a:gridCol>
                <a:gridCol w="859801">
                  <a:extLst>
                    <a:ext uri="{9D8B030D-6E8A-4147-A177-3AD203B41FA5}">
                      <a16:colId xmlns:a16="http://schemas.microsoft.com/office/drawing/2014/main" val="3088569202"/>
                    </a:ext>
                  </a:extLst>
                </a:gridCol>
                <a:gridCol w="860973">
                  <a:extLst>
                    <a:ext uri="{9D8B030D-6E8A-4147-A177-3AD203B41FA5}">
                      <a16:colId xmlns:a16="http://schemas.microsoft.com/office/drawing/2014/main" val="1780929911"/>
                    </a:ext>
                  </a:extLst>
                </a:gridCol>
                <a:gridCol w="859801">
                  <a:extLst>
                    <a:ext uri="{9D8B030D-6E8A-4147-A177-3AD203B41FA5}">
                      <a16:colId xmlns:a16="http://schemas.microsoft.com/office/drawing/2014/main" val="2133325348"/>
                    </a:ext>
                  </a:extLst>
                </a:gridCol>
                <a:gridCol w="860973">
                  <a:extLst>
                    <a:ext uri="{9D8B030D-6E8A-4147-A177-3AD203B41FA5}">
                      <a16:colId xmlns:a16="http://schemas.microsoft.com/office/drawing/2014/main" val="868766639"/>
                    </a:ext>
                  </a:extLst>
                </a:gridCol>
                <a:gridCol w="860973">
                  <a:extLst>
                    <a:ext uri="{9D8B030D-6E8A-4147-A177-3AD203B41FA5}">
                      <a16:colId xmlns:a16="http://schemas.microsoft.com/office/drawing/2014/main" val="1833335000"/>
                    </a:ext>
                  </a:extLst>
                </a:gridCol>
              </a:tblGrid>
              <a:tr h="477989">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日期</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549446"/>
                  </a:ext>
                </a:extLst>
              </a:tr>
              <a:tr h="477989">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天气</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沙暴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沙暴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8076422"/>
                  </a:ext>
                </a:extLst>
              </a:tr>
              <a:tr h="477989">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日期</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0189440"/>
                  </a:ext>
                </a:extLst>
              </a:tr>
              <a:tr h="477989">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天气</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沙暴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沙暴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沙暴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8777936"/>
                  </a:ext>
                </a:extLst>
              </a:tr>
              <a:tr h="477989">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日期</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28</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29</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243511"/>
                  </a:ext>
                </a:extLst>
              </a:tr>
              <a:tr h="477989">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天气</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沙暴</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晴朗</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高温</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0" dirty="0">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高温</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1098534"/>
                  </a:ext>
                </a:extLst>
              </a:tr>
            </a:tbl>
          </a:graphicData>
        </a:graphic>
      </p:graphicFrame>
    </p:spTree>
    <p:extLst>
      <p:ext uri="{BB962C8B-B14F-4D97-AF65-F5344CB8AC3E}">
        <p14:creationId xmlns:p14="http://schemas.microsoft.com/office/powerpoint/2010/main" val="3296839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3311" y="771001"/>
            <a:ext cx="6310058" cy="5633455"/>
          </a:xfrm>
          <a:prstGeom prst="rect">
            <a:avLst/>
          </a:prstGeom>
        </p:spPr>
      </p:pic>
    </p:spTree>
    <p:extLst>
      <p:ext uri="{BB962C8B-B14F-4D97-AF65-F5344CB8AC3E}">
        <p14:creationId xmlns:p14="http://schemas.microsoft.com/office/powerpoint/2010/main" val="2655338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72716" y="307926"/>
            <a:ext cx="11774905" cy="5909310"/>
          </a:xfrm>
          <a:prstGeom prst="rect">
            <a:avLst/>
          </a:prstGeom>
        </p:spPr>
        <p:txBody>
          <a:bodyPr wrap="square">
            <a:spAutoFit/>
          </a:bodyPr>
          <a:lstStyle/>
          <a:p>
            <a:pPr>
              <a:lnSpc>
                <a:spcPct val="150000"/>
              </a:lnSpc>
            </a:pPr>
            <a:r>
              <a:rPr lang="zh-CN" altLang="en-US" dirty="0"/>
              <a:t>游戏的基本规则如下：</a:t>
            </a:r>
          </a:p>
          <a:p>
            <a:pPr>
              <a:lnSpc>
                <a:spcPct val="150000"/>
              </a:lnSpc>
            </a:pPr>
            <a:r>
              <a:rPr lang="zh-CN" altLang="en-US" dirty="0"/>
              <a:t>（</a:t>
            </a:r>
            <a:r>
              <a:rPr lang="en-US" altLang="zh-CN" dirty="0"/>
              <a:t>1</a:t>
            </a:r>
            <a:r>
              <a:rPr lang="zh-CN" altLang="en-US" dirty="0"/>
              <a:t>）以天为基本时间单位，游戏的开始时间为第</a:t>
            </a:r>
            <a:r>
              <a:rPr lang="en-US" altLang="zh-CN" dirty="0"/>
              <a:t>0</a:t>
            </a:r>
            <a:r>
              <a:rPr lang="zh-CN" altLang="en-US" dirty="0"/>
              <a:t>天，玩家位于起点。玩家必须在截止日期或之前到达终点，到达终点后该玩家的游戏结束。</a:t>
            </a:r>
          </a:p>
          <a:p>
            <a:pPr>
              <a:lnSpc>
                <a:spcPct val="150000"/>
              </a:lnSpc>
            </a:pPr>
            <a:r>
              <a:rPr lang="zh-CN" altLang="en-US" dirty="0"/>
              <a:t>（</a:t>
            </a:r>
            <a:r>
              <a:rPr lang="en-US" altLang="zh-CN" dirty="0"/>
              <a:t>2</a:t>
            </a:r>
            <a:r>
              <a:rPr lang="zh-CN" altLang="en-US" dirty="0"/>
              <a:t>）穿越沙漠需水和食物两种资源，它们的最小计量单位均为箱。每天玩家拥有的水和食物质量之和不能超过负重上限。若未到达终点而水或食物已耗尽，视为游戏失败。</a:t>
            </a:r>
          </a:p>
          <a:p>
            <a:pPr>
              <a:lnSpc>
                <a:spcPct val="150000"/>
              </a:lnSpc>
            </a:pPr>
            <a:r>
              <a:rPr lang="zh-CN" altLang="en-US" dirty="0"/>
              <a:t>（</a:t>
            </a:r>
            <a:r>
              <a:rPr lang="en-US" altLang="zh-CN" dirty="0"/>
              <a:t>3</a:t>
            </a:r>
            <a:r>
              <a:rPr lang="zh-CN" altLang="en-US" dirty="0"/>
              <a:t>）每天的天气为“晴朗”、“高温”、“沙暴”三种状况之一，沙漠中所有区域的天气相同。</a:t>
            </a:r>
          </a:p>
          <a:p>
            <a:pPr>
              <a:lnSpc>
                <a:spcPct val="150000"/>
              </a:lnSpc>
            </a:pPr>
            <a:r>
              <a:rPr lang="zh-CN" altLang="en-US" dirty="0"/>
              <a:t>（</a:t>
            </a:r>
            <a:r>
              <a:rPr lang="en-US" altLang="zh-CN" dirty="0"/>
              <a:t>4</a:t>
            </a:r>
            <a:r>
              <a:rPr lang="zh-CN" altLang="en-US" dirty="0"/>
              <a:t>）每天玩家可从地图中的某个区域到达与之相邻的另一个区域，也可在原地停留。沙暴日必须在原地停留。</a:t>
            </a:r>
          </a:p>
          <a:p>
            <a:pPr>
              <a:lnSpc>
                <a:spcPct val="150000"/>
              </a:lnSpc>
            </a:pPr>
            <a:r>
              <a:rPr lang="zh-CN" altLang="en-US" dirty="0"/>
              <a:t>（</a:t>
            </a:r>
            <a:r>
              <a:rPr lang="en-US" altLang="zh-CN" dirty="0"/>
              <a:t>5</a:t>
            </a:r>
            <a:r>
              <a:rPr lang="zh-CN" altLang="en-US" dirty="0"/>
              <a:t>）玩家在原地停留一天消耗的资源数量称为基础消耗量，行走一天消耗的资源数量为基础消耗量的 倍。</a:t>
            </a:r>
          </a:p>
          <a:p>
            <a:pPr>
              <a:lnSpc>
                <a:spcPct val="150000"/>
              </a:lnSpc>
            </a:pPr>
            <a:r>
              <a:rPr lang="zh-CN" altLang="en-US" dirty="0"/>
              <a:t>（</a:t>
            </a:r>
            <a:r>
              <a:rPr lang="en-US" altLang="zh-CN" dirty="0"/>
              <a:t>6</a:t>
            </a:r>
            <a:r>
              <a:rPr lang="zh-CN" altLang="en-US" dirty="0"/>
              <a:t>）玩家第</a:t>
            </a:r>
            <a:r>
              <a:rPr lang="en-US" altLang="zh-CN" dirty="0"/>
              <a:t>0</a:t>
            </a:r>
            <a:r>
              <a:rPr lang="zh-CN" altLang="en-US" dirty="0"/>
              <a:t>天可在起点处用初始资金以基准价格购买水和食物。玩家可在起点停留或回到起点，但不能多次在起点购买资源。玩家到达终点后可退回剩余的水和食物，每箱退回价格为基准价格的一半。</a:t>
            </a:r>
          </a:p>
          <a:p>
            <a:pPr>
              <a:lnSpc>
                <a:spcPct val="150000"/>
              </a:lnSpc>
            </a:pPr>
            <a:r>
              <a:rPr lang="zh-CN" altLang="en-US" dirty="0"/>
              <a:t>（</a:t>
            </a:r>
            <a:r>
              <a:rPr lang="en-US" altLang="zh-CN" dirty="0"/>
              <a:t>7</a:t>
            </a:r>
            <a:r>
              <a:rPr lang="zh-CN" altLang="en-US" dirty="0"/>
              <a:t>）玩家在矿山停留时，可通过挖矿获得资金，挖矿一天获得的资金量称为基础收益。如果挖矿，消耗的资源数量为基础消耗量的 倍；如果不挖矿，消耗的资源数量为基础消耗量。到达矿山当天不能挖矿。沙暴日也可挖矿。</a:t>
            </a:r>
          </a:p>
          <a:p>
            <a:pPr>
              <a:lnSpc>
                <a:spcPct val="150000"/>
              </a:lnSpc>
            </a:pPr>
            <a:r>
              <a:rPr lang="zh-CN" altLang="en-US" dirty="0"/>
              <a:t>（</a:t>
            </a:r>
            <a:r>
              <a:rPr lang="en-US" altLang="zh-CN" dirty="0"/>
              <a:t>8</a:t>
            </a:r>
            <a:r>
              <a:rPr lang="zh-CN" altLang="en-US" dirty="0"/>
              <a:t>）玩家经过或在村庄停留时可用剩余的初始资金或挖矿获得的资金随时购买水和食物，每箱价格为基准价格的</a:t>
            </a:r>
            <a:r>
              <a:rPr lang="en-US" altLang="zh-CN" dirty="0"/>
              <a:t>2</a:t>
            </a:r>
            <a:r>
              <a:rPr lang="zh-CN" altLang="en-US" dirty="0"/>
              <a:t>倍。</a:t>
            </a:r>
          </a:p>
        </p:txBody>
      </p:sp>
    </p:spTree>
    <p:extLst>
      <p:ext uri="{BB962C8B-B14F-4D97-AF65-F5344CB8AC3E}">
        <p14:creationId xmlns:p14="http://schemas.microsoft.com/office/powerpoint/2010/main" val="419042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88142" y="279494"/>
            <a:ext cx="3373996"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一、问题描述</a:t>
            </a:r>
            <a:endParaRPr lang="zh-CN" altLang="en-US" sz="2400" b="1" dirty="0">
              <a:latin typeface="微软雅黑" panose="020B0503020204020204" pitchFamily="34" charset="-122"/>
              <a:ea typeface="微软雅黑" panose="020B0503020204020204" pitchFamily="34" charset="-122"/>
            </a:endParaRPr>
          </a:p>
        </p:txBody>
      </p:sp>
      <p:sp>
        <p:nvSpPr>
          <p:cNvPr id="2" name="矩形 1"/>
          <p:cNvSpPr/>
          <p:nvPr/>
        </p:nvSpPr>
        <p:spPr>
          <a:xfrm>
            <a:off x="753978" y="853454"/>
            <a:ext cx="10635916" cy="3334246"/>
          </a:xfrm>
          <a:prstGeom prst="rect">
            <a:avLst/>
          </a:prstGeom>
        </p:spPr>
        <p:txBody>
          <a:bodyPr wrap="square">
            <a:spAutoFit/>
          </a:bodyPr>
          <a:lstStyle/>
          <a:p>
            <a:pPr>
              <a:lnSpc>
                <a:spcPct val="200000"/>
              </a:lnSpc>
            </a:pPr>
            <a:r>
              <a:rPr lang="zh-CN" altLang="en-US" dirty="0"/>
              <a:t>请根据游戏的不同设定，建立数学模型，解决以下问题。</a:t>
            </a:r>
          </a:p>
          <a:p>
            <a:pPr>
              <a:lnSpc>
                <a:spcPct val="200000"/>
              </a:lnSpc>
            </a:pPr>
            <a:r>
              <a:rPr lang="en-US" altLang="zh-CN" dirty="0"/>
              <a:t>1. </a:t>
            </a:r>
            <a:r>
              <a:rPr lang="zh-CN" altLang="en-US" dirty="0"/>
              <a:t>假设只有一名玩家，在整个游戏时段内每天天气状况事先全部已知，试给出一般情况下玩家的最优策略。求解附件中的“第一关”和“第二关”，并将相应结果分别填入</a:t>
            </a:r>
            <a:r>
              <a:rPr lang="en-US" altLang="zh-CN" dirty="0"/>
              <a:t>Result.xlsx</a:t>
            </a:r>
            <a:r>
              <a:rPr lang="zh-CN" altLang="en-US" dirty="0"/>
              <a:t>。</a:t>
            </a:r>
          </a:p>
          <a:p>
            <a:pPr>
              <a:lnSpc>
                <a:spcPct val="200000"/>
              </a:lnSpc>
            </a:pPr>
            <a:r>
              <a:rPr lang="en-US" altLang="zh-CN" dirty="0"/>
              <a:t>2. </a:t>
            </a:r>
            <a:r>
              <a:rPr lang="zh-CN" altLang="en-US" dirty="0"/>
              <a:t>假设只有一名玩家，玩家仅知道当天的天气状况，可据此决定当天的行动方案，试给出一般情况下玩家的最佳策略，并对附件中的“第三关”和“第四关”进行具体讨论</a:t>
            </a:r>
            <a:r>
              <a:rPr lang="zh-CN" altLang="en-US" dirty="0" smtClean="0"/>
              <a:t>。</a:t>
            </a:r>
            <a:endParaRPr lang="en-US" altLang="zh-CN" dirty="0" smtClean="0"/>
          </a:p>
          <a:p>
            <a:pPr>
              <a:lnSpc>
                <a:spcPct val="200000"/>
              </a:lnSpc>
            </a:pPr>
            <a:r>
              <a:rPr lang="en-US" altLang="zh-CN" dirty="0" smtClean="0"/>
              <a:t>3. </a:t>
            </a:r>
            <a:r>
              <a:rPr lang="zh-CN" altLang="en-US" dirty="0" smtClean="0"/>
              <a:t>多名</a:t>
            </a:r>
            <a:r>
              <a:rPr lang="zh-CN" altLang="zh-CN" dirty="0" smtClean="0"/>
              <a:t>玩家</a:t>
            </a:r>
            <a:r>
              <a:rPr lang="zh-CN" altLang="zh-CN" dirty="0"/>
              <a:t>，他们有相同的初始资金，且同时从起点出发</a:t>
            </a:r>
            <a:r>
              <a:rPr lang="zh-CN" altLang="zh-CN" dirty="0" smtClean="0"/>
              <a:t>。</a:t>
            </a:r>
            <a:r>
              <a:rPr lang="en-US" altLang="zh-CN" dirty="0" smtClean="0"/>
              <a:t>……</a:t>
            </a:r>
            <a:endParaRPr lang="zh-CN" altLang="en-US" dirty="0"/>
          </a:p>
        </p:txBody>
      </p:sp>
    </p:spTree>
    <p:extLst>
      <p:ext uri="{BB962C8B-B14F-4D97-AF65-F5344CB8AC3E}">
        <p14:creationId xmlns:p14="http://schemas.microsoft.com/office/powerpoint/2010/main" val="4059941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204628"/>
          </a:xfrm>
          <a:prstGeom prst="rect">
            <a:avLst/>
          </a:prstGeom>
        </p:spPr>
      </p:pic>
    </p:spTree>
    <p:extLst>
      <p:ext uri="{BB962C8B-B14F-4D97-AF65-F5344CB8AC3E}">
        <p14:creationId xmlns:p14="http://schemas.microsoft.com/office/powerpoint/2010/main" val="3829504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400"/>
            <a:ext cx="12192000" cy="7357347"/>
          </a:xfrm>
          <a:prstGeom prst="rect">
            <a:avLst/>
          </a:prstGeom>
        </p:spPr>
      </p:pic>
    </p:spTree>
    <p:extLst>
      <p:ext uri="{BB962C8B-B14F-4D97-AF65-F5344CB8AC3E}">
        <p14:creationId xmlns:p14="http://schemas.microsoft.com/office/powerpoint/2010/main" val="3041988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0133"/>
            <a:ext cx="12219056" cy="6994532"/>
          </a:xfrm>
          <a:prstGeom prst="rect">
            <a:avLst/>
          </a:prstGeom>
        </p:spPr>
      </p:pic>
    </p:spTree>
    <p:extLst>
      <p:ext uri="{BB962C8B-B14F-4D97-AF65-F5344CB8AC3E}">
        <p14:creationId xmlns:p14="http://schemas.microsoft.com/office/powerpoint/2010/main" val="3170666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3546"/>
            <a:ext cx="12430178" cy="6994800"/>
          </a:xfrm>
          <a:prstGeom prst="rect">
            <a:avLst/>
          </a:prstGeom>
        </p:spPr>
      </p:pic>
    </p:spTree>
    <p:extLst>
      <p:ext uri="{BB962C8B-B14F-4D97-AF65-F5344CB8AC3E}">
        <p14:creationId xmlns:p14="http://schemas.microsoft.com/office/powerpoint/2010/main" val="3016442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430178" cy="7230533"/>
          </a:xfrm>
          <a:prstGeom prst="rect">
            <a:avLst/>
          </a:prstGeom>
        </p:spPr>
      </p:pic>
    </p:spTree>
    <p:extLst>
      <p:ext uri="{BB962C8B-B14F-4D97-AF65-F5344CB8AC3E}">
        <p14:creationId xmlns:p14="http://schemas.microsoft.com/office/powerpoint/2010/main" val="264965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7230533"/>
          </a:xfrm>
          <a:prstGeom prst="rect">
            <a:avLst/>
          </a:prstGeom>
        </p:spPr>
      </p:pic>
    </p:spTree>
    <p:extLst>
      <p:ext uri="{BB962C8B-B14F-4D97-AF65-F5344CB8AC3E}">
        <p14:creationId xmlns:p14="http://schemas.microsoft.com/office/powerpoint/2010/main" val="4007073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 y="84665"/>
            <a:ext cx="12175067" cy="7162802"/>
          </a:xfrm>
          <a:prstGeom prst="rect">
            <a:avLst/>
          </a:prstGeom>
        </p:spPr>
      </p:pic>
    </p:spTree>
    <p:extLst>
      <p:ext uri="{BB962C8B-B14F-4D97-AF65-F5344CB8AC3E}">
        <p14:creationId xmlns:p14="http://schemas.microsoft.com/office/powerpoint/2010/main" val="202905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213600"/>
          </a:xfrm>
          <a:prstGeom prst="rect">
            <a:avLst/>
          </a:prstGeom>
        </p:spPr>
      </p:pic>
    </p:spTree>
    <p:extLst>
      <p:ext uri="{BB962C8B-B14F-4D97-AF65-F5344CB8AC3E}">
        <p14:creationId xmlns:p14="http://schemas.microsoft.com/office/powerpoint/2010/main" val="300404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7230533"/>
          </a:xfrm>
          <a:prstGeom prst="rect">
            <a:avLst/>
          </a:prstGeom>
        </p:spPr>
      </p:pic>
    </p:spTree>
    <p:extLst>
      <p:ext uri="{BB962C8B-B14F-4D97-AF65-F5344CB8AC3E}">
        <p14:creationId xmlns:p14="http://schemas.microsoft.com/office/powerpoint/2010/main" val="267274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 y="145012"/>
            <a:ext cx="12192000" cy="7051656"/>
          </a:xfrm>
          <a:prstGeom prst="rect">
            <a:avLst/>
          </a:prstGeom>
        </p:spPr>
      </p:pic>
    </p:spTree>
    <p:extLst>
      <p:ext uri="{BB962C8B-B14F-4D97-AF65-F5344CB8AC3E}">
        <p14:creationId xmlns:p14="http://schemas.microsoft.com/office/powerpoint/2010/main" val="852358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0478"/>
            <a:ext cx="12192000" cy="6948000"/>
          </a:xfrm>
          <a:prstGeom prst="rect">
            <a:avLst/>
          </a:prstGeom>
        </p:spPr>
      </p:pic>
    </p:spTree>
    <p:extLst>
      <p:ext uri="{BB962C8B-B14F-4D97-AF65-F5344CB8AC3E}">
        <p14:creationId xmlns:p14="http://schemas.microsoft.com/office/powerpoint/2010/main" val="3444132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2745"/>
            <a:ext cx="12230298" cy="7068588"/>
          </a:xfrm>
          <a:prstGeom prst="rect">
            <a:avLst/>
          </a:prstGeom>
        </p:spPr>
      </p:pic>
    </p:spTree>
    <p:extLst>
      <p:ext uri="{BB962C8B-B14F-4D97-AF65-F5344CB8AC3E}">
        <p14:creationId xmlns:p14="http://schemas.microsoft.com/office/powerpoint/2010/main" val="1771624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9677"/>
            <a:ext cx="12192000" cy="7000856"/>
          </a:xfrm>
          <a:prstGeom prst="rect">
            <a:avLst/>
          </a:prstGeom>
        </p:spPr>
      </p:pic>
    </p:spTree>
    <p:extLst>
      <p:ext uri="{BB962C8B-B14F-4D97-AF65-F5344CB8AC3E}">
        <p14:creationId xmlns:p14="http://schemas.microsoft.com/office/powerpoint/2010/main" val="1112716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9333"/>
            <a:ext cx="12187075" cy="7044267"/>
          </a:xfrm>
          <a:prstGeom prst="rect">
            <a:avLst/>
          </a:prstGeom>
        </p:spPr>
      </p:pic>
    </p:spTree>
    <p:extLst>
      <p:ext uri="{BB962C8B-B14F-4D97-AF65-F5344CB8AC3E}">
        <p14:creationId xmlns:p14="http://schemas.microsoft.com/office/powerpoint/2010/main" val="1747157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5810"/>
            <a:ext cx="12200207" cy="7034723"/>
          </a:xfrm>
          <a:prstGeom prst="rect">
            <a:avLst/>
          </a:prstGeom>
        </p:spPr>
      </p:pic>
    </p:spTree>
    <p:extLst>
      <p:ext uri="{BB962C8B-B14F-4D97-AF65-F5344CB8AC3E}">
        <p14:creationId xmlns:p14="http://schemas.microsoft.com/office/powerpoint/2010/main" val="856487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943"/>
            <a:ext cx="12192000" cy="7017790"/>
          </a:xfrm>
          <a:prstGeom prst="rect">
            <a:avLst/>
          </a:prstGeom>
        </p:spPr>
      </p:pic>
    </p:spTree>
    <p:extLst>
      <p:ext uri="{BB962C8B-B14F-4D97-AF65-F5344CB8AC3E}">
        <p14:creationId xmlns:p14="http://schemas.microsoft.com/office/powerpoint/2010/main" val="2863242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46610"/>
            <a:ext cx="12200207" cy="6950057"/>
          </a:xfrm>
          <a:prstGeom prst="rect">
            <a:avLst/>
          </a:prstGeom>
        </p:spPr>
      </p:pic>
    </p:spTree>
    <p:extLst>
      <p:ext uri="{BB962C8B-B14F-4D97-AF65-F5344CB8AC3E}">
        <p14:creationId xmlns:p14="http://schemas.microsoft.com/office/powerpoint/2010/main" val="48345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78934" y="863600"/>
            <a:ext cx="10938933" cy="4708981"/>
          </a:xfrm>
          <a:prstGeom prst="rect">
            <a:avLst/>
          </a:prstGeom>
          <a:noFill/>
        </p:spPr>
        <p:txBody>
          <a:bodyPr wrap="square" rtlCol="0">
            <a:spAutoFit/>
          </a:bodyPr>
          <a:lstStyle/>
          <a:p>
            <a:pPr algn="ctr">
              <a:lnSpc>
                <a:spcPct val="150000"/>
              </a:lnSpc>
            </a:pPr>
            <a:r>
              <a:rPr lang="en-US" altLang="zh-CN" sz="3200" b="1" dirty="0" smtClean="0"/>
              <a:t>B</a:t>
            </a:r>
            <a:r>
              <a:rPr lang="zh-CN" altLang="en-US" sz="3200" b="1" dirty="0" smtClean="0"/>
              <a:t>题类型题目的</a:t>
            </a:r>
            <a:r>
              <a:rPr lang="zh-CN" altLang="en-US" sz="3200" b="1" dirty="0" smtClean="0"/>
              <a:t>小认识</a:t>
            </a:r>
            <a:endParaRPr lang="en-US" altLang="zh-CN" sz="3200" b="1" dirty="0" smtClean="0"/>
          </a:p>
          <a:p>
            <a:pPr>
              <a:lnSpc>
                <a:spcPct val="150000"/>
              </a:lnSpc>
            </a:pPr>
            <a:r>
              <a:rPr lang="en-US" altLang="zh-CN" sz="2400" dirty="0" smtClean="0"/>
              <a:t>1</a:t>
            </a:r>
            <a:r>
              <a:rPr lang="zh-CN" altLang="en-US" sz="2400" dirty="0" smtClean="0"/>
              <a:t>、游戏中蕴含的科学知识与原理，常常需要临时学习，故快速自学能力要强；</a:t>
            </a:r>
            <a:endParaRPr lang="en-US" altLang="zh-CN" sz="2400" dirty="0" smtClean="0"/>
          </a:p>
          <a:p>
            <a:pPr>
              <a:lnSpc>
                <a:spcPct val="150000"/>
              </a:lnSpc>
            </a:pPr>
            <a:r>
              <a:rPr lang="en-US" altLang="zh-CN" sz="2400" dirty="0" smtClean="0"/>
              <a:t>2</a:t>
            </a:r>
            <a:r>
              <a:rPr lang="zh-CN" altLang="en-US" sz="2400" dirty="0" smtClean="0"/>
              <a:t>、小规模问题思考简单，求解不复杂，但算法一般化较难，大规模问题会很难；</a:t>
            </a:r>
            <a:endParaRPr lang="en-US" altLang="zh-CN" sz="2400" dirty="0" smtClean="0"/>
          </a:p>
          <a:p>
            <a:pPr>
              <a:lnSpc>
                <a:spcPct val="150000"/>
              </a:lnSpc>
            </a:pPr>
            <a:r>
              <a:rPr lang="en-US" altLang="zh-CN" sz="2400" dirty="0" smtClean="0"/>
              <a:t>3</a:t>
            </a:r>
            <a:r>
              <a:rPr lang="zh-CN" altLang="en-US" sz="2400" dirty="0" smtClean="0"/>
              <a:t>、求解算法复杂或者繁琐</a:t>
            </a:r>
            <a:r>
              <a:rPr lang="zh-CN" altLang="en-US" sz="2400" dirty="0" smtClean="0"/>
              <a:t>，对</a:t>
            </a:r>
            <a:r>
              <a:rPr lang="zh-CN" altLang="en-US" sz="2400" dirty="0" smtClean="0"/>
              <a:t>计算机编程能力要求较高；</a:t>
            </a:r>
            <a:endParaRPr lang="en-US" altLang="zh-CN" sz="2400" dirty="0" smtClean="0"/>
          </a:p>
          <a:p>
            <a:pPr>
              <a:lnSpc>
                <a:spcPct val="150000"/>
              </a:lnSpc>
            </a:pPr>
            <a:r>
              <a:rPr lang="en-US" altLang="zh-CN" sz="2400" dirty="0" smtClean="0"/>
              <a:t>4</a:t>
            </a:r>
            <a:r>
              <a:rPr lang="zh-CN" altLang="en-US" sz="2400" dirty="0" smtClean="0"/>
              <a:t>、结果可视化或解读能力要强。</a:t>
            </a:r>
            <a:endParaRPr lang="en-US" altLang="zh-CN" sz="2400" dirty="0" smtClean="0"/>
          </a:p>
          <a:p>
            <a:pPr>
              <a:lnSpc>
                <a:spcPct val="150000"/>
              </a:lnSpc>
            </a:pPr>
            <a:r>
              <a:rPr lang="en-US" altLang="zh-CN" sz="2400" dirty="0"/>
              <a:t>5</a:t>
            </a:r>
            <a:r>
              <a:rPr lang="zh-CN" altLang="en-US" sz="2400" dirty="0" smtClean="0"/>
              <a:t>、选择此类题目的人少，获奖</a:t>
            </a:r>
            <a:r>
              <a:rPr lang="zh-CN" altLang="en-US" sz="2400" dirty="0" smtClean="0"/>
              <a:t>容易：</a:t>
            </a:r>
            <a:endParaRPr lang="en-US" altLang="zh-CN" sz="2400" dirty="0" smtClean="0"/>
          </a:p>
          <a:p>
            <a:pPr>
              <a:lnSpc>
                <a:spcPct val="150000"/>
              </a:lnSpc>
            </a:pPr>
            <a:r>
              <a:rPr lang="en-US" altLang="zh-CN" sz="2400" dirty="0"/>
              <a:t> </a:t>
            </a:r>
            <a:r>
              <a:rPr lang="en-US" altLang="zh-CN" sz="2400" dirty="0" smtClean="0"/>
              <a:t>     </a:t>
            </a:r>
            <a:r>
              <a:rPr lang="zh-CN" altLang="en-US" sz="2400" dirty="0" smtClean="0"/>
              <a:t>在有三个问的情况，高质量完成第一问，较好地完成第二问，第三问完成很普通，就有很大可能获得国家奖一、二等奖。</a:t>
            </a:r>
            <a:endParaRPr lang="zh-CN" altLang="en-US" sz="2400" dirty="0"/>
          </a:p>
        </p:txBody>
      </p:sp>
    </p:spTree>
    <p:extLst>
      <p:ext uri="{BB962C8B-B14F-4D97-AF65-F5344CB8AC3E}">
        <p14:creationId xmlns:p14="http://schemas.microsoft.com/office/powerpoint/2010/main" val="3357283768"/>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6281</TotalTime>
  <Words>928</Words>
  <Application>Microsoft Office PowerPoint</Application>
  <PresentationFormat>宽屏</PresentationFormat>
  <Paragraphs>125</Paragraphs>
  <Slides>25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等线</vt:lpstr>
      <vt:lpstr>宋体</vt:lpstr>
      <vt:lpstr>微软雅黑</vt:lpstr>
      <vt:lpstr>Arial</vt:lpstr>
      <vt:lpstr>Calibri</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xingyuan</dc:creator>
  <cp:lastModifiedBy>zxy</cp:lastModifiedBy>
  <cp:revision>331</cp:revision>
  <dcterms:created xsi:type="dcterms:W3CDTF">2020-04-08T08:51:50Z</dcterms:created>
  <dcterms:modified xsi:type="dcterms:W3CDTF">2021-08-26T03:41:18Z</dcterms:modified>
</cp:coreProperties>
</file>